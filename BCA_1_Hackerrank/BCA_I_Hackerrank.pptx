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EFDF1-16D0-396C-0C5C-A16B8E12E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7AC2C-8C43-0780-3AF5-75A397FA3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559E4-72FE-1F81-0553-36D8902AB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EEEE-A07D-4B79-8898-B477AF850D7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D78AE-2A9E-742A-B190-AEF2DCDDA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19F48-6718-41C2-8FAC-B4113A82F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78A4-8D78-4D8D-95B5-A764E738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640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CE91D-8E9F-10DA-0009-39D85F113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AB4EA-A7EF-6853-30E2-6434826A0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C7E15-7AFA-80B7-5B77-254A1737D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EEEE-A07D-4B79-8898-B477AF850D7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E8C7A-CBBC-E48C-D118-3FF1E64E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FF807-4D4D-98B6-1209-6BE8F8C4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78A4-8D78-4D8D-95B5-A764E738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3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39F79-35C3-780E-1790-01F4FB741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2C280-D8EA-F50B-64A0-C1082C96F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4D3EA-9098-4D8E-B25E-5E034D8C7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EEEE-A07D-4B79-8898-B477AF850D7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388C2-7943-768E-8979-77243CA7A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103FC-4D07-BB85-FBAC-C9E884B6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78A4-8D78-4D8D-95B5-A764E738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903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92AAB-537F-C853-4E27-8BE02028B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0BD76-E6E6-FF4B-FF09-D0387D9AF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356BC-759C-C2CF-5541-0402DBF3E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5A3B4-C1F0-ADD2-4035-010EDCB51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EEEE-A07D-4B79-8898-B477AF850D7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6FA8A-64EC-D18D-DCE9-40C10B712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60C45-9B33-3B54-320C-D123C1753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78A4-8D78-4D8D-95B5-A764E738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617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A6A9D-2CFC-A6BB-3823-EA4B6190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EC301-2608-2EF1-1933-F46CBEE35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9C9A7-84E7-3595-D9B1-C1523F954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36B14D-67A0-4760-0E39-CF1648EE07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7F3AA7-6CDD-A6E8-B7DB-EE36D3A2BD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B8467C-3CC1-2928-26B5-16291CD62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EEEE-A07D-4B79-8898-B477AF850D7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3CAA5A-3B15-2945-D4ED-A301EF4E7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27196E-31DD-8B45-3AD3-84D581C3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78A4-8D78-4D8D-95B5-A764E738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202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7F706-5184-BC52-4E74-827F511B6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9CE405-0A06-4748-00F3-1829FC256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EEEE-A07D-4B79-8898-B477AF850D7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C14451-9E84-6167-F651-DDDC97F02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C2BF0-E0EA-8532-ABB9-3EFB4681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78A4-8D78-4D8D-95B5-A764E738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387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1FC12-1F76-EC46-CBB2-5C09683EA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EEEE-A07D-4B79-8898-B477AF850D7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3CB7DC-B9DD-EA79-D0C3-5229CCBD6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1706C-5694-B7FF-618A-04EE3781B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78A4-8D78-4D8D-95B5-A764E738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098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9B4F7-2C65-FC21-3F47-7147C5F84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E21B4-5D99-5CAB-EE17-111041292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2D82A1-21CA-5460-3C00-0DBE4E0DE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CD535-F95D-4E57-B6EF-C2F29BE3A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EEEE-A07D-4B79-8898-B477AF850D7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42238-EE5D-37E6-2774-7AE1786C8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83292-DB02-6CCA-3A59-742DA2B9E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78A4-8D78-4D8D-95B5-A764E738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0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CA14-CEB9-F774-A420-94008C947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DD146F-C32F-53BA-BEB1-5F2F44B26E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E910DF-F0C9-83A8-C8C8-DB240A86A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92924-EA3F-E696-CC1E-5FBFEC18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EEEE-A07D-4B79-8898-B477AF850D7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2D25C-061B-4CBE-DB6B-741FDBED0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83052-A3CB-8CB6-0CF7-E2738E0FA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78A4-8D78-4D8D-95B5-A764E738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6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2F58A-B365-91E7-5A00-14C4B14E4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8AC39-C103-6362-4171-D68FA6EF4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8751E-1AC6-E803-7170-3173DC236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EEEE-A07D-4B79-8898-B477AF850D7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7F44C-5DAB-AD63-8819-37DA4846B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975C9-A13F-264B-18C9-1D066718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78A4-8D78-4D8D-95B5-A764E738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933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6BED68-1417-F794-7F7A-343D4167D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0701A-510D-1B2C-9221-9940EB6E9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C1B0F-1B74-85C7-5F55-024EC5467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EEEE-A07D-4B79-8898-B477AF850D7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827EC-B03F-CB42-A1E6-7755BBCE7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4E804-EEAC-4FA4-3964-06BBF83EF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78A4-8D78-4D8D-95B5-A764E738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429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1F8BFC-5AEC-A45E-5215-C00D703E0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450DF-08FE-CE90-F60A-CE51F689C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388C7-56F4-6237-FD1F-87C0E34699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32EEEE-A07D-4B79-8898-B477AF850D7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9415B-1241-838B-3D67-2FF56D8DA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E8614-6F82-4D24-6240-934373157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AD78A4-8D78-4D8D-95B5-A764E738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697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26AFCB-DDF5-B2CB-EF76-F4224BEFDECF}"/>
              </a:ext>
            </a:extLst>
          </p:cNvPr>
          <p:cNvSpPr txBox="1"/>
          <p:nvPr/>
        </p:nvSpPr>
        <p:spPr>
          <a:xfrm>
            <a:off x="304801" y="177241"/>
            <a:ext cx="1068766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Solve Me First</a:t>
            </a:r>
          </a:p>
          <a:p>
            <a:pPr>
              <a:buNone/>
            </a:pPr>
            <a:r>
              <a:rPr lang="en-US" b="1" dirty="0"/>
              <a:t>Brute Force 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Take two integers </a:t>
            </a:r>
            <a:r>
              <a:rPr lang="en-US" dirty="0">
                <a:latin typeface="Courier New" panose="02070309020205020404" pitchFamily="49" charset="0"/>
              </a:rPr>
              <a:t>a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</a:rPr>
              <a:t>b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Add both numbers.</a:t>
            </a:r>
          </a:p>
          <a:p>
            <a:pPr>
              <a:buFont typeface="+mj-lt"/>
              <a:buAutoNum type="arabicPeriod"/>
            </a:pPr>
            <a:r>
              <a:rPr lang="en-US" dirty="0"/>
              <a:t>Return the sum.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Optimal 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Directly compute </a:t>
            </a:r>
            <a:r>
              <a:rPr lang="en-US" dirty="0">
                <a:latin typeface="Courier New" panose="02070309020205020404" pitchFamily="49" charset="0"/>
              </a:rPr>
              <a:t>a + b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Return the result.</a:t>
            </a:r>
          </a:p>
          <a:p>
            <a:pPr>
              <a:buNone/>
            </a:pPr>
            <a:r>
              <a:rPr lang="en-US" b="1" dirty="0"/>
              <a:t>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Time Complexity: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O(1)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Space Complexity: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O(1)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57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EA4046-9BB2-3EAD-AB2A-24D799A2DEC4}"/>
              </a:ext>
            </a:extLst>
          </p:cNvPr>
          <p:cNvSpPr txBox="1"/>
          <p:nvPr/>
        </p:nvSpPr>
        <p:spPr>
          <a:xfrm>
            <a:off x="167147" y="206477"/>
            <a:ext cx="11838040" cy="644012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2. Breaking the Records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Brute Force Logic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Initialize highest and lowest score as the first element.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 each score: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Compare it with all previous scores.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Count how many times a new maximum or minimum occurs.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Store max-break count and min-break count.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Brute Complexity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Complexity: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O(n²)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Space Complexity: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O(1)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Optimal Logic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Initialize: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maxScore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scores[0]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minScore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scores[0]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maxCount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minCount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Traverse the array from index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current score &gt;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maxScore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Update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maxScore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Increment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maxCount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Else if current score &lt;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minScore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Update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minScore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Increment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minCount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Return both counts.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Optimal Complexity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Complexity: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O(n)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Space Complexity: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O(1)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32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1B3099-0BAB-B363-52C0-51B807391AF6}"/>
              </a:ext>
            </a:extLst>
          </p:cNvPr>
          <p:cNvSpPr txBox="1"/>
          <p:nvPr/>
        </p:nvSpPr>
        <p:spPr>
          <a:xfrm>
            <a:off x="117987" y="127820"/>
            <a:ext cx="11946194" cy="6558116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3. Number Line Jumps (Kangaroo)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Brute Force Logic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Start both kangaroos at their initial positions.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Simulate jumps one by one.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After each jump: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Check if both positions are equal.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Stop after a large number of jumps.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they ever meet, return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otherwise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Brute Complexity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Complexity: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O(n)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Space Complexity: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O(1)</a:t>
            </a:r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Optimal Logic (Mathematical)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Let positions be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x1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x2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and jumps be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Kangaroos meet if: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x1 + k*v1 = x2 + k*v2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Rearranging: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k = (x2 - x1) / (v1 - v2)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v1 &gt; v2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(x2 - x1)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is divisible by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(v1 - v2)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→ return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Else return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Optimal Complexity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Complexity: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O(1)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Space Complexity: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O(1)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14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3F8FCD-3CC9-FAA8-01A8-3CE660E87122}"/>
              </a:ext>
            </a:extLst>
          </p:cNvPr>
          <p:cNvSpPr txBox="1"/>
          <p:nvPr/>
        </p:nvSpPr>
        <p:spPr>
          <a:xfrm>
            <a:off x="137652" y="476803"/>
            <a:ext cx="1181837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4. Compare the Triplets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Brute Force Logic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Compare each element of Alice with each element of Bob using nested loops.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Increase score accordingly.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Ignore equal values.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Brute Complexity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Complexity: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O(n²)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Space Complexity: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O(1)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Optimal Logic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Initialize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aliceScore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bobScore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Traverse both arrays simultaneously: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Alice’s value &gt; Bob’s value → Alice gets 1 point.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Bob’s value &gt; Alice’s value → Bob gets 1 point.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equal → no points.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Return both scores.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Optimal Complexity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Complexity: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O(n)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Space Complexity: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O(1)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9535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F35049-2D4A-E7FE-CDA4-369B491D8EF7}"/>
              </a:ext>
            </a:extLst>
          </p:cNvPr>
          <p:cNvSpPr txBox="1"/>
          <p:nvPr/>
        </p:nvSpPr>
        <p:spPr>
          <a:xfrm>
            <a:off x="108156" y="127819"/>
            <a:ext cx="5555226" cy="655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Plus Minus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Problem Explanation (Easy Language)</a:t>
            </a:r>
          </a:p>
          <a:p>
            <a:pPr>
              <a:buNone/>
            </a:pPr>
            <a:r>
              <a:rPr lang="en-US" dirty="0"/>
              <a:t>You are given an array of integers.</a:t>
            </a:r>
          </a:p>
          <a:p>
            <a:pPr>
              <a:buNone/>
            </a:pPr>
            <a:r>
              <a:rPr lang="en-US" dirty="0"/>
              <a:t>You need to calculate: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fraction of positive numbers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fraction of negative numbers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fraction of zeros</a:t>
            </a:r>
            <a:endParaRPr lang="en-US" dirty="0"/>
          </a:p>
          <a:p>
            <a:pPr>
              <a:buNone/>
            </a:pPr>
            <a:r>
              <a:rPr lang="en-US" dirty="0"/>
              <a:t>Each value must be printed </a:t>
            </a:r>
            <a:r>
              <a:rPr lang="en-US" b="1" dirty="0"/>
              <a:t>up to 6 decimal places</a:t>
            </a:r>
            <a:r>
              <a:rPr lang="en-US" dirty="0"/>
              <a:t>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 = [-4, 3, -9, 0, 4, 1]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n = 6</a:t>
            </a:r>
          </a:p>
          <a:p>
            <a:pPr>
              <a:buNone/>
            </a:pPr>
            <a:r>
              <a:rPr lang="en-US" b="1" dirty="0"/>
              <a:t>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Positive numbers: </a:t>
            </a:r>
            <a:r>
              <a:rPr lang="en-US" dirty="0">
                <a:latin typeface="Courier New" panose="02070309020205020404" pitchFamily="49" charset="0"/>
              </a:rPr>
              <a:t>3</a:t>
            </a:r>
            <a:r>
              <a:rPr lang="en-US" dirty="0"/>
              <a:t> → (3, 4, 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Negative numbers: </a:t>
            </a:r>
            <a:r>
              <a:rPr lang="en-US" dirty="0">
                <a:latin typeface="Courier New" panose="02070309020205020404" pitchFamily="49" charset="0"/>
              </a:rPr>
              <a:t>2</a:t>
            </a:r>
            <a:r>
              <a:rPr lang="en-US" dirty="0"/>
              <a:t> → (-4, -9)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Zeros: </a:t>
            </a:r>
            <a:r>
              <a:rPr lang="en-US" dirty="0">
                <a:latin typeface="Courier New" panose="02070309020205020404" pitchFamily="49" charset="0"/>
              </a:rPr>
              <a:t>1</a:t>
            </a:r>
            <a:r>
              <a:rPr lang="en-US" dirty="0"/>
              <a:t> → (0)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0.500000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0.333333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0.166667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952607-0A62-0A0E-4398-07E32C151B09}"/>
              </a:ext>
            </a:extLst>
          </p:cNvPr>
          <p:cNvSpPr txBox="1"/>
          <p:nvPr/>
        </p:nvSpPr>
        <p:spPr>
          <a:xfrm>
            <a:off x="5909187" y="200653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Approach (Optimal &amp; Only Needed)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Idea</a:t>
            </a:r>
          </a:p>
          <a:p>
            <a:pPr>
              <a:buNone/>
            </a:pPr>
            <a:r>
              <a:rPr lang="en-IN" dirty="0"/>
              <a:t>Traverse the array </a:t>
            </a:r>
            <a:r>
              <a:rPr lang="en-IN" b="1" dirty="0"/>
              <a:t>once</a:t>
            </a:r>
            <a:r>
              <a:rPr lang="en-IN" dirty="0"/>
              <a:t> and count: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positives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negatives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zeros</a:t>
            </a:r>
          </a:p>
          <a:p>
            <a:pPr>
              <a:buNone/>
            </a:pPr>
            <a:r>
              <a:rPr lang="en-IN" dirty="0"/>
              <a:t>Then divide each count by </a:t>
            </a:r>
            <a:r>
              <a:rPr lang="en-IN" dirty="0">
                <a:latin typeface="Courier New" panose="02070309020205020404" pitchFamily="49" charset="0"/>
              </a:rPr>
              <a:t>n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Logic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Initialize three counters: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Courier New" panose="02070309020205020404" pitchFamily="49" charset="0"/>
              </a:rPr>
              <a:t>pos</a:t>
            </a:r>
            <a:r>
              <a:rPr lang="en-IN" dirty="0">
                <a:latin typeface="Courier New" panose="02070309020205020404" pitchFamily="49" charset="0"/>
              </a:rPr>
              <a:t> = 0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neg = 0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zero = 0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Traverse the array: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If element &gt; 0 → increment </a:t>
            </a:r>
            <a:r>
              <a:rPr lang="en-IN" dirty="0" err="1">
                <a:latin typeface="Courier New" panose="02070309020205020404" pitchFamily="49" charset="0"/>
              </a:rPr>
              <a:t>pos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If element &lt; 0 → increment </a:t>
            </a:r>
            <a:r>
              <a:rPr lang="en-IN" dirty="0">
                <a:latin typeface="Courier New" panose="02070309020205020404" pitchFamily="49" charset="0"/>
              </a:rPr>
              <a:t>neg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Else → increment </a:t>
            </a:r>
            <a:r>
              <a:rPr lang="en-IN" dirty="0">
                <a:latin typeface="Courier New" panose="02070309020205020404" pitchFamily="49" charset="0"/>
              </a:rPr>
              <a:t>zero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Print: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Courier New" panose="02070309020205020404" pitchFamily="49" charset="0"/>
              </a:rPr>
              <a:t>pos</a:t>
            </a:r>
            <a:r>
              <a:rPr lang="en-IN" dirty="0">
                <a:latin typeface="Courier New" panose="02070309020205020404" pitchFamily="49" charset="0"/>
              </a:rPr>
              <a:t> / n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neg / n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zero / 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2509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4EBE19-444D-1C02-334D-F841A7C9D76B}"/>
              </a:ext>
            </a:extLst>
          </p:cNvPr>
          <p:cNvSpPr txBox="1"/>
          <p:nvPr/>
        </p:nvSpPr>
        <p:spPr>
          <a:xfrm>
            <a:off x="167149" y="90638"/>
            <a:ext cx="2241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Walkthrough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A91570-A6A3-1AEF-8927-207386F38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816515"/>
              </p:ext>
            </p:extLst>
          </p:nvPr>
        </p:nvGraphicFramePr>
        <p:xfrm>
          <a:off x="326923" y="567869"/>
          <a:ext cx="10515600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8740474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2291626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394850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746365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pos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neg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zero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023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5769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783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-9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6496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340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673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83442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FE06CA3-B1EC-562C-EF49-C885B3A03857}"/>
              </a:ext>
            </a:extLst>
          </p:cNvPr>
          <p:cNvSpPr txBox="1"/>
          <p:nvPr/>
        </p:nvSpPr>
        <p:spPr>
          <a:xfrm>
            <a:off x="326922" y="3236088"/>
            <a:ext cx="11117825" cy="3400686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US" b="1" dirty="0"/>
              <a:t>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pos = 0, neg = 0, zero = 0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each element in </a:t>
            </a: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if element &gt; 0: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pos++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else if element &lt; 0: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neg++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else: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zero++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 pos / n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 neg / n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 zero / n</a:t>
            </a:r>
          </a:p>
        </p:txBody>
      </p:sp>
    </p:spTree>
    <p:extLst>
      <p:ext uri="{BB962C8B-B14F-4D97-AF65-F5344CB8AC3E}">
        <p14:creationId xmlns:p14="http://schemas.microsoft.com/office/powerpoint/2010/main" val="1390719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D3D41E-7F39-054A-C168-CAB5D247425F}"/>
              </a:ext>
            </a:extLst>
          </p:cNvPr>
          <p:cNvSpPr txBox="1"/>
          <p:nvPr/>
        </p:nvSpPr>
        <p:spPr>
          <a:xfrm>
            <a:off x="176981" y="120134"/>
            <a:ext cx="1553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595454-E64A-6354-78B1-575E37A85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540751"/>
              </p:ext>
            </p:extLst>
          </p:nvPr>
        </p:nvGraphicFramePr>
        <p:xfrm>
          <a:off x="582561" y="489466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7103816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86872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184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8965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020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9385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E2BEF0-4519-10FD-7E1E-3DFD74FBFFE9}"/>
              </a:ext>
            </a:extLst>
          </p:cNvPr>
          <p:cNvSpPr txBox="1"/>
          <p:nvPr/>
        </p:nvSpPr>
        <p:spPr>
          <a:xfrm>
            <a:off x="226142" y="202690"/>
            <a:ext cx="50341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Staircase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Problem Explanation</a:t>
            </a:r>
          </a:p>
          <a:p>
            <a:pPr>
              <a:buNone/>
            </a:pPr>
            <a:r>
              <a:rPr lang="en-US" dirty="0"/>
              <a:t>You are given an integer </a:t>
            </a:r>
            <a:r>
              <a:rPr lang="en-US" dirty="0">
                <a:latin typeface="Courier New" panose="02070309020205020404" pitchFamily="49" charset="0"/>
              </a:rPr>
              <a:t>n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Print a </a:t>
            </a:r>
            <a:r>
              <a:rPr lang="en-US" b="1" dirty="0"/>
              <a:t>right-aligned staircase</a:t>
            </a:r>
            <a:r>
              <a:rPr lang="en-US" dirty="0"/>
              <a:t> of height </a:t>
            </a:r>
            <a:r>
              <a:rPr lang="en-US" dirty="0">
                <a:latin typeface="Courier New" panose="02070309020205020404" pitchFamily="49" charset="0"/>
              </a:rPr>
              <a:t>n</a:t>
            </a:r>
            <a:r>
              <a:rPr lang="en-US" dirty="0"/>
              <a:t>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#</a:t>
            </a:r>
            <a:r>
              <a:rPr lang="en-US" dirty="0"/>
              <a:t> for steps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spaces for alignment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177434-7E60-4C76-43B9-F705D076DF62}"/>
              </a:ext>
            </a:extLst>
          </p:cNvPr>
          <p:cNvSpPr txBox="1"/>
          <p:nvPr/>
        </p:nvSpPr>
        <p:spPr>
          <a:xfrm>
            <a:off x="226142" y="2274838"/>
            <a:ext cx="125852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n = 4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#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##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###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####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22377B-223C-A561-817E-88174EC813F8}"/>
              </a:ext>
            </a:extLst>
          </p:cNvPr>
          <p:cNvSpPr txBox="1"/>
          <p:nvPr/>
        </p:nvSpPr>
        <p:spPr>
          <a:xfrm>
            <a:off x="5614219" y="289679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(Simple Pattern Printing)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Idea</a:t>
            </a:r>
          </a:p>
          <a:p>
            <a:pPr>
              <a:buNone/>
            </a:pPr>
            <a:r>
              <a:rPr lang="en-US" dirty="0"/>
              <a:t>For each row: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Print spaces first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Then print </a:t>
            </a:r>
            <a:r>
              <a:rPr lang="en-US" dirty="0">
                <a:latin typeface="Courier New" panose="02070309020205020404" pitchFamily="49" charset="0"/>
              </a:rPr>
              <a:t>#</a:t>
            </a:r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Logic</a:t>
            </a:r>
          </a:p>
          <a:p>
            <a:pPr>
              <a:buNone/>
            </a:pPr>
            <a:r>
              <a:rPr lang="en-US" dirty="0"/>
              <a:t>For row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/>
              <a:t> (1 to n):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Number of spaces = </a:t>
            </a:r>
            <a:r>
              <a:rPr lang="en-US" dirty="0">
                <a:latin typeface="Courier New" panose="02070309020205020404" pitchFamily="49" charset="0"/>
              </a:rPr>
              <a:t>n -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Number of </a:t>
            </a:r>
            <a:r>
              <a:rPr lang="en-US" dirty="0">
                <a:latin typeface="Courier New" panose="02070309020205020404" pitchFamily="49" charset="0"/>
              </a:rPr>
              <a:t>#</a:t>
            </a:r>
            <a:r>
              <a:rPr lang="en-US" dirty="0"/>
              <a:t> =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961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0A213D8-516C-8F05-83A1-70689D00CE3B}"/>
              </a:ext>
            </a:extLst>
          </p:cNvPr>
          <p:cNvSpPr txBox="1"/>
          <p:nvPr/>
        </p:nvSpPr>
        <p:spPr>
          <a:xfrm>
            <a:off x="317091" y="276000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Pseudocode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1 to n: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print (n -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) spaces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print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'#'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F1B16-A493-B747-BB8C-2CC2B350D9AA}"/>
              </a:ext>
            </a:extLst>
          </p:cNvPr>
          <p:cNvSpPr txBox="1"/>
          <p:nvPr/>
        </p:nvSpPr>
        <p:spPr>
          <a:xfrm>
            <a:off x="235975" y="229525"/>
            <a:ext cx="3028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Walkthrough Table (n = 4)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C033AA-A5B6-FBE9-159B-DBFBE85C8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231969"/>
              </p:ext>
            </p:extLst>
          </p:nvPr>
        </p:nvGraphicFramePr>
        <p:xfrm>
          <a:off x="317091" y="722274"/>
          <a:ext cx="105156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47522141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861413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799429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07177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Spaces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7149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#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007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##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1100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###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8178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####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050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6F6D8B4-5032-8413-6F85-8A1FD5B36378}"/>
              </a:ext>
            </a:extLst>
          </p:cNvPr>
          <p:cNvSpPr txBox="1"/>
          <p:nvPr/>
        </p:nvSpPr>
        <p:spPr>
          <a:xfrm>
            <a:off x="235975" y="4112423"/>
            <a:ext cx="1651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8B55BBA-B22F-1F57-6BF7-9C24F21473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923249"/>
              </p:ext>
            </p:extLst>
          </p:nvPr>
        </p:nvGraphicFramePr>
        <p:xfrm>
          <a:off x="317091" y="4662022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54147770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089308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868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O(n²)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682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O(1)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903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224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66F8C7-0BB9-A7BB-01C7-553FE8756192}"/>
              </a:ext>
            </a:extLst>
          </p:cNvPr>
          <p:cNvSpPr txBox="1"/>
          <p:nvPr/>
        </p:nvSpPr>
        <p:spPr>
          <a:xfrm>
            <a:off x="186814" y="129625"/>
            <a:ext cx="570271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Simple Array Sum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Problem Explanation</a:t>
            </a:r>
          </a:p>
          <a:p>
            <a:pPr>
              <a:buNone/>
            </a:pPr>
            <a:r>
              <a:rPr lang="en-US" dirty="0"/>
              <a:t>You are given an array of integers.</a:t>
            </a:r>
          </a:p>
          <a:p>
            <a:pPr>
              <a:buNone/>
            </a:pPr>
            <a:r>
              <a:rPr lang="en-US" dirty="0"/>
              <a:t>Your task is to </a:t>
            </a:r>
            <a:r>
              <a:rPr lang="en-US" b="1" dirty="0"/>
              <a:t>find the sum of all elements</a:t>
            </a:r>
            <a:r>
              <a:rPr lang="en-US" dirty="0"/>
              <a:t> in the array.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 = [1, 2, 3, 4, 10, 11]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31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C593B4-B174-D92F-C80A-9A1E4AF5B748}"/>
              </a:ext>
            </a:extLst>
          </p:cNvPr>
          <p:cNvSpPr txBox="1"/>
          <p:nvPr/>
        </p:nvSpPr>
        <p:spPr>
          <a:xfrm>
            <a:off x="5978013" y="129625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Brute Force (Loop)</a:t>
            </a:r>
          </a:p>
          <a:p>
            <a:pPr>
              <a:buNone/>
            </a:pPr>
            <a:r>
              <a:rPr lang="en-US" dirty="0"/>
              <a:t>This is also the </a:t>
            </a:r>
            <a:r>
              <a:rPr lang="en-US" b="1" dirty="0"/>
              <a:t>optimal approach</a:t>
            </a:r>
            <a:r>
              <a:rPr lang="en-US" dirty="0"/>
              <a:t> because the problem itself is simple.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Idea</a:t>
            </a:r>
          </a:p>
          <a:p>
            <a:pPr>
              <a:buNone/>
            </a:pPr>
            <a:r>
              <a:rPr lang="en-US" dirty="0"/>
              <a:t>Traverse the array and keep adding elements.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Initialize </a:t>
            </a:r>
            <a:r>
              <a:rPr lang="en-US" dirty="0">
                <a:latin typeface="Courier New" panose="02070309020205020404" pitchFamily="49" charset="0"/>
              </a:rPr>
              <a:t>sum = 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Traverse array from left to right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each element to </a:t>
            </a:r>
            <a:r>
              <a:rPr lang="en-US" dirty="0">
                <a:latin typeface="Courier New" panose="02070309020205020404" pitchFamily="49" charset="0"/>
              </a:rPr>
              <a:t>sum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365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0420D7-49DE-F58A-865D-5DF2A6C2990D}"/>
              </a:ext>
            </a:extLst>
          </p:cNvPr>
          <p:cNvSpPr txBox="1"/>
          <p:nvPr/>
        </p:nvSpPr>
        <p:spPr>
          <a:xfrm>
            <a:off x="176981" y="100470"/>
            <a:ext cx="1563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Walkthrough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8D7A2D-1C2E-52F8-BE55-1BEB01A40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973610"/>
              </p:ext>
            </p:extLst>
          </p:nvPr>
        </p:nvGraphicFramePr>
        <p:xfrm>
          <a:off x="176981" y="469802"/>
          <a:ext cx="10515600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74275327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071203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354284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69179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Sum Before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Sum After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8792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3536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8708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883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8649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0532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13796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35E6BE1-9BB9-DB87-2D23-3B178DE60824}"/>
              </a:ext>
            </a:extLst>
          </p:cNvPr>
          <p:cNvSpPr txBox="1"/>
          <p:nvPr/>
        </p:nvSpPr>
        <p:spPr>
          <a:xfrm>
            <a:off x="176981" y="3312226"/>
            <a:ext cx="32249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nn-NO" b="1" dirty="0"/>
              <a:t>Pseudocode (C++-Style)</a:t>
            </a:r>
          </a:p>
          <a:p>
            <a:pPr rtl="0">
              <a:buNone/>
            </a:pPr>
            <a:r>
              <a:rPr lang="nn-NO" dirty="0">
                <a:latin typeface="Courier New" panose="02070309020205020404" pitchFamily="49" charset="0"/>
              </a:rPr>
              <a:t>sum = 0</a:t>
            </a:r>
          </a:p>
          <a:p>
            <a:pPr rtl="0">
              <a:buNone/>
            </a:pPr>
            <a:r>
              <a:rPr lang="nn-NO" dirty="0">
                <a:latin typeface="Courier New" panose="02070309020205020404" pitchFamily="49" charset="0"/>
              </a:rPr>
              <a:t>for i = 0 to n-1:</a:t>
            </a:r>
          </a:p>
          <a:p>
            <a:pPr rtl="0">
              <a:buNone/>
            </a:pPr>
            <a:r>
              <a:rPr lang="nn-NO" dirty="0">
                <a:latin typeface="Courier New" panose="02070309020205020404" pitchFamily="49" charset="0"/>
              </a:rPr>
              <a:t>    sum = sum + arr[i]</a:t>
            </a:r>
          </a:p>
          <a:p>
            <a:pPr rtl="0">
              <a:buNone/>
            </a:pPr>
            <a:r>
              <a:rPr lang="nn-NO" dirty="0">
                <a:latin typeface="Courier New" panose="02070309020205020404" pitchFamily="49" charset="0"/>
              </a:rPr>
              <a:t>return sum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96FF8E-536E-507B-3C39-4E488A0BA3A6}"/>
              </a:ext>
            </a:extLst>
          </p:cNvPr>
          <p:cNvSpPr txBox="1"/>
          <p:nvPr/>
        </p:nvSpPr>
        <p:spPr>
          <a:xfrm>
            <a:off x="6341806" y="3429000"/>
            <a:ext cx="26842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Complexity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Time: O(n)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Space: O(1)</a:t>
            </a:r>
          </a:p>
        </p:txBody>
      </p:sp>
    </p:spTree>
    <p:extLst>
      <p:ext uri="{BB962C8B-B14F-4D97-AF65-F5344CB8AC3E}">
        <p14:creationId xmlns:p14="http://schemas.microsoft.com/office/powerpoint/2010/main" val="1885711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D671483-693D-8F5C-5BCE-BAEE18BA6335}"/>
              </a:ext>
            </a:extLst>
          </p:cNvPr>
          <p:cNvSpPr txBox="1"/>
          <p:nvPr/>
        </p:nvSpPr>
        <p:spPr>
          <a:xfrm>
            <a:off x="186813" y="96736"/>
            <a:ext cx="1065816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Subarray Division (Birthday Chocolate)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Problem Explanation</a:t>
            </a:r>
          </a:p>
          <a:p>
            <a:pPr>
              <a:buNone/>
            </a:pPr>
            <a:r>
              <a:rPr lang="en-US" dirty="0"/>
              <a:t>You are given: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array </a:t>
            </a:r>
            <a:r>
              <a:rPr lang="en-US" dirty="0">
                <a:latin typeface="Courier New" panose="02070309020205020404" pitchFamily="49" charset="0"/>
              </a:rPr>
              <a:t>s</a:t>
            </a:r>
            <a:r>
              <a:rPr lang="en-US" dirty="0"/>
              <a:t> (chocolate squares)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integer </a:t>
            </a:r>
            <a:r>
              <a:rPr lang="en-US" dirty="0">
                <a:latin typeface="Courier New" panose="02070309020205020404" pitchFamily="49" charset="0"/>
              </a:rPr>
              <a:t>d</a:t>
            </a:r>
            <a:r>
              <a:rPr lang="en-US" dirty="0"/>
              <a:t> (desired sum)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integer </a:t>
            </a:r>
            <a:r>
              <a:rPr lang="en-US" dirty="0">
                <a:latin typeface="Courier New" panose="02070309020205020404" pitchFamily="49" charset="0"/>
              </a:rPr>
              <a:t>m</a:t>
            </a:r>
            <a:r>
              <a:rPr lang="en-US" dirty="0"/>
              <a:t> (length of segment)</a:t>
            </a:r>
          </a:p>
          <a:p>
            <a:pPr>
              <a:buNone/>
            </a:pPr>
            <a:r>
              <a:rPr lang="en-US" dirty="0"/>
              <a:t>You must find </a:t>
            </a:r>
            <a:r>
              <a:rPr lang="en-US" b="1" dirty="0"/>
              <a:t>how many contiguous subarrays of length </a:t>
            </a:r>
            <a:r>
              <a:rPr lang="en-US" b="1" dirty="0">
                <a:latin typeface="Courier New" panose="02070309020205020404" pitchFamily="49" charset="0"/>
              </a:rPr>
              <a:t>m</a:t>
            </a:r>
            <a:r>
              <a:rPr lang="en-US" dirty="0"/>
              <a:t> have a sum equal to </a:t>
            </a:r>
            <a:r>
              <a:rPr lang="en-US" dirty="0">
                <a:latin typeface="Courier New" panose="02070309020205020404" pitchFamily="49" charset="0"/>
              </a:rPr>
              <a:t>d</a:t>
            </a:r>
            <a:r>
              <a:rPr lang="en-US" dirty="0"/>
              <a:t>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 = [1, 2, 1, 3, 2]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d = 3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m =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33478B-4C9D-623C-9132-6C98E7F8922A}"/>
              </a:ext>
            </a:extLst>
          </p:cNvPr>
          <p:cNvSpPr txBox="1"/>
          <p:nvPr/>
        </p:nvSpPr>
        <p:spPr>
          <a:xfrm>
            <a:off x="186813" y="4067054"/>
            <a:ext cx="2654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Subarrays of length 2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43BAB91-E2CF-BAC8-7D5E-9B3864272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431656"/>
              </p:ext>
            </p:extLst>
          </p:nvPr>
        </p:nvGraphicFramePr>
        <p:xfrm>
          <a:off x="3136490" y="3086894"/>
          <a:ext cx="821731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08655">
                  <a:extLst>
                    <a:ext uri="{9D8B030D-6E8A-4147-A177-3AD203B41FA5}">
                      <a16:colId xmlns:a16="http://schemas.microsoft.com/office/drawing/2014/main" val="310359915"/>
                    </a:ext>
                  </a:extLst>
                </a:gridCol>
                <a:gridCol w="4108655">
                  <a:extLst>
                    <a:ext uri="{9D8B030D-6E8A-4147-A177-3AD203B41FA5}">
                      <a16:colId xmlns:a16="http://schemas.microsoft.com/office/drawing/2014/main" val="1287934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Subarray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4427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[1,2]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120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[2,1]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4718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[1,3]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048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[3,2]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5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5241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2AA5AA7-73EE-FDEA-03F3-EA4CC4C2A654}"/>
              </a:ext>
            </a:extLst>
          </p:cNvPr>
          <p:cNvSpPr txBox="1"/>
          <p:nvPr/>
        </p:nvSpPr>
        <p:spPr>
          <a:xfrm>
            <a:off x="373626" y="5448370"/>
            <a:ext cx="1465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Output </a:t>
            </a:r>
            <a:r>
              <a:rPr lang="en-IN" dirty="0">
                <a:latin typeface="Courier New" panose="02070309020205020404" pitchFamily="49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6041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D3B336-BD65-3A9E-8FB4-44D7F326678E}"/>
              </a:ext>
            </a:extLst>
          </p:cNvPr>
          <p:cNvSpPr txBox="1"/>
          <p:nvPr/>
        </p:nvSpPr>
        <p:spPr>
          <a:xfrm>
            <a:off x="275303" y="180482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Brute Force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Idea</a:t>
            </a:r>
          </a:p>
          <a:p>
            <a:pPr>
              <a:buNone/>
            </a:pPr>
            <a:r>
              <a:rPr lang="en-US" dirty="0"/>
              <a:t>Check the sum of </a:t>
            </a:r>
            <a:r>
              <a:rPr lang="en-US" b="1" dirty="0"/>
              <a:t>every subarray of length </a:t>
            </a:r>
            <a:r>
              <a:rPr lang="en-US" b="1" dirty="0">
                <a:latin typeface="Courier New" panose="02070309020205020404" pitchFamily="49" charset="0"/>
              </a:rPr>
              <a:t>m</a:t>
            </a:r>
            <a:r>
              <a:rPr lang="en-US" dirty="0"/>
              <a:t>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Loop starting index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each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/>
              <a:t>, calculate sum of next </a:t>
            </a:r>
            <a:r>
              <a:rPr lang="en-US" dirty="0">
                <a:latin typeface="Courier New" panose="02070309020205020404" pitchFamily="49" charset="0"/>
              </a:rPr>
              <a:t>m</a:t>
            </a:r>
            <a:r>
              <a:rPr lang="en-US" dirty="0"/>
              <a:t> elements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sum equals </a:t>
            </a:r>
            <a:r>
              <a:rPr lang="en-US" dirty="0">
                <a:latin typeface="Courier New" panose="02070309020205020404" pitchFamily="49" charset="0"/>
              </a:rPr>
              <a:t>d</a:t>
            </a:r>
            <a:r>
              <a:rPr lang="en-US" dirty="0"/>
              <a:t>, increment 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AA3A23-0560-35EE-2B53-F3CED3FE90C3}"/>
              </a:ext>
            </a:extLst>
          </p:cNvPr>
          <p:cNvSpPr txBox="1"/>
          <p:nvPr/>
        </p:nvSpPr>
        <p:spPr>
          <a:xfrm>
            <a:off x="275303" y="2863334"/>
            <a:ext cx="1799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Walkthrough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E338EE-FCD5-36DB-09DE-9298AD0DC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934295"/>
              </p:ext>
            </p:extLst>
          </p:nvPr>
        </p:nvGraphicFramePr>
        <p:xfrm>
          <a:off x="425244" y="3409025"/>
          <a:ext cx="105156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1213856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980372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476831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991205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Start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Subarray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4221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[1,2]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051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[2,1]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5437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[1,3]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9001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[3,2]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166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9380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EFC17B-E767-5BD5-07F8-C0A207B53D17}"/>
              </a:ext>
            </a:extLst>
          </p:cNvPr>
          <p:cNvSpPr txBox="1"/>
          <p:nvPr/>
        </p:nvSpPr>
        <p:spPr>
          <a:xfrm>
            <a:off x="393290" y="240323"/>
            <a:ext cx="37362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count = 0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0 to n-m: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sum = 0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for j =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to i+m-1: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sum = sum + s[j]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if sum == d: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count++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return 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AD9C94-0ABC-1137-B98E-2C46F421CA60}"/>
              </a:ext>
            </a:extLst>
          </p:cNvPr>
          <p:cNvSpPr txBox="1"/>
          <p:nvPr/>
        </p:nvSpPr>
        <p:spPr>
          <a:xfrm>
            <a:off x="393290" y="3293691"/>
            <a:ext cx="213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Complexity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Time: O(n * m)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Space: O(1)</a:t>
            </a:r>
          </a:p>
        </p:txBody>
      </p:sp>
    </p:spTree>
    <p:extLst>
      <p:ext uri="{BB962C8B-B14F-4D97-AF65-F5344CB8AC3E}">
        <p14:creationId xmlns:p14="http://schemas.microsoft.com/office/powerpoint/2010/main" val="190936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E2F89D-296C-CC64-CCDD-FA4A4CD65592}"/>
              </a:ext>
            </a:extLst>
          </p:cNvPr>
          <p:cNvSpPr txBox="1"/>
          <p:nvPr/>
        </p:nvSpPr>
        <p:spPr>
          <a:xfrm>
            <a:off x="117986" y="68935"/>
            <a:ext cx="489646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2: Optimal (Sliding Window)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Idea</a:t>
            </a:r>
          </a:p>
          <a:p>
            <a:pPr>
              <a:buNone/>
            </a:pPr>
            <a:r>
              <a:rPr lang="en-US" dirty="0"/>
              <a:t>Reuse the previous window sum by: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subtracting the element leaving the window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adding the element entering the window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Compute sum of first </a:t>
            </a:r>
            <a:r>
              <a:rPr lang="en-US" dirty="0">
                <a:latin typeface="Courier New" panose="02070309020205020404" pitchFamily="49" charset="0"/>
              </a:rPr>
              <a:t>m</a:t>
            </a:r>
            <a:r>
              <a:rPr lang="en-US" dirty="0"/>
              <a:t> elements</a:t>
            </a:r>
          </a:p>
          <a:p>
            <a:pPr>
              <a:buFont typeface="+mj-lt"/>
              <a:buAutoNum type="arabicPeriod"/>
            </a:pPr>
            <a:r>
              <a:rPr lang="en-US" dirty="0"/>
              <a:t>Slide the window one step at a time</a:t>
            </a:r>
          </a:p>
          <a:p>
            <a:pPr>
              <a:buFont typeface="+mj-lt"/>
              <a:buAutoNum type="arabicPeriod"/>
            </a:pPr>
            <a:r>
              <a:rPr lang="en-US" dirty="0"/>
              <a:t>Update sum using:</a:t>
            </a:r>
          </a:p>
          <a:p>
            <a:pPr rtl="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sum = sum - s[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-m] + s[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Compare sum with </a:t>
            </a:r>
            <a:r>
              <a:rPr lang="en-US" dirty="0">
                <a:latin typeface="Courier New" panose="02070309020205020404" pitchFamily="49" charset="0"/>
              </a:rPr>
              <a:t>d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6C2317-2B1B-BAA5-DA86-95102A5AC556}"/>
              </a:ext>
            </a:extLst>
          </p:cNvPr>
          <p:cNvSpPr txBox="1"/>
          <p:nvPr/>
        </p:nvSpPr>
        <p:spPr>
          <a:xfrm>
            <a:off x="5181600" y="68935"/>
            <a:ext cx="44835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Walkthrough (Precise)</a:t>
            </a:r>
          </a:p>
          <a:p>
            <a:pPr>
              <a:buNone/>
            </a:pPr>
            <a:r>
              <a:rPr lang="en-US" dirty="0"/>
              <a:t>Initial window: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[1,2] → sum = 3 → count = 1</a:t>
            </a:r>
          </a:p>
          <a:p>
            <a:pPr>
              <a:buNone/>
            </a:pPr>
            <a:r>
              <a:rPr lang="en-US" dirty="0"/>
              <a:t>Slide windows: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650628-3BBC-DDC0-871E-E1275B7B9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421928"/>
              </p:ext>
            </p:extLst>
          </p:nvPr>
        </p:nvGraphicFramePr>
        <p:xfrm>
          <a:off x="4908756" y="1269264"/>
          <a:ext cx="7086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1022687886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1884395687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067041429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42686146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6656270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Window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Remove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New 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5269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[2,1]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8358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[1,3]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838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[3,2]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7046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073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740D7D-8F22-BD5A-3273-75D28C6CA381}"/>
              </a:ext>
            </a:extLst>
          </p:cNvPr>
          <p:cNvSpPr txBox="1"/>
          <p:nvPr/>
        </p:nvSpPr>
        <p:spPr>
          <a:xfrm>
            <a:off x="206477" y="77921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count = 0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sum = 0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0 to m-1: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sum += s[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if sum == d: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count++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m to n-1: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sum = sum - s[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-m] + s[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if sum == d: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count++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return 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5D0AC3-F495-03ED-78D6-A4A969BFA550}"/>
              </a:ext>
            </a:extLst>
          </p:cNvPr>
          <p:cNvSpPr txBox="1"/>
          <p:nvPr/>
        </p:nvSpPr>
        <p:spPr>
          <a:xfrm>
            <a:off x="206477" y="4975574"/>
            <a:ext cx="2113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Complexity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Time: O(n)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Space: O(1)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F7976D-525E-8478-9571-1BD987A7A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311670"/>
              </p:ext>
            </p:extLst>
          </p:nvPr>
        </p:nvGraphicFramePr>
        <p:xfrm>
          <a:off x="3254477" y="5437239"/>
          <a:ext cx="7981335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60445">
                  <a:extLst>
                    <a:ext uri="{9D8B030D-6E8A-4147-A177-3AD203B41FA5}">
                      <a16:colId xmlns:a16="http://schemas.microsoft.com/office/drawing/2014/main" val="2331236999"/>
                    </a:ext>
                  </a:extLst>
                </a:gridCol>
                <a:gridCol w="2660445">
                  <a:extLst>
                    <a:ext uri="{9D8B030D-6E8A-4147-A177-3AD203B41FA5}">
                      <a16:colId xmlns:a16="http://schemas.microsoft.com/office/drawing/2014/main" val="1619603270"/>
                    </a:ext>
                  </a:extLst>
                </a:gridCol>
                <a:gridCol w="2660445">
                  <a:extLst>
                    <a:ext uri="{9D8B030D-6E8A-4147-A177-3AD203B41FA5}">
                      <a16:colId xmlns:a16="http://schemas.microsoft.com/office/drawing/2014/main" val="29874181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5696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Brute Force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697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Sliding Window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3033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341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8BFC79-B2A7-021A-2D8D-C59C20CD252D}"/>
              </a:ext>
            </a:extLst>
          </p:cNvPr>
          <p:cNvSpPr txBox="1"/>
          <p:nvPr/>
        </p:nvSpPr>
        <p:spPr>
          <a:xfrm>
            <a:off x="176981" y="24795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Migratory Birds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AD638F-15B4-6B3C-3366-CB7E66698908}"/>
              </a:ext>
            </a:extLst>
          </p:cNvPr>
          <p:cNvSpPr txBox="1"/>
          <p:nvPr/>
        </p:nvSpPr>
        <p:spPr>
          <a:xfrm>
            <a:off x="176981" y="794321"/>
            <a:ext cx="71578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You are given a list where each number represents a </a:t>
            </a:r>
            <a:r>
              <a:rPr lang="en-US" b="1" dirty="0"/>
              <a:t>bird type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You have to find: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bird type that appears the most times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there is a tie, return the </a:t>
            </a:r>
            <a:r>
              <a:rPr lang="en-US" b="1" dirty="0"/>
              <a:t>smallest bird ID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CE7C27-670A-CBC9-D5E7-CDCF716A09BF}"/>
              </a:ext>
            </a:extLst>
          </p:cNvPr>
          <p:cNvSpPr txBox="1"/>
          <p:nvPr/>
        </p:nvSpPr>
        <p:spPr>
          <a:xfrm>
            <a:off x="176981" y="235635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 = [1, 4, 4, 4, 5, 3]</a:t>
            </a:r>
          </a:p>
          <a:p>
            <a:pPr>
              <a:buNone/>
            </a:pPr>
            <a:r>
              <a:rPr lang="en-US" b="1" dirty="0"/>
              <a:t>Frequency Table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CCE9A86-B12C-C98F-3CD4-82F557D4C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682044"/>
              </p:ext>
            </p:extLst>
          </p:nvPr>
        </p:nvGraphicFramePr>
        <p:xfrm>
          <a:off x="248265" y="3641382"/>
          <a:ext cx="105156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41179571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657344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Bird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257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70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840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749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774381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2136122-F1FF-C6F3-F319-1AB96DF12C32}"/>
              </a:ext>
            </a:extLst>
          </p:cNvPr>
          <p:cNvSpPr txBox="1"/>
          <p:nvPr/>
        </p:nvSpPr>
        <p:spPr>
          <a:xfrm>
            <a:off x="248265" y="5740513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Output: </a:t>
            </a:r>
            <a:r>
              <a:rPr lang="en-IN" dirty="0">
                <a:latin typeface="Courier New" panose="02070309020205020404" pitchFamily="49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3143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A145D-EEE6-D3DF-4DD6-ECBCA4FAACC3}"/>
              </a:ext>
            </a:extLst>
          </p:cNvPr>
          <p:cNvSpPr txBox="1"/>
          <p:nvPr/>
        </p:nvSpPr>
        <p:spPr>
          <a:xfrm>
            <a:off x="68826" y="150985"/>
            <a:ext cx="569287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Brute Force Approach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Count frequency of each bird using nested loops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Track maximum count and smallest ID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For each bird type</a:t>
            </a:r>
          </a:p>
          <a:p>
            <a:pPr>
              <a:buFont typeface="+mj-lt"/>
              <a:buAutoNum type="arabicPeriod"/>
            </a:pPr>
            <a:r>
              <a:rPr lang="en-US" dirty="0"/>
              <a:t>Count its occurrences by scanning the array</a:t>
            </a:r>
          </a:p>
          <a:p>
            <a:pPr>
              <a:buFont typeface="+mj-lt"/>
              <a:buAutoNum type="arabicPeriod"/>
            </a:pPr>
            <a:r>
              <a:rPr lang="en-US" dirty="0"/>
              <a:t>Keep track of maximum frequency</a:t>
            </a:r>
          </a:p>
          <a:p>
            <a:pPr>
              <a:buFont typeface="+mj-lt"/>
              <a:buAutoNum type="arabicPeriod"/>
            </a:pPr>
            <a:r>
              <a:rPr lang="en-US" dirty="0"/>
              <a:t>Return smallest bird ID with max frequency</a:t>
            </a:r>
          </a:p>
        </p:txBody>
      </p:sp>
    </p:spTree>
    <p:extLst>
      <p:ext uri="{BB962C8B-B14F-4D97-AF65-F5344CB8AC3E}">
        <p14:creationId xmlns:p14="http://schemas.microsoft.com/office/powerpoint/2010/main" val="4236163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3044D5-0328-5124-5825-B8C5F0FAAF04}"/>
              </a:ext>
            </a:extLst>
          </p:cNvPr>
          <p:cNvSpPr txBox="1"/>
          <p:nvPr/>
        </p:nvSpPr>
        <p:spPr>
          <a:xfrm>
            <a:off x="511277" y="221165"/>
            <a:ext cx="1146441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Brute Force Pseudocode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maxCount</a:t>
            </a:r>
            <a:r>
              <a:rPr lang="en-US" dirty="0">
                <a:latin typeface="Courier New" panose="02070309020205020404" pitchFamily="49" charset="0"/>
              </a:rPr>
              <a:t> = 0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answer = INF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0 to n-1: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count = 0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for j = 0 to n-1: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if </a:t>
            </a: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 == </a:t>
            </a: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[j]: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    count++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if count &gt; </a:t>
            </a:r>
            <a:r>
              <a:rPr lang="en-US" dirty="0" err="1">
                <a:latin typeface="Courier New" panose="02070309020205020404" pitchFamily="49" charset="0"/>
              </a:rPr>
              <a:t>maxCount</a:t>
            </a:r>
            <a:r>
              <a:rPr lang="en-US" dirty="0">
                <a:latin typeface="Courier New" panose="02070309020205020404" pitchFamily="49" charset="0"/>
              </a:rPr>
              <a:t> OR (count == </a:t>
            </a:r>
            <a:r>
              <a:rPr lang="en-US" dirty="0" err="1">
                <a:latin typeface="Courier New" panose="02070309020205020404" pitchFamily="49" charset="0"/>
              </a:rPr>
              <a:t>maxCount</a:t>
            </a:r>
            <a:r>
              <a:rPr lang="en-US" dirty="0">
                <a:latin typeface="Courier New" panose="02070309020205020404" pitchFamily="49" charset="0"/>
              </a:rPr>
              <a:t> AND </a:t>
            </a: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 &lt; answer):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</a:rPr>
              <a:t>maxCount</a:t>
            </a:r>
            <a:r>
              <a:rPr lang="en-US" dirty="0">
                <a:latin typeface="Courier New" panose="02070309020205020404" pitchFamily="49" charset="0"/>
              </a:rPr>
              <a:t> = count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answer = </a:t>
            </a: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return answer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Brute Force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Time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O(n²)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Space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O(1)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594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7F17BB-F248-0F19-768F-DD9037CA45CA}"/>
              </a:ext>
            </a:extLst>
          </p:cNvPr>
          <p:cNvSpPr txBox="1"/>
          <p:nvPr/>
        </p:nvSpPr>
        <p:spPr>
          <a:xfrm>
            <a:off x="117986" y="91991"/>
            <a:ext cx="744301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Optimal Approach (Frequency Array)</a:t>
            </a:r>
          </a:p>
          <a:p>
            <a:pPr>
              <a:buNone/>
            </a:pPr>
            <a:r>
              <a:rPr lang="en-US" b="1" dirty="0"/>
              <a:t>Key Observation</a:t>
            </a:r>
          </a:p>
          <a:p>
            <a:pPr>
              <a:buNone/>
            </a:pPr>
            <a:r>
              <a:rPr lang="en-US" dirty="0"/>
              <a:t>Bird IDs are limited (usually 1–5), so we can use a </a:t>
            </a:r>
            <a:r>
              <a:rPr lang="en-US" b="1" dirty="0"/>
              <a:t>frequency array</a:t>
            </a:r>
            <a:r>
              <a:rPr lang="en-US" dirty="0"/>
              <a:t>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Optimal 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a frequency array</a:t>
            </a:r>
          </a:p>
          <a:p>
            <a:pPr>
              <a:buFont typeface="+mj-lt"/>
              <a:buAutoNum type="arabicPeriod"/>
            </a:pPr>
            <a:r>
              <a:rPr lang="en-US" dirty="0"/>
              <a:t>Count occurrences of each bird</a:t>
            </a:r>
          </a:p>
          <a:p>
            <a:pPr>
              <a:buFont typeface="+mj-lt"/>
              <a:buAutoNum type="arabicPeriod"/>
            </a:pPr>
            <a:r>
              <a:rPr lang="en-US" dirty="0"/>
              <a:t>Traverse frequency array</a:t>
            </a:r>
          </a:p>
          <a:p>
            <a:pPr>
              <a:buFont typeface="+mj-lt"/>
              <a:buAutoNum type="arabicPeriod"/>
            </a:pPr>
            <a:r>
              <a:rPr lang="en-US" dirty="0"/>
              <a:t>Return smallest bird ID with max frequency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6BCC1-7EAC-DF85-A90D-CA396C9F62D9}"/>
              </a:ext>
            </a:extLst>
          </p:cNvPr>
          <p:cNvSpPr txBox="1"/>
          <p:nvPr/>
        </p:nvSpPr>
        <p:spPr>
          <a:xfrm>
            <a:off x="117986" y="28288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Optimal Walkthrough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 = [1, 4, 4, 4, 5, 3]</a:t>
            </a:r>
          </a:p>
          <a:p>
            <a:pPr>
              <a:buNone/>
            </a:pPr>
            <a:r>
              <a:rPr lang="en-US" b="1" dirty="0"/>
              <a:t>Step 1: Frequency Count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0CC2CE-DAE0-5290-14BF-E5C69A4CB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467935"/>
              </p:ext>
            </p:extLst>
          </p:nvPr>
        </p:nvGraphicFramePr>
        <p:xfrm>
          <a:off x="117986" y="4251033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06411488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096423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Bird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4646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529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870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11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3926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7409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561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DF9C8A-61CE-8FB5-211B-D477E07F1967}"/>
              </a:ext>
            </a:extLst>
          </p:cNvPr>
          <p:cNvSpPr txBox="1"/>
          <p:nvPr/>
        </p:nvSpPr>
        <p:spPr>
          <a:xfrm>
            <a:off x="167149" y="177432"/>
            <a:ext cx="41000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2: Find Max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Maximum frequency = </a:t>
            </a:r>
            <a:r>
              <a:rPr lang="en-US" dirty="0">
                <a:latin typeface="Courier New" panose="02070309020205020404" pitchFamily="49" charset="0"/>
              </a:rPr>
              <a:t>3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Smallest bird with frequency 3 = </a:t>
            </a:r>
            <a:r>
              <a:rPr lang="en-US" dirty="0">
                <a:latin typeface="Courier New" panose="02070309020205020404" pitchFamily="49" charset="0"/>
              </a:rPr>
              <a:t>4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8B016B-AA89-A328-3415-AECED46B865F}"/>
              </a:ext>
            </a:extLst>
          </p:cNvPr>
          <p:cNvSpPr txBox="1"/>
          <p:nvPr/>
        </p:nvSpPr>
        <p:spPr>
          <a:xfrm>
            <a:off x="167149" y="1100762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Optimal Pseudocode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freq</a:t>
            </a:r>
            <a:r>
              <a:rPr lang="en-IN" dirty="0">
                <a:latin typeface="Courier New" panose="02070309020205020404" pitchFamily="49" charset="0"/>
              </a:rPr>
              <a:t>[6] = {0}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bird in </a:t>
            </a:r>
            <a:r>
              <a:rPr lang="en-IN" dirty="0" err="1">
                <a:latin typeface="Courier New" panose="02070309020205020404" pitchFamily="49" charset="0"/>
              </a:rPr>
              <a:t>arr</a:t>
            </a:r>
            <a:r>
              <a:rPr lang="en-IN" dirty="0">
                <a:latin typeface="Courier New" panose="02070309020205020404" pitchFamily="49" charset="0"/>
              </a:rPr>
              <a:t>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freq</a:t>
            </a:r>
            <a:r>
              <a:rPr lang="en-IN" dirty="0">
                <a:latin typeface="Courier New" panose="02070309020205020404" pitchFamily="49" charset="0"/>
              </a:rPr>
              <a:t>[bird]++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maxFreq</a:t>
            </a:r>
            <a:r>
              <a:rPr lang="en-IN" dirty="0">
                <a:latin typeface="Courier New" panose="02070309020205020404" pitchFamily="49" charset="0"/>
              </a:rPr>
              <a:t> = 0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result = 0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1 to 5: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if </a:t>
            </a:r>
            <a:r>
              <a:rPr lang="en-IN" dirty="0" err="1">
                <a:latin typeface="Courier New" panose="02070309020205020404" pitchFamily="49" charset="0"/>
              </a:rPr>
              <a:t>freq</a:t>
            </a:r>
            <a:r>
              <a:rPr lang="en-IN" dirty="0">
                <a:latin typeface="Courier New" panose="02070309020205020404" pitchFamily="49" charset="0"/>
              </a:rPr>
              <a:t>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 &gt; </a:t>
            </a:r>
            <a:r>
              <a:rPr lang="en-IN" dirty="0" err="1">
                <a:latin typeface="Courier New" panose="02070309020205020404" pitchFamily="49" charset="0"/>
              </a:rPr>
              <a:t>maxFreq</a:t>
            </a:r>
            <a:r>
              <a:rPr lang="en-IN" dirty="0">
                <a:latin typeface="Courier New" panose="02070309020205020404" pitchFamily="49" charset="0"/>
              </a:rPr>
              <a:t>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</a:t>
            </a:r>
            <a:r>
              <a:rPr lang="en-IN" dirty="0" err="1">
                <a:latin typeface="Courier New" panose="02070309020205020404" pitchFamily="49" charset="0"/>
              </a:rPr>
              <a:t>maxFreq</a:t>
            </a:r>
            <a:r>
              <a:rPr lang="en-IN" dirty="0">
                <a:latin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</a:rPr>
              <a:t>freq</a:t>
            </a:r>
            <a:r>
              <a:rPr lang="en-IN" dirty="0">
                <a:latin typeface="Courier New" panose="02070309020205020404" pitchFamily="49" charset="0"/>
              </a:rPr>
              <a:t>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result =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return result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Complexity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F5ECC9-8517-11D5-B924-B338B4131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049387"/>
              </p:ext>
            </p:extLst>
          </p:nvPr>
        </p:nvGraphicFramePr>
        <p:xfrm>
          <a:off x="1841090" y="5706003"/>
          <a:ext cx="8876072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38036">
                  <a:extLst>
                    <a:ext uri="{9D8B030D-6E8A-4147-A177-3AD203B41FA5}">
                      <a16:colId xmlns:a16="http://schemas.microsoft.com/office/drawing/2014/main" val="1390064190"/>
                    </a:ext>
                  </a:extLst>
                </a:gridCol>
                <a:gridCol w="4438036">
                  <a:extLst>
                    <a:ext uri="{9D8B030D-6E8A-4147-A177-3AD203B41FA5}">
                      <a16:colId xmlns:a16="http://schemas.microsoft.com/office/drawing/2014/main" val="38447132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068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743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1282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44166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66FF2B-6AAC-8B1F-E4EB-EFFC487FC10F}"/>
              </a:ext>
            </a:extLst>
          </p:cNvPr>
          <p:cNvSpPr txBox="1"/>
          <p:nvPr/>
        </p:nvSpPr>
        <p:spPr>
          <a:xfrm>
            <a:off x="127819" y="176981"/>
            <a:ext cx="658761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Day of the Programmer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Given a year </a:t>
            </a:r>
            <a:r>
              <a:rPr lang="en-US" dirty="0">
                <a:latin typeface="Courier New" panose="02070309020205020404" pitchFamily="49" charset="0"/>
              </a:rPr>
              <a:t>y</a:t>
            </a:r>
            <a:r>
              <a:rPr lang="en-US" dirty="0"/>
              <a:t>, find the </a:t>
            </a:r>
            <a:r>
              <a:rPr lang="en-US" b="1" dirty="0"/>
              <a:t>256th day of that year</a:t>
            </a:r>
            <a:r>
              <a:rPr lang="en-US" dirty="0"/>
              <a:t> according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Julian calendar</a:t>
            </a:r>
            <a:r>
              <a:rPr lang="en-US" dirty="0"/>
              <a:t> → before 1918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Gregorian calendar</a:t>
            </a:r>
            <a:r>
              <a:rPr lang="en-US" dirty="0"/>
              <a:t> → after 1918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1918</a:t>
            </a:r>
            <a:r>
              <a:rPr lang="en-US" dirty="0"/>
              <a:t> is special (calendar transition year in Russia)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Key Rules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FF1AA9-A14F-4C6F-7E08-6C20B1061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971316"/>
              </p:ext>
            </p:extLst>
          </p:nvPr>
        </p:nvGraphicFramePr>
        <p:xfrm>
          <a:off x="425245" y="2762304"/>
          <a:ext cx="1144229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721145">
                  <a:extLst>
                    <a:ext uri="{9D8B030D-6E8A-4147-A177-3AD203B41FA5}">
                      <a16:colId xmlns:a16="http://schemas.microsoft.com/office/drawing/2014/main" val="3728637736"/>
                    </a:ext>
                  </a:extLst>
                </a:gridCol>
                <a:gridCol w="5721145">
                  <a:extLst>
                    <a:ext uri="{9D8B030D-6E8A-4147-A177-3AD203B41FA5}">
                      <a16:colId xmlns:a16="http://schemas.microsoft.com/office/drawing/2014/main" val="11072585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Year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Condition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496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Julian Leap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year % 4 ==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6822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Gregorian Leap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year % 400 == 0 OR (year % 4 == 0 AND year % 100 != 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7586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February has 15 days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84287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554C9A7-5AC2-7397-3A4B-BCA8D006B4C1}"/>
              </a:ext>
            </a:extLst>
          </p:cNvPr>
          <p:cNvSpPr txBox="1"/>
          <p:nvPr/>
        </p:nvSpPr>
        <p:spPr>
          <a:xfrm>
            <a:off x="275303" y="4511762"/>
            <a:ext cx="26940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year = 2017</a:t>
            </a:r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13.09.2017</a:t>
            </a:r>
          </a:p>
        </p:txBody>
      </p:sp>
    </p:spTree>
    <p:extLst>
      <p:ext uri="{BB962C8B-B14F-4D97-AF65-F5344CB8AC3E}">
        <p14:creationId xmlns:p14="http://schemas.microsoft.com/office/powerpoint/2010/main" val="4191742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970DB4-CC5B-3A57-20AE-22E6829D48F9}"/>
              </a:ext>
            </a:extLst>
          </p:cNvPr>
          <p:cNvSpPr txBox="1"/>
          <p:nvPr/>
        </p:nvSpPr>
        <p:spPr>
          <a:xfrm>
            <a:off x="176981" y="76225"/>
            <a:ext cx="907517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Brute Force Approach</a:t>
            </a:r>
          </a:p>
          <a:p>
            <a:pPr>
              <a:buNone/>
            </a:pPr>
            <a:r>
              <a:rPr lang="en-US" sz="2400" b="1" dirty="0"/>
              <a:t>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Simulate days month by month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Subtract days until reaching 256</a:t>
            </a:r>
          </a:p>
          <a:p>
            <a:pPr>
              <a:buNone/>
            </a:pPr>
            <a:br>
              <a:rPr lang="en-US" sz="2400" dirty="0"/>
            </a:br>
            <a:endParaRPr lang="en-US" sz="2400" dirty="0"/>
          </a:p>
          <a:p>
            <a:pPr>
              <a:buNone/>
            </a:pPr>
            <a:r>
              <a:rPr lang="en-US" sz="2400" b="1" dirty="0"/>
              <a:t>Brute Force Pseudocode</a:t>
            </a:r>
          </a:p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days = 256</a:t>
            </a:r>
          </a:p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for each month:</a:t>
            </a:r>
          </a:p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    days -= </a:t>
            </a:r>
            <a:r>
              <a:rPr lang="en-US" sz="2400" dirty="0" err="1">
                <a:latin typeface="Courier New" panose="02070309020205020404" pitchFamily="49" charset="0"/>
              </a:rPr>
              <a:t>daysInMonth</a:t>
            </a:r>
            <a:endParaRPr lang="en-US" sz="24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    if days &lt;= 0:</a:t>
            </a:r>
          </a:p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        print date</a:t>
            </a:r>
          </a:p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        break</a:t>
            </a:r>
          </a:p>
          <a:p>
            <a:pPr>
              <a:buNone/>
            </a:pPr>
            <a:br>
              <a:rPr lang="en-US" sz="2400" dirty="0"/>
            </a:br>
            <a:endParaRPr lang="en-US" sz="2400" dirty="0"/>
          </a:p>
          <a:p>
            <a:pPr>
              <a:buNone/>
            </a:pPr>
            <a:r>
              <a:rPr lang="en-US" sz="2400" b="1" dirty="0"/>
              <a:t>Brute Force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Time</a:t>
            </a:r>
            <a:r>
              <a:rPr lang="en-US" sz="2400" dirty="0"/>
              <a:t>: </a:t>
            </a:r>
            <a:r>
              <a:rPr lang="en-US" sz="2400" dirty="0">
                <a:latin typeface="Courier New" panose="02070309020205020404" pitchFamily="49" charset="0"/>
              </a:rPr>
              <a:t>O(12)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Space</a:t>
            </a:r>
            <a:r>
              <a:rPr lang="en-US" sz="2400" dirty="0"/>
              <a:t>: </a:t>
            </a:r>
            <a:r>
              <a:rPr lang="en-US" sz="2400" dirty="0">
                <a:latin typeface="Courier New" panose="02070309020205020404" pitchFamily="49" charset="0"/>
              </a:rPr>
              <a:t>O(1)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81738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1A3434-CCF1-666D-4E96-AA7E748CC8B8}"/>
              </a:ext>
            </a:extLst>
          </p:cNvPr>
          <p:cNvSpPr txBox="1"/>
          <p:nvPr/>
        </p:nvSpPr>
        <p:spPr>
          <a:xfrm>
            <a:off x="7128387" y="428491"/>
            <a:ext cx="431636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Optimal Walkthrough</a:t>
            </a:r>
          </a:p>
          <a:p>
            <a:pPr>
              <a:buNone/>
            </a:pPr>
            <a:r>
              <a:rPr lang="en-US" b="1" dirty="0"/>
              <a:t>Case 1: Normal Gregorian Year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Days till August = 243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256 - 243 = 13</a:t>
            </a:r>
          </a:p>
          <a:p>
            <a:pPr>
              <a:buNone/>
            </a:pPr>
            <a:r>
              <a:rPr lang="en-US" dirty="0"/>
              <a:t>Date: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13.09.year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Case 2: Leap Year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Days till August = 244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256 - 244 = 12</a:t>
            </a:r>
          </a:p>
          <a:p>
            <a:pPr>
              <a:buNone/>
            </a:pPr>
            <a:r>
              <a:rPr lang="en-US" dirty="0"/>
              <a:t>Date: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12.09.year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Case 3: Year 1918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Days till August = 230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256 - 230 = 26</a:t>
            </a:r>
          </a:p>
          <a:p>
            <a:pPr>
              <a:buNone/>
            </a:pPr>
            <a:r>
              <a:rPr lang="en-US" dirty="0"/>
              <a:t>Date: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26.09.1918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311F68-B60A-151C-3B12-61A26A9FF9EB}"/>
              </a:ext>
            </a:extLst>
          </p:cNvPr>
          <p:cNvSpPr txBox="1"/>
          <p:nvPr/>
        </p:nvSpPr>
        <p:spPr>
          <a:xfrm>
            <a:off x="265451" y="1094883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Optimal Approach (Direct Formula)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Key Insight</a:t>
            </a:r>
          </a:p>
          <a:p>
            <a:pPr>
              <a:buNone/>
            </a:pPr>
            <a:r>
              <a:rPr lang="en-US" dirty="0"/>
              <a:t>Only </a:t>
            </a:r>
            <a:r>
              <a:rPr lang="en-US" b="1" dirty="0"/>
              <a:t>February changes</a:t>
            </a:r>
            <a:r>
              <a:rPr lang="en-US" dirty="0"/>
              <a:t>; all other months are fixed.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Optimal 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Determine calendar type</a:t>
            </a:r>
          </a:p>
          <a:p>
            <a:pPr>
              <a:buFont typeface="+mj-lt"/>
              <a:buAutoNum type="arabicPeriod"/>
            </a:pPr>
            <a:r>
              <a:rPr lang="en-US" dirty="0"/>
              <a:t>Decide days in February</a:t>
            </a:r>
          </a:p>
          <a:p>
            <a:pPr>
              <a:buFont typeface="+mj-lt"/>
              <a:buAutoNum type="arabicPeriod"/>
            </a:pPr>
            <a:r>
              <a:rPr lang="en-US" dirty="0"/>
              <a:t>Sum days from Jan–Aug</a:t>
            </a:r>
          </a:p>
          <a:p>
            <a:pPr>
              <a:buFont typeface="+mj-lt"/>
              <a:buAutoNum type="arabicPeriod"/>
            </a:pPr>
            <a:r>
              <a:rPr lang="en-US" dirty="0"/>
              <a:t>Subtract from 256</a:t>
            </a:r>
          </a:p>
          <a:p>
            <a:pPr>
              <a:buFont typeface="+mj-lt"/>
              <a:buAutoNum type="arabicPeriod"/>
            </a:pPr>
            <a:r>
              <a:rPr lang="en-US" dirty="0"/>
              <a:t>Remaining days → September date</a:t>
            </a:r>
          </a:p>
        </p:txBody>
      </p:sp>
    </p:spTree>
    <p:extLst>
      <p:ext uri="{BB962C8B-B14F-4D97-AF65-F5344CB8AC3E}">
        <p14:creationId xmlns:p14="http://schemas.microsoft.com/office/powerpoint/2010/main" val="52983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FDCFAF-AE7E-E3CB-9987-163B75EAE6C1}"/>
              </a:ext>
            </a:extLst>
          </p:cNvPr>
          <p:cNvSpPr txBox="1"/>
          <p:nvPr/>
        </p:nvSpPr>
        <p:spPr>
          <a:xfrm>
            <a:off x="206477" y="24286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Optimal 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if year == 1918: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print "26.09.1918"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else if </a:t>
            </a:r>
            <a:r>
              <a:rPr lang="en-US" dirty="0" err="1">
                <a:latin typeface="Courier New" panose="02070309020205020404" pitchFamily="49" charset="0"/>
              </a:rPr>
              <a:t>leapYear</a:t>
            </a:r>
            <a:r>
              <a:rPr lang="en-US" dirty="0">
                <a:latin typeface="Courier New" panose="02070309020205020404" pitchFamily="49" charset="0"/>
              </a:rPr>
              <a:t>(year):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print "12.09.year"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else: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print "13.09.year"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6921B0-4663-420A-1B09-BBFEF8F7B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250925"/>
              </p:ext>
            </p:extLst>
          </p:nvPr>
        </p:nvGraphicFramePr>
        <p:xfrm>
          <a:off x="476864" y="3156894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9525523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64768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757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8840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858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C527218-42F3-D07F-D44D-CB26E2C25780}"/>
              </a:ext>
            </a:extLst>
          </p:cNvPr>
          <p:cNvSpPr txBox="1"/>
          <p:nvPr/>
        </p:nvSpPr>
        <p:spPr>
          <a:xfrm>
            <a:off x="353961" y="24413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</p:spTree>
    <p:extLst>
      <p:ext uri="{BB962C8B-B14F-4D97-AF65-F5344CB8AC3E}">
        <p14:creationId xmlns:p14="http://schemas.microsoft.com/office/powerpoint/2010/main" val="1148404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9AF75A-D363-1954-C947-B65D3F5BF7B5}"/>
              </a:ext>
            </a:extLst>
          </p:cNvPr>
          <p:cNvSpPr txBox="1"/>
          <p:nvPr/>
        </p:nvSpPr>
        <p:spPr>
          <a:xfrm>
            <a:off x="176981" y="226142"/>
            <a:ext cx="8967019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Bon Appétit (</a:t>
            </a:r>
            <a:r>
              <a:rPr lang="en-US" b="1" dirty="0" err="1"/>
              <a:t>HackerRank</a:t>
            </a:r>
            <a:r>
              <a:rPr lang="en-US" b="1" dirty="0"/>
              <a:t>)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Anna and Brian went out to eat.</a:t>
            </a:r>
            <a:br>
              <a:rPr lang="en-US" dirty="0"/>
            </a:br>
            <a:r>
              <a:rPr lang="en-US" dirty="0"/>
              <a:t>They shared the bill </a:t>
            </a:r>
            <a:r>
              <a:rPr lang="en-US" b="1" dirty="0"/>
              <a:t>except one item</a:t>
            </a:r>
            <a:r>
              <a:rPr lang="en-US" dirty="0"/>
              <a:t> that Anna did </a:t>
            </a:r>
            <a:r>
              <a:rPr lang="en-US" b="1" dirty="0"/>
              <a:t>not eat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Brian charged Anna some amount </a:t>
            </a:r>
            <a:r>
              <a:rPr lang="en-US" dirty="0" err="1">
                <a:latin typeface="Courier New" panose="02070309020205020404" pitchFamily="49" charset="0"/>
              </a:rPr>
              <a:t>b_charged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Your task is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 if Brian charged Anna </a:t>
            </a:r>
            <a:r>
              <a:rPr lang="en-US" b="1" dirty="0"/>
              <a:t>correctly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not, print the </a:t>
            </a:r>
            <a:r>
              <a:rPr lang="en-US" b="1" dirty="0"/>
              <a:t>extra amount</a:t>
            </a:r>
            <a:r>
              <a:rPr lang="en-US" dirty="0"/>
              <a:t> Anna was charged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correct, print </a:t>
            </a:r>
            <a:r>
              <a:rPr lang="en-US" b="1" dirty="0">
                <a:latin typeface="Courier New" panose="02070309020205020404" pitchFamily="49" charset="0"/>
              </a:rPr>
              <a:t>Bon Appetit</a:t>
            </a:r>
            <a:endParaRPr lang="en-US" dirty="0"/>
          </a:p>
          <a:p>
            <a:pPr>
              <a:buNone/>
            </a:pPr>
            <a:br>
              <a:rPr lang="en-US" dirty="0"/>
            </a:br>
            <a:r>
              <a:rPr lang="en-US" b="1" dirty="0"/>
              <a:t>Input Explanation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bill[]</a:t>
            </a:r>
            <a:r>
              <a:rPr lang="en-US" dirty="0"/>
              <a:t> → cost of each item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k</a:t>
            </a:r>
            <a:r>
              <a:rPr lang="en-US" dirty="0"/>
              <a:t> → index of item Anna didn’t eat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b_charged</a:t>
            </a:r>
            <a:r>
              <a:rPr lang="en-US" dirty="0"/>
              <a:t> → amount Brian charged Anna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bill = [3, 10, 2, 9]</a:t>
            </a:r>
          </a:p>
          <a:p>
            <a:pPr>
              <a:buNone/>
            </a:pPr>
            <a:r>
              <a:rPr lang="en-US" dirty="0"/>
              <a:t>k = 1</a:t>
            </a:r>
          </a:p>
          <a:p>
            <a:pPr>
              <a:buNone/>
            </a:pPr>
            <a:r>
              <a:rPr lang="en-US" dirty="0" err="1"/>
              <a:t>b_charged</a:t>
            </a:r>
            <a:r>
              <a:rPr lang="en-US" dirty="0"/>
              <a:t> = 12</a:t>
            </a:r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8021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0BAF89-D150-F52B-A44C-DBEF594B3AAA}"/>
              </a:ext>
            </a:extLst>
          </p:cNvPr>
          <p:cNvSpPr txBox="1"/>
          <p:nvPr/>
        </p:nvSpPr>
        <p:spPr>
          <a:xfrm>
            <a:off x="117987" y="75719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Explanation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Item at index </a:t>
            </a:r>
            <a:r>
              <a:rPr lang="en-US" dirty="0">
                <a:latin typeface="Courier New" panose="02070309020205020404" pitchFamily="49" charset="0"/>
              </a:rPr>
              <a:t>1</a:t>
            </a:r>
            <a:r>
              <a:rPr lang="en-US" dirty="0"/>
              <a:t> (cost = 10) not eaten by Anna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Sum of eaten items = </a:t>
            </a:r>
            <a:r>
              <a:rPr lang="en-US" dirty="0">
                <a:latin typeface="Courier New" panose="02070309020205020404" pitchFamily="49" charset="0"/>
              </a:rPr>
              <a:t>3 + 2 + 9 = 14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Anna should pay = </a:t>
            </a:r>
            <a:r>
              <a:rPr lang="en-US" dirty="0">
                <a:latin typeface="Courier New" panose="02070309020205020404" pitchFamily="49" charset="0"/>
              </a:rPr>
              <a:t>14 / 2 = 7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Brian charged = </a:t>
            </a:r>
            <a:r>
              <a:rPr lang="en-US" dirty="0">
                <a:latin typeface="Courier New" panose="02070309020205020404" pitchFamily="49" charset="0"/>
              </a:rPr>
              <a:t>12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C5940-4370-C032-3E1D-9E3EE65EA3C5}"/>
              </a:ext>
            </a:extLst>
          </p:cNvPr>
          <p:cNvSpPr txBox="1"/>
          <p:nvPr/>
        </p:nvSpPr>
        <p:spPr>
          <a:xfrm>
            <a:off x="157317" y="2252771"/>
            <a:ext cx="1136609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APPROACH: Direct Calculation (Optimal)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Key Idea</a:t>
            </a:r>
          </a:p>
          <a:p>
            <a:pPr>
              <a:buFont typeface="+mj-lt"/>
              <a:buAutoNum type="arabicPeriod"/>
            </a:pPr>
            <a:r>
              <a:rPr lang="en-US" dirty="0"/>
              <a:t>Exclude the item Anna didn’t eat</a:t>
            </a:r>
          </a:p>
          <a:p>
            <a:pPr>
              <a:buFont typeface="+mj-lt"/>
              <a:buAutoNum type="arabicPeriod"/>
            </a:pPr>
            <a:r>
              <a:rPr lang="en-US" dirty="0"/>
              <a:t>Divide remaining sum by 2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Compare with charged amount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Initialize </a:t>
            </a:r>
            <a:r>
              <a:rPr lang="en-US" dirty="0">
                <a:latin typeface="Courier New" panose="02070309020205020404" pitchFamily="49" charset="0"/>
              </a:rPr>
              <a:t>sum = 0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Traverse the bill: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If index ≠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r>
              <a:rPr lang="en-US" dirty="0"/>
              <a:t>, add price to sum</a:t>
            </a:r>
          </a:p>
          <a:p>
            <a:pPr>
              <a:buFont typeface="+mj-lt"/>
              <a:buAutoNum type="arabicPeriod"/>
            </a:pPr>
            <a:r>
              <a:rPr lang="en-US" dirty="0"/>
              <a:t>Calculate </a:t>
            </a:r>
            <a:r>
              <a:rPr lang="en-US" dirty="0" err="1">
                <a:latin typeface="Courier New" panose="02070309020205020404" pitchFamily="49" charset="0"/>
              </a:rPr>
              <a:t>actual_share</a:t>
            </a:r>
            <a:r>
              <a:rPr lang="en-US" dirty="0">
                <a:latin typeface="Courier New" panose="02070309020205020404" pitchFamily="49" charset="0"/>
              </a:rPr>
              <a:t> = sum / 2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 err="1">
                <a:latin typeface="Courier New" panose="02070309020205020404" pitchFamily="49" charset="0"/>
              </a:rPr>
              <a:t>actual_share</a:t>
            </a:r>
            <a:r>
              <a:rPr lang="en-US" dirty="0">
                <a:latin typeface="Courier New" panose="02070309020205020404" pitchFamily="49" charset="0"/>
              </a:rPr>
              <a:t> == </a:t>
            </a:r>
            <a:r>
              <a:rPr lang="en-US" dirty="0" err="1">
                <a:latin typeface="Courier New" panose="02070309020205020404" pitchFamily="49" charset="0"/>
              </a:rPr>
              <a:t>b_charged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Print </a:t>
            </a:r>
            <a:r>
              <a:rPr lang="en-US" dirty="0">
                <a:latin typeface="Courier New" panose="02070309020205020404" pitchFamily="49" charset="0"/>
              </a:rPr>
              <a:t>"Bon Appetit"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Else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Print </a:t>
            </a:r>
            <a:r>
              <a:rPr lang="en-US" dirty="0" err="1">
                <a:latin typeface="Courier New" panose="02070309020205020404" pitchFamily="49" charset="0"/>
              </a:rPr>
              <a:t>b_charged</a:t>
            </a:r>
            <a:r>
              <a:rPr lang="en-US" dirty="0">
                <a:latin typeface="Courier New" panose="02070309020205020404" pitchFamily="49" charset="0"/>
              </a:rPr>
              <a:t> - </a:t>
            </a:r>
            <a:r>
              <a:rPr lang="en-US" dirty="0" err="1">
                <a:latin typeface="Courier New" panose="02070309020205020404" pitchFamily="49" charset="0"/>
              </a:rPr>
              <a:t>actual_share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010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B52FA4-D903-E325-4B2D-D61B67558B5C}"/>
              </a:ext>
            </a:extLst>
          </p:cNvPr>
          <p:cNvSpPr txBox="1"/>
          <p:nvPr/>
        </p:nvSpPr>
        <p:spPr>
          <a:xfrm>
            <a:off x="196639" y="1487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Walkthrough (Table)</a:t>
            </a:r>
          </a:p>
          <a:p>
            <a:pPr>
              <a:buNone/>
            </a:pPr>
            <a:r>
              <a:rPr lang="en-US" b="1" dirty="0"/>
              <a:t>bill = </a:t>
            </a:r>
            <a:r>
              <a:rPr lang="en-US" b="1" dirty="0">
                <a:latin typeface="Courier New" panose="02070309020205020404" pitchFamily="49" charset="0"/>
              </a:rPr>
              <a:t>[3, 10, 2, 9]</a:t>
            </a:r>
            <a:r>
              <a:rPr lang="en-US" b="1" dirty="0"/>
              <a:t>, k =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B8A1A4-D6EA-261D-BF5B-2F84AD0DF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480050"/>
              </p:ext>
            </p:extLst>
          </p:nvPr>
        </p:nvGraphicFramePr>
        <p:xfrm>
          <a:off x="196639" y="923797"/>
          <a:ext cx="105156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1216007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533205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5937411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969963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Included?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Running Sum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846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805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7915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0387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75132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0822041-7F40-14C8-C1E2-28182F94512A}"/>
              </a:ext>
            </a:extLst>
          </p:cNvPr>
          <p:cNvSpPr txBox="1"/>
          <p:nvPr/>
        </p:nvSpPr>
        <p:spPr>
          <a:xfrm>
            <a:off x="196639" y="288128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Actual share = </a:t>
            </a:r>
            <a:r>
              <a:rPr lang="en-US" dirty="0">
                <a:latin typeface="Courier New" panose="02070309020205020404" pitchFamily="49" charset="0"/>
              </a:rPr>
              <a:t>14 / 2 = 7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Charged = </a:t>
            </a:r>
            <a:r>
              <a:rPr lang="en-US" dirty="0">
                <a:latin typeface="Courier New" panose="02070309020205020404" pitchFamily="49" charset="0"/>
              </a:rPr>
              <a:t>12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Overcharged = </a:t>
            </a:r>
            <a:r>
              <a:rPr lang="en-US" dirty="0">
                <a:latin typeface="Courier New" panose="02070309020205020404" pitchFamily="49" charset="0"/>
              </a:rPr>
              <a:t>12 - 7 =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986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33D9479-CC82-D01C-F5E1-C7D9CD89A0A6}"/>
              </a:ext>
            </a:extLst>
          </p:cNvPr>
          <p:cNvSpPr txBox="1"/>
          <p:nvPr/>
        </p:nvSpPr>
        <p:spPr>
          <a:xfrm>
            <a:off x="88490" y="0"/>
            <a:ext cx="801329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Pseudocode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sum = 0</a:t>
            </a:r>
          </a:p>
          <a:p>
            <a:endParaRPr lang="en-US" dirty="0"/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= 0 to </a:t>
            </a:r>
            <a:r>
              <a:rPr lang="en-US" dirty="0" err="1"/>
              <a:t>bill.size</a:t>
            </a:r>
            <a:r>
              <a:rPr lang="en-US" dirty="0"/>
              <a:t>() - 1:</a:t>
            </a:r>
          </a:p>
          <a:p>
            <a:r>
              <a:rPr lang="en-US" dirty="0"/>
              <a:t>    if </a:t>
            </a:r>
            <a:r>
              <a:rPr lang="en-US" dirty="0" err="1"/>
              <a:t>i</a:t>
            </a:r>
            <a:r>
              <a:rPr lang="en-US" dirty="0"/>
              <a:t> != k:</a:t>
            </a:r>
          </a:p>
          <a:p>
            <a:r>
              <a:rPr lang="en-US" dirty="0"/>
              <a:t>        sum = sum + bill[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dirty="0" err="1"/>
              <a:t>actual_share</a:t>
            </a:r>
            <a:r>
              <a:rPr lang="en-US" dirty="0"/>
              <a:t> = sum / 2</a:t>
            </a:r>
          </a:p>
          <a:p>
            <a:endParaRPr lang="en-US" dirty="0"/>
          </a:p>
          <a:p>
            <a:r>
              <a:rPr lang="en-US" dirty="0"/>
              <a:t>if </a:t>
            </a:r>
            <a:r>
              <a:rPr lang="en-US" dirty="0" err="1"/>
              <a:t>actual_share</a:t>
            </a:r>
            <a:r>
              <a:rPr lang="en-US" dirty="0"/>
              <a:t> == </a:t>
            </a:r>
            <a:r>
              <a:rPr lang="en-US" dirty="0" err="1"/>
              <a:t>b_charged</a:t>
            </a:r>
            <a:r>
              <a:rPr lang="en-US" dirty="0"/>
              <a:t>:</a:t>
            </a:r>
          </a:p>
          <a:p>
            <a:r>
              <a:rPr lang="en-US" dirty="0"/>
              <a:t>    print "Bon Appetit"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    print </a:t>
            </a:r>
            <a:r>
              <a:rPr lang="en-US" dirty="0" err="1"/>
              <a:t>b_charged</a:t>
            </a:r>
            <a:r>
              <a:rPr lang="en-US" dirty="0"/>
              <a:t> - </a:t>
            </a:r>
            <a:r>
              <a:rPr lang="en-US" dirty="0" err="1"/>
              <a:t>actual_share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B951AC-F1CD-8740-719C-15A97FA98ECB}"/>
              </a:ext>
            </a:extLst>
          </p:cNvPr>
          <p:cNvSpPr txBox="1"/>
          <p:nvPr/>
        </p:nvSpPr>
        <p:spPr>
          <a:xfrm>
            <a:off x="88490" y="4082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 Analysis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CCFCE4-78B8-54E4-18AC-BCB154B13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445530"/>
              </p:ext>
            </p:extLst>
          </p:nvPr>
        </p:nvGraphicFramePr>
        <p:xfrm>
          <a:off x="730046" y="4809505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2869487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72086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1721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8273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923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9157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B60007-3FD0-7700-00A1-EFDCF719FF19}"/>
              </a:ext>
            </a:extLst>
          </p:cNvPr>
          <p:cNvSpPr txBox="1"/>
          <p:nvPr/>
        </p:nvSpPr>
        <p:spPr>
          <a:xfrm>
            <a:off x="88489" y="176981"/>
            <a:ext cx="11012129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Sock Merchant (</a:t>
            </a:r>
            <a:r>
              <a:rPr lang="en-US" b="1" dirty="0" err="1"/>
              <a:t>HackerRank</a:t>
            </a:r>
            <a:r>
              <a:rPr lang="en-US" b="1" dirty="0"/>
              <a:t>)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You are given an array where each number represents a </a:t>
            </a:r>
            <a:r>
              <a:rPr lang="en-US" b="1" dirty="0"/>
              <a:t>sock color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Your task is to </a:t>
            </a:r>
            <a:r>
              <a:rPr lang="en-US" b="1" dirty="0"/>
              <a:t>count how many matching pairs of socks</a:t>
            </a:r>
            <a:r>
              <a:rPr lang="en-US" dirty="0"/>
              <a:t> can be formed.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pair</a:t>
            </a:r>
            <a:r>
              <a:rPr lang="en-US" dirty="0"/>
              <a:t> = two socks of the </a:t>
            </a:r>
            <a:r>
              <a:rPr lang="en-US" b="1" dirty="0"/>
              <a:t>same color</a:t>
            </a:r>
            <a:r>
              <a:rPr lang="en-US" dirty="0"/>
              <a:t>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pt-BR" dirty="0"/>
              <a:t>n = 7</a:t>
            </a:r>
          </a:p>
          <a:p>
            <a:pPr>
              <a:buNone/>
            </a:pPr>
            <a:r>
              <a:rPr lang="pt-BR" dirty="0"/>
              <a:t>ar = [1, 2, 1, 2, 1, 3, 2]</a:t>
            </a:r>
          </a:p>
          <a:p>
            <a:pPr>
              <a:buNone/>
            </a:pPr>
            <a:endParaRPr lang="en-US" b="1" dirty="0"/>
          </a:p>
          <a:p>
            <a:r>
              <a:rPr lang="en-IN" b="1" dirty="0"/>
              <a:t>Output</a:t>
            </a:r>
          </a:p>
          <a:p>
            <a:r>
              <a:rPr lang="en-IN" dirty="0"/>
              <a:t>2</a:t>
            </a:r>
          </a:p>
          <a:p>
            <a:pPr>
              <a:buNone/>
            </a:pPr>
            <a:endParaRPr lang="en-US" b="1" dirty="0"/>
          </a:p>
          <a:p>
            <a:r>
              <a:rPr lang="en-US" b="1" dirty="0"/>
              <a:t>Explanation</a:t>
            </a:r>
          </a:p>
          <a:p>
            <a:r>
              <a:rPr lang="en-US" dirty="0"/>
              <a:t>Color 1 → 3 socks → 1 pair</a:t>
            </a:r>
          </a:p>
          <a:p>
            <a:r>
              <a:rPr lang="en-US" dirty="0"/>
              <a:t>Color 2 → 3 socks → 1 pair</a:t>
            </a:r>
          </a:p>
          <a:p>
            <a:r>
              <a:rPr lang="en-US" dirty="0"/>
              <a:t>Color 3 → 1 sock → 0 pairs</a:t>
            </a:r>
          </a:p>
          <a:p>
            <a:r>
              <a:rPr lang="en-US" dirty="0"/>
              <a:t>Total pairs = </a:t>
            </a:r>
            <a:r>
              <a:rPr lang="en-US" b="1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8568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CBA62F-AAA1-94B9-DB75-3B6EE51D0CD6}"/>
              </a:ext>
            </a:extLst>
          </p:cNvPr>
          <p:cNvSpPr txBox="1"/>
          <p:nvPr/>
        </p:nvSpPr>
        <p:spPr>
          <a:xfrm>
            <a:off x="255639" y="196645"/>
            <a:ext cx="888836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Brute Force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Brute Force 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 each sock with every other sock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Count matching pairs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Mark socks as used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Brute Force Logic (Text Form)</a:t>
            </a:r>
          </a:p>
          <a:p>
            <a:pPr>
              <a:buFont typeface="+mj-lt"/>
              <a:buAutoNum type="arabicPeriod"/>
            </a:pPr>
            <a:r>
              <a:rPr lang="en-US" dirty="0"/>
              <a:t>Initialize </a:t>
            </a:r>
            <a:r>
              <a:rPr lang="en-US" dirty="0">
                <a:latin typeface="Courier New" panose="02070309020205020404" pitchFamily="49" charset="0"/>
              </a:rPr>
              <a:t>count = 0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Use a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used[]</a:t>
            </a:r>
            <a:r>
              <a:rPr lang="en-US" dirty="0"/>
              <a:t> array</a:t>
            </a:r>
          </a:p>
          <a:p>
            <a:pPr>
              <a:buFont typeface="+mj-lt"/>
              <a:buAutoNum type="arabicPeriod"/>
            </a:pPr>
            <a:r>
              <a:rPr lang="en-US" dirty="0"/>
              <a:t>For each sock </a:t>
            </a:r>
            <a:r>
              <a:rPr lang="en-US" dirty="0">
                <a:latin typeface="Courier New" panose="02070309020205020404" pitchFamily="49" charset="0"/>
              </a:rPr>
              <a:t>i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If already used, skip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Search for matching unused sock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If found, mark both used and increase count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Brute Force Walkthrough</a:t>
            </a:r>
          </a:p>
          <a:p>
            <a:pPr>
              <a:buNone/>
            </a:pPr>
            <a:r>
              <a:rPr lang="en-US" b="1" dirty="0" err="1"/>
              <a:t>ar</a:t>
            </a:r>
            <a:r>
              <a:rPr lang="en-US" b="1" dirty="0"/>
              <a:t> = </a:t>
            </a:r>
            <a:r>
              <a:rPr lang="en-US" b="1" dirty="0">
                <a:latin typeface="Courier New" panose="02070309020205020404" pitchFamily="49" charset="0"/>
              </a:rPr>
              <a:t>[1, 2, 1, 2, 1, 3, 2]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741498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F9BAD6-A6BE-0CC2-48D0-191D2F444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486665"/>
              </p:ext>
            </p:extLst>
          </p:nvPr>
        </p:nvGraphicFramePr>
        <p:xfrm>
          <a:off x="838200" y="278796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9644968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115863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1741153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98207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Color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4150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Pair with index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2694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Pair with index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442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No pair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2642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No pair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1589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 pair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77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8A621F2-9EB2-2FF5-4B53-98739C2EA73A}"/>
              </a:ext>
            </a:extLst>
          </p:cNvPr>
          <p:cNvSpPr txBox="1"/>
          <p:nvPr/>
        </p:nvSpPr>
        <p:spPr>
          <a:xfrm>
            <a:off x="838200" y="27453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Total pairs = </a:t>
            </a:r>
            <a:r>
              <a:rPr lang="en-IN" b="1" dirty="0"/>
              <a:t>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63177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129D88-0583-6F5F-1CAB-A23153857E19}"/>
              </a:ext>
            </a:extLst>
          </p:cNvPr>
          <p:cNvSpPr txBox="1"/>
          <p:nvPr/>
        </p:nvSpPr>
        <p:spPr>
          <a:xfrm>
            <a:off x="226142" y="77920"/>
            <a:ext cx="80624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Brute Force 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count = 0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used[n] = {false}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0 to n-1: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if used[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continue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for j = i+1 to n-1: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if not used[j] and </a:t>
            </a:r>
            <a:r>
              <a:rPr lang="en-US" dirty="0" err="1">
                <a:latin typeface="Courier New" panose="02070309020205020404" pitchFamily="49" charset="0"/>
              </a:rPr>
              <a:t>ar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 == </a:t>
            </a:r>
            <a:r>
              <a:rPr lang="en-US" dirty="0" err="1">
                <a:latin typeface="Courier New" panose="02070309020205020404" pitchFamily="49" charset="0"/>
              </a:rPr>
              <a:t>ar</a:t>
            </a:r>
            <a:r>
              <a:rPr lang="en-US" dirty="0">
                <a:latin typeface="Courier New" panose="02070309020205020404" pitchFamily="49" charset="0"/>
              </a:rPr>
              <a:t>[j]: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    count++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    used[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 = true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    used[j] = true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    break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return 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DB332-A597-36B8-E4D6-6ABB1C4DBFFC}"/>
              </a:ext>
            </a:extLst>
          </p:cNvPr>
          <p:cNvSpPr txBox="1"/>
          <p:nvPr/>
        </p:nvSpPr>
        <p:spPr>
          <a:xfrm>
            <a:off x="226142" y="46022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Brute Force Complexity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B933ED-768D-304E-DFC5-D1A74D4126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959456"/>
              </p:ext>
            </p:extLst>
          </p:nvPr>
        </p:nvGraphicFramePr>
        <p:xfrm>
          <a:off x="739877" y="5281454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4927646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023565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1280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O(n²)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9994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3424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52564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DF55CC-7885-AEDA-D531-741224899959}"/>
              </a:ext>
            </a:extLst>
          </p:cNvPr>
          <p:cNvSpPr txBox="1"/>
          <p:nvPr/>
        </p:nvSpPr>
        <p:spPr>
          <a:xfrm>
            <a:off x="206477" y="137652"/>
            <a:ext cx="893752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2: Optimal (Frequency Map)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Key Observation ⭐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Count how many socks of each color exist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Number of pairs = </a:t>
            </a:r>
            <a:r>
              <a:rPr lang="en-US" dirty="0">
                <a:latin typeface="Courier New" panose="02070309020205020404" pitchFamily="49" charset="0"/>
              </a:rPr>
              <a:t>frequency / 2</a:t>
            </a:r>
            <a:endParaRPr lang="en-US" dirty="0"/>
          </a:p>
          <a:p>
            <a:pPr>
              <a:buNone/>
            </a:pPr>
            <a:br>
              <a:rPr lang="en-US" dirty="0"/>
            </a:br>
            <a:r>
              <a:rPr lang="en-US" b="1" dirty="0"/>
              <a:t>Optimal Logic (Text Form)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a frequency map</a:t>
            </a:r>
          </a:p>
          <a:p>
            <a:pPr>
              <a:buFont typeface="+mj-lt"/>
              <a:buAutoNum type="arabicPeriod"/>
            </a:pPr>
            <a:r>
              <a:rPr lang="en-US" dirty="0"/>
              <a:t>Count occurrences of each color</a:t>
            </a:r>
          </a:p>
          <a:p>
            <a:pPr>
              <a:buFont typeface="+mj-lt"/>
              <a:buAutoNum type="arabicPeriod"/>
            </a:pPr>
            <a:r>
              <a:rPr lang="en-US" dirty="0"/>
              <a:t>For each color: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Add </a:t>
            </a:r>
            <a:r>
              <a:rPr lang="en-US" dirty="0">
                <a:latin typeface="Courier New" panose="02070309020205020404" pitchFamily="49" charset="0"/>
              </a:rPr>
              <a:t>frequency / 2</a:t>
            </a:r>
            <a:r>
              <a:rPr lang="en-US" dirty="0"/>
              <a:t> to answer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Optimal Walkthrough</a:t>
            </a:r>
          </a:p>
          <a:p>
            <a:pPr>
              <a:buNone/>
            </a:pPr>
            <a:r>
              <a:rPr lang="en-US" b="1" dirty="0"/>
              <a:t>Step 1: Frequency Count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83EDD1-1581-BC5F-A92B-31202D317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862935"/>
              </p:ext>
            </p:extLst>
          </p:nvPr>
        </p:nvGraphicFramePr>
        <p:xfrm>
          <a:off x="395748" y="4380819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168311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190138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Color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7324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2985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750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371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24011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AA18E3-F62A-D035-751E-D258D6D38195}"/>
              </a:ext>
            </a:extLst>
          </p:cNvPr>
          <p:cNvSpPr txBox="1"/>
          <p:nvPr/>
        </p:nvSpPr>
        <p:spPr>
          <a:xfrm>
            <a:off x="88490" y="1397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Step 2: Count Pairs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11B344-2A60-462B-4612-9982511EB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414548"/>
              </p:ext>
            </p:extLst>
          </p:nvPr>
        </p:nvGraphicFramePr>
        <p:xfrm>
          <a:off x="720213" y="679409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836137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45788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114923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Color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Pairs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612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829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7386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146368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F620A1F-23D2-DE38-0CA0-1B36366321F9}"/>
              </a:ext>
            </a:extLst>
          </p:cNvPr>
          <p:cNvSpPr txBox="1"/>
          <p:nvPr/>
        </p:nvSpPr>
        <p:spPr>
          <a:xfrm>
            <a:off x="186813" y="23127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Total pairs = </a:t>
            </a:r>
            <a:r>
              <a:rPr lang="en-IN" b="1" dirty="0"/>
              <a:t>2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F31261-F985-DC5D-54B9-48EEF344CE0D}"/>
              </a:ext>
            </a:extLst>
          </p:cNvPr>
          <p:cNvSpPr txBox="1"/>
          <p:nvPr/>
        </p:nvSpPr>
        <p:spPr>
          <a:xfrm>
            <a:off x="720213" y="2852339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Optimal 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map&lt;int, int&gt; </a:t>
            </a:r>
            <a:r>
              <a:rPr lang="en-US" dirty="0" err="1">
                <a:latin typeface="Courier New" panose="02070309020205020404" pitchFamily="49" charset="0"/>
              </a:rPr>
              <a:t>freq</a:t>
            </a: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pairs = 0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each color in </a:t>
            </a:r>
            <a:r>
              <a:rPr lang="en-US" dirty="0" err="1">
                <a:latin typeface="Courier New" panose="02070309020205020404" pitchFamily="49" charset="0"/>
              </a:rPr>
              <a:t>ar</a:t>
            </a:r>
            <a:r>
              <a:rPr lang="en-US" dirty="0">
                <a:latin typeface="Courier New" panose="02070309020205020404" pitchFamily="49" charset="0"/>
              </a:rPr>
              <a:t>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freq</a:t>
            </a:r>
            <a:r>
              <a:rPr lang="en-US" dirty="0">
                <a:latin typeface="Courier New" panose="02070309020205020404" pitchFamily="49" charset="0"/>
              </a:rPr>
              <a:t>[color]++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each color in </a:t>
            </a:r>
            <a:r>
              <a:rPr lang="en-US" dirty="0" err="1">
                <a:latin typeface="Courier New" panose="02070309020205020404" pitchFamily="49" charset="0"/>
              </a:rPr>
              <a:t>freq</a:t>
            </a:r>
            <a:r>
              <a:rPr lang="en-US" dirty="0">
                <a:latin typeface="Courier New" panose="02070309020205020404" pitchFamily="49" charset="0"/>
              </a:rPr>
              <a:t>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pairs = pairs + (</a:t>
            </a:r>
            <a:r>
              <a:rPr lang="en-US" dirty="0" err="1">
                <a:latin typeface="Courier New" panose="02070309020205020404" pitchFamily="49" charset="0"/>
              </a:rPr>
              <a:t>freq</a:t>
            </a:r>
            <a:r>
              <a:rPr lang="en-US" dirty="0">
                <a:latin typeface="Courier New" panose="02070309020205020404" pitchFamily="49" charset="0"/>
              </a:rPr>
              <a:t>[color] / 2)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return pairs</a:t>
            </a:r>
          </a:p>
        </p:txBody>
      </p:sp>
    </p:spTree>
    <p:extLst>
      <p:ext uri="{BB962C8B-B14F-4D97-AF65-F5344CB8AC3E}">
        <p14:creationId xmlns:p14="http://schemas.microsoft.com/office/powerpoint/2010/main" val="637130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1259</TotalTime>
  <Words>2971</Words>
  <Application>Microsoft Office PowerPoint</Application>
  <PresentationFormat>Widescreen</PresentationFormat>
  <Paragraphs>833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KAARTIK SHUKLA</dc:creator>
  <cp:lastModifiedBy>KAARTIK SHUKLA</cp:lastModifiedBy>
  <cp:revision>87</cp:revision>
  <dcterms:created xsi:type="dcterms:W3CDTF">2025-12-22T05:00:26Z</dcterms:created>
  <dcterms:modified xsi:type="dcterms:W3CDTF">2026-02-24T04:51:53Z</dcterms:modified>
</cp:coreProperties>
</file>