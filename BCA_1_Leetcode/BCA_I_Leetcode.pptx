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3" r:id="rId6"/>
    <p:sldId id="264" r:id="rId7"/>
    <p:sldId id="265" r:id="rId8"/>
    <p:sldId id="260" r:id="rId9"/>
    <p:sldId id="261" r:id="rId10"/>
    <p:sldId id="262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312" r:id="rId44"/>
    <p:sldId id="313" r:id="rId45"/>
    <p:sldId id="314" r:id="rId46"/>
    <p:sldId id="315" r:id="rId47"/>
    <p:sldId id="316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28" r:id="rId60"/>
    <p:sldId id="329" r:id="rId61"/>
    <p:sldId id="330" r:id="rId62"/>
    <p:sldId id="331" r:id="rId63"/>
    <p:sldId id="332" r:id="rId64"/>
    <p:sldId id="309" r:id="rId65"/>
    <p:sldId id="310" r:id="rId66"/>
    <p:sldId id="311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75" autoAdjust="0"/>
    <p:restoredTop sz="94660"/>
  </p:normalViewPr>
  <p:slideViewPr>
    <p:cSldViewPr snapToGrid="0">
      <p:cViewPr varScale="1">
        <p:scale>
          <a:sx n="78" d="100"/>
          <a:sy n="78" d="100"/>
        </p:scale>
        <p:origin x="95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20554-8885-12BA-7810-C6A55BD00E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91697C-2843-7570-57E0-877D98CDF7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3B7511-6B34-D3BF-8F73-EC0ED42241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2F0AB-3313-49E4-9759-C90DAD1EC954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15655E-9B11-05F6-516F-63F4B39A7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8081D4-24DE-A830-C72F-397A8C01B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4310E-2CA2-4BF5-96D5-57120E843B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68866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1A1EA-FE99-280E-BD46-A8F209CBB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C8F819-46E2-93A5-64FC-B2063CB7F3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D96644-5299-AE6C-3344-57C1BAD1C2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2F0AB-3313-49E4-9759-C90DAD1EC954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B62965-41D7-BCED-3781-79F7E19C0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2BE59D-8905-E9D2-D169-D838EAD11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4310E-2CA2-4BF5-96D5-57120E843B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81328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88EB2-18D3-9D26-5A26-1596971482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EAB5C5-7B46-B091-A77F-28AAC3E8E9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79A962-BF9C-ACE4-1446-A096349F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2F0AB-3313-49E4-9759-C90DAD1EC954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FAB3C0-093F-DA95-6430-EC68E5BBD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C0155A-7790-2E46-37D1-5E97AC3FD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4310E-2CA2-4BF5-96D5-57120E843B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12269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4A1DF-16E1-D9BB-18DE-54C3815D5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4295D5-A31F-F0C8-CE05-440614AB98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FFC391-537A-42B3-189E-8E08393DD8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B23C5C-391F-313F-B50A-46C5549406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2F0AB-3313-49E4-9759-C90DAD1EC954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FC9FF3-376F-7848-2F4B-EAD848176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DC678C-2DD0-5C2C-0A82-409233EC3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4310E-2CA2-4BF5-96D5-57120E843B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545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8C64F-6588-4FC5-74D5-903794650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8518CF-7FBF-2720-47E4-DE6D2FB146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64AD2-ACA6-3E81-26C7-BB85FE4FB4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6EFE00-8805-18A9-A516-670C1A31CD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DB5CB1F-6377-102A-D72B-95FC23F853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97F96D-8836-A729-4273-7A6CF9D4DF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2F0AB-3313-49E4-9759-C90DAD1EC954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038ECF2-AC74-6C4E-A7C5-C64B33B86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1FD85C-F0C3-0F67-E0DE-BFC32A1EB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4310E-2CA2-4BF5-96D5-57120E843B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59209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648D6-EF9D-A87A-2CBD-5771FCAC9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C70CF3-79DB-1E04-475A-0D168E1D0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2F0AB-3313-49E4-9759-C90DAD1EC954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26515E-BC1C-DF3B-FC57-BEDC646AF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9A5053-8A8B-7504-969E-70D3C4315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4310E-2CA2-4BF5-96D5-57120E843B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31598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9D7B4A-B3FF-827F-786E-AF7E213C2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2F0AB-3313-49E4-9759-C90DAD1EC954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7D4B0A-4CF1-F18C-19A5-D8D2628EB3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CBAD62-E0B0-2AA3-8AE3-0B0C7CA4C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4310E-2CA2-4BF5-96D5-57120E843B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6642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8BA3D-1B80-0CDA-4BCF-BDFE923888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0473E8-4A97-0E5C-7BDB-1DA49493EB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39B49E-D957-311E-362E-8624CC2C1C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45D0FD-58D0-8C36-0848-110929D62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2F0AB-3313-49E4-9759-C90DAD1EC954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F8D24E-9A0D-788C-045C-9E00CCAD7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2D4763-EF26-C4A1-CBBC-B76C47AF1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4310E-2CA2-4BF5-96D5-57120E843B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02934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14D53-7FF7-0C7E-9467-0DDED39ED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9F7467D-44C9-DA5B-FF10-E15D3F7AEC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034C39-8626-DED0-4165-210299AF54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97924E-7A45-0217-19E0-F2517581F1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2F0AB-3313-49E4-9759-C90DAD1EC954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E7E59A-8EAB-7E2B-8D9D-68033896E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E405A7-C106-C88C-9B1A-8339BF4A4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4310E-2CA2-4BF5-96D5-57120E843B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88924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E7BD8-4CE4-0F1D-ACC3-280530746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A748E8-01F5-EB3D-0568-3D4D4C36EA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AC2BA3-2EB4-3EF6-E170-315E29D33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2F0AB-3313-49E4-9759-C90DAD1EC954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BA4B00-409E-783F-BF12-08885B484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62DAAF-9AD6-9A63-8A7B-89B5278FD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4310E-2CA2-4BF5-96D5-57120E843B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65993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24FB100-B66A-3844-5A5C-1D33123074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34B5D2-ABD7-25DF-CE5E-A08AF96039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C9322F-E1A4-2798-9F12-113FA6786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2F0AB-3313-49E4-9759-C90DAD1EC954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72BA39-2ABA-B240-3935-BC71D5AD7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F66D3D-24FE-6FFE-16F0-48CCAB408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4310E-2CA2-4BF5-96D5-57120E843B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08903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1BC515-13A7-DF8D-2516-5B8A5BC289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2799D-AE9C-196C-042C-9DA833EC85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57EC4C-B3A9-46EE-5DD5-AEDAF0E7EC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62F0AB-3313-49E4-9759-C90DAD1EC954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1E1852-B279-184A-0706-524DC54674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7C5BB1-6A41-79EA-CF1B-392735B220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C4310E-2CA2-4BF5-96D5-57120E843B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05959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565C053-417E-C3F5-6F55-FDC824E0F5EF}"/>
              </a:ext>
            </a:extLst>
          </p:cNvPr>
          <p:cNvSpPr txBox="1"/>
          <p:nvPr/>
        </p:nvSpPr>
        <p:spPr>
          <a:xfrm>
            <a:off x="245806" y="238121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9. Palindrome Number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BF34E8-585D-F204-E856-022A020A9756}"/>
              </a:ext>
            </a:extLst>
          </p:cNvPr>
          <p:cNvSpPr txBox="1"/>
          <p:nvPr/>
        </p:nvSpPr>
        <p:spPr>
          <a:xfrm>
            <a:off x="245805" y="867891"/>
            <a:ext cx="4621163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/>
              <a:t>Approach 1: Convert Number to String</a:t>
            </a:r>
          </a:p>
          <a:p>
            <a:pPr>
              <a:buNone/>
            </a:pPr>
            <a:r>
              <a:rPr lang="en-US" sz="2000" b="1" dirty="0"/>
              <a:t>Idea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Convert number to string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Reverse the string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Compare original and reversed</a:t>
            </a:r>
          </a:p>
          <a:p>
            <a:pPr>
              <a:buNone/>
            </a:pPr>
            <a:r>
              <a:rPr lang="en-US" sz="2000" b="1" dirty="0"/>
              <a:t>Complexity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Time:</a:t>
            </a:r>
            <a:r>
              <a:rPr lang="en-US" sz="2000" dirty="0"/>
              <a:t> O(d) where d = number of digits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Space:</a:t>
            </a:r>
            <a:r>
              <a:rPr lang="en-US" sz="2000" dirty="0"/>
              <a:t> O(d)</a:t>
            </a:r>
          </a:p>
          <a:p>
            <a:pPr>
              <a:buNone/>
            </a:pPr>
            <a:r>
              <a:rPr lang="en-US" sz="2000" b="1" dirty="0"/>
              <a:t>Steps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Convert integer to string </a:t>
            </a:r>
            <a:r>
              <a:rPr lang="en-US" sz="2000" dirty="0">
                <a:latin typeface="Courier New" panose="02070309020205020404" pitchFamily="49" charset="0"/>
              </a:rPr>
              <a:t>s</a:t>
            </a:r>
            <a:r>
              <a:rPr lang="en-US" sz="2000" dirty="0"/>
              <a:t>.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Make reversed string </a:t>
            </a:r>
            <a:r>
              <a:rPr lang="en-US" sz="2000" dirty="0">
                <a:latin typeface="Courier New" panose="02070309020205020404" pitchFamily="49" charset="0"/>
              </a:rPr>
              <a:t>rev</a:t>
            </a:r>
            <a:r>
              <a:rPr lang="en-US" sz="2000" dirty="0"/>
              <a:t>.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If </a:t>
            </a:r>
            <a:r>
              <a:rPr lang="en-US" sz="2000" dirty="0">
                <a:latin typeface="Courier New" panose="02070309020205020404" pitchFamily="49" charset="0"/>
              </a:rPr>
              <a:t>s == rev</a:t>
            </a:r>
            <a:r>
              <a:rPr lang="en-US" sz="2000" dirty="0"/>
              <a:t>, return true.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34A3D3-2B19-FD72-D3B1-B3673589C8BF}"/>
              </a:ext>
            </a:extLst>
          </p:cNvPr>
          <p:cNvSpPr txBox="1"/>
          <p:nvPr/>
        </p:nvSpPr>
        <p:spPr>
          <a:xfrm>
            <a:off x="6341806" y="867891"/>
            <a:ext cx="5496233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/>
              <a:t>Approach 2: Reverse Full Number</a:t>
            </a:r>
          </a:p>
          <a:p>
            <a:pPr>
              <a:buNone/>
            </a:pPr>
            <a:r>
              <a:rPr lang="en-US" sz="2000" b="1" dirty="0"/>
              <a:t>Idea</a:t>
            </a:r>
          </a:p>
          <a:p>
            <a:pPr>
              <a:buNone/>
            </a:pPr>
            <a:r>
              <a:rPr lang="en-US" sz="2000" dirty="0"/>
              <a:t>Reverse entire number and compare.</a:t>
            </a:r>
          </a:p>
          <a:p>
            <a:pPr>
              <a:buNone/>
            </a:pPr>
            <a:r>
              <a:rPr lang="en-US" sz="2000" b="1" dirty="0"/>
              <a:t>Complexity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Time:</a:t>
            </a:r>
            <a:r>
              <a:rPr lang="en-US" sz="2000" dirty="0"/>
              <a:t> O(d)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Space:</a:t>
            </a:r>
            <a:r>
              <a:rPr lang="en-US" sz="2000" dirty="0"/>
              <a:t> O(1)</a:t>
            </a:r>
          </a:p>
          <a:p>
            <a:pPr>
              <a:buNone/>
            </a:pPr>
            <a:r>
              <a:rPr lang="en-US" sz="2000" b="1" dirty="0"/>
              <a:t>Steps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Create </a:t>
            </a:r>
            <a:r>
              <a:rPr lang="en-US" sz="2000" dirty="0">
                <a:latin typeface="Courier New" panose="02070309020205020404" pitchFamily="49" charset="0"/>
              </a:rPr>
              <a:t>rev = 0</a:t>
            </a:r>
            <a:r>
              <a:rPr lang="en-US" sz="2000" dirty="0"/>
              <a:t>.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Extract digits and build reversed.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Compare reversed with original.</a:t>
            </a:r>
          </a:p>
        </p:txBody>
      </p:sp>
    </p:spTree>
    <p:extLst>
      <p:ext uri="{BB962C8B-B14F-4D97-AF65-F5344CB8AC3E}">
        <p14:creationId xmlns:p14="http://schemas.microsoft.com/office/powerpoint/2010/main" val="17437851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ED58ED9-8146-F2FD-9206-B185A33AAD7D}"/>
              </a:ext>
            </a:extLst>
          </p:cNvPr>
          <p:cNvSpPr txBox="1"/>
          <p:nvPr/>
        </p:nvSpPr>
        <p:spPr>
          <a:xfrm>
            <a:off x="206477" y="994754"/>
            <a:ext cx="10923639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/>
              <a:t>Approach 1: Brute Force — Check all divisors from 1 to n-1</a:t>
            </a:r>
          </a:p>
          <a:p>
            <a:pPr>
              <a:buNone/>
            </a:pPr>
            <a:r>
              <a:rPr lang="en-US" sz="2000" b="1" dirty="0"/>
              <a:t>Complexity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Time:</a:t>
            </a:r>
            <a:r>
              <a:rPr lang="en-US" sz="2000" dirty="0"/>
              <a:t> O(n)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Space:</a:t>
            </a:r>
            <a:r>
              <a:rPr lang="en-US" sz="2000" dirty="0"/>
              <a:t> O(1)</a:t>
            </a:r>
          </a:p>
          <a:p>
            <a:pPr>
              <a:buNone/>
            </a:pPr>
            <a:r>
              <a:rPr lang="en-US" sz="2000" b="1" dirty="0"/>
              <a:t>Steps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Initialize sum = 0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Loop </a:t>
            </a:r>
            <a:r>
              <a:rPr lang="en-US" sz="2000" dirty="0" err="1"/>
              <a:t>i</a:t>
            </a:r>
            <a:r>
              <a:rPr lang="en-US" sz="2000" dirty="0"/>
              <a:t> from 1 to n-1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If </a:t>
            </a:r>
            <a:r>
              <a:rPr lang="en-US" sz="2000" dirty="0" err="1"/>
              <a:t>i</a:t>
            </a:r>
            <a:r>
              <a:rPr lang="en-US" sz="2000" dirty="0"/>
              <a:t> divides n → add to sum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Compare with 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E13857-C62D-9FC9-65C1-3D0C3AE366E9}"/>
              </a:ext>
            </a:extLst>
          </p:cNvPr>
          <p:cNvSpPr txBox="1"/>
          <p:nvPr/>
        </p:nvSpPr>
        <p:spPr>
          <a:xfrm>
            <a:off x="314632" y="53308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507. Perfect Number</a:t>
            </a:r>
            <a:endParaRPr lang="en-IN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063C11-F915-0343-E6DB-2A3CFA57574D}"/>
              </a:ext>
            </a:extLst>
          </p:cNvPr>
          <p:cNvSpPr txBox="1"/>
          <p:nvPr/>
        </p:nvSpPr>
        <p:spPr>
          <a:xfrm>
            <a:off x="3972232" y="1779687"/>
            <a:ext cx="8013291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Optimal Approach (Square Root Method)</a:t>
            </a:r>
          </a:p>
          <a:p>
            <a:pPr>
              <a:buFont typeface="+mj-lt"/>
              <a:buAutoNum type="arabicPeriod"/>
            </a:pPr>
            <a:r>
              <a:rPr lang="en-US" dirty="0"/>
              <a:t>If the number is </a:t>
            </a:r>
            <a:r>
              <a:rPr lang="en-US" b="1" dirty="0"/>
              <a:t>1</a:t>
            </a:r>
            <a:r>
              <a:rPr lang="en-US" dirty="0"/>
              <a:t>, it cannot be a perfect number, so return </a:t>
            </a:r>
            <a:r>
              <a:rPr lang="en-US" b="1" dirty="0"/>
              <a:t>false</a:t>
            </a:r>
            <a:r>
              <a:rPr lang="en-US" dirty="0"/>
              <a:t>.</a:t>
            </a:r>
          </a:p>
          <a:p>
            <a:pPr>
              <a:buFont typeface="+mj-lt"/>
              <a:buAutoNum type="arabicPeriod"/>
            </a:pPr>
            <a:r>
              <a:rPr lang="en-US" dirty="0"/>
              <a:t>Initialize a variable </a:t>
            </a:r>
            <a:r>
              <a:rPr lang="en-US" b="1" dirty="0"/>
              <a:t>sum</a:t>
            </a:r>
            <a:r>
              <a:rPr lang="en-US" dirty="0"/>
              <a:t> with value </a:t>
            </a:r>
            <a:r>
              <a:rPr lang="en-US" b="1" dirty="0"/>
              <a:t>1</a:t>
            </a:r>
            <a:r>
              <a:rPr lang="en-US" dirty="0"/>
              <a:t>, because </a:t>
            </a:r>
            <a:r>
              <a:rPr lang="en-US" b="1" dirty="0"/>
              <a:t>1</a:t>
            </a:r>
            <a:r>
              <a:rPr lang="en-US" dirty="0"/>
              <a:t> is a proper divisor of every number greater than 1.</a:t>
            </a:r>
          </a:p>
          <a:p>
            <a:pPr>
              <a:buFont typeface="+mj-lt"/>
              <a:buAutoNum type="arabicPeriod"/>
            </a:pPr>
            <a:r>
              <a:rPr lang="en-US" dirty="0"/>
              <a:t>Start a loop from </a:t>
            </a:r>
            <a:r>
              <a:rPr lang="en-US" b="1" dirty="0"/>
              <a:t>2</a:t>
            </a:r>
            <a:r>
              <a:rPr lang="en-US" dirty="0"/>
              <a:t> up to </a:t>
            </a:r>
            <a:r>
              <a:rPr lang="en-US" b="1" dirty="0"/>
              <a:t>√n</a:t>
            </a:r>
            <a:r>
              <a:rPr lang="en-US" dirty="0"/>
              <a:t>.</a:t>
            </a:r>
          </a:p>
          <a:p>
            <a:pPr>
              <a:buFont typeface="+mj-lt"/>
              <a:buAutoNum type="arabicPeriod"/>
            </a:pPr>
            <a:r>
              <a:rPr lang="en-US" dirty="0"/>
              <a:t>For each value </a:t>
            </a:r>
            <a:r>
              <a:rPr lang="en-US" b="1" dirty="0"/>
              <a:t>i</a:t>
            </a:r>
            <a:r>
              <a:rPr lang="en-US" dirty="0"/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If </a:t>
            </a:r>
            <a:r>
              <a:rPr lang="en-US" b="1" dirty="0"/>
              <a:t>n is divisible by </a:t>
            </a:r>
            <a:r>
              <a:rPr lang="en-US" b="1" dirty="0" err="1"/>
              <a:t>i</a:t>
            </a:r>
            <a:r>
              <a:rPr lang="en-US" dirty="0"/>
              <a:t>, then </a:t>
            </a:r>
            <a:r>
              <a:rPr lang="en-US" b="1" dirty="0" err="1"/>
              <a:t>i</a:t>
            </a:r>
            <a:r>
              <a:rPr lang="en-US" dirty="0"/>
              <a:t> is a divisor.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Add </a:t>
            </a:r>
            <a:r>
              <a:rPr lang="en-US" b="1" dirty="0" err="1"/>
              <a:t>i</a:t>
            </a:r>
            <a:r>
              <a:rPr lang="en-US" dirty="0"/>
              <a:t> to </a:t>
            </a:r>
            <a:r>
              <a:rPr lang="en-US" b="1" dirty="0"/>
              <a:t>sum</a:t>
            </a:r>
            <a:r>
              <a:rPr lang="en-US" dirty="0"/>
              <a:t>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Find the paired divisor </a:t>
            </a:r>
            <a:r>
              <a:rPr lang="en-US" b="1" dirty="0"/>
              <a:t>n / </a:t>
            </a:r>
            <a:r>
              <a:rPr lang="en-US" b="1" dirty="0" err="1"/>
              <a:t>i</a:t>
            </a:r>
            <a:r>
              <a:rPr lang="en-US" dirty="0"/>
              <a:t> and add it to </a:t>
            </a:r>
            <a:r>
              <a:rPr lang="en-US" b="1" dirty="0"/>
              <a:t>sum</a:t>
            </a:r>
            <a:r>
              <a:rPr lang="en-US" dirty="0"/>
              <a:t> only if it is different from </a:t>
            </a:r>
            <a:r>
              <a:rPr lang="en-US" b="1" dirty="0" err="1"/>
              <a:t>i</a:t>
            </a:r>
            <a:r>
              <a:rPr lang="en-US" dirty="0"/>
              <a:t>.</a:t>
            </a:r>
          </a:p>
          <a:p>
            <a:pPr>
              <a:buFont typeface="+mj-lt"/>
              <a:buAutoNum type="arabicPeriod"/>
            </a:pPr>
            <a:r>
              <a:rPr lang="en-US" dirty="0"/>
              <a:t>After the loop ends, compare </a:t>
            </a:r>
            <a:r>
              <a:rPr lang="en-US" b="1" dirty="0"/>
              <a:t>sum</a:t>
            </a:r>
            <a:r>
              <a:rPr lang="en-US" dirty="0"/>
              <a:t> with </a:t>
            </a:r>
            <a:r>
              <a:rPr lang="en-US" b="1" dirty="0"/>
              <a:t>n</a:t>
            </a:r>
            <a:r>
              <a:rPr lang="en-US" dirty="0"/>
              <a:t>.</a:t>
            </a:r>
          </a:p>
          <a:p>
            <a:pPr>
              <a:buFont typeface="+mj-lt"/>
              <a:buAutoNum type="arabicPeriod"/>
            </a:pPr>
            <a:r>
              <a:rPr lang="en-US" dirty="0"/>
              <a:t>If </a:t>
            </a:r>
            <a:r>
              <a:rPr lang="en-US" b="1" dirty="0"/>
              <a:t>sum equals n</a:t>
            </a:r>
            <a:r>
              <a:rPr lang="en-US" dirty="0"/>
              <a:t>, the number is a </a:t>
            </a:r>
            <a:r>
              <a:rPr lang="en-US" b="1" dirty="0"/>
              <a:t>perfect number</a:t>
            </a:r>
            <a:r>
              <a:rPr lang="en-US" dirty="0"/>
              <a:t>.</a:t>
            </a:r>
          </a:p>
          <a:p>
            <a:pPr>
              <a:buFont typeface="+mj-lt"/>
              <a:buAutoNum type="arabicPeriod"/>
            </a:pPr>
            <a:r>
              <a:rPr lang="en-US" dirty="0"/>
              <a:t>Otherwise, the number is </a:t>
            </a:r>
            <a:r>
              <a:rPr lang="en-US" b="1" dirty="0"/>
              <a:t>not a perfect number</a:t>
            </a:r>
            <a:r>
              <a:rPr lang="en-US" dirty="0"/>
              <a:t>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Complexity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Time Complexity:</a:t>
            </a:r>
            <a:r>
              <a:rPr lang="en-US" dirty="0"/>
              <a:t> </a:t>
            </a:r>
            <a:r>
              <a:rPr lang="en-US" dirty="0">
                <a:latin typeface="Courier New" panose="02070309020205020404" pitchFamily="49" charset="0"/>
              </a:rPr>
              <a:t>O(√n)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Space Complexity:</a:t>
            </a:r>
            <a:r>
              <a:rPr lang="en-US" dirty="0"/>
              <a:t> </a:t>
            </a:r>
            <a:r>
              <a:rPr lang="en-US" dirty="0">
                <a:latin typeface="Courier New" panose="02070309020205020404" pitchFamily="49" charset="0"/>
              </a:rPr>
              <a:t>O(1)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94301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E02BF9D-9B82-C4DF-1315-0222D563C060}"/>
              </a:ext>
            </a:extLst>
          </p:cNvPr>
          <p:cNvSpPr txBox="1"/>
          <p:nvPr/>
        </p:nvSpPr>
        <p:spPr>
          <a:xfrm>
            <a:off x="216309" y="102672"/>
            <a:ext cx="11110451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231. Power of Two</a:t>
            </a:r>
          </a:p>
          <a:p>
            <a:pPr>
              <a:buNone/>
            </a:pPr>
            <a:r>
              <a:rPr lang="en-US" sz="2400" b="1" dirty="0"/>
              <a:t>Brute Force Logic</a:t>
            </a:r>
          </a:p>
          <a:p>
            <a:pPr>
              <a:buFont typeface="+mj-lt"/>
              <a:buAutoNum type="arabicPeriod"/>
            </a:pPr>
            <a:r>
              <a:rPr lang="en-US" sz="2400" dirty="0"/>
              <a:t>If </a:t>
            </a:r>
            <a:r>
              <a:rPr lang="en-US" sz="2400" dirty="0">
                <a:latin typeface="Courier New" panose="02070309020205020404" pitchFamily="49" charset="0"/>
              </a:rPr>
              <a:t>n ≤ 0</a:t>
            </a:r>
            <a:r>
              <a:rPr lang="en-US" sz="2400" dirty="0"/>
              <a:t>, return </a:t>
            </a:r>
            <a:r>
              <a:rPr lang="en-US" sz="2400" b="1" dirty="0"/>
              <a:t>false</a:t>
            </a:r>
            <a:r>
              <a:rPr lang="en-US" sz="2400" dirty="0"/>
              <a:t>.</a:t>
            </a:r>
          </a:p>
          <a:p>
            <a:pPr>
              <a:buFont typeface="+mj-lt"/>
              <a:buAutoNum type="arabicPeriod"/>
            </a:pPr>
            <a:r>
              <a:rPr lang="en-US" sz="2400" dirty="0"/>
              <a:t>Repeatedly divide </a:t>
            </a:r>
            <a:r>
              <a:rPr lang="en-US" sz="2400" dirty="0">
                <a:latin typeface="Courier New" panose="02070309020205020404" pitchFamily="49" charset="0"/>
              </a:rPr>
              <a:t>n</a:t>
            </a:r>
            <a:r>
              <a:rPr lang="en-US" sz="2400" dirty="0"/>
              <a:t> by </a:t>
            </a:r>
            <a:r>
              <a:rPr lang="en-US" sz="2400" dirty="0">
                <a:latin typeface="Courier New" panose="02070309020205020404" pitchFamily="49" charset="0"/>
              </a:rPr>
              <a:t>2</a:t>
            </a:r>
            <a:r>
              <a:rPr lang="en-US" sz="2400" dirty="0"/>
              <a:t> while </a:t>
            </a:r>
            <a:r>
              <a:rPr lang="en-US" sz="2400" dirty="0">
                <a:latin typeface="Courier New" panose="02070309020205020404" pitchFamily="49" charset="0"/>
              </a:rPr>
              <a:t>n</a:t>
            </a:r>
            <a:r>
              <a:rPr lang="en-US" sz="2400" dirty="0"/>
              <a:t> is divisible by </a:t>
            </a:r>
            <a:r>
              <a:rPr lang="en-US" sz="2400" dirty="0">
                <a:latin typeface="Courier New" panose="02070309020205020404" pitchFamily="49" charset="0"/>
              </a:rPr>
              <a:t>2</a:t>
            </a:r>
            <a:r>
              <a:rPr lang="en-US" sz="2400" dirty="0"/>
              <a:t>.</a:t>
            </a:r>
          </a:p>
          <a:p>
            <a:pPr>
              <a:buFont typeface="+mj-lt"/>
              <a:buAutoNum type="arabicPeriod"/>
            </a:pPr>
            <a:r>
              <a:rPr lang="en-US" sz="2400" dirty="0"/>
              <a:t>After the loop: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2400" dirty="0"/>
              <a:t>If </a:t>
            </a:r>
            <a:r>
              <a:rPr lang="en-US" sz="2400" dirty="0">
                <a:latin typeface="Courier New" panose="02070309020205020404" pitchFamily="49" charset="0"/>
              </a:rPr>
              <a:t>n</a:t>
            </a:r>
            <a:r>
              <a:rPr lang="en-US" sz="2400" dirty="0"/>
              <a:t> becomes </a:t>
            </a:r>
            <a:r>
              <a:rPr lang="en-US" sz="2400" dirty="0">
                <a:latin typeface="Courier New" panose="02070309020205020404" pitchFamily="49" charset="0"/>
              </a:rPr>
              <a:t>1</a:t>
            </a:r>
            <a:r>
              <a:rPr lang="en-US" sz="2400" dirty="0"/>
              <a:t>, return </a:t>
            </a:r>
            <a:r>
              <a:rPr lang="en-US" sz="2400" b="1" dirty="0"/>
              <a:t>true</a:t>
            </a:r>
            <a:r>
              <a:rPr lang="en-US" sz="2400" dirty="0"/>
              <a:t>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2400" dirty="0"/>
              <a:t>Otherwise, return </a:t>
            </a:r>
            <a:r>
              <a:rPr lang="en-US" sz="2400" b="1" dirty="0"/>
              <a:t>false</a:t>
            </a:r>
            <a:r>
              <a:rPr lang="en-US" sz="2400" dirty="0"/>
              <a:t>.</a:t>
            </a:r>
          </a:p>
          <a:p>
            <a:pPr>
              <a:buNone/>
            </a:pPr>
            <a:r>
              <a:rPr lang="en-US" sz="2400" b="1" dirty="0"/>
              <a:t>Complexity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Time Complexity:</a:t>
            </a:r>
            <a:r>
              <a:rPr lang="en-US" sz="2400" dirty="0"/>
              <a:t> </a:t>
            </a:r>
            <a:r>
              <a:rPr lang="en-US" sz="2400" dirty="0">
                <a:latin typeface="Courier New" panose="02070309020205020404" pitchFamily="49" charset="0"/>
              </a:rPr>
              <a:t>O(log n)</a:t>
            </a: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Space Complexity:</a:t>
            </a:r>
            <a:r>
              <a:rPr lang="en-US" sz="2400" dirty="0"/>
              <a:t> </a:t>
            </a:r>
            <a:r>
              <a:rPr lang="en-US" sz="2400" dirty="0">
                <a:latin typeface="Courier New" panose="02070309020205020404" pitchFamily="49" charset="0"/>
              </a:rPr>
              <a:t>O(1)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7251132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1D3E816-9397-64E4-B0A3-A690E97BABCA}"/>
              </a:ext>
            </a:extLst>
          </p:cNvPr>
          <p:cNvSpPr txBox="1"/>
          <p:nvPr/>
        </p:nvSpPr>
        <p:spPr>
          <a:xfrm>
            <a:off x="147484" y="226141"/>
            <a:ext cx="11926529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258. Add Digits</a:t>
            </a:r>
          </a:p>
          <a:p>
            <a:pPr>
              <a:buNone/>
            </a:pPr>
            <a:r>
              <a:rPr lang="en-US" b="1" dirty="0"/>
              <a:t>Brute Force Logic</a:t>
            </a:r>
          </a:p>
          <a:p>
            <a:pPr>
              <a:buFont typeface="+mj-lt"/>
              <a:buAutoNum type="arabicPeriod"/>
            </a:pPr>
            <a:r>
              <a:rPr lang="en-US" dirty="0"/>
              <a:t>While the number has more than one digit: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Initialize </a:t>
            </a:r>
            <a:r>
              <a:rPr lang="en-US" dirty="0">
                <a:latin typeface="Courier New" panose="02070309020205020404" pitchFamily="49" charset="0"/>
              </a:rPr>
              <a:t>sum = 0</a:t>
            </a:r>
            <a:r>
              <a:rPr lang="en-US" dirty="0"/>
              <a:t>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Extract each digit of the number using modulus (</a:t>
            </a:r>
            <a:r>
              <a:rPr lang="en-US" dirty="0">
                <a:latin typeface="Courier New" panose="02070309020205020404" pitchFamily="49" charset="0"/>
              </a:rPr>
              <a:t>n % 10</a:t>
            </a:r>
            <a:r>
              <a:rPr lang="en-US" dirty="0"/>
              <a:t>).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Add the digit to </a:t>
            </a:r>
            <a:r>
              <a:rPr lang="en-US" dirty="0">
                <a:latin typeface="Courier New" panose="02070309020205020404" pitchFamily="49" charset="0"/>
              </a:rPr>
              <a:t>sum</a:t>
            </a:r>
            <a:r>
              <a:rPr lang="en-US" dirty="0"/>
              <a:t>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Remove the last digit using division (</a:t>
            </a:r>
            <a:r>
              <a:rPr lang="en-US" dirty="0">
                <a:latin typeface="Courier New" panose="02070309020205020404" pitchFamily="49" charset="0"/>
              </a:rPr>
              <a:t>n / 10</a:t>
            </a:r>
            <a:r>
              <a:rPr lang="en-US" dirty="0"/>
              <a:t>).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Assign </a:t>
            </a:r>
            <a:r>
              <a:rPr lang="en-US" dirty="0">
                <a:latin typeface="Courier New" panose="02070309020205020404" pitchFamily="49" charset="0"/>
              </a:rPr>
              <a:t>sum</a:t>
            </a:r>
            <a:r>
              <a:rPr lang="en-US" dirty="0"/>
              <a:t> back to </a:t>
            </a:r>
            <a:r>
              <a:rPr lang="en-US" dirty="0">
                <a:latin typeface="Courier New" panose="02070309020205020404" pitchFamily="49" charset="0"/>
              </a:rPr>
              <a:t>n</a:t>
            </a:r>
            <a:r>
              <a:rPr lang="en-US" dirty="0"/>
              <a:t>.</a:t>
            </a:r>
          </a:p>
          <a:p>
            <a:pPr>
              <a:buFont typeface="+mj-lt"/>
              <a:buAutoNum type="arabicPeriod"/>
            </a:pPr>
            <a:r>
              <a:rPr lang="en-US" dirty="0"/>
              <a:t>When </a:t>
            </a:r>
            <a:r>
              <a:rPr lang="en-US" dirty="0">
                <a:latin typeface="Courier New" panose="02070309020205020404" pitchFamily="49" charset="0"/>
              </a:rPr>
              <a:t>n</a:t>
            </a:r>
            <a:r>
              <a:rPr lang="en-US" dirty="0"/>
              <a:t> becomes a single digit, return </a:t>
            </a:r>
            <a:r>
              <a:rPr lang="en-US" dirty="0">
                <a:latin typeface="Courier New" panose="02070309020205020404" pitchFamily="49" charset="0"/>
              </a:rPr>
              <a:t>n</a:t>
            </a:r>
            <a:r>
              <a:rPr lang="en-US" dirty="0"/>
              <a:t>.</a:t>
            </a:r>
          </a:p>
          <a:p>
            <a:pPr>
              <a:buNone/>
            </a:pPr>
            <a:r>
              <a:rPr lang="en-US" b="1" dirty="0"/>
              <a:t>Complexity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Time Complexity:</a:t>
            </a:r>
            <a:r>
              <a:rPr lang="en-US" dirty="0"/>
              <a:t> </a:t>
            </a:r>
            <a:r>
              <a:rPr lang="en-US" dirty="0">
                <a:latin typeface="Courier New" panose="02070309020205020404" pitchFamily="49" charset="0"/>
              </a:rPr>
              <a:t>O(log n)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Space Complexity:</a:t>
            </a:r>
            <a:r>
              <a:rPr lang="en-US" dirty="0"/>
              <a:t> </a:t>
            </a:r>
            <a:r>
              <a:rPr lang="en-US" dirty="0">
                <a:latin typeface="Courier New" panose="02070309020205020404" pitchFamily="49" charset="0"/>
              </a:rPr>
              <a:t>O(1)</a:t>
            </a:r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en-US" b="1" dirty="0"/>
              <a:t>Optimal Logic (Digital Root Formula)</a:t>
            </a:r>
          </a:p>
          <a:p>
            <a:pPr>
              <a:buFont typeface="+mj-lt"/>
              <a:buAutoNum type="arabicPeriod"/>
            </a:pPr>
            <a:r>
              <a:rPr lang="en-US" dirty="0"/>
              <a:t>If </a:t>
            </a:r>
            <a:r>
              <a:rPr lang="en-US" dirty="0">
                <a:latin typeface="Courier New" panose="02070309020205020404" pitchFamily="49" charset="0"/>
              </a:rPr>
              <a:t>n == 0</a:t>
            </a:r>
            <a:r>
              <a:rPr lang="en-US" dirty="0"/>
              <a:t>, return </a:t>
            </a:r>
            <a:r>
              <a:rPr lang="en-US" dirty="0">
                <a:latin typeface="Courier New" panose="02070309020205020404" pitchFamily="49" charset="0"/>
              </a:rPr>
              <a:t>0</a:t>
            </a:r>
            <a:r>
              <a:rPr lang="en-US" dirty="0"/>
              <a:t>.</a:t>
            </a:r>
          </a:p>
          <a:p>
            <a:pPr>
              <a:buFont typeface="+mj-lt"/>
              <a:buAutoNum type="arabicPeriod"/>
            </a:pPr>
            <a:r>
              <a:rPr lang="en-US" dirty="0"/>
              <a:t>If </a:t>
            </a:r>
            <a:r>
              <a:rPr lang="en-US" dirty="0">
                <a:latin typeface="Courier New" panose="02070309020205020404" pitchFamily="49" charset="0"/>
              </a:rPr>
              <a:t>n % 9 == 0</a:t>
            </a:r>
            <a:r>
              <a:rPr lang="en-US" dirty="0"/>
              <a:t>, return </a:t>
            </a:r>
            <a:r>
              <a:rPr lang="en-US" dirty="0">
                <a:latin typeface="Courier New" panose="02070309020205020404" pitchFamily="49" charset="0"/>
              </a:rPr>
              <a:t>9</a:t>
            </a:r>
            <a:r>
              <a:rPr lang="en-US" dirty="0"/>
              <a:t>.</a:t>
            </a:r>
          </a:p>
          <a:p>
            <a:pPr>
              <a:buFont typeface="+mj-lt"/>
              <a:buAutoNum type="arabicPeriod"/>
            </a:pPr>
            <a:r>
              <a:rPr lang="en-US" dirty="0"/>
              <a:t>Otherwise, return </a:t>
            </a:r>
            <a:r>
              <a:rPr lang="en-US" dirty="0">
                <a:latin typeface="Courier New" panose="02070309020205020404" pitchFamily="49" charset="0"/>
              </a:rPr>
              <a:t>n % 9</a:t>
            </a:r>
            <a:r>
              <a:rPr lang="en-US" dirty="0"/>
              <a:t>.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Complexity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Time Complexity:</a:t>
            </a:r>
            <a:r>
              <a:rPr lang="en-US" dirty="0"/>
              <a:t> </a:t>
            </a:r>
            <a:r>
              <a:rPr lang="en-US" dirty="0">
                <a:latin typeface="Courier New" panose="02070309020205020404" pitchFamily="49" charset="0"/>
              </a:rPr>
              <a:t>O(1)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Space Complexity:</a:t>
            </a:r>
            <a:r>
              <a:rPr lang="en-US" dirty="0"/>
              <a:t> </a:t>
            </a:r>
            <a:r>
              <a:rPr lang="en-US" dirty="0">
                <a:latin typeface="Courier New" panose="02070309020205020404" pitchFamily="49" charset="0"/>
              </a:rPr>
              <a:t>O(1)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21577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9A32614-6FC8-1641-328F-062C9669E81D}"/>
              </a:ext>
            </a:extLst>
          </p:cNvPr>
          <p:cNvSpPr txBox="1"/>
          <p:nvPr/>
        </p:nvSpPr>
        <p:spPr>
          <a:xfrm>
            <a:off x="265470" y="774656"/>
            <a:ext cx="618449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Problem Statement</a:t>
            </a:r>
          </a:p>
          <a:p>
            <a:pPr>
              <a:buNone/>
            </a:pPr>
            <a:r>
              <a:rPr lang="en-US" dirty="0"/>
              <a:t>A </a:t>
            </a:r>
            <a:r>
              <a:rPr lang="en-US" b="1" dirty="0"/>
              <a:t>self-dividing number</a:t>
            </a:r>
            <a:r>
              <a:rPr lang="en-US" dirty="0"/>
              <a:t> is a number that: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Does not contain digit 0</a:t>
            </a:r>
            <a:endParaRPr lang="en-US" dirty="0"/>
          </a:p>
          <a:p>
            <a:pPr>
              <a:buFont typeface="+mj-lt"/>
              <a:buAutoNum type="arabicPeriod"/>
            </a:pPr>
            <a:r>
              <a:rPr lang="en-US" dirty="0"/>
              <a:t>Is </a:t>
            </a:r>
            <a:r>
              <a:rPr lang="en-US" b="1" dirty="0"/>
              <a:t>divisible by each of its digits</a:t>
            </a:r>
            <a:endParaRPr lang="en-US" dirty="0"/>
          </a:p>
          <a:p>
            <a:pPr>
              <a:buNone/>
            </a:pPr>
            <a:r>
              <a:rPr lang="en-US" dirty="0"/>
              <a:t>You are given two integers </a:t>
            </a:r>
            <a:r>
              <a:rPr lang="en-US" dirty="0">
                <a:latin typeface="Courier New" panose="02070309020205020404" pitchFamily="49" charset="0"/>
              </a:rPr>
              <a:t>left</a:t>
            </a:r>
            <a:r>
              <a:rPr lang="en-US" dirty="0"/>
              <a:t> and </a:t>
            </a:r>
            <a:r>
              <a:rPr lang="en-US" dirty="0">
                <a:latin typeface="Courier New" panose="02070309020205020404" pitchFamily="49" charset="0"/>
              </a:rPr>
              <a:t>right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Return </a:t>
            </a:r>
            <a:r>
              <a:rPr lang="en-US" b="1" dirty="0"/>
              <a:t>all self-dividing numbers</a:t>
            </a:r>
            <a:r>
              <a:rPr lang="en-US" dirty="0"/>
              <a:t> in the range </a:t>
            </a:r>
            <a:r>
              <a:rPr lang="en-US" b="1" dirty="0"/>
              <a:t>[left, right]</a:t>
            </a:r>
            <a:r>
              <a:rPr lang="en-US" dirty="0"/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E33E0A-5465-20CF-43EA-631B00135677}"/>
              </a:ext>
            </a:extLst>
          </p:cNvPr>
          <p:cNvSpPr txBox="1"/>
          <p:nvPr/>
        </p:nvSpPr>
        <p:spPr>
          <a:xfrm>
            <a:off x="265471" y="27745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728. Self Dividing Numbers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4B4399-8329-4F73-C881-9D95009B9377}"/>
              </a:ext>
            </a:extLst>
          </p:cNvPr>
          <p:cNvSpPr txBox="1"/>
          <p:nvPr/>
        </p:nvSpPr>
        <p:spPr>
          <a:xfrm>
            <a:off x="6872748" y="379329"/>
            <a:ext cx="4975123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Example 1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left = 1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right = 22</a:t>
            </a:r>
          </a:p>
          <a:p>
            <a:pPr>
              <a:buNone/>
            </a:pPr>
            <a:r>
              <a:rPr lang="en-US" b="1" dirty="0"/>
              <a:t>Output</a:t>
            </a:r>
            <a:endParaRPr lang="en-US" dirty="0"/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[1,2,3,4,5,6,7,8,9,11,12,15,22]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Why 12 is valid?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Digits → </a:t>
            </a:r>
            <a:r>
              <a:rPr lang="en-US" dirty="0">
                <a:latin typeface="Courier New" panose="02070309020205020404" pitchFamily="49" charset="0"/>
              </a:rPr>
              <a:t>1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</a:rPr>
              <a:t>2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12 % 1 == 0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12 % 2 == 0</a:t>
            </a:r>
          </a:p>
          <a:p>
            <a:pPr>
              <a:buNone/>
            </a:pPr>
            <a:r>
              <a:rPr lang="en-US" dirty="0"/>
              <a:t>Self-dividing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Why 10 is invalid?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Contains digit </a:t>
            </a:r>
            <a:r>
              <a:rPr lang="en-US" dirty="0">
                <a:latin typeface="Courier New" panose="02070309020205020404" pitchFamily="49" charset="0"/>
              </a:rPr>
              <a:t>0</a:t>
            </a: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Why 13 is invalid?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13 % 3 ≠ 0 </a:t>
            </a:r>
          </a:p>
        </p:txBody>
      </p:sp>
    </p:spTree>
    <p:extLst>
      <p:ext uri="{BB962C8B-B14F-4D97-AF65-F5344CB8AC3E}">
        <p14:creationId xmlns:p14="http://schemas.microsoft.com/office/powerpoint/2010/main" val="17587378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69205AC-5DF0-17AE-9782-A75031AC74B9}"/>
              </a:ext>
            </a:extLst>
          </p:cNvPr>
          <p:cNvSpPr txBox="1"/>
          <p:nvPr/>
        </p:nvSpPr>
        <p:spPr>
          <a:xfrm>
            <a:off x="196645" y="615303"/>
            <a:ext cx="5653549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Approach: Check Each Number Digit by Digit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Core Idea</a:t>
            </a:r>
          </a:p>
          <a:p>
            <a:pPr>
              <a:buNone/>
            </a:pPr>
            <a:r>
              <a:rPr lang="en-US" dirty="0"/>
              <a:t>For every number from </a:t>
            </a:r>
            <a:r>
              <a:rPr lang="en-US" dirty="0">
                <a:latin typeface="Courier New" panose="02070309020205020404" pitchFamily="49" charset="0"/>
              </a:rPr>
              <a:t>left</a:t>
            </a:r>
            <a:r>
              <a:rPr lang="en-US" dirty="0"/>
              <a:t> to </a:t>
            </a:r>
            <a:r>
              <a:rPr lang="en-US" dirty="0">
                <a:latin typeface="Courier New" panose="02070309020205020404" pitchFamily="49" charset="0"/>
              </a:rPr>
              <a:t>right</a:t>
            </a:r>
            <a:r>
              <a:rPr lang="en-US" dirty="0"/>
              <a:t>:</a:t>
            </a:r>
          </a:p>
          <a:p>
            <a:pPr>
              <a:buFont typeface="+mj-lt"/>
              <a:buAutoNum type="arabicPeriod"/>
            </a:pPr>
            <a:r>
              <a:rPr lang="en-US" dirty="0"/>
              <a:t>Extract its digits</a:t>
            </a:r>
          </a:p>
          <a:p>
            <a:pPr>
              <a:buFont typeface="+mj-lt"/>
              <a:buAutoNum type="arabicPeriod"/>
            </a:pPr>
            <a:r>
              <a:rPr lang="en-US" dirty="0"/>
              <a:t>If any digit is </a:t>
            </a:r>
            <a:r>
              <a:rPr lang="en-US" dirty="0">
                <a:latin typeface="Courier New" panose="02070309020205020404" pitchFamily="49" charset="0"/>
              </a:rPr>
              <a:t>0</a:t>
            </a:r>
            <a:r>
              <a:rPr lang="en-US" dirty="0"/>
              <a:t> → invalid</a:t>
            </a:r>
          </a:p>
          <a:p>
            <a:pPr>
              <a:buFont typeface="+mj-lt"/>
              <a:buAutoNum type="arabicPeriod"/>
            </a:pPr>
            <a:r>
              <a:rPr lang="en-US" dirty="0"/>
              <a:t>If number is not divisible by any digit → invalid</a:t>
            </a:r>
          </a:p>
          <a:p>
            <a:pPr>
              <a:buFont typeface="+mj-lt"/>
              <a:buAutoNum type="arabicPeriod"/>
            </a:pPr>
            <a:r>
              <a:rPr lang="en-US" dirty="0"/>
              <a:t>Otherwise → valid self-dividing number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en-US" b="1" dirty="0"/>
              <a:t>Logic</a:t>
            </a:r>
          </a:p>
          <a:p>
            <a:pPr>
              <a:buFont typeface="+mj-lt"/>
              <a:buAutoNum type="arabicPeriod"/>
            </a:pPr>
            <a:r>
              <a:rPr lang="en-US" dirty="0"/>
              <a:t>Loop from </a:t>
            </a:r>
            <a:r>
              <a:rPr lang="en-US" dirty="0">
                <a:latin typeface="Courier New" panose="02070309020205020404" pitchFamily="49" charset="0"/>
              </a:rPr>
              <a:t>left</a:t>
            </a:r>
            <a:r>
              <a:rPr lang="en-US" dirty="0"/>
              <a:t> to </a:t>
            </a:r>
            <a:r>
              <a:rPr lang="en-US" dirty="0">
                <a:latin typeface="Courier New" panose="02070309020205020404" pitchFamily="49" charset="0"/>
              </a:rPr>
              <a:t>right</a:t>
            </a:r>
            <a:endParaRPr lang="en-US" dirty="0"/>
          </a:p>
          <a:p>
            <a:pPr>
              <a:buFont typeface="+mj-lt"/>
              <a:buAutoNum type="arabicPeriod"/>
            </a:pPr>
            <a:r>
              <a:rPr lang="en-US" dirty="0"/>
              <a:t>For each number: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Store original value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Extract digits using modulo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Check: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US" dirty="0"/>
              <a:t>digit ≠ 0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US" dirty="0"/>
              <a:t>original % digit == 0</a:t>
            </a:r>
          </a:p>
          <a:p>
            <a:pPr>
              <a:buFont typeface="+mj-lt"/>
              <a:buAutoNum type="arabicPeriod"/>
            </a:pPr>
            <a:r>
              <a:rPr lang="en-US" dirty="0"/>
              <a:t>If all digits pass → add number to result list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7BF5F6-BC62-C489-85C3-E849A4CE4770}"/>
              </a:ext>
            </a:extLst>
          </p:cNvPr>
          <p:cNvSpPr txBox="1"/>
          <p:nvPr/>
        </p:nvSpPr>
        <p:spPr>
          <a:xfrm>
            <a:off x="5486400" y="1521908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Example Walkthrough (</a:t>
            </a:r>
            <a:r>
              <a:rPr lang="en-US" b="1" dirty="0">
                <a:latin typeface="Courier New" panose="02070309020205020404" pitchFamily="49" charset="0"/>
              </a:rPr>
              <a:t>num = 128</a:t>
            </a:r>
            <a:r>
              <a:rPr lang="en-US" b="1" dirty="0"/>
              <a:t>)</a:t>
            </a:r>
          </a:p>
          <a:p>
            <a:pPr>
              <a:buNone/>
            </a:pPr>
            <a:r>
              <a:rPr lang="en-US" dirty="0"/>
              <a:t>Digits: </a:t>
            </a:r>
            <a:r>
              <a:rPr lang="en-US" dirty="0">
                <a:latin typeface="Courier New" panose="02070309020205020404" pitchFamily="49" charset="0"/>
              </a:rPr>
              <a:t>8 → 2 → 1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128 % 8 == 0 ✔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128 % 2 == 0 ✔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128 % 1 == 0 ✔</a:t>
            </a:r>
          </a:p>
          <a:p>
            <a:pPr>
              <a:buNone/>
            </a:pPr>
            <a:r>
              <a:rPr lang="en-US" b="1" dirty="0"/>
              <a:t>Valid self-dividing number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59137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8E5CED0-0169-BF97-D5BE-2DDB64C3BBDF}"/>
              </a:ext>
            </a:extLst>
          </p:cNvPr>
          <p:cNvSpPr txBox="1"/>
          <p:nvPr/>
        </p:nvSpPr>
        <p:spPr>
          <a:xfrm>
            <a:off x="0" y="615303"/>
            <a:ext cx="5987845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Pseudocode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result = empty list</a:t>
            </a:r>
          </a:p>
          <a:p>
            <a:pPr rtl="0">
              <a:buNone/>
            </a:pPr>
            <a:endParaRPr lang="en-IN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for </a:t>
            </a:r>
            <a:r>
              <a:rPr lang="en-IN" dirty="0" err="1">
                <a:latin typeface="Courier New" panose="02070309020205020404" pitchFamily="49" charset="0"/>
              </a:rPr>
              <a:t>num</a:t>
            </a:r>
            <a:r>
              <a:rPr lang="en-IN" dirty="0">
                <a:latin typeface="Courier New" panose="02070309020205020404" pitchFamily="49" charset="0"/>
              </a:rPr>
              <a:t> = left to right: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temp = </a:t>
            </a:r>
            <a:r>
              <a:rPr lang="en-IN" dirty="0" err="1">
                <a:latin typeface="Courier New" panose="02070309020205020404" pitchFamily="49" charset="0"/>
              </a:rPr>
              <a:t>num</a:t>
            </a:r>
            <a:endParaRPr lang="en-IN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</a:t>
            </a:r>
            <a:r>
              <a:rPr lang="en-IN" dirty="0" err="1">
                <a:latin typeface="Courier New" panose="02070309020205020404" pitchFamily="49" charset="0"/>
              </a:rPr>
              <a:t>isValid</a:t>
            </a:r>
            <a:r>
              <a:rPr lang="en-IN" dirty="0">
                <a:latin typeface="Courier New" panose="02070309020205020404" pitchFamily="49" charset="0"/>
              </a:rPr>
              <a:t> = true</a:t>
            </a:r>
          </a:p>
          <a:p>
            <a:pPr rtl="0">
              <a:buNone/>
            </a:pPr>
            <a:endParaRPr lang="en-IN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while temp &gt; 0: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    digit = temp % 10</a:t>
            </a:r>
          </a:p>
          <a:p>
            <a:pPr rtl="0">
              <a:buNone/>
            </a:pPr>
            <a:endParaRPr lang="en-IN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    if digit == 0 OR </a:t>
            </a:r>
            <a:r>
              <a:rPr lang="en-IN" dirty="0" err="1">
                <a:latin typeface="Courier New" panose="02070309020205020404" pitchFamily="49" charset="0"/>
              </a:rPr>
              <a:t>num</a:t>
            </a:r>
            <a:r>
              <a:rPr lang="en-IN" dirty="0">
                <a:latin typeface="Courier New" panose="02070309020205020404" pitchFamily="49" charset="0"/>
              </a:rPr>
              <a:t> % digit != 0: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        </a:t>
            </a:r>
            <a:r>
              <a:rPr lang="en-IN" dirty="0" err="1">
                <a:latin typeface="Courier New" panose="02070309020205020404" pitchFamily="49" charset="0"/>
              </a:rPr>
              <a:t>isValid</a:t>
            </a:r>
            <a:r>
              <a:rPr lang="en-IN" dirty="0">
                <a:latin typeface="Courier New" panose="02070309020205020404" pitchFamily="49" charset="0"/>
              </a:rPr>
              <a:t> = false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        break</a:t>
            </a:r>
          </a:p>
          <a:p>
            <a:pPr rtl="0">
              <a:buNone/>
            </a:pPr>
            <a:endParaRPr lang="en-IN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    temp = temp / 10</a:t>
            </a:r>
          </a:p>
          <a:p>
            <a:pPr rtl="0">
              <a:buNone/>
            </a:pPr>
            <a:endParaRPr lang="en-IN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if </a:t>
            </a:r>
            <a:r>
              <a:rPr lang="en-IN" dirty="0" err="1">
                <a:latin typeface="Courier New" panose="02070309020205020404" pitchFamily="49" charset="0"/>
              </a:rPr>
              <a:t>isValid</a:t>
            </a:r>
            <a:r>
              <a:rPr lang="en-IN" dirty="0">
                <a:latin typeface="Courier New" panose="02070309020205020404" pitchFamily="49" charset="0"/>
              </a:rPr>
              <a:t>: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    add </a:t>
            </a:r>
            <a:r>
              <a:rPr lang="en-IN" dirty="0" err="1">
                <a:latin typeface="Courier New" panose="02070309020205020404" pitchFamily="49" charset="0"/>
              </a:rPr>
              <a:t>num</a:t>
            </a:r>
            <a:r>
              <a:rPr lang="en-IN" dirty="0">
                <a:latin typeface="Courier New" panose="02070309020205020404" pitchFamily="49" charset="0"/>
              </a:rPr>
              <a:t> to result</a:t>
            </a:r>
          </a:p>
          <a:p>
            <a:pPr rtl="0">
              <a:buNone/>
            </a:pPr>
            <a:endParaRPr lang="en-IN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return result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36A34B-54D3-14F6-749A-66B3F7DC7C56}"/>
              </a:ext>
            </a:extLst>
          </p:cNvPr>
          <p:cNvSpPr txBox="1"/>
          <p:nvPr/>
        </p:nvSpPr>
        <p:spPr>
          <a:xfrm>
            <a:off x="6924368" y="889843"/>
            <a:ext cx="487434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Time Complexity</a:t>
            </a:r>
          </a:p>
          <a:p>
            <a:pPr>
              <a:buNone/>
            </a:pPr>
            <a:r>
              <a:rPr lang="en-IN" dirty="0"/>
              <a:t>For each number, we process all digits: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O(n × d)</a:t>
            </a:r>
          </a:p>
          <a:p>
            <a:pPr>
              <a:buNone/>
            </a:pPr>
            <a:r>
              <a:rPr lang="en-IN" dirty="0"/>
              <a:t>Since </a:t>
            </a:r>
            <a:r>
              <a:rPr lang="en-IN" dirty="0">
                <a:latin typeface="Courier New" panose="02070309020205020404" pitchFamily="49" charset="0"/>
              </a:rPr>
              <a:t>d ≈ log₁₀(</a:t>
            </a:r>
            <a:r>
              <a:rPr lang="en-IN" dirty="0" err="1">
                <a:latin typeface="Courier New" panose="02070309020205020404" pitchFamily="49" charset="0"/>
              </a:rPr>
              <a:t>num</a:t>
            </a:r>
            <a:r>
              <a:rPr lang="en-IN" dirty="0">
                <a:latin typeface="Courier New" panose="02070309020205020404" pitchFamily="49" charset="0"/>
              </a:rPr>
              <a:t>)</a:t>
            </a:r>
            <a:r>
              <a:rPr lang="en-IN" dirty="0"/>
              <a:t>: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O(n log n)</a:t>
            </a:r>
          </a:p>
          <a:p>
            <a:pPr>
              <a:buNone/>
            </a:pPr>
            <a:br>
              <a:rPr lang="en-IN" dirty="0"/>
            </a:br>
            <a:r>
              <a:rPr lang="en-IN" b="1" dirty="0"/>
              <a:t>Space Complexity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Result list stores valid numbers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No extra data structures used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O(1) auxiliary space</a:t>
            </a:r>
          </a:p>
          <a:p>
            <a:pPr>
              <a:buNone/>
            </a:pPr>
            <a:r>
              <a:rPr lang="en-IN" dirty="0"/>
              <a:t>(Output space excluded)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Edge Cases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Numbers containing </a:t>
            </a:r>
            <a:r>
              <a:rPr lang="en-IN" dirty="0">
                <a:latin typeface="Courier New" panose="02070309020205020404" pitchFamily="49" charset="0"/>
              </a:rPr>
              <a:t>0</a:t>
            </a:r>
            <a:r>
              <a:rPr lang="en-IN" dirty="0"/>
              <a:t> → always invalid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Single-digit numbers </a:t>
            </a:r>
            <a:r>
              <a:rPr lang="en-IN" dirty="0">
                <a:latin typeface="Courier New" panose="02070309020205020404" pitchFamily="49" charset="0"/>
              </a:rPr>
              <a:t>1–9</a:t>
            </a:r>
            <a:r>
              <a:rPr lang="en-IN" dirty="0"/>
              <a:t> → always valid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Large range → still efficient</a:t>
            </a:r>
          </a:p>
        </p:txBody>
      </p:sp>
    </p:spTree>
    <p:extLst>
      <p:ext uri="{BB962C8B-B14F-4D97-AF65-F5344CB8AC3E}">
        <p14:creationId xmlns:p14="http://schemas.microsoft.com/office/powerpoint/2010/main" val="38407573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8758715-03E3-18CE-158E-3A6719F9F184}"/>
              </a:ext>
            </a:extLst>
          </p:cNvPr>
          <p:cNvSpPr txBox="1"/>
          <p:nvPr/>
        </p:nvSpPr>
        <p:spPr>
          <a:xfrm>
            <a:off x="186813" y="306947"/>
            <a:ext cx="69514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1281. Subtract the Product and Sum of Digits of an Integer</a:t>
            </a:r>
            <a:endParaRPr lang="en-IN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931E01-A48F-FBCC-595A-028A564FE4A0}"/>
              </a:ext>
            </a:extLst>
          </p:cNvPr>
          <p:cNvSpPr txBox="1"/>
          <p:nvPr/>
        </p:nvSpPr>
        <p:spPr>
          <a:xfrm>
            <a:off x="186813" y="745159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Problem Statement</a:t>
            </a:r>
          </a:p>
          <a:p>
            <a:pPr>
              <a:buNone/>
            </a:pPr>
            <a:r>
              <a:rPr lang="en-US" dirty="0"/>
              <a:t>You are given an integer </a:t>
            </a:r>
            <a:r>
              <a:rPr lang="en-US" dirty="0">
                <a:latin typeface="Courier New" panose="02070309020205020404" pitchFamily="49" charset="0"/>
              </a:rPr>
              <a:t>n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Find the </a:t>
            </a:r>
            <a:r>
              <a:rPr lang="en-US" b="1" dirty="0"/>
              <a:t>product of its digits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Find the </a:t>
            </a:r>
            <a:r>
              <a:rPr lang="en-US" b="1" dirty="0"/>
              <a:t>sum of its digits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Return: </a:t>
            </a:r>
            <a:r>
              <a:rPr lang="en-US" dirty="0">
                <a:latin typeface="Courier New" panose="02070309020205020404" pitchFamily="49" charset="0"/>
              </a:rPr>
              <a:t>product − sum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C3AED9-6589-B4F4-8638-D5FEB26E90FD}"/>
              </a:ext>
            </a:extLst>
          </p:cNvPr>
          <p:cNvSpPr txBox="1"/>
          <p:nvPr/>
        </p:nvSpPr>
        <p:spPr>
          <a:xfrm>
            <a:off x="186813" y="2222487"/>
            <a:ext cx="3844414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Example 1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n = 234</a:t>
            </a:r>
          </a:p>
          <a:p>
            <a:pPr>
              <a:buNone/>
            </a:pPr>
            <a:r>
              <a:rPr lang="en-US" dirty="0"/>
              <a:t>Digits: </a:t>
            </a:r>
            <a:r>
              <a:rPr lang="en-US" dirty="0">
                <a:latin typeface="Courier New" panose="02070309020205020404" pitchFamily="49" charset="0"/>
              </a:rPr>
              <a:t>2, 3, 4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Product = </a:t>
            </a:r>
            <a:r>
              <a:rPr lang="en-US" dirty="0">
                <a:latin typeface="Courier New" panose="02070309020205020404" pitchFamily="49" charset="0"/>
              </a:rPr>
              <a:t>2 × 3 × 4 = 24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Sum = </a:t>
            </a:r>
            <a:r>
              <a:rPr lang="en-US" dirty="0">
                <a:latin typeface="Courier New" panose="02070309020205020404" pitchFamily="49" charset="0"/>
              </a:rPr>
              <a:t>2 + 3 + 4 = 9</a:t>
            </a:r>
            <a:endParaRPr lang="en-US" dirty="0"/>
          </a:p>
          <a:p>
            <a:pPr>
              <a:buNone/>
            </a:pPr>
            <a:r>
              <a:rPr lang="en-US" b="1" dirty="0"/>
              <a:t>Answer</a:t>
            </a:r>
            <a:endParaRPr lang="en-US" dirty="0"/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24 − 9 = 15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Example 2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n = 4421</a:t>
            </a:r>
          </a:p>
          <a:p>
            <a:pPr>
              <a:buNone/>
            </a:pPr>
            <a:r>
              <a:rPr lang="en-US" dirty="0"/>
              <a:t>Digits: </a:t>
            </a:r>
            <a:r>
              <a:rPr lang="en-US" dirty="0">
                <a:latin typeface="Courier New" panose="02070309020205020404" pitchFamily="49" charset="0"/>
              </a:rPr>
              <a:t>4, 4, 2, 1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Product = </a:t>
            </a:r>
            <a:r>
              <a:rPr lang="en-US" dirty="0">
                <a:latin typeface="Courier New" panose="02070309020205020404" pitchFamily="49" charset="0"/>
              </a:rPr>
              <a:t>32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Sum = </a:t>
            </a:r>
            <a:r>
              <a:rPr lang="en-US" dirty="0">
                <a:latin typeface="Courier New" panose="02070309020205020404" pitchFamily="49" charset="0"/>
              </a:rPr>
              <a:t>11</a:t>
            </a:r>
            <a:endParaRPr lang="en-US" dirty="0"/>
          </a:p>
          <a:p>
            <a:pPr>
              <a:buNone/>
            </a:pPr>
            <a:r>
              <a:rPr lang="en-US" b="1" dirty="0"/>
              <a:t>Answer</a:t>
            </a:r>
            <a:endParaRPr lang="en-US" dirty="0"/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21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58B696-0473-7351-69C5-8AB2235E8EF8}"/>
              </a:ext>
            </a:extLst>
          </p:cNvPr>
          <p:cNvSpPr txBox="1"/>
          <p:nvPr/>
        </p:nvSpPr>
        <p:spPr>
          <a:xfrm>
            <a:off x="6096000" y="1034528"/>
            <a:ext cx="5801032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Approach 1: Digit Extraction (Standard / Optimal)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Core Idea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Extract digits </a:t>
            </a:r>
            <a:r>
              <a:rPr lang="en-US" b="1" dirty="0"/>
              <a:t>one by one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Multiply them for product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Add them for sum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Subtract at the end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Logic</a:t>
            </a:r>
          </a:p>
          <a:p>
            <a:pPr>
              <a:buFont typeface="+mj-lt"/>
              <a:buAutoNum type="arabicPeriod"/>
            </a:pPr>
            <a:r>
              <a:rPr lang="en-US" dirty="0"/>
              <a:t>Initialize: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>
                <a:latin typeface="Courier New" panose="02070309020205020404" pitchFamily="49" charset="0"/>
              </a:rPr>
              <a:t>product = 1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>
                <a:latin typeface="Courier New" panose="02070309020205020404" pitchFamily="49" charset="0"/>
              </a:rPr>
              <a:t>sum = 0</a:t>
            </a:r>
            <a:endParaRPr lang="en-US" dirty="0"/>
          </a:p>
          <a:p>
            <a:pPr>
              <a:buFont typeface="+mj-lt"/>
              <a:buAutoNum type="arabicPeriod"/>
            </a:pPr>
            <a:r>
              <a:rPr lang="en-US" dirty="0"/>
              <a:t>While </a:t>
            </a:r>
            <a:r>
              <a:rPr lang="en-US" dirty="0">
                <a:latin typeface="Courier New" panose="02070309020205020404" pitchFamily="49" charset="0"/>
              </a:rPr>
              <a:t>n &gt; 0</a:t>
            </a:r>
            <a:r>
              <a:rPr lang="en-US" dirty="0"/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Extract last digit using </a:t>
            </a:r>
            <a:r>
              <a:rPr lang="en-US" dirty="0">
                <a:latin typeface="Courier New" panose="02070309020205020404" pitchFamily="49" charset="0"/>
              </a:rPr>
              <a:t>n % 10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Multiply digit with </a:t>
            </a:r>
            <a:r>
              <a:rPr lang="en-US" dirty="0">
                <a:latin typeface="Courier New" panose="02070309020205020404" pitchFamily="49" charset="0"/>
              </a:rPr>
              <a:t>product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Add digit to </a:t>
            </a:r>
            <a:r>
              <a:rPr lang="en-US" dirty="0">
                <a:latin typeface="Courier New" panose="02070309020205020404" pitchFamily="49" charset="0"/>
              </a:rPr>
              <a:t>sum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Remove last digit using </a:t>
            </a:r>
            <a:r>
              <a:rPr lang="en-US" dirty="0">
                <a:latin typeface="Courier New" panose="02070309020205020404" pitchFamily="49" charset="0"/>
              </a:rPr>
              <a:t>n / 10</a:t>
            </a:r>
            <a:endParaRPr lang="en-US" dirty="0"/>
          </a:p>
          <a:p>
            <a:pPr>
              <a:buFont typeface="+mj-lt"/>
              <a:buAutoNum type="arabicPeriod"/>
            </a:pPr>
            <a:r>
              <a:rPr lang="en-US" dirty="0"/>
              <a:t>Return </a:t>
            </a:r>
            <a:r>
              <a:rPr lang="en-US" dirty="0">
                <a:latin typeface="Courier New" panose="02070309020205020404" pitchFamily="49" charset="0"/>
              </a:rPr>
              <a:t>product − sum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40800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04C00E9-F488-D1C1-FCA6-6FB59C1B25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1812114"/>
              </p:ext>
            </p:extLst>
          </p:nvPr>
        </p:nvGraphicFramePr>
        <p:xfrm>
          <a:off x="838200" y="683891"/>
          <a:ext cx="10515600" cy="14630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1082112099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762880487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894497739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586668606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40033944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Step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Digit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Product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Sum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628269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274870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61015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2478930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0433FBAF-126D-84DE-9279-BC374F888FF5}"/>
              </a:ext>
            </a:extLst>
          </p:cNvPr>
          <p:cNvSpPr txBox="1"/>
          <p:nvPr/>
        </p:nvSpPr>
        <p:spPr>
          <a:xfrm>
            <a:off x="720213" y="233152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Pseudocode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859024-10C5-4B6E-5F37-9826AA8FD721}"/>
              </a:ext>
            </a:extLst>
          </p:cNvPr>
          <p:cNvSpPr txBox="1"/>
          <p:nvPr/>
        </p:nvSpPr>
        <p:spPr>
          <a:xfrm>
            <a:off x="720213" y="12996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Example Walkthrough (</a:t>
            </a:r>
            <a:r>
              <a:rPr lang="en-IN" b="1" dirty="0">
                <a:latin typeface="Courier New" panose="02070309020205020404" pitchFamily="49" charset="0"/>
              </a:rPr>
              <a:t>n = 234</a:t>
            </a:r>
            <a:r>
              <a:rPr lang="en-IN" b="1" dirty="0"/>
              <a:t>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E45735-7F52-6691-234E-C8B0CF1F31F5}"/>
              </a:ext>
            </a:extLst>
          </p:cNvPr>
          <p:cNvSpPr txBox="1"/>
          <p:nvPr/>
        </p:nvSpPr>
        <p:spPr>
          <a:xfrm>
            <a:off x="838200" y="2885447"/>
            <a:ext cx="784368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product = 1</a:t>
            </a:r>
          </a:p>
          <a:p>
            <a:r>
              <a:rPr lang="en-US" dirty="0"/>
              <a:t>sum = 0</a:t>
            </a:r>
          </a:p>
          <a:p>
            <a:endParaRPr lang="en-US" dirty="0"/>
          </a:p>
          <a:p>
            <a:r>
              <a:rPr lang="en-US" dirty="0"/>
              <a:t>while n &gt; 0:</a:t>
            </a:r>
          </a:p>
          <a:p>
            <a:r>
              <a:rPr lang="en-US" dirty="0"/>
              <a:t>    digit = n % 10</a:t>
            </a:r>
          </a:p>
          <a:p>
            <a:r>
              <a:rPr lang="en-US" dirty="0"/>
              <a:t>    product = pro duct * digit</a:t>
            </a:r>
          </a:p>
          <a:p>
            <a:r>
              <a:rPr lang="en-US" dirty="0"/>
              <a:t>    sum = sum + digit</a:t>
            </a:r>
          </a:p>
          <a:p>
            <a:r>
              <a:rPr lang="en-US" dirty="0"/>
              <a:t>    n = n / 10</a:t>
            </a:r>
          </a:p>
          <a:p>
            <a:endParaRPr lang="en-US" dirty="0"/>
          </a:p>
          <a:p>
            <a:r>
              <a:rPr lang="en-US" dirty="0"/>
              <a:t>return product - sum</a:t>
            </a:r>
          </a:p>
        </p:txBody>
      </p:sp>
    </p:spTree>
    <p:extLst>
      <p:ext uri="{BB962C8B-B14F-4D97-AF65-F5344CB8AC3E}">
        <p14:creationId xmlns:p14="http://schemas.microsoft.com/office/powerpoint/2010/main" val="40727586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75762ED-C71B-7236-108C-1042914AF8E7}"/>
              </a:ext>
            </a:extLst>
          </p:cNvPr>
          <p:cNvSpPr txBox="1"/>
          <p:nvPr/>
        </p:nvSpPr>
        <p:spPr>
          <a:xfrm>
            <a:off x="98322" y="58846"/>
            <a:ext cx="4572001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Alternative Approach: Convert to String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Logic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Convert number to string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Traverse each character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Convert back to digit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Compute product &amp; sum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Pseudocode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product = 1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sum = 0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s = </a:t>
            </a:r>
            <a:r>
              <a:rPr lang="en-IN" dirty="0" err="1">
                <a:latin typeface="Courier New" panose="02070309020205020404" pitchFamily="49" charset="0"/>
              </a:rPr>
              <a:t>toString</a:t>
            </a:r>
            <a:r>
              <a:rPr lang="en-IN" dirty="0">
                <a:latin typeface="Courier New" panose="02070309020205020404" pitchFamily="49" charset="0"/>
              </a:rPr>
              <a:t>(n)</a:t>
            </a:r>
          </a:p>
          <a:p>
            <a:pPr rtl="0">
              <a:buNone/>
            </a:pPr>
            <a:endParaRPr lang="en-IN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for </a:t>
            </a:r>
            <a:r>
              <a:rPr lang="en-IN" dirty="0" err="1">
                <a:latin typeface="Courier New" panose="02070309020205020404" pitchFamily="49" charset="0"/>
              </a:rPr>
              <a:t>ch</a:t>
            </a:r>
            <a:r>
              <a:rPr lang="en-IN" dirty="0">
                <a:latin typeface="Courier New" panose="02070309020205020404" pitchFamily="49" charset="0"/>
              </a:rPr>
              <a:t> in s: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digit = </a:t>
            </a:r>
            <a:r>
              <a:rPr lang="en-IN" dirty="0" err="1">
                <a:latin typeface="Courier New" panose="02070309020205020404" pitchFamily="49" charset="0"/>
              </a:rPr>
              <a:t>ch</a:t>
            </a:r>
            <a:r>
              <a:rPr lang="en-IN" dirty="0">
                <a:latin typeface="Courier New" panose="02070309020205020404" pitchFamily="49" charset="0"/>
              </a:rPr>
              <a:t> - '0'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product *= digit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sum += digit</a:t>
            </a:r>
          </a:p>
          <a:p>
            <a:pPr rtl="0">
              <a:buNone/>
            </a:pPr>
            <a:endParaRPr lang="en-IN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return product - sum</a:t>
            </a:r>
          </a:p>
          <a:p>
            <a:pPr>
              <a:buNone/>
            </a:pPr>
            <a:br>
              <a:rPr lang="en-IN" dirty="0"/>
            </a:br>
            <a:r>
              <a:rPr lang="en-IN" b="1" dirty="0"/>
              <a:t>Complexity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Time:</a:t>
            </a:r>
            <a:r>
              <a:rPr lang="en-IN" dirty="0"/>
              <a:t> </a:t>
            </a:r>
            <a:r>
              <a:rPr lang="en-IN" dirty="0">
                <a:latin typeface="Courier New" panose="02070309020205020404" pitchFamily="49" charset="0"/>
              </a:rPr>
              <a:t>O(d)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Space:</a:t>
            </a:r>
            <a:r>
              <a:rPr lang="en-IN" dirty="0"/>
              <a:t> </a:t>
            </a:r>
            <a:r>
              <a:rPr lang="en-IN" dirty="0">
                <a:latin typeface="Courier New" panose="02070309020205020404" pitchFamily="49" charset="0"/>
              </a:rPr>
              <a:t>O(d)</a:t>
            </a:r>
            <a:r>
              <a:rPr lang="en-IN" dirty="0"/>
              <a:t> (string storage)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D1E6C9E-74A5-3748-5CFF-6485C238FB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7189055"/>
              </p:ext>
            </p:extLst>
          </p:nvPr>
        </p:nvGraphicFramePr>
        <p:xfrm>
          <a:off x="3374923" y="3285505"/>
          <a:ext cx="8512276" cy="10972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128069">
                  <a:extLst>
                    <a:ext uri="{9D8B030D-6E8A-4147-A177-3AD203B41FA5}">
                      <a16:colId xmlns:a16="http://schemas.microsoft.com/office/drawing/2014/main" val="1290064499"/>
                    </a:ext>
                  </a:extLst>
                </a:gridCol>
                <a:gridCol w="2128069">
                  <a:extLst>
                    <a:ext uri="{9D8B030D-6E8A-4147-A177-3AD203B41FA5}">
                      <a16:colId xmlns:a16="http://schemas.microsoft.com/office/drawing/2014/main" val="21270822"/>
                    </a:ext>
                  </a:extLst>
                </a:gridCol>
                <a:gridCol w="2128069">
                  <a:extLst>
                    <a:ext uri="{9D8B030D-6E8A-4147-A177-3AD203B41FA5}">
                      <a16:colId xmlns:a16="http://schemas.microsoft.com/office/drawing/2014/main" val="799774961"/>
                    </a:ext>
                  </a:extLst>
                </a:gridCol>
                <a:gridCol w="2128069">
                  <a:extLst>
                    <a:ext uri="{9D8B030D-6E8A-4147-A177-3AD203B41FA5}">
                      <a16:colId xmlns:a16="http://schemas.microsoft.com/office/drawing/2014/main" val="138427605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Approach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Space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Recommendation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709366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Digit Extraction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O(log 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O(1)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Best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30965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String Conversion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O(log 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O(log 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Avoid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140485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754241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2685796-053D-BBCA-8611-0C9F98E24D7B}"/>
              </a:ext>
            </a:extLst>
          </p:cNvPr>
          <p:cNvSpPr txBox="1"/>
          <p:nvPr/>
        </p:nvSpPr>
        <p:spPr>
          <a:xfrm>
            <a:off x="167148" y="120640"/>
            <a:ext cx="9340646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1480. Running Sum of 1D Array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Problem Explanation (Easy Language)</a:t>
            </a:r>
          </a:p>
          <a:p>
            <a:pPr>
              <a:buNone/>
            </a:pPr>
            <a:r>
              <a:rPr lang="en-US" dirty="0"/>
              <a:t>You are given an array </a:t>
            </a:r>
            <a:r>
              <a:rPr lang="en-US" dirty="0" err="1">
                <a:latin typeface="Courier New" panose="02070309020205020404" pitchFamily="49" charset="0"/>
              </a:rPr>
              <a:t>nums</a:t>
            </a:r>
            <a:r>
              <a:rPr lang="en-US" dirty="0"/>
              <a:t>.</a:t>
            </a:r>
          </a:p>
          <a:p>
            <a:pPr>
              <a:buNone/>
            </a:pPr>
            <a:r>
              <a:rPr lang="en-US" dirty="0"/>
              <a:t>The </a:t>
            </a:r>
            <a:r>
              <a:rPr lang="en-US" b="1" dirty="0"/>
              <a:t>running sum</a:t>
            </a:r>
            <a:r>
              <a:rPr lang="en-US" dirty="0"/>
              <a:t> at index </a:t>
            </a:r>
            <a:r>
              <a:rPr lang="en-US" dirty="0" err="1">
                <a:latin typeface="Courier New" panose="02070309020205020404" pitchFamily="49" charset="0"/>
              </a:rPr>
              <a:t>i</a:t>
            </a:r>
            <a:r>
              <a:rPr lang="en-US" dirty="0"/>
              <a:t> is:</a:t>
            </a:r>
          </a:p>
          <a:p>
            <a:pPr>
              <a:buNone/>
            </a:pPr>
            <a:r>
              <a:rPr lang="en-US" dirty="0"/>
              <a:t>sum of all elements from index </a:t>
            </a:r>
            <a:r>
              <a:rPr lang="en-US" dirty="0">
                <a:latin typeface="Courier New" panose="02070309020205020404" pitchFamily="49" charset="0"/>
              </a:rPr>
              <a:t>0</a:t>
            </a:r>
            <a:r>
              <a:rPr lang="en-US" dirty="0"/>
              <a:t> to </a:t>
            </a:r>
            <a:r>
              <a:rPr lang="en-US" dirty="0" err="1">
                <a:latin typeface="Courier New" panose="02070309020205020404" pitchFamily="49" charset="0"/>
              </a:rPr>
              <a:t>i</a:t>
            </a:r>
            <a:r>
              <a:rPr lang="en-US" dirty="0"/>
              <a:t>.</a:t>
            </a:r>
          </a:p>
          <a:p>
            <a:pPr>
              <a:buNone/>
            </a:pPr>
            <a:r>
              <a:rPr lang="en-US" dirty="0"/>
              <a:t>Formally:</a:t>
            </a:r>
          </a:p>
          <a:p>
            <a:pPr rtl="0">
              <a:buNone/>
            </a:pPr>
            <a:r>
              <a:rPr lang="en-US" dirty="0" err="1">
                <a:latin typeface="Courier New" panose="02070309020205020404" pitchFamily="49" charset="0"/>
              </a:rPr>
              <a:t>runningSum</a:t>
            </a:r>
            <a:r>
              <a:rPr lang="en-US" dirty="0">
                <a:latin typeface="Courier New" panose="02070309020205020404" pitchFamily="49" charset="0"/>
              </a:rPr>
              <a:t>[</a:t>
            </a:r>
            <a:r>
              <a:rPr lang="en-US" dirty="0" err="1">
                <a:latin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</a:rPr>
              <a:t>] = </a:t>
            </a:r>
            <a:r>
              <a:rPr lang="en-US" dirty="0" err="1">
                <a:latin typeface="Courier New" panose="02070309020205020404" pitchFamily="49" charset="0"/>
              </a:rPr>
              <a:t>nums</a:t>
            </a:r>
            <a:r>
              <a:rPr lang="en-US" dirty="0">
                <a:latin typeface="Courier New" panose="02070309020205020404" pitchFamily="49" charset="0"/>
              </a:rPr>
              <a:t>[0] + </a:t>
            </a:r>
            <a:r>
              <a:rPr lang="en-US" dirty="0" err="1">
                <a:latin typeface="Courier New" panose="02070309020205020404" pitchFamily="49" charset="0"/>
              </a:rPr>
              <a:t>nums</a:t>
            </a:r>
            <a:r>
              <a:rPr lang="en-US" dirty="0">
                <a:latin typeface="Courier New" panose="02070309020205020404" pitchFamily="49" charset="0"/>
              </a:rPr>
              <a:t>[1] + ... + </a:t>
            </a:r>
            <a:r>
              <a:rPr lang="en-US" dirty="0" err="1">
                <a:latin typeface="Courier New" panose="02070309020205020404" pitchFamily="49" charset="0"/>
              </a:rPr>
              <a:t>nums</a:t>
            </a:r>
            <a:r>
              <a:rPr lang="en-US" dirty="0">
                <a:latin typeface="Courier New" panose="02070309020205020404" pitchFamily="49" charset="0"/>
              </a:rPr>
              <a:t>[</a:t>
            </a:r>
            <a:r>
              <a:rPr lang="en-US" dirty="0" err="1">
                <a:latin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</a:rPr>
              <a:t>]</a:t>
            </a:r>
          </a:p>
          <a:p>
            <a:pPr>
              <a:buNone/>
            </a:pPr>
            <a:r>
              <a:rPr lang="en-US" dirty="0"/>
              <a:t>You need to return an array where each element stores this running sum.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79D7AA-75D4-CEDD-A3F7-8DF43927B828}"/>
              </a:ext>
            </a:extLst>
          </p:cNvPr>
          <p:cNvSpPr txBox="1"/>
          <p:nvPr/>
        </p:nvSpPr>
        <p:spPr>
          <a:xfrm>
            <a:off x="167148" y="2705963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Example</a:t>
            </a:r>
          </a:p>
          <a:p>
            <a:pPr>
              <a:buNone/>
            </a:pPr>
            <a:r>
              <a:rPr lang="en-US" b="1" dirty="0"/>
              <a:t>Input</a:t>
            </a:r>
          </a:p>
          <a:p>
            <a:pPr rtl="0">
              <a:buNone/>
            </a:pPr>
            <a:r>
              <a:rPr lang="en-US" dirty="0" err="1">
                <a:latin typeface="Courier New" panose="02070309020205020404" pitchFamily="49" charset="0"/>
              </a:rPr>
              <a:t>nums</a:t>
            </a:r>
            <a:r>
              <a:rPr lang="en-US" dirty="0">
                <a:latin typeface="Courier New" panose="02070309020205020404" pitchFamily="49" charset="0"/>
              </a:rPr>
              <a:t> = [1, 2, 3, 4]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50911A5-AA18-AC5F-598D-15763D22FD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3688625"/>
              </p:ext>
            </p:extLst>
          </p:nvPr>
        </p:nvGraphicFramePr>
        <p:xfrm>
          <a:off x="167148" y="4007555"/>
          <a:ext cx="10515600" cy="18288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181909929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88190158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50011942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Index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Calculation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Running Sum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394918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41621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 + 2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54697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 + 2 + 3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945980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 + 2 + 3 + 4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79693774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B7A8BCCD-DE01-AA20-FB4F-24389EA02943}"/>
              </a:ext>
            </a:extLst>
          </p:cNvPr>
          <p:cNvSpPr txBox="1"/>
          <p:nvPr/>
        </p:nvSpPr>
        <p:spPr>
          <a:xfrm>
            <a:off x="167148" y="362929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Step-by-step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8C6AC08-688A-670D-F3EB-D5609A3E5C1E}"/>
              </a:ext>
            </a:extLst>
          </p:cNvPr>
          <p:cNvSpPr txBox="1"/>
          <p:nvPr/>
        </p:nvSpPr>
        <p:spPr>
          <a:xfrm>
            <a:off x="167148" y="6091029"/>
            <a:ext cx="22122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Output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[1, 3, 6, 10]</a:t>
            </a:r>
          </a:p>
        </p:txBody>
      </p:sp>
    </p:spTree>
    <p:extLst>
      <p:ext uri="{BB962C8B-B14F-4D97-AF65-F5344CB8AC3E}">
        <p14:creationId xmlns:p14="http://schemas.microsoft.com/office/powerpoint/2010/main" val="14700252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386F066-161C-CD1A-5B36-282D44CC030D}"/>
              </a:ext>
            </a:extLst>
          </p:cNvPr>
          <p:cNvSpPr txBox="1"/>
          <p:nvPr/>
        </p:nvSpPr>
        <p:spPr>
          <a:xfrm>
            <a:off x="127820" y="117986"/>
            <a:ext cx="11916696" cy="6626943"/>
          </a:xfrm>
          <a:prstGeom prst="rect">
            <a:avLst/>
          </a:prstGeom>
          <a:noFill/>
        </p:spPr>
        <p:txBody>
          <a:bodyPr wrap="square" numCol="2">
            <a:spAutoFit/>
          </a:bodyPr>
          <a:lstStyle/>
          <a:p>
            <a:pPr>
              <a:buNone/>
            </a:pPr>
            <a:r>
              <a:rPr lang="en-IN" b="1" dirty="0"/>
              <a:t>Approach 1: Brute Force</a:t>
            </a:r>
          </a:p>
          <a:p>
            <a:pPr>
              <a:buNone/>
            </a:pPr>
            <a:r>
              <a:rPr lang="en-IN" b="1" dirty="0"/>
              <a:t>Idea</a:t>
            </a:r>
          </a:p>
          <a:p>
            <a:pPr>
              <a:buNone/>
            </a:pPr>
            <a:r>
              <a:rPr lang="en-IN" dirty="0"/>
              <a:t>For every index </a:t>
            </a:r>
            <a:r>
              <a:rPr lang="en-IN" dirty="0" err="1">
                <a:latin typeface="Courier New" panose="02070309020205020404" pitchFamily="49" charset="0"/>
              </a:rPr>
              <a:t>i</a:t>
            </a:r>
            <a:r>
              <a:rPr lang="en-IN" dirty="0"/>
              <a:t>, calculate the sum of all elements from </a:t>
            </a:r>
            <a:r>
              <a:rPr lang="en-IN" dirty="0">
                <a:latin typeface="Courier New" panose="02070309020205020404" pitchFamily="49" charset="0"/>
              </a:rPr>
              <a:t>0</a:t>
            </a:r>
            <a:r>
              <a:rPr lang="en-IN" dirty="0"/>
              <a:t> to </a:t>
            </a:r>
            <a:r>
              <a:rPr lang="en-IN" dirty="0" err="1">
                <a:latin typeface="Courier New" panose="02070309020205020404" pitchFamily="49" charset="0"/>
              </a:rPr>
              <a:t>i</a:t>
            </a:r>
            <a:r>
              <a:rPr lang="en-IN" dirty="0"/>
              <a:t>.</a:t>
            </a:r>
          </a:p>
          <a:p>
            <a:pPr>
              <a:buNone/>
            </a:pPr>
            <a:br>
              <a:rPr lang="en-IN" dirty="0"/>
            </a:br>
            <a:r>
              <a:rPr lang="en-IN" b="1" dirty="0"/>
              <a:t>Logic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Loop from index </a:t>
            </a:r>
            <a:r>
              <a:rPr lang="en-IN" dirty="0">
                <a:latin typeface="Courier New" panose="02070309020205020404" pitchFamily="49" charset="0"/>
              </a:rPr>
              <a:t>0</a:t>
            </a:r>
            <a:r>
              <a:rPr lang="en-IN" dirty="0"/>
              <a:t> to </a:t>
            </a:r>
            <a:r>
              <a:rPr lang="en-IN" dirty="0">
                <a:latin typeface="Courier New" panose="02070309020205020404" pitchFamily="49" charset="0"/>
              </a:rPr>
              <a:t>n−1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For each index </a:t>
            </a:r>
            <a:r>
              <a:rPr lang="en-IN" dirty="0" err="1">
                <a:latin typeface="Courier New" panose="02070309020205020404" pitchFamily="49" charset="0"/>
              </a:rPr>
              <a:t>i</a:t>
            </a: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Start sum = 0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Add all elements from </a:t>
            </a:r>
            <a:r>
              <a:rPr lang="en-IN" dirty="0">
                <a:latin typeface="Courier New" panose="02070309020205020404" pitchFamily="49" charset="0"/>
              </a:rPr>
              <a:t>0</a:t>
            </a:r>
            <a:r>
              <a:rPr lang="en-IN" dirty="0"/>
              <a:t> to </a:t>
            </a:r>
            <a:r>
              <a:rPr lang="en-IN" dirty="0" err="1">
                <a:latin typeface="Courier New" panose="02070309020205020404" pitchFamily="49" charset="0"/>
              </a:rPr>
              <a:t>i</a:t>
            </a: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Store sum in result array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Pseudocode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for </a:t>
            </a:r>
            <a:r>
              <a:rPr lang="en-IN" dirty="0" err="1">
                <a:latin typeface="Courier New" panose="02070309020205020404" pitchFamily="49" charset="0"/>
              </a:rPr>
              <a:t>i</a:t>
            </a:r>
            <a:r>
              <a:rPr lang="en-IN" dirty="0">
                <a:latin typeface="Courier New" panose="02070309020205020404" pitchFamily="49" charset="0"/>
              </a:rPr>
              <a:t> = 0 to n-1: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sum = 0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for j = 0 to i: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    sum = sum + </a:t>
            </a:r>
            <a:r>
              <a:rPr lang="en-IN" dirty="0" err="1">
                <a:latin typeface="Courier New" panose="02070309020205020404" pitchFamily="49" charset="0"/>
              </a:rPr>
              <a:t>nums</a:t>
            </a:r>
            <a:r>
              <a:rPr lang="en-IN" dirty="0">
                <a:latin typeface="Courier New" panose="02070309020205020404" pitchFamily="49" charset="0"/>
              </a:rPr>
              <a:t>[j]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result[</a:t>
            </a:r>
            <a:r>
              <a:rPr lang="en-IN" dirty="0" err="1">
                <a:latin typeface="Courier New" panose="02070309020205020404" pitchFamily="49" charset="0"/>
              </a:rPr>
              <a:t>i</a:t>
            </a:r>
            <a:r>
              <a:rPr lang="en-IN" dirty="0">
                <a:latin typeface="Courier New" panose="02070309020205020404" pitchFamily="49" charset="0"/>
              </a:rPr>
              <a:t>] = sum</a:t>
            </a:r>
          </a:p>
          <a:p>
            <a:pPr rtl="0">
              <a:buNone/>
            </a:pPr>
            <a:endParaRPr lang="en-IN" dirty="0">
              <a:latin typeface="Courier New" panose="02070309020205020404" pitchFamily="49" charset="0"/>
            </a:endParaRPr>
          </a:p>
          <a:p>
            <a:pPr rtl="0">
              <a:buNone/>
            </a:pPr>
            <a:endParaRPr lang="en-IN" dirty="0">
              <a:latin typeface="Courier New" panose="02070309020205020404" pitchFamily="49" charset="0"/>
            </a:endParaRPr>
          </a:p>
          <a:p>
            <a:pPr rtl="0">
              <a:buNone/>
            </a:pPr>
            <a:endParaRPr lang="en-IN" dirty="0">
              <a:latin typeface="Courier New" panose="02070309020205020404" pitchFamily="49" charset="0"/>
            </a:endParaRPr>
          </a:p>
          <a:p>
            <a:pPr rtl="0">
              <a:buNone/>
            </a:pPr>
            <a:endParaRPr lang="en-IN" dirty="0">
              <a:latin typeface="Courier New" panose="02070309020205020404" pitchFamily="49" charset="0"/>
            </a:endParaRPr>
          </a:p>
          <a:p>
            <a:pPr rtl="0">
              <a:buNone/>
            </a:pPr>
            <a:br>
              <a:rPr lang="en-IN" dirty="0"/>
            </a:br>
            <a:r>
              <a:rPr lang="en-IN" b="1" dirty="0"/>
              <a:t>Time Complexity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Outer loop → </a:t>
            </a:r>
            <a:r>
              <a:rPr lang="en-IN" dirty="0">
                <a:latin typeface="Courier New" panose="02070309020205020404" pitchFamily="49" charset="0"/>
              </a:rPr>
              <a:t>n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Inner loop → up to </a:t>
            </a:r>
            <a:r>
              <a:rPr lang="en-IN" dirty="0" err="1">
                <a:latin typeface="Courier New" panose="02070309020205020404" pitchFamily="49" charset="0"/>
              </a:rPr>
              <a:t>i</a:t>
            </a:r>
            <a:endParaRPr lang="en-IN" dirty="0"/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O(n²)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Space Complexity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O(n)   (for result array)</a:t>
            </a:r>
          </a:p>
        </p:txBody>
      </p:sp>
    </p:spTree>
    <p:extLst>
      <p:ext uri="{BB962C8B-B14F-4D97-AF65-F5344CB8AC3E}">
        <p14:creationId xmlns:p14="http://schemas.microsoft.com/office/powerpoint/2010/main" val="5353788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3F17ED9-BE9A-A1FA-107E-9F8F26527CBA}"/>
              </a:ext>
            </a:extLst>
          </p:cNvPr>
          <p:cNvSpPr txBox="1"/>
          <p:nvPr/>
        </p:nvSpPr>
        <p:spPr>
          <a:xfrm>
            <a:off x="98322" y="12680"/>
            <a:ext cx="1179871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Approach 2: Optimal (Prefix Sum / In-place)</a:t>
            </a:r>
          </a:p>
          <a:p>
            <a:pPr>
              <a:buNone/>
            </a:pPr>
            <a:r>
              <a:rPr lang="en-US" b="1" dirty="0"/>
              <a:t>Idea</a:t>
            </a:r>
          </a:p>
          <a:p>
            <a:pPr>
              <a:buNone/>
            </a:pPr>
            <a:r>
              <a:rPr lang="en-US" dirty="0"/>
              <a:t>Instead of recalculating the sum every time, </a:t>
            </a:r>
            <a:r>
              <a:rPr lang="en-US" b="1" dirty="0"/>
              <a:t>carry forward the previous sum</a:t>
            </a:r>
            <a:r>
              <a:rPr lang="en-US" dirty="0"/>
              <a:t>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Logic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Initialize a variable </a:t>
            </a:r>
            <a:r>
              <a:rPr lang="en-US" dirty="0" err="1">
                <a:latin typeface="Courier New" panose="02070309020205020404" pitchFamily="49" charset="0"/>
              </a:rPr>
              <a:t>currentSum</a:t>
            </a:r>
            <a:r>
              <a:rPr lang="en-US" dirty="0">
                <a:latin typeface="Courier New" panose="02070309020205020404" pitchFamily="49" charset="0"/>
              </a:rPr>
              <a:t> = 0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Traverse the array once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At each index: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Add current element to </a:t>
            </a:r>
            <a:r>
              <a:rPr lang="en-US" dirty="0" err="1">
                <a:latin typeface="Courier New" panose="02070309020205020404" pitchFamily="49" charset="0"/>
              </a:rPr>
              <a:t>currentSum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Store </a:t>
            </a:r>
            <a:r>
              <a:rPr lang="en-US" dirty="0" err="1">
                <a:latin typeface="Courier New" panose="02070309020205020404" pitchFamily="49" charset="0"/>
              </a:rPr>
              <a:t>currentSum</a:t>
            </a:r>
            <a:r>
              <a:rPr lang="en-US" dirty="0"/>
              <a:t> in result array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7FCDB8-E70D-1E73-CA9B-1113CD38F86E}"/>
              </a:ext>
            </a:extLst>
          </p:cNvPr>
          <p:cNvSpPr txBox="1"/>
          <p:nvPr/>
        </p:nvSpPr>
        <p:spPr>
          <a:xfrm>
            <a:off x="98322" y="305966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Step-by-Step Table Walkthrough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FD8E315-DE52-A5E0-6BB4-87EDBF3424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4824052"/>
              </p:ext>
            </p:extLst>
          </p:nvPr>
        </p:nvGraphicFramePr>
        <p:xfrm>
          <a:off x="258096" y="3613666"/>
          <a:ext cx="11638938" cy="21031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939823">
                  <a:extLst>
                    <a:ext uri="{9D8B030D-6E8A-4147-A177-3AD203B41FA5}">
                      <a16:colId xmlns:a16="http://schemas.microsoft.com/office/drawing/2014/main" val="3508595112"/>
                    </a:ext>
                  </a:extLst>
                </a:gridCol>
                <a:gridCol w="1939823">
                  <a:extLst>
                    <a:ext uri="{9D8B030D-6E8A-4147-A177-3AD203B41FA5}">
                      <a16:colId xmlns:a16="http://schemas.microsoft.com/office/drawing/2014/main" val="4094724860"/>
                    </a:ext>
                  </a:extLst>
                </a:gridCol>
                <a:gridCol w="1939823">
                  <a:extLst>
                    <a:ext uri="{9D8B030D-6E8A-4147-A177-3AD203B41FA5}">
                      <a16:colId xmlns:a16="http://schemas.microsoft.com/office/drawing/2014/main" val="3776572990"/>
                    </a:ext>
                  </a:extLst>
                </a:gridCol>
                <a:gridCol w="1939823">
                  <a:extLst>
                    <a:ext uri="{9D8B030D-6E8A-4147-A177-3AD203B41FA5}">
                      <a16:colId xmlns:a16="http://schemas.microsoft.com/office/drawing/2014/main" val="907082462"/>
                    </a:ext>
                  </a:extLst>
                </a:gridCol>
                <a:gridCol w="1939823">
                  <a:extLst>
                    <a:ext uri="{9D8B030D-6E8A-4147-A177-3AD203B41FA5}">
                      <a16:colId xmlns:a16="http://schemas.microsoft.com/office/drawing/2014/main" val="2013797630"/>
                    </a:ext>
                  </a:extLst>
                </a:gridCol>
                <a:gridCol w="1939823">
                  <a:extLst>
                    <a:ext uri="{9D8B030D-6E8A-4147-A177-3AD203B41FA5}">
                      <a16:colId xmlns:a16="http://schemas.microsoft.com/office/drawing/2014/main" val="348643605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Step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Index (</a:t>
                      </a:r>
                      <a:r>
                        <a:rPr lang="en-IN" b="1" dirty="0" err="1"/>
                        <a:t>i</a:t>
                      </a:r>
                      <a:r>
                        <a:rPr lang="en-IN" b="1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 err="1"/>
                        <a:t>nums</a:t>
                      </a:r>
                      <a:r>
                        <a:rPr lang="en-IN" b="1" dirty="0"/>
                        <a:t>[</a:t>
                      </a:r>
                      <a:r>
                        <a:rPr lang="en-IN" b="1" dirty="0" err="1"/>
                        <a:t>i</a:t>
                      </a:r>
                      <a:r>
                        <a:rPr lang="en-IN" b="1" dirty="0"/>
                        <a:t>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 err="1"/>
                        <a:t>currentSum</a:t>
                      </a:r>
                      <a:r>
                        <a:rPr lang="en-IN" b="1" dirty="0"/>
                        <a:t> (before)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 err="1"/>
                        <a:t>currentSum</a:t>
                      </a:r>
                      <a:r>
                        <a:rPr lang="en-IN" b="1" dirty="0"/>
                        <a:t> (after)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result array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353798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[1, _, _, _]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8546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[1, 3, _, _]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328847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[1, 3, 6, _]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970040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[1, 3, 6, 10]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34070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64951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E64BACD-278B-ECB2-1BBF-2254CD8268B0}"/>
              </a:ext>
            </a:extLst>
          </p:cNvPr>
          <p:cNvSpPr txBox="1"/>
          <p:nvPr/>
        </p:nvSpPr>
        <p:spPr>
          <a:xfrm>
            <a:off x="206478" y="215065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/>
              <a:t>Pseudocode</a:t>
            </a:r>
          </a:p>
          <a:p>
            <a:pPr rtl="0">
              <a:buNone/>
            </a:pPr>
            <a:r>
              <a:rPr lang="pt-BR" dirty="0">
                <a:latin typeface="Courier New" panose="02070309020205020404" pitchFamily="49" charset="0"/>
              </a:rPr>
              <a:t>currentSum = 0</a:t>
            </a:r>
          </a:p>
          <a:p>
            <a:pPr rtl="0">
              <a:buNone/>
            </a:pPr>
            <a:r>
              <a:rPr lang="pt-BR" dirty="0">
                <a:latin typeface="Courier New" panose="02070309020205020404" pitchFamily="49" charset="0"/>
              </a:rPr>
              <a:t>for i = 0 to n-1:</a:t>
            </a:r>
          </a:p>
          <a:p>
            <a:pPr rtl="0">
              <a:buNone/>
            </a:pPr>
            <a:r>
              <a:rPr lang="pt-BR" dirty="0">
                <a:latin typeface="Courier New" panose="02070309020205020404" pitchFamily="49" charset="0"/>
              </a:rPr>
              <a:t>    currentSum = currentSum + nums[i]</a:t>
            </a:r>
          </a:p>
          <a:p>
            <a:pPr rtl="0">
              <a:buNone/>
            </a:pPr>
            <a:r>
              <a:rPr lang="pt-BR" dirty="0">
                <a:latin typeface="Courier New" panose="02070309020205020404" pitchFamily="49" charset="0"/>
              </a:rPr>
              <a:t>    result[i] = currentSum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826FD2-9F7D-935E-C08E-95C13EAD1FA8}"/>
              </a:ext>
            </a:extLst>
          </p:cNvPr>
          <p:cNvSpPr txBox="1"/>
          <p:nvPr/>
        </p:nvSpPr>
        <p:spPr>
          <a:xfrm>
            <a:off x="206478" y="1932319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Complexity Analysis (Important)</a:t>
            </a:r>
          </a:p>
          <a:p>
            <a:pPr>
              <a:buNone/>
            </a:pPr>
            <a:r>
              <a:rPr lang="en-IN" b="1" dirty="0"/>
              <a:t>Time Complexity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Single loop over array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O(n)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Space Complexity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Using extra array → </a:t>
            </a:r>
            <a:r>
              <a:rPr lang="en-IN" dirty="0">
                <a:latin typeface="Courier New" panose="02070309020205020404" pitchFamily="49" charset="0"/>
              </a:rPr>
              <a:t>O(n)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In-place modification → </a:t>
            </a:r>
            <a:r>
              <a:rPr lang="en-IN" dirty="0">
                <a:latin typeface="Courier New" panose="02070309020205020404" pitchFamily="49" charset="0"/>
              </a:rPr>
              <a:t>O(1)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557424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C417806-CB8C-8A52-A9F6-D66677FD1EF3}"/>
              </a:ext>
            </a:extLst>
          </p:cNvPr>
          <p:cNvSpPr txBox="1"/>
          <p:nvPr/>
        </p:nvSpPr>
        <p:spPr>
          <a:xfrm>
            <a:off x="108155" y="108155"/>
            <a:ext cx="11936361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1512. Number of Good Pairs</a:t>
            </a:r>
          </a:p>
          <a:p>
            <a:pPr>
              <a:buNone/>
            </a:pPr>
            <a:br>
              <a:rPr lang="en-US" dirty="0"/>
            </a:br>
            <a:r>
              <a:rPr lang="en-US" b="1" dirty="0"/>
              <a:t>Problem Explanation (Easy Language)</a:t>
            </a:r>
          </a:p>
          <a:p>
            <a:pPr>
              <a:buNone/>
            </a:pPr>
            <a:r>
              <a:rPr lang="en-US" dirty="0"/>
              <a:t>You are given an array </a:t>
            </a:r>
            <a:r>
              <a:rPr lang="en-US" dirty="0" err="1">
                <a:latin typeface="Courier New" panose="02070309020205020404" pitchFamily="49" charset="0"/>
              </a:rPr>
              <a:t>nums</a:t>
            </a:r>
            <a:r>
              <a:rPr lang="en-US" dirty="0"/>
              <a:t>.</a:t>
            </a:r>
          </a:p>
          <a:p>
            <a:pPr>
              <a:buNone/>
            </a:pPr>
            <a:r>
              <a:rPr lang="en-US" dirty="0"/>
              <a:t>A pair </a:t>
            </a:r>
            <a:r>
              <a:rPr lang="en-US" dirty="0">
                <a:latin typeface="Courier New" panose="02070309020205020404" pitchFamily="49" charset="0"/>
              </a:rPr>
              <a:t>(</a:t>
            </a:r>
            <a:r>
              <a:rPr lang="en-US" dirty="0" err="1">
                <a:latin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</a:rPr>
              <a:t>, j)</a:t>
            </a:r>
            <a:r>
              <a:rPr lang="en-US" dirty="0"/>
              <a:t> is called a </a:t>
            </a:r>
            <a:r>
              <a:rPr lang="en-US" b="1" dirty="0"/>
              <a:t>good pair</a:t>
            </a:r>
            <a:r>
              <a:rPr lang="en-US" dirty="0"/>
              <a:t> if: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>
                <a:latin typeface="Courier New" panose="02070309020205020404" pitchFamily="49" charset="0"/>
              </a:rPr>
              <a:t>nums</a:t>
            </a:r>
            <a:r>
              <a:rPr lang="en-US" dirty="0">
                <a:latin typeface="Courier New" panose="02070309020205020404" pitchFamily="49" charset="0"/>
              </a:rPr>
              <a:t>[</a:t>
            </a:r>
            <a:r>
              <a:rPr lang="en-US" dirty="0" err="1">
                <a:latin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</a:rPr>
              <a:t>] == </a:t>
            </a:r>
            <a:r>
              <a:rPr lang="en-US" dirty="0" err="1">
                <a:latin typeface="Courier New" panose="02070309020205020404" pitchFamily="49" charset="0"/>
              </a:rPr>
              <a:t>nums</a:t>
            </a:r>
            <a:r>
              <a:rPr lang="en-US" dirty="0">
                <a:latin typeface="Courier New" panose="02070309020205020404" pitchFamily="49" charset="0"/>
              </a:rPr>
              <a:t>[j]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>
                <a:latin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</a:rPr>
              <a:t> &lt; j</a:t>
            </a:r>
            <a:endParaRPr lang="en-US" dirty="0"/>
          </a:p>
          <a:p>
            <a:pPr>
              <a:buNone/>
            </a:pPr>
            <a:r>
              <a:rPr lang="en-US" dirty="0"/>
              <a:t>You need to </a:t>
            </a:r>
            <a:r>
              <a:rPr lang="en-US" b="1" dirty="0"/>
              <a:t>count how many such pairs exist</a:t>
            </a:r>
            <a:r>
              <a:rPr lang="en-US" dirty="0"/>
              <a:t>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Example</a:t>
            </a:r>
          </a:p>
          <a:p>
            <a:pPr>
              <a:buNone/>
            </a:pPr>
            <a:r>
              <a:rPr lang="en-US" b="1" dirty="0"/>
              <a:t>Input</a:t>
            </a:r>
          </a:p>
          <a:p>
            <a:pPr rtl="0">
              <a:buNone/>
            </a:pPr>
            <a:r>
              <a:rPr lang="en-US" dirty="0" err="1">
                <a:latin typeface="Courier New" panose="02070309020205020404" pitchFamily="49" charset="0"/>
              </a:rPr>
              <a:t>nums</a:t>
            </a:r>
            <a:r>
              <a:rPr lang="en-US" dirty="0">
                <a:latin typeface="Courier New" panose="02070309020205020404" pitchFamily="49" charset="0"/>
              </a:rPr>
              <a:t> = [1, 2, 3, 1, 1, 3]</a:t>
            </a:r>
          </a:p>
          <a:p>
            <a:pPr>
              <a:buNone/>
            </a:pPr>
            <a:r>
              <a:rPr lang="en-US" b="1" dirty="0"/>
              <a:t>Good pairs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(0, 3) → </a:t>
            </a:r>
            <a:r>
              <a:rPr lang="en-US" dirty="0" err="1"/>
              <a:t>nums</a:t>
            </a:r>
            <a:r>
              <a:rPr lang="en-US" dirty="0"/>
              <a:t>[0] = </a:t>
            </a:r>
            <a:r>
              <a:rPr lang="en-US" dirty="0" err="1"/>
              <a:t>nums</a:t>
            </a:r>
            <a:r>
              <a:rPr lang="en-US" dirty="0"/>
              <a:t>[3] = 1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(0, 4) → </a:t>
            </a:r>
            <a:r>
              <a:rPr lang="en-US" dirty="0" err="1"/>
              <a:t>nums</a:t>
            </a:r>
            <a:r>
              <a:rPr lang="en-US" dirty="0"/>
              <a:t>[0] = </a:t>
            </a:r>
            <a:r>
              <a:rPr lang="en-US" dirty="0" err="1"/>
              <a:t>nums</a:t>
            </a:r>
            <a:r>
              <a:rPr lang="en-US" dirty="0"/>
              <a:t>[4] = 1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(3, 4) → </a:t>
            </a:r>
            <a:r>
              <a:rPr lang="en-US" dirty="0" err="1"/>
              <a:t>nums</a:t>
            </a:r>
            <a:r>
              <a:rPr lang="en-US" dirty="0"/>
              <a:t>[3] = </a:t>
            </a:r>
            <a:r>
              <a:rPr lang="en-US" dirty="0" err="1"/>
              <a:t>nums</a:t>
            </a:r>
            <a:r>
              <a:rPr lang="en-US" dirty="0"/>
              <a:t>[4] = 1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(2, 5) → </a:t>
            </a:r>
            <a:r>
              <a:rPr lang="en-US" dirty="0" err="1"/>
              <a:t>nums</a:t>
            </a:r>
            <a:r>
              <a:rPr lang="en-US" dirty="0"/>
              <a:t>[2] = </a:t>
            </a:r>
            <a:r>
              <a:rPr lang="en-US" dirty="0" err="1"/>
              <a:t>nums</a:t>
            </a:r>
            <a:r>
              <a:rPr lang="en-US" dirty="0"/>
              <a:t>[5] = 3</a:t>
            </a:r>
          </a:p>
          <a:p>
            <a:pPr>
              <a:buNone/>
            </a:pPr>
            <a:r>
              <a:rPr lang="en-US" b="1" dirty="0"/>
              <a:t>Output: </a:t>
            </a:r>
            <a:r>
              <a:rPr lang="en-US" dirty="0">
                <a:latin typeface="Courier New" panose="02070309020205020404" pitchFamily="49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7650047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62945E9-8D82-7423-3145-890BC7754F13}"/>
              </a:ext>
            </a:extLst>
          </p:cNvPr>
          <p:cNvSpPr txBox="1"/>
          <p:nvPr/>
        </p:nvSpPr>
        <p:spPr>
          <a:xfrm>
            <a:off x="265471" y="380176"/>
            <a:ext cx="561422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Approach 1: Brute Force</a:t>
            </a:r>
          </a:p>
          <a:p>
            <a:pPr>
              <a:buNone/>
            </a:pPr>
            <a:r>
              <a:rPr lang="en-IN" b="1" dirty="0"/>
              <a:t>Idea</a:t>
            </a:r>
          </a:p>
          <a:p>
            <a:pPr>
              <a:buNone/>
            </a:pPr>
            <a:r>
              <a:rPr lang="en-IN" dirty="0"/>
              <a:t>Check </a:t>
            </a:r>
            <a:r>
              <a:rPr lang="en-IN" b="1" dirty="0"/>
              <a:t>all possible pairs</a:t>
            </a:r>
            <a:r>
              <a:rPr lang="en-IN" dirty="0"/>
              <a:t> </a:t>
            </a:r>
            <a:r>
              <a:rPr lang="en-IN" dirty="0">
                <a:latin typeface="Courier New" panose="02070309020205020404" pitchFamily="49" charset="0"/>
              </a:rPr>
              <a:t>(</a:t>
            </a:r>
            <a:r>
              <a:rPr lang="en-IN" dirty="0" err="1">
                <a:latin typeface="Courier New" panose="02070309020205020404" pitchFamily="49" charset="0"/>
              </a:rPr>
              <a:t>i</a:t>
            </a:r>
            <a:r>
              <a:rPr lang="en-IN" dirty="0">
                <a:latin typeface="Courier New" panose="02070309020205020404" pitchFamily="49" charset="0"/>
              </a:rPr>
              <a:t>, j)</a:t>
            </a:r>
            <a:r>
              <a:rPr lang="en-IN" dirty="0"/>
              <a:t> where </a:t>
            </a:r>
            <a:r>
              <a:rPr lang="en-IN" dirty="0" err="1">
                <a:latin typeface="Courier New" panose="02070309020205020404" pitchFamily="49" charset="0"/>
              </a:rPr>
              <a:t>i</a:t>
            </a:r>
            <a:r>
              <a:rPr lang="en-IN" dirty="0">
                <a:latin typeface="Courier New" panose="02070309020205020404" pitchFamily="49" charset="0"/>
              </a:rPr>
              <a:t> &lt; j</a:t>
            </a:r>
            <a:r>
              <a:rPr lang="en-IN" dirty="0"/>
              <a:t>.</a:t>
            </a:r>
          </a:p>
          <a:p>
            <a:pPr>
              <a:buNone/>
            </a:pPr>
            <a:br>
              <a:rPr lang="en-IN" dirty="0"/>
            </a:br>
            <a:r>
              <a:rPr lang="en-IN" b="1" dirty="0"/>
              <a:t>Logic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Initialize </a:t>
            </a:r>
            <a:r>
              <a:rPr lang="en-IN" dirty="0">
                <a:latin typeface="Courier New" panose="02070309020205020404" pitchFamily="49" charset="0"/>
              </a:rPr>
              <a:t>count = 0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Use two loops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For every pair </a:t>
            </a:r>
            <a:r>
              <a:rPr lang="en-IN" dirty="0">
                <a:latin typeface="Courier New" panose="02070309020205020404" pitchFamily="49" charset="0"/>
              </a:rPr>
              <a:t>(</a:t>
            </a:r>
            <a:r>
              <a:rPr lang="en-IN" dirty="0" err="1">
                <a:latin typeface="Courier New" panose="02070309020205020404" pitchFamily="49" charset="0"/>
              </a:rPr>
              <a:t>i</a:t>
            </a:r>
            <a:r>
              <a:rPr lang="en-IN" dirty="0">
                <a:latin typeface="Courier New" panose="02070309020205020404" pitchFamily="49" charset="0"/>
              </a:rPr>
              <a:t>, j)</a:t>
            </a:r>
            <a:r>
              <a:rPr lang="en-IN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If </a:t>
            </a:r>
            <a:r>
              <a:rPr lang="en-IN" dirty="0" err="1">
                <a:latin typeface="Courier New" panose="02070309020205020404" pitchFamily="49" charset="0"/>
              </a:rPr>
              <a:t>nums</a:t>
            </a:r>
            <a:r>
              <a:rPr lang="en-IN" dirty="0">
                <a:latin typeface="Courier New" panose="02070309020205020404" pitchFamily="49" charset="0"/>
              </a:rPr>
              <a:t>[</a:t>
            </a:r>
            <a:r>
              <a:rPr lang="en-IN" dirty="0" err="1">
                <a:latin typeface="Courier New" panose="02070309020205020404" pitchFamily="49" charset="0"/>
              </a:rPr>
              <a:t>i</a:t>
            </a:r>
            <a:r>
              <a:rPr lang="en-IN" dirty="0">
                <a:latin typeface="Courier New" panose="02070309020205020404" pitchFamily="49" charset="0"/>
              </a:rPr>
              <a:t>] == </a:t>
            </a:r>
            <a:r>
              <a:rPr lang="en-IN" dirty="0" err="1">
                <a:latin typeface="Courier New" panose="02070309020205020404" pitchFamily="49" charset="0"/>
              </a:rPr>
              <a:t>nums</a:t>
            </a:r>
            <a:r>
              <a:rPr lang="en-IN" dirty="0">
                <a:latin typeface="Courier New" panose="02070309020205020404" pitchFamily="49" charset="0"/>
              </a:rPr>
              <a:t>[j]</a:t>
            </a:r>
            <a:r>
              <a:rPr lang="en-IN" dirty="0"/>
              <a:t>, increment count</a:t>
            </a:r>
          </a:p>
          <a:p>
            <a:pPr>
              <a:buNone/>
            </a:pPr>
            <a:br>
              <a:rPr lang="en-IN" dirty="0"/>
            </a:br>
            <a:r>
              <a:rPr lang="en-IN" b="1" dirty="0"/>
              <a:t>Pseudocode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count = 0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for </a:t>
            </a:r>
            <a:r>
              <a:rPr lang="en-IN" dirty="0" err="1">
                <a:latin typeface="Courier New" panose="02070309020205020404" pitchFamily="49" charset="0"/>
              </a:rPr>
              <a:t>i</a:t>
            </a:r>
            <a:r>
              <a:rPr lang="en-IN" dirty="0">
                <a:latin typeface="Courier New" panose="02070309020205020404" pitchFamily="49" charset="0"/>
              </a:rPr>
              <a:t> = 0 to n-1: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for j = i+1 to n-1: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    if </a:t>
            </a:r>
            <a:r>
              <a:rPr lang="en-IN" dirty="0" err="1">
                <a:latin typeface="Courier New" panose="02070309020205020404" pitchFamily="49" charset="0"/>
              </a:rPr>
              <a:t>nums</a:t>
            </a:r>
            <a:r>
              <a:rPr lang="en-IN" dirty="0">
                <a:latin typeface="Courier New" panose="02070309020205020404" pitchFamily="49" charset="0"/>
              </a:rPr>
              <a:t>[</a:t>
            </a:r>
            <a:r>
              <a:rPr lang="en-IN" dirty="0" err="1">
                <a:latin typeface="Courier New" panose="02070309020205020404" pitchFamily="49" charset="0"/>
              </a:rPr>
              <a:t>i</a:t>
            </a:r>
            <a:r>
              <a:rPr lang="en-IN" dirty="0">
                <a:latin typeface="Courier New" panose="02070309020205020404" pitchFamily="49" charset="0"/>
              </a:rPr>
              <a:t>] == </a:t>
            </a:r>
            <a:r>
              <a:rPr lang="en-IN" dirty="0" err="1">
                <a:latin typeface="Courier New" panose="02070309020205020404" pitchFamily="49" charset="0"/>
              </a:rPr>
              <a:t>nums</a:t>
            </a:r>
            <a:r>
              <a:rPr lang="en-IN" dirty="0">
                <a:latin typeface="Courier New" panose="02070309020205020404" pitchFamily="49" charset="0"/>
              </a:rPr>
              <a:t>[j]: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        count++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return count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CDF318-A86E-F49C-086E-5AB85B67DAB8}"/>
              </a:ext>
            </a:extLst>
          </p:cNvPr>
          <p:cNvSpPr txBox="1"/>
          <p:nvPr/>
        </p:nvSpPr>
        <p:spPr>
          <a:xfrm>
            <a:off x="6902245" y="380176"/>
            <a:ext cx="4847303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Walkthrough</a:t>
            </a:r>
          </a:p>
          <a:p>
            <a:pPr>
              <a:buNone/>
            </a:pPr>
            <a:endParaRPr lang="en-IN" b="1" dirty="0"/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[1, 2, 3, 1, 1, 3]</a:t>
            </a:r>
          </a:p>
          <a:p>
            <a:pPr rtl="0">
              <a:buNone/>
            </a:pPr>
            <a:endParaRPr lang="en-IN" dirty="0">
              <a:latin typeface="Courier New" panose="02070309020205020404" pitchFamily="49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dirty="0" err="1"/>
              <a:t>i</a:t>
            </a:r>
            <a:r>
              <a:rPr lang="en-IN" dirty="0"/>
              <a:t>=0 → matches at j=3,4 → +2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 err="1"/>
              <a:t>i</a:t>
            </a:r>
            <a:r>
              <a:rPr lang="en-IN" dirty="0"/>
              <a:t>=2 → match at j=5 → +1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 err="1"/>
              <a:t>i</a:t>
            </a:r>
            <a:r>
              <a:rPr lang="en-IN" dirty="0"/>
              <a:t>=3 → match at j=4 → +1</a:t>
            </a:r>
          </a:p>
          <a:p>
            <a:pPr>
              <a:buNone/>
            </a:pPr>
            <a:r>
              <a:rPr lang="en-IN" dirty="0"/>
              <a:t>Total = 4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Time Complexity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O(n²)</a:t>
            </a:r>
          </a:p>
          <a:p>
            <a:pPr>
              <a:buNone/>
            </a:pPr>
            <a:r>
              <a:rPr lang="en-IN" b="1" dirty="0"/>
              <a:t>Space Complexity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O(1)</a:t>
            </a:r>
          </a:p>
        </p:txBody>
      </p:sp>
    </p:spTree>
    <p:extLst>
      <p:ext uri="{BB962C8B-B14F-4D97-AF65-F5344CB8AC3E}">
        <p14:creationId xmlns:p14="http://schemas.microsoft.com/office/powerpoint/2010/main" val="6830572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698D7D0-A082-B35A-0F59-11620589C27B}"/>
              </a:ext>
            </a:extLst>
          </p:cNvPr>
          <p:cNvSpPr txBox="1"/>
          <p:nvPr/>
        </p:nvSpPr>
        <p:spPr>
          <a:xfrm>
            <a:off x="88490" y="175395"/>
            <a:ext cx="118872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Approach 2: Optimal Using Hash Map (Counting)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Key Observation</a:t>
            </a:r>
          </a:p>
          <a:p>
            <a:pPr>
              <a:buNone/>
            </a:pPr>
            <a:r>
              <a:rPr lang="en-US" dirty="0"/>
              <a:t>When a number appears multiple times: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First occurrence → 0 pairs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Second occurrence → 1 new pair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Third occurrence → 2 new pairs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and so on…</a:t>
            </a:r>
          </a:p>
          <a:p>
            <a:pPr>
              <a:buNone/>
            </a:pPr>
            <a:br>
              <a:rPr lang="en-US" dirty="0"/>
            </a:br>
            <a:r>
              <a:rPr lang="en-US" b="1" dirty="0"/>
              <a:t>Logic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Create a map to store frequency of each number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Traverse the array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For each number: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If it appeared </a:t>
            </a:r>
            <a:r>
              <a:rPr lang="en-US" dirty="0">
                <a:latin typeface="Courier New" panose="02070309020205020404" pitchFamily="49" charset="0"/>
              </a:rPr>
              <a:t>f</a:t>
            </a:r>
            <a:r>
              <a:rPr lang="en-US" dirty="0"/>
              <a:t> times before, it forms </a:t>
            </a:r>
            <a:r>
              <a:rPr lang="en-US" dirty="0">
                <a:latin typeface="Courier New" panose="02070309020205020404" pitchFamily="49" charset="0"/>
              </a:rPr>
              <a:t>f</a:t>
            </a:r>
            <a:r>
              <a:rPr lang="en-US" dirty="0"/>
              <a:t> new good pairs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Add </a:t>
            </a:r>
            <a:r>
              <a:rPr lang="en-US" dirty="0">
                <a:latin typeface="Courier New" panose="02070309020205020404" pitchFamily="49" charset="0"/>
              </a:rPr>
              <a:t>f</a:t>
            </a:r>
            <a:r>
              <a:rPr lang="en-US" dirty="0"/>
              <a:t> to answer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Increment its frequency</a:t>
            </a:r>
          </a:p>
        </p:txBody>
      </p:sp>
    </p:spTree>
    <p:extLst>
      <p:ext uri="{BB962C8B-B14F-4D97-AF65-F5344CB8AC3E}">
        <p14:creationId xmlns:p14="http://schemas.microsoft.com/office/powerpoint/2010/main" val="1497016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008D2BE-69C2-FC7A-E8BE-D5488A2CFEBF}"/>
              </a:ext>
            </a:extLst>
          </p:cNvPr>
          <p:cNvSpPr txBox="1"/>
          <p:nvPr/>
        </p:nvSpPr>
        <p:spPr>
          <a:xfrm>
            <a:off x="196645" y="197096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Optimal Walkthrough (Table Format)</a:t>
            </a:r>
          </a:p>
          <a:p>
            <a:pPr>
              <a:buNone/>
            </a:pPr>
            <a:r>
              <a:rPr lang="en-US" b="1" dirty="0"/>
              <a:t>Input</a:t>
            </a:r>
          </a:p>
          <a:p>
            <a:pPr rtl="0">
              <a:buNone/>
            </a:pPr>
            <a:r>
              <a:rPr lang="en-US" dirty="0" err="1">
                <a:latin typeface="Courier New" panose="02070309020205020404" pitchFamily="49" charset="0"/>
              </a:rPr>
              <a:t>nums</a:t>
            </a:r>
            <a:r>
              <a:rPr lang="en-US" dirty="0">
                <a:latin typeface="Courier New" panose="02070309020205020404" pitchFamily="49" charset="0"/>
              </a:rPr>
              <a:t> = [1, 2, 3, 1, 1, 3]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870A3AC-C7DC-C080-DEAD-8968DCBACA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5197519"/>
              </p:ext>
            </p:extLst>
          </p:nvPr>
        </p:nvGraphicFramePr>
        <p:xfrm>
          <a:off x="196645" y="1197134"/>
          <a:ext cx="10515600" cy="25603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351480768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53661988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039378544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31802597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29558004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Step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Current Num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Frequency Before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New Pairs Added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Total Pairs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52877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2480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57352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96818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52635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73616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4501932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11D87F9A-CAA5-0D3E-CB69-A3C5D4D892D4}"/>
              </a:ext>
            </a:extLst>
          </p:cNvPr>
          <p:cNvSpPr txBox="1"/>
          <p:nvPr/>
        </p:nvSpPr>
        <p:spPr>
          <a:xfrm>
            <a:off x="314630" y="3967597"/>
            <a:ext cx="4168878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Pseudocode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map = empty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count = 0</a:t>
            </a:r>
          </a:p>
          <a:p>
            <a:pPr rtl="0">
              <a:buNone/>
            </a:pPr>
            <a:endParaRPr lang="en-US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for each num in </a:t>
            </a:r>
            <a:r>
              <a:rPr lang="en-US" dirty="0" err="1">
                <a:latin typeface="Courier New" panose="02070309020205020404" pitchFamily="49" charset="0"/>
              </a:rPr>
              <a:t>nums</a:t>
            </a:r>
            <a:r>
              <a:rPr lang="en-US" dirty="0">
                <a:latin typeface="Courier New" panose="02070309020205020404" pitchFamily="49" charset="0"/>
              </a:rPr>
              <a:t>: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count = count + map[num]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map[num] = map[num] + 1</a:t>
            </a:r>
          </a:p>
          <a:p>
            <a:pPr rtl="0">
              <a:buNone/>
            </a:pPr>
            <a:endParaRPr lang="en-US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return count</a:t>
            </a:r>
          </a:p>
        </p:txBody>
      </p:sp>
    </p:spTree>
    <p:extLst>
      <p:ext uri="{BB962C8B-B14F-4D97-AF65-F5344CB8AC3E}">
        <p14:creationId xmlns:p14="http://schemas.microsoft.com/office/powerpoint/2010/main" val="42602999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0067E7B-B6FC-0EFB-F764-5E2034BAA6B0}"/>
              </a:ext>
            </a:extLst>
          </p:cNvPr>
          <p:cNvSpPr txBox="1"/>
          <p:nvPr/>
        </p:nvSpPr>
        <p:spPr>
          <a:xfrm>
            <a:off x="265470" y="32661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1399. Count Largest Group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416A5F-C13D-71F5-DA5E-D6F6C17C92C9}"/>
              </a:ext>
            </a:extLst>
          </p:cNvPr>
          <p:cNvSpPr txBox="1"/>
          <p:nvPr/>
        </p:nvSpPr>
        <p:spPr>
          <a:xfrm>
            <a:off x="353955" y="901628"/>
            <a:ext cx="752168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Problem in Simple Words</a:t>
            </a:r>
          </a:p>
          <a:p>
            <a:pPr>
              <a:buNone/>
            </a:pPr>
            <a:r>
              <a:rPr lang="en-US" dirty="0"/>
              <a:t>You are given a number </a:t>
            </a:r>
            <a:r>
              <a:rPr lang="en-US" dirty="0">
                <a:latin typeface="Courier New" panose="02070309020205020404" pitchFamily="49" charset="0"/>
              </a:rPr>
              <a:t>n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For every number from </a:t>
            </a:r>
            <a:r>
              <a:rPr lang="en-US" dirty="0">
                <a:latin typeface="Courier New" panose="02070309020205020404" pitchFamily="49" charset="0"/>
              </a:rPr>
              <a:t>1</a:t>
            </a:r>
            <a:r>
              <a:rPr lang="en-US" dirty="0"/>
              <a:t> to </a:t>
            </a:r>
            <a:r>
              <a:rPr lang="en-US" dirty="0">
                <a:latin typeface="Courier New" panose="02070309020205020404" pitchFamily="49" charset="0"/>
              </a:rPr>
              <a:t>n</a:t>
            </a:r>
            <a:r>
              <a:rPr lang="en-US" dirty="0"/>
              <a:t>, calculate the </a:t>
            </a:r>
            <a:r>
              <a:rPr lang="en-US" b="1" dirty="0"/>
              <a:t>sum of its digits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Group numbers that have the </a:t>
            </a:r>
            <a:r>
              <a:rPr lang="en-US" b="1" dirty="0"/>
              <a:t>same digit sum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Find </a:t>
            </a:r>
            <a:r>
              <a:rPr lang="en-US" b="1" dirty="0"/>
              <a:t>which group(s) have the maximum size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Return </a:t>
            </a:r>
            <a:r>
              <a:rPr lang="en-US" b="1" dirty="0"/>
              <a:t>how many such largest groups exist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E57426-913E-B24E-A20B-8DB737DB94CB}"/>
              </a:ext>
            </a:extLst>
          </p:cNvPr>
          <p:cNvSpPr txBox="1"/>
          <p:nvPr/>
        </p:nvSpPr>
        <p:spPr>
          <a:xfrm>
            <a:off x="442445" y="2929617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Example to Understand the Problem</a:t>
            </a:r>
          </a:p>
          <a:p>
            <a:pPr>
              <a:buNone/>
            </a:pPr>
            <a:r>
              <a:rPr lang="en-US" b="1" dirty="0"/>
              <a:t>Input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n = 13</a:t>
            </a:r>
          </a:p>
          <a:p>
            <a:pPr>
              <a:buNone/>
            </a:pPr>
            <a:r>
              <a:rPr lang="en-US" b="1" dirty="0"/>
              <a:t>Step 1: Compute digit sum</a:t>
            </a:r>
          </a:p>
        </p:txBody>
      </p:sp>
    </p:spTree>
    <p:extLst>
      <p:ext uri="{BB962C8B-B14F-4D97-AF65-F5344CB8AC3E}">
        <p14:creationId xmlns:p14="http://schemas.microsoft.com/office/powerpoint/2010/main" val="29720911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A122AB0-2A45-6E16-D7E2-DC723000DF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2224330"/>
              </p:ext>
            </p:extLst>
          </p:nvPr>
        </p:nvGraphicFramePr>
        <p:xfrm>
          <a:off x="1618277" y="517933"/>
          <a:ext cx="8935782" cy="535502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978594">
                  <a:extLst>
                    <a:ext uri="{9D8B030D-6E8A-4147-A177-3AD203B41FA5}">
                      <a16:colId xmlns:a16="http://schemas.microsoft.com/office/drawing/2014/main" val="2154890531"/>
                    </a:ext>
                  </a:extLst>
                </a:gridCol>
                <a:gridCol w="2978594">
                  <a:extLst>
                    <a:ext uri="{9D8B030D-6E8A-4147-A177-3AD203B41FA5}">
                      <a16:colId xmlns:a16="http://schemas.microsoft.com/office/drawing/2014/main" val="3991824960"/>
                    </a:ext>
                  </a:extLst>
                </a:gridCol>
                <a:gridCol w="2978594">
                  <a:extLst>
                    <a:ext uri="{9D8B030D-6E8A-4147-A177-3AD203B41FA5}">
                      <a16:colId xmlns:a16="http://schemas.microsoft.com/office/drawing/2014/main" val="3815997581"/>
                    </a:ext>
                  </a:extLst>
                </a:gridCol>
              </a:tblGrid>
              <a:tr h="31081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/>
                        <a:t>Number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/>
                        <a:t>Digits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/>
                        <a:t>Digit Sum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2102575331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/>
                        <a:t>1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/>
                        <a:t>1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/>
                        <a:t>1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2517350533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/>
                        <a:t>2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/>
                        <a:t>2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/>
                        <a:t>2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2650959485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/>
                        <a:t>3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dirty="0"/>
                        <a:t>3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/>
                        <a:t>3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3864118749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/>
                        <a:t>4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/>
                        <a:t>4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/>
                        <a:t>4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105447354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/>
                        <a:t>5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/>
                        <a:t>5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/>
                        <a:t>5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741091167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/>
                        <a:t>6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/>
                        <a:t>6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/>
                        <a:t>6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2053292930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/>
                        <a:t>7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/>
                        <a:t>7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/>
                        <a:t>7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3870705697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/>
                        <a:t>8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/>
                        <a:t>8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/>
                        <a:t>8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4285846307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/>
                        <a:t>9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/>
                        <a:t>9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/>
                        <a:t>9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2419857286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/>
                        <a:t>10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/>
                        <a:t>1+0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/>
                        <a:t>1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1105482072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/>
                        <a:t>11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/>
                        <a:t>1+1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/>
                        <a:t>2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697056906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/>
                        <a:t>12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/>
                        <a:t>1+2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/>
                        <a:t>3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3402369720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/>
                        <a:t>13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/>
                        <a:t>1+3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dirty="0"/>
                        <a:t>4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33698312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880957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FB173F7-C481-15DF-3F9D-2FDE65C15114}"/>
              </a:ext>
            </a:extLst>
          </p:cNvPr>
          <p:cNvSpPr txBox="1"/>
          <p:nvPr/>
        </p:nvSpPr>
        <p:spPr>
          <a:xfrm>
            <a:off x="432613" y="27744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Step 2: Group by digit sum</a:t>
            </a: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BAE379C-8601-BD3A-F388-F0195A9FD1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3192734"/>
              </p:ext>
            </p:extLst>
          </p:nvPr>
        </p:nvGraphicFramePr>
        <p:xfrm>
          <a:off x="838200" y="963128"/>
          <a:ext cx="10515600" cy="36576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362900689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213673619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7688091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Digit Sum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Numbers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Count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80003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1, 10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491070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2, 11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34406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3, 12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51673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4, 13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21428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827639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422813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422624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56725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829737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ED7F76AF-C4E9-A9D7-DBE8-AD2F574FC4F6}"/>
              </a:ext>
            </a:extLst>
          </p:cNvPr>
          <p:cNvSpPr txBox="1"/>
          <p:nvPr/>
        </p:nvSpPr>
        <p:spPr>
          <a:xfrm>
            <a:off x="353954" y="4828940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Step 3: Largest group size = </a:t>
            </a:r>
            <a:r>
              <a:rPr lang="en-US" dirty="0">
                <a:latin typeface="Courier New" panose="02070309020205020404" pitchFamily="49" charset="0"/>
              </a:rPr>
              <a:t>2</a:t>
            </a:r>
            <a:endParaRPr lang="en-US" dirty="0"/>
          </a:p>
          <a:p>
            <a:pPr>
              <a:buNone/>
            </a:pPr>
            <a:r>
              <a:rPr lang="en-US" dirty="0"/>
              <a:t>Groups with size </a:t>
            </a:r>
            <a:r>
              <a:rPr lang="en-US" dirty="0">
                <a:latin typeface="Courier New" panose="02070309020205020404" pitchFamily="49" charset="0"/>
              </a:rPr>
              <a:t>2</a:t>
            </a:r>
            <a:r>
              <a:rPr lang="en-US" dirty="0"/>
              <a:t>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4F93A6-C67C-63EE-54FB-ACCF78E3DD89}"/>
              </a:ext>
            </a:extLst>
          </p:cNvPr>
          <p:cNvSpPr txBox="1"/>
          <p:nvPr/>
        </p:nvSpPr>
        <p:spPr>
          <a:xfrm>
            <a:off x="353954" y="552788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Digit sums → 1, 2, 3, 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C55E1D-3514-EFCF-913B-3F8B66194ED7}"/>
              </a:ext>
            </a:extLst>
          </p:cNvPr>
          <p:cNvSpPr txBox="1"/>
          <p:nvPr/>
        </p:nvSpPr>
        <p:spPr>
          <a:xfrm>
            <a:off x="393283" y="605797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Output: </a:t>
            </a:r>
            <a:r>
              <a:rPr lang="en-IN" dirty="0">
                <a:latin typeface="Courier New" panose="02070309020205020404" pitchFamily="49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5177005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501C751-5966-A2C7-3869-840A299C1D34}"/>
              </a:ext>
            </a:extLst>
          </p:cNvPr>
          <p:cNvSpPr txBox="1"/>
          <p:nvPr/>
        </p:nvSpPr>
        <p:spPr>
          <a:xfrm>
            <a:off x="403117" y="324574"/>
            <a:ext cx="60960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Brute Force Approach</a:t>
            </a:r>
          </a:p>
          <a:p>
            <a:pPr>
              <a:buNone/>
            </a:pPr>
            <a:r>
              <a:rPr lang="en-US" b="1" dirty="0"/>
              <a:t>Idea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For each number from </a:t>
            </a:r>
            <a:r>
              <a:rPr lang="en-US" dirty="0">
                <a:latin typeface="Courier New" panose="02070309020205020404" pitchFamily="49" charset="0"/>
              </a:rPr>
              <a:t>1</a:t>
            </a:r>
            <a:r>
              <a:rPr lang="en-US" dirty="0"/>
              <a:t> to </a:t>
            </a:r>
            <a:r>
              <a:rPr lang="en-US" dirty="0">
                <a:latin typeface="Courier New" panose="02070309020205020404" pitchFamily="49" charset="0"/>
              </a:rPr>
              <a:t>n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Compute digit sum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Store groupings manually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Find maximum group size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Count how many groups have that size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Logic (Text Form)</a:t>
            </a:r>
          </a:p>
          <a:p>
            <a:pPr>
              <a:buFont typeface="+mj-lt"/>
              <a:buAutoNum type="arabicPeriod"/>
            </a:pPr>
            <a:r>
              <a:rPr lang="en-US" dirty="0"/>
              <a:t>Loop from </a:t>
            </a:r>
            <a:r>
              <a:rPr lang="en-US" dirty="0">
                <a:latin typeface="Courier New" panose="02070309020205020404" pitchFamily="49" charset="0"/>
              </a:rPr>
              <a:t>1</a:t>
            </a:r>
            <a:r>
              <a:rPr lang="en-US" dirty="0"/>
              <a:t> to </a:t>
            </a:r>
            <a:r>
              <a:rPr lang="en-US" dirty="0">
                <a:latin typeface="Courier New" panose="02070309020205020404" pitchFamily="49" charset="0"/>
              </a:rPr>
              <a:t>n</a:t>
            </a:r>
            <a:endParaRPr lang="en-US" dirty="0"/>
          </a:p>
          <a:p>
            <a:pPr>
              <a:buFont typeface="+mj-lt"/>
              <a:buAutoNum type="arabicPeriod"/>
            </a:pPr>
            <a:r>
              <a:rPr lang="en-US" dirty="0"/>
              <a:t>For each number, calculate digit sum</a:t>
            </a:r>
          </a:p>
          <a:p>
            <a:pPr>
              <a:buFont typeface="+mj-lt"/>
              <a:buAutoNum type="arabicPeriod"/>
            </a:pPr>
            <a:r>
              <a:rPr lang="en-US" dirty="0"/>
              <a:t>Store digit sum frequency</a:t>
            </a:r>
          </a:p>
          <a:p>
            <a:pPr>
              <a:buFont typeface="+mj-lt"/>
              <a:buAutoNum type="arabicPeriod"/>
            </a:pPr>
            <a:r>
              <a:rPr lang="en-US" dirty="0"/>
              <a:t>Find the maximum frequency</a:t>
            </a:r>
          </a:p>
          <a:p>
            <a:pPr>
              <a:buFont typeface="+mj-lt"/>
              <a:buAutoNum type="arabicPeriod"/>
            </a:pPr>
            <a:r>
              <a:rPr lang="en-US" dirty="0"/>
              <a:t>Count how many digit sums have this frequency</a:t>
            </a:r>
          </a:p>
        </p:txBody>
      </p:sp>
    </p:spTree>
    <p:extLst>
      <p:ext uri="{BB962C8B-B14F-4D97-AF65-F5344CB8AC3E}">
        <p14:creationId xmlns:p14="http://schemas.microsoft.com/office/powerpoint/2010/main" val="3407322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21A278F-8461-0AD7-CF71-CBA3F9212541}"/>
              </a:ext>
            </a:extLst>
          </p:cNvPr>
          <p:cNvSpPr txBox="1"/>
          <p:nvPr/>
        </p:nvSpPr>
        <p:spPr>
          <a:xfrm>
            <a:off x="285130" y="391704"/>
            <a:ext cx="609600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Brute Force Pseudocode (C++-style)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map&lt;int, vector&lt;int&gt;&gt; groups;</a:t>
            </a:r>
          </a:p>
          <a:p>
            <a:pPr rtl="0">
              <a:buNone/>
            </a:pPr>
            <a:endParaRPr lang="en-IN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for </a:t>
            </a:r>
            <a:r>
              <a:rPr lang="en-IN" dirty="0" err="1">
                <a:latin typeface="Courier New" panose="02070309020205020404" pitchFamily="49" charset="0"/>
              </a:rPr>
              <a:t>i</a:t>
            </a:r>
            <a:r>
              <a:rPr lang="en-IN" dirty="0">
                <a:latin typeface="Courier New" panose="02070309020205020404" pitchFamily="49" charset="0"/>
              </a:rPr>
              <a:t> = 1 to n: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sum = </a:t>
            </a:r>
            <a:r>
              <a:rPr lang="en-IN" dirty="0" err="1">
                <a:latin typeface="Courier New" panose="02070309020205020404" pitchFamily="49" charset="0"/>
              </a:rPr>
              <a:t>digitSum</a:t>
            </a:r>
            <a:r>
              <a:rPr lang="en-IN" dirty="0">
                <a:latin typeface="Courier New" panose="02070309020205020404" pitchFamily="49" charset="0"/>
              </a:rPr>
              <a:t>(</a:t>
            </a:r>
            <a:r>
              <a:rPr lang="en-IN" dirty="0" err="1">
                <a:latin typeface="Courier New" panose="02070309020205020404" pitchFamily="49" charset="0"/>
              </a:rPr>
              <a:t>i</a:t>
            </a:r>
            <a:r>
              <a:rPr lang="en-IN" dirty="0">
                <a:latin typeface="Courier New" panose="02070309020205020404" pitchFamily="49" charset="0"/>
              </a:rPr>
              <a:t>)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groups[sum].</a:t>
            </a:r>
            <a:r>
              <a:rPr lang="en-IN" dirty="0" err="1">
                <a:latin typeface="Courier New" panose="02070309020205020404" pitchFamily="49" charset="0"/>
              </a:rPr>
              <a:t>push_back</a:t>
            </a:r>
            <a:r>
              <a:rPr lang="en-IN" dirty="0">
                <a:latin typeface="Courier New" panose="02070309020205020404" pitchFamily="49" charset="0"/>
              </a:rPr>
              <a:t>(</a:t>
            </a:r>
            <a:r>
              <a:rPr lang="en-IN" dirty="0" err="1">
                <a:latin typeface="Courier New" panose="02070309020205020404" pitchFamily="49" charset="0"/>
              </a:rPr>
              <a:t>i</a:t>
            </a:r>
            <a:r>
              <a:rPr lang="en-IN" dirty="0">
                <a:latin typeface="Courier New" panose="02070309020205020404" pitchFamily="49" charset="0"/>
              </a:rPr>
              <a:t>)</a:t>
            </a:r>
          </a:p>
          <a:p>
            <a:pPr rtl="0">
              <a:buNone/>
            </a:pPr>
            <a:endParaRPr lang="en-IN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IN" dirty="0" err="1">
                <a:latin typeface="Courier New" panose="02070309020205020404" pitchFamily="49" charset="0"/>
              </a:rPr>
              <a:t>maxSize</a:t>
            </a:r>
            <a:r>
              <a:rPr lang="en-IN" dirty="0">
                <a:latin typeface="Courier New" panose="02070309020205020404" pitchFamily="49" charset="0"/>
              </a:rPr>
              <a:t> = 0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for each group in groups: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</a:t>
            </a:r>
            <a:r>
              <a:rPr lang="en-IN" dirty="0" err="1">
                <a:latin typeface="Courier New" panose="02070309020205020404" pitchFamily="49" charset="0"/>
              </a:rPr>
              <a:t>maxSize</a:t>
            </a:r>
            <a:r>
              <a:rPr lang="en-IN" dirty="0">
                <a:latin typeface="Courier New" panose="02070309020205020404" pitchFamily="49" charset="0"/>
              </a:rPr>
              <a:t> = max(</a:t>
            </a:r>
            <a:r>
              <a:rPr lang="en-IN" dirty="0" err="1">
                <a:latin typeface="Courier New" panose="02070309020205020404" pitchFamily="49" charset="0"/>
              </a:rPr>
              <a:t>maxSize</a:t>
            </a:r>
            <a:r>
              <a:rPr lang="en-IN" dirty="0">
                <a:latin typeface="Courier New" panose="02070309020205020404" pitchFamily="49" charset="0"/>
              </a:rPr>
              <a:t>, </a:t>
            </a:r>
            <a:r>
              <a:rPr lang="en-IN" dirty="0" err="1">
                <a:latin typeface="Courier New" panose="02070309020205020404" pitchFamily="49" charset="0"/>
              </a:rPr>
              <a:t>group.size</a:t>
            </a:r>
            <a:r>
              <a:rPr lang="en-IN" dirty="0">
                <a:latin typeface="Courier New" panose="02070309020205020404" pitchFamily="49" charset="0"/>
              </a:rPr>
              <a:t>())</a:t>
            </a:r>
          </a:p>
          <a:p>
            <a:pPr rtl="0">
              <a:buNone/>
            </a:pPr>
            <a:endParaRPr lang="en-IN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count = 0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for each group in groups: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if </a:t>
            </a:r>
            <a:r>
              <a:rPr lang="en-IN" dirty="0" err="1">
                <a:latin typeface="Courier New" panose="02070309020205020404" pitchFamily="49" charset="0"/>
              </a:rPr>
              <a:t>group.size</a:t>
            </a:r>
            <a:r>
              <a:rPr lang="en-IN" dirty="0">
                <a:latin typeface="Courier New" panose="02070309020205020404" pitchFamily="49" charset="0"/>
              </a:rPr>
              <a:t>() == </a:t>
            </a:r>
            <a:r>
              <a:rPr lang="en-IN" dirty="0" err="1">
                <a:latin typeface="Courier New" panose="02070309020205020404" pitchFamily="49" charset="0"/>
              </a:rPr>
              <a:t>maxSize</a:t>
            </a:r>
            <a:r>
              <a:rPr lang="en-IN" dirty="0">
                <a:latin typeface="Courier New" panose="02070309020205020404" pitchFamily="49" charset="0"/>
              </a:rPr>
              <a:t>: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    count++</a:t>
            </a:r>
          </a:p>
          <a:p>
            <a:pPr rtl="0">
              <a:buNone/>
            </a:pPr>
            <a:endParaRPr lang="en-IN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return count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D15251-12EF-ED33-F238-ED14CCACFFDE}"/>
              </a:ext>
            </a:extLst>
          </p:cNvPr>
          <p:cNvSpPr txBox="1"/>
          <p:nvPr/>
        </p:nvSpPr>
        <p:spPr>
          <a:xfrm>
            <a:off x="285130" y="5436842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Brute Force Complexity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Time</a:t>
            </a:r>
            <a:r>
              <a:rPr lang="en-IN" dirty="0"/>
              <a:t>: </a:t>
            </a:r>
            <a:r>
              <a:rPr lang="en-IN" dirty="0">
                <a:latin typeface="Courier New" panose="02070309020205020404" pitchFamily="49" charset="0"/>
              </a:rPr>
              <a:t>O(n × d)</a:t>
            </a:r>
            <a:br>
              <a:rPr lang="en-IN" dirty="0"/>
            </a:br>
            <a:r>
              <a:rPr lang="en-IN" dirty="0"/>
              <a:t>(</a:t>
            </a:r>
            <a:r>
              <a:rPr lang="en-IN" dirty="0">
                <a:latin typeface="Courier New" panose="02070309020205020404" pitchFamily="49" charset="0"/>
              </a:rPr>
              <a:t>d</a:t>
            </a:r>
            <a:r>
              <a:rPr lang="en-IN" dirty="0"/>
              <a:t> = number of digits, ≈ </a:t>
            </a:r>
            <a:r>
              <a:rPr lang="en-IN" dirty="0">
                <a:latin typeface="Courier New" panose="02070309020205020404" pitchFamily="49" charset="0"/>
              </a:rPr>
              <a:t>log10(n)</a:t>
            </a:r>
            <a:r>
              <a:rPr lang="en-IN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Space</a:t>
            </a:r>
            <a:r>
              <a:rPr lang="en-IN" dirty="0"/>
              <a:t>: </a:t>
            </a:r>
            <a:r>
              <a:rPr lang="en-IN" dirty="0">
                <a:latin typeface="Courier New" panose="02070309020205020404" pitchFamily="49" charset="0"/>
              </a:rPr>
              <a:t>O(n)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557221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0FE35FD-23A3-50B3-E8F7-9C3EF77F3C61}"/>
              </a:ext>
            </a:extLst>
          </p:cNvPr>
          <p:cNvSpPr txBox="1"/>
          <p:nvPr/>
        </p:nvSpPr>
        <p:spPr>
          <a:xfrm>
            <a:off x="196645" y="69783"/>
            <a:ext cx="1157256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Optimal Approach (Frequency Counting)</a:t>
            </a:r>
          </a:p>
          <a:p>
            <a:pPr>
              <a:buNone/>
            </a:pPr>
            <a:r>
              <a:rPr lang="en-US" b="1" dirty="0"/>
              <a:t>Key Observation</a:t>
            </a:r>
          </a:p>
          <a:p>
            <a:pPr>
              <a:buNone/>
            </a:pPr>
            <a:r>
              <a:rPr lang="en-US" dirty="0"/>
              <a:t>We </a:t>
            </a:r>
            <a:r>
              <a:rPr lang="en-US" b="1" dirty="0"/>
              <a:t>do not need actual numbers</a:t>
            </a:r>
            <a:r>
              <a:rPr lang="en-US" dirty="0"/>
              <a:t>, only the </a:t>
            </a:r>
            <a:r>
              <a:rPr lang="en-US" b="1" dirty="0"/>
              <a:t>count of digit sums</a:t>
            </a:r>
            <a:endParaRPr lang="en-US" dirty="0"/>
          </a:p>
          <a:p>
            <a:pPr>
              <a:buNone/>
            </a:pPr>
            <a:r>
              <a:rPr lang="en-US" dirty="0"/>
              <a:t>So instead of storing vectors, we store </a:t>
            </a:r>
            <a:r>
              <a:rPr lang="en-US" b="1" dirty="0"/>
              <a:t>frequencies only</a:t>
            </a:r>
            <a:r>
              <a:rPr lang="en-US" dirty="0"/>
              <a:t>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Optimal Logic (Text Form)</a:t>
            </a:r>
          </a:p>
          <a:p>
            <a:pPr>
              <a:buFont typeface="+mj-lt"/>
              <a:buAutoNum type="arabicPeriod"/>
            </a:pPr>
            <a:r>
              <a:rPr lang="en-US" dirty="0"/>
              <a:t>Create an array or map to store frequency of digit sums</a:t>
            </a:r>
          </a:p>
          <a:p>
            <a:pPr>
              <a:buFont typeface="+mj-lt"/>
              <a:buAutoNum type="arabicPeriod"/>
            </a:pPr>
            <a:r>
              <a:rPr lang="en-US" dirty="0"/>
              <a:t>For each number from </a:t>
            </a:r>
            <a:r>
              <a:rPr lang="en-US" dirty="0">
                <a:latin typeface="Courier New" panose="02070309020205020404" pitchFamily="49" charset="0"/>
              </a:rPr>
              <a:t>1</a:t>
            </a:r>
            <a:r>
              <a:rPr lang="en-US" dirty="0"/>
              <a:t> to </a:t>
            </a:r>
            <a:r>
              <a:rPr lang="en-US" dirty="0">
                <a:latin typeface="Courier New" panose="02070309020205020404" pitchFamily="49" charset="0"/>
              </a:rPr>
              <a:t>n</a:t>
            </a:r>
            <a:r>
              <a:rPr lang="en-US" dirty="0"/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Compute digit sum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Increment its frequency</a:t>
            </a:r>
          </a:p>
          <a:p>
            <a:pPr>
              <a:buFont typeface="+mj-lt"/>
              <a:buAutoNum type="arabicPeriod"/>
            </a:pPr>
            <a:r>
              <a:rPr lang="en-US" dirty="0"/>
              <a:t>Find the maximum frequency</a:t>
            </a:r>
          </a:p>
          <a:p>
            <a:pPr>
              <a:buFont typeface="+mj-lt"/>
              <a:buAutoNum type="arabicPeriod"/>
            </a:pPr>
            <a:r>
              <a:rPr lang="en-US" dirty="0"/>
              <a:t>Count how many digit sums have this frequency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C8E5D2-5456-99D1-0917-761DA23F6EC9}"/>
              </a:ext>
            </a:extLst>
          </p:cNvPr>
          <p:cNvSpPr txBox="1"/>
          <p:nvPr/>
        </p:nvSpPr>
        <p:spPr>
          <a:xfrm>
            <a:off x="196645" y="3486103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Optimal Walkthrough</a:t>
            </a:r>
          </a:p>
          <a:p>
            <a:pPr>
              <a:buNone/>
            </a:pPr>
            <a:r>
              <a:rPr lang="en-US" b="1" dirty="0"/>
              <a:t>n = 13</a:t>
            </a:r>
          </a:p>
        </p:txBody>
      </p:sp>
    </p:spTree>
    <p:extLst>
      <p:ext uri="{BB962C8B-B14F-4D97-AF65-F5344CB8AC3E}">
        <p14:creationId xmlns:p14="http://schemas.microsoft.com/office/powerpoint/2010/main" val="9240810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42AE6E0-4899-C0D1-9995-E887BDBF2F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6050347"/>
              </p:ext>
            </p:extLst>
          </p:nvPr>
        </p:nvGraphicFramePr>
        <p:xfrm>
          <a:off x="1116832" y="429444"/>
          <a:ext cx="8935782" cy="492830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978594">
                  <a:extLst>
                    <a:ext uri="{9D8B030D-6E8A-4147-A177-3AD203B41FA5}">
                      <a16:colId xmlns:a16="http://schemas.microsoft.com/office/drawing/2014/main" val="906830778"/>
                    </a:ext>
                  </a:extLst>
                </a:gridCol>
                <a:gridCol w="2978594">
                  <a:extLst>
                    <a:ext uri="{9D8B030D-6E8A-4147-A177-3AD203B41FA5}">
                      <a16:colId xmlns:a16="http://schemas.microsoft.com/office/drawing/2014/main" val="3584387834"/>
                    </a:ext>
                  </a:extLst>
                </a:gridCol>
                <a:gridCol w="2978594">
                  <a:extLst>
                    <a:ext uri="{9D8B030D-6E8A-4147-A177-3AD203B41FA5}">
                      <a16:colId xmlns:a16="http://schemas.microsoft.com/office/drawing/2014/main" val="2572081480"/>
                    </a:ext>
                  </a:extLst>
                </a:gridCol>
              </a:tblGrid>
              <a:tr h="31081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/>
                        <a:t>Number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/>
                        <a:t>Digit Sum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/>
                        <a:t>Frequency Update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1317037370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/>
                        <a:t>1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/>
                        <a:t>1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/>
                        <a:t>freq[1] = 1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2723607626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dirty="0"/>
                        <a:t>2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dirty="0"/>
                        <a:t>2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/>
                        <a:t>freq[2] = 1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489139747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/>
                        <a:t>3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/>
                        <a:t>3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/>
                        <a:t>freq[3] = 1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369441343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/>
                        <a:t>4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/>
                        <a:t>4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/>
                        <a:t>freq[4] = 1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1784140814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/>
                        <a:t>5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/>
                        <a:t>5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/>
                        <a:t>freq[5] = 1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3042366924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/>
                        <a:t>6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/>
                        <a:t>6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/>
                        <a:t>freq[6] = 1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4281309984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/>
                        <a:t>7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/>
                        <a:t>7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/>
                        <a:t>freq[7] = 1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3833327145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/>
                        <a:t>8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/>
                        <a:t>8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/>
                        <a:t>freq[8] = 1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2652894871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/>
                        <a:t>9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/>
                        <a:t>9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/>
                        <a:t>freq[9] = 1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3742595119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/>
                        <a:t>10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/>
                        <a:t>1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/>
                        <a:t>freq[1] = 2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2230908506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/>
                        <a:t>11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/>
                        <a:t>2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/>
                        <a:t>freq[2] = 2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1309179216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/>
                        <a:t>12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/>
                        <a:t>3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/>
                        <a:t>freq[3] = 2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3958021061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/>
                        <a:t>13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/>
                        <a:t>4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dirty="0" err="1"/>
                        <a:t>freq</a:t>
                      </a:r>
                      <a:r>
                        <a:rPr lang="en-IN" sz="1800" dirty="0"/>
                        <a:t>[4] = 2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18077920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2493579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FDF6E7B-35CF-7A14-060A-C1AF5ECA96B7}"/>
              </a:ext>
            </a:extLst>
          </p:cNvPr>
          <p:cNvSpPr txBox="1"/>
          <p:nvPr/>
        </p:nvSpPr>
        <p:spPr>
          <a:xfrm>
            <a:off x="196645" y="22828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Frequency Table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D12DE19-EEAA-113F-21AB-8D901EB56C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2229522"/>
              </p:ext>
            </p:extLst>
          </p:nvPr>
        </p:nvGraphicFramePr>
        <p:xfrm>
          <a:off x="511278" y="898233"/>
          <a:ext cx="10515600" cy="21945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64830815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960972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Digit Sum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Frequency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480639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9434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959137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991153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90455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others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7763317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DCE8771C-B6FE-7A5A-AE06-71DC44C3A0A4}"/>
              </a:ext>
            </a:extLst>
          </p:cNvPr>
          <p:cNvSpPr txBox="1"/>
          <p:nvPr/>
        </p:nvSpPr>
        <p:spPr>
          <a:xfrm>
            <a:off x="196645" y="3393406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Result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Maximum frequency = </a:t>
            </a:r>
            <a:r>
              <a:rPr lang="en-US" dirty="0">
                <a:latin typeface="Courier New" panose="02070309020205020404" pitchFamily="49" charset="0"/>
              </a:rPr>
              <a:t>2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Number of digit sums with frequency </a:t>
            </a:r>
            <a:r>
              <a:rPr lang="en-US" dirty="0">
                <a:latin typeface="Courier New" panose="02070309020205020404" pitchFamily="49" charset="0"/>
              </a:rPr>
              <a:t>2</a:t>
            </a:r>
            <a:r>
              <a:rPr lang="en-US" dirty="0"/>
              <a:t> = </a:t>
            </a:r>
            <a:r>
              <a:rPr lang="en-US" dirty="0">
                <a:latin typeface="Courier New" panose="02070309020205020404" pitchFamily="49" charset="0"/>
              </a:rPr>
              <a:t>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14303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8A51E25-DE2A-1ED3-F87B-B79292C5545C}"/>
              </a:ext>
            </a:extLst>
          </p:cNvPr>
          <p:cNvSpPr txBox="1"/>
          <p:nvPr/>
        </p:nvSpPr>
        <p:spPr>
          <a:xfrm>
            <a:off x="393289" y="322878"/>
            <a:ext cx="11602065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Optimal Pseudocode (C++-style)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map&lt;int, int&gt; </a:t>
            </a:r>
            <a:r>
              <a:rPr lang="en-IN" dirty="0" err="1">
                <a:latin typeface="Courier New" panose="02070309020205020404" pitchFamily="49" charset="0"/>
              </a:rPr>
              <a:t>freq</a:t>
            </a:r>
            <a:r>
              <a:rPr lang="en-IN" dirty="0">
                <a:latin typeface="Courier New" panose="02070309020205020404" pitchFamily="49" charset="0"/>
              </a:rPr>
              <a:t>;</a:t>
            </a:r>
          </a:p>
          <a:p>
            <a:pPr rtl="0">
              <a:buNone/>
            </a:pPr>
            <a:endParaRPr lang="en-IN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for </a:t>
            </a:r>
            <a:r>
              <a:rPr lang="en-IN" dirty="0" err="1">
                <a:latin typeface="Courier New" panose="02070309020205020404" pitchFamily="49" charset="0"/>
              </a:rPr>
              <a:t>i</a:t>
            </a:r>
            <a:r>
              <a:rPr lang="en-IN" dirty="0">
                <a:latin typeface="Courier New" panose="02070309020205020404" pitchFamily="49" charset="0"/>
              </a:rPr>
              <a:t> = 1 to n: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sum = </a:t>
            </a:r>
            <a:r>
              <a:rPr lang="en-IN" dirty="0" err="1">
                <a:latin typeface="Courier New" panose="02070309020205020404" pitchFamily="49" charset="0"/>
              </a:rPr>
              <a:t>digitSum</a:t>
            </a:r>
            <a:r>
              <a:rPr lang="en-IN" dirty="0">
                <a:latin typeface="Courier New" panose="02070309020205020404" pitchFamily="49" charset="0"/>
              </a:rPr>
              <a:t>(</a:t>
            </a:r>
            <a:r>
              <a:rPr lang="en-IN" dirty="0" err="1">
                <a:latin typeface="Courier New" panose="02070309020205020404" pitchFamily="49" charset="0"/>
              </a:rPr>
              <a:t>i</a:t>
            </a:r>
            <a:r>
              <a:rPr lang="en-IN" dirty="0">
                <a:latin typeface="Courier New" panose="02070309020205020404" pitchFamily="49" charset="0"/>
              </a:rPr>
              <a:t>)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</a:t>
            </a:r>
            <a:r>
              <a:rPr lang="en-IN" dirty="0" err="1">
                <a:latin typeface="Courier New" panose="02070309020205020404" pitchFamily="49" charset="0"/>
              </a:rPr>
              <a:t>freq</a:t>
            </a:r>
            <a:r>
              <a:rPr lang="en-IN" dirty="0">
                <a:latin typeface="Courier New" panose="02070309020205020404" pitchFamily="49" charset="0"/>
              </a:rPr>
              <a:t>[sum]++</a:t>
            </a:r>
          </a:p>
          <a:p>
            <a:pPr rtl="0">
              <a:buNone/>
            </a:pPr>
            <a:endParaRPr lang="en-IN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IN" dirty="0" err="1">
                <a:latin typeface="Courier New" panose="02070309020205020404" pitchFamily="49" charset="0"/>
              </a:rPr>
              <a:t>maxFreq</a:t>
            </a:r>
            <a:r>
              <a:rPr lang="en-IN" dirty="0">
                <a:latin typeface="Courier New" panose="02070309020205020404" pitchFamily="49" charset="0"/>
              </a:rPr>
              <a:t> = 0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for each entry in </a:t>
            </a:r>
            <a:r>
              <a:rPr lang="en-IN" dirty="0" err="1">
                <a:latin typeface="Courier New" panose="02070309020205020404" pitchFamily="49" charset="0"/>
              </a:rPr>
              <a:t>freq</a:t>
            </a:r>
            <a:r>
              <a:rPr lang="en-IN" dirty="0">
                <a:latin typeface="Courier New" panose="02070309020205020404" pitchFamily="49" charset="0"/>
              </a:rPr>
              <a:t>: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</a:t>
            </a:r>
            <a:r>
              <a:rPr lang="en-IN" dirty="0" err="1">
                <a:latin typeface="Courier New" panose="02070309020205020404" pitchFamily="49" charset="0"/>
              </a:rPr>
              <a:t>maxFreq</a:t>
            </a:r>
            <a:r>
              <a:rPr lang="en-IN" dirty="0">
                <a:latin typeface="Courier New" panose="02070309020205020404" pitchFamily="49" charset="0"/>
              </a:rPr>
              <a:t> = max(</a:t>
            </a:r>
            <a:r>
              <a:rPr lang="en-IN" dirty="0" err="1">
                <a:latin typeface="Courier New" panose="02070309020205020404" pitchFamily="49" charset="0"/>
              </a:rPr>
              <a:t>maxFreq</a:t>
            </a:r>
            <a:r>
              <a:rPr lang="en-IN" dirty="0">
                <a:latin typeface="Courier New" panose="02070309020205020404" pitchFamily="49" charset="0"/>
              </a:rPr>
              <a:t>, </a:t>
            </a:r>
            <a:r>
              <a:rPr lang="en-IN" dirty="0" err="1">
                <a:latin typeface="Courier New" panose="02070309020205020404" pitchFamily="49" charset="0"/>
              </a:rPr>
              <a:t>entry.second</a:t>
            </a:r>
            <a:r>
              <a:rPr lang="en-IN" dirty="0">
                <a:latin typeface="Courier New" panose="02070309020205020404" pitchFamily="49" charset="0"/>
              </a:rPr>
              <a:t>)</a:t>
            </a:r>
          </a:p>
          <a:p>
            <a:pPr rtl="0">
              <a:buNone/>
            </a:pPr>
            <a:endParaRPr lang="en-IN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count = 0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for each entry in </a:t>
            </a:r>
            <a:r>
              <a:rPr lang="en-IN" dirty="0" err="1">
                <a:latin typeface="Courier New" panose="02070309020205020404" pitchFamily="49" charset="0"/>
              </a:rPr>
              <a:t>freq</a:t>
            </a:r>
            <a:r>
              <a:rPr lang="en-IN" dirty="0">
                <a:latin typeface="Courier New" panose="02070309020205020404" pitchFamily="49" charset="0"/>
              </a:rPr>
              <a:t>: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if </a:t>
            </a:r>
            <a:r>
              <a:rPr lang="en-IN" dirty="0" err="1">
                <a:latin typeface="Courier New" panose="02070309020205020404" pitchFamily="49" charset="0"/>
              </a:rPr>
              <a:t>entry.second</a:t>
            </a:r>
            <a:r>
              <a:rPr lang="en-IN" dirty="0">
                <a:latin typeface="Courier New" panose="02070309020205020404" pitchFamily="49" charset="0"/>
              </a:rPr>
              <a:t> == </a:t>
            </a:r>
            <a:r>
              <a:rPr lang="en-IN" dirty="0" err="1">
                <a:latin typeface="Courier New" panose="02070309020205020404" pitchFamily="49" charset="0"/>
              </a:rPr>
              <a:t>maxFreq</a:t>
            </a:r>
            <a:r>
              <a:rPr lang="en-IN" dirty="0">
                <a:latin typeface="Courier New" panose="02070309020205020404" pitchFamily="49" charset="0"/>
              </a:rPr>
              <a:t>: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    count++</a:t>
            </a:r>
          </a:p>
          <a:p>
            <a:pPr rtl="0">
              <a:buNone/>
            </a:pPr>
            <a:endParaRPr lang="en-IN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return count</a:t>
            </a:r>
          </a:p>
        </p:txBody>
      </p:sp>
    </p:spTree>
    <p:extLst>
      <p:ext uri="{BB962C8B-B14F-4D97-AF65-F5344CB8AC3E}">
        <p14:creationId xmlns:p14="http://schemas.microsoft.com/office/powerpoint/2010/main" val="150230801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F0C1A5E-8959-08A9-D748-B8EEE8CCB530}"/>
              </a:ext>
            </a:extLst>
          </p:cNvPr>
          <p:cNvSpPr txBox="1"/>
          <p:nvPr/>
        </p:nvSpPr>
        <p:spPr>
          <a:xfrm>
            <a:off x="147484" y="20862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Time &amp; Space Complexity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F968280-0F59-8705-792C-E98588CC44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3650144"/>
              </p:ext>
            </p:extLst>
          </p:nvPr>
        </p:nvGraphicFramePr>
        <p:xfrm>
          <a:off x="147484" y="689790"/>
          <a:ext cx="10515600" cy="10972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692804693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33225888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80090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O(n × log10(n))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975033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Space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O(log10(n))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94264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3608843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5AA274A-2CA5-AF38-4B84-94A007EB8349}"/>
              </a:ext>
            </a:extLst>
          </p:cNvPr>
          <p:cNvSpPr txBox="1"/>
          <p:nvPr/>
        </p:nvSpPr>
        <p:spPr>
          <a:xfrm>
            <a:off x="265471" y="157316"/>
            <a:ext cx="8318090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1748. Sum of Unique Elements</a:t>
            </a:r>
          </a:p>
          <a:p>
            <a:pPr>
              <a:buNone/>
            </a:pPr>
            <a:br>
              <a:rPr lang="en-US" dirty="0"/>
            </a:br>
            <a:r>
              <a:rPr lang="en-US" b="1" dirty="0"/>
              <a:t>Problem in Simple Words</a:t>
            </a:r>
          </a:p>
          <a:p>
            <a:pPr>
              <a:buNone/>
            </a:pPr>
            <a:r>
              <a:rPr lang="en-US" dirty="0"/>
              <a:t>You are given an </a:t>
            </a:r>
            <a:r>
              <a:rPr lang="en-US" b="1" dirty="0"/>
              <a:t>integer array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Your task is to </a:t>
            </a:r>
            <a:r>
              <a:rPr lang="en-US" b="1" dirty="0"/>
              <a:t>add only those elements that appear exactly once</a:t>
            </a:r>
            <a:r>
              <a:rPr lang="en-US" dirty="0"/>
              <a:t> in the array.</a:t>
            </a:r>
          </a:p>
          <a:p>
            <a:pPr>
              <a:buNone/>
            </a:pPr>
            <a:r>
              <a:rPr lang="en-US" dirty="0"/>
              <a:t>Ignore elements that appear </a:t>
            </a:r>
            <a:r>
              <a:rPr lang="en-US" b="1" dirty="0"/>
              <a:t>more than once</a:t>
            </a:r>
            <a:r>
              <a:rPr lang="en-US" dirty="0"/>
              <a:t>.</a:t>
            </a:r>
          </a:p>
          <a:p>
            <a:pPr>
              <a:buNone/>
            </a:pPr>
            <a:br>
              <a:rPr lang="en-US" dirty="0"/>
            </a:br>
            <a:r>
              <a:rPr lang="en-US" b="1" dirty="0"/>
              <a:t>Example</a:t>
            </a:r>
          </a:p>
          <a:p>
            <a:pPr>
              <a:buNone/>
            </a:pPr>
            <a:r>
              <a:rPr lang="en-US" b="1" dirty="0"/>
              <a:t>Example 1</a:t>
            </a:r>
          </a:p>
          <a:p>
            <a:pPr rtl="0">
              <a:buNone/>
            </a:pPr>
            <a:r>
              <a:rPr lang="en-US" dirty="0" err="1">
                <a:latin typeface="Courier New" panose="02070309020205020404" pitchFamily="49" charset="0"/>
              </a:rPr>
              <a:t>nums</a:t>
            </a:r>
            <a:r>
              <a:rPr lang="en-US" dirty="0">
                <a:latin typeface="Courier New" panose="02070309020205020404" pitchFamily="49" charset="0"/>
              </a:rPr>
              <a:t> = [1, 2, 3, 2]</a:t>
            </a:r>
          </a:p>
          <a:p>
            <a:pPr rtl="0">
              <a:buNone/>
            </a:pPr>
            <a:endParaRPr lang="en-US" dirty="0"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b="1" dirty="0"/>
              <a:t>Explanation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1 → appears once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2 → appears twice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3 → appears once </a:t>
            </a:r>
          </a:p>
          <a:p>
            <a:pPr>
              <a:buNone/>
            </a:pPr>
            <a:r>
              <a:rPr lang="en-US" b="1" dirty="0"/>
              <a:t>Output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1 + 3 = 4</a:t>
            </a:r>
          </a:p>
          <a:p>
            <a:pPr>
              <a:buNone/>
            </a:pPr>
            <a:br>
              <a:rPr lang="en-US" dirty="0"/>
            </a:br>
            <a:r>
              <a:rPr lang="en-US" b="1" dirty="0"/>
              <a:t>Example 2</a:t>
            </a:r>
          </a:p>
          <a:p>
            <a:pPr rtl="0">
              <a:buNone/>
            </a:pPr>
            <a:r>
              <a:rPr lang="en-US" dirty="0" err="1">
                <a:latin typeface="Courier New" panose="02070309020205020404" pitchFamily="49" charset="0"/>
              </a:rPr>
              <a:t>nums</a:t>
            </a:r>
            <a:r>
              <a:rPr lang="en-US" dirty="0">
                <a:latin typeface="Courier New" panose="02070309020205020404" pitchFamily="49" charset="0"/>
              </a:rPr>
              <a:t> = [1, 1, 1, 1]</a:t>
            </a:r>
          </a:p>
          <a:p>
            <a:pPr>
              <a:buNone/>
            </a:pPr>
            <a:r>
              <a:rPr lang="en-US" b="1" dirty="0"/>
              <a:t>Output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0</a:t>
            </a:r>
          </a:p>
          <a:p>
            <a:pPr>
              <a:buNone/>
            </a:pPr>
            <a:r>
              <a:rPr lang="en-US" dirty="0"/>
              <a:t>(No unique elements)</a:t>
            </a:r>
          </a:p>
        </p:txBody>
      </p:sp>
    </p:spTree>
    <p:extLst>
      <p:ext uri="{BB962C8B-B14F-4D97-AF65-F5344CB8AC3E}">
        <p14:creationId xmlns:p14="http://schemas.microsoft.com/office/powerpoint/2010/main" val="316252257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7FBDA77-481B-617A-C9E3-4FD72437C8DA}"/>
              </a:ext>
            </a:extLst>
          </p:cNvPr>
          <p:cNvSpPr txBox="1"/>
          <p:nvPr/>
        </p:nvSpPr>
        <p:spPr>
          <a:xfrm>
            <a:off x="353962" y="153187"/>
            <a:ext cx="4493342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APPROACH 1: Brute Force</a:t>
            </a:r>
          </a:p>
          <a:p>
            <a:pPr>
              <a:buNone/>
            </a:pPr>
            <a:br>
              <a:rPr lang="en-US" dirty="0"/>
            </a:br>
            <a:r>
              <a:rPr lang="en-US" b="1" dirty="0"/>
              <a:t>Brute Force Idea</a:t>
            </a:r>
          </a:p>
          <a:p>
            <a:pPr>
              <a:buNone/>
            </a:pPr>
            <a:r>
              <a:rPr lang="en-US" dirty="0"/>
              <a:t>For every element: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Count how many times it appears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If count == 1 → add to sum</a:t>
            </a:r>
          </a:p>
          <a:p>
            <a:pPr>
              <a:buNone/>
            </a:pPr>
            <a:br>
              <a:rPr lang="en-US" dirty="0"/>
            </a:br>
            <a:r>
              <a:rPr lang="en-US" b="1" dirty="0"/>
              <a:t>Brute Force Logic (Text Form)</a:t>
            </a:r>
          </a:p>
          <a:p>
            <a:pPr>
              <a:buFont typeface="+mj-lt"/>
              <a:buAutoNum type="arabicPeriod"/>
            </a:pPr>
            <a:r>
              <a:rPr lang="en-US" dirty="0"/>
              <a:t>Initialize </a:t>
            </a:r>
            <a:r>
              <a:rPr lang="en-US" dirty="0">
                <a:latin typeface="Courier New" panose="02070309020205020404" pitchFamily="49" charset="0"/>
              </a:rPr>
              <a:t>sum = 0</a:t>
            </a:r>
            <a:endParaRPr lang="en-US" dirty="0"/>
          </a:p>
          <a:p>
            <a:pPr>
              <a:buFont typeface="+mj-lt"/>
              <a:buAutoNum type="arabicPeriod"/>
            </a:pPr>
            <a:r>
              <a:rPr lang="en-US" dirty="0"/>
              <a:t>For each element </a:t>
            </a:r>
            <a:r>
              <a:rPr lang="en-US" dirty="0">
                <a:latin typeface="Courier New" panose="02070309020205020404" pitchFamily="49" charset="0"/>
              </a:rPr>
              <a:t>i</a:t>
            </a:r>
            <a:r>
              <a:rPr lang="en-US" dirty="0"/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Set </a:t>
            </a:r>
            <a:r>
              <a:rPr lang="en-US" dirty="0">
                <a:latin typeface="Courier New" panose="02070309020205020404" pitchFamily="49" charset="0"/>
              </a:rPr>
              <a:t>count = 0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Loop again through array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Count occurrences of </a:t>
            </a:r>
            <a:r>
              <a:rPr lang="en-US" dirty="0" err="1">
                <a:latin typeface="Courier New" panose="02070309020205020404" pitchFamily="49" charset="0"/>
              </a:rPr>
              <a:t>nums</a:t>
            </a:r>
            <a:r>
              <a:rPr lang="en-US" dirty="0">
                <a:latin typeface="Courier New" panose="02070309020205020404" pitchFamily="49" charset="0"/>
              </a:rPr>
              <a:t>[</a:t>
            </a:r>
            <a:r>
              <a:rPr lang="en-US" dirty="0" err="1">
                <a:latin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</a:rPr>
              <a:t>]</a:t>
            </a:r>
            <a:endParaRPr lang="en-US" dirty="0"/>
          </a:p>
          <a:p>
            <a:pPr>
              <a:buFont typeface="+mj-lt"/>
              <a:buAutoNum type="arabicPeriod"/>
            </a:pPr>
            <a:r>
              <a:rPr lang="en-US" dirty="0"/>
              <a:t>If </a:t>
            </a:r>
            <a:r>
              <a:rPr lang="en-US" dirty="0">
                <a:latin typeface="Courier New" panose="02070309020205020404" pitchFamily="49" charset="0"/>
              </a:rPr>
              <a:t>count == 1</a:t>
            </a:r>
            <a:r>
              <a:rPr lang="en-US" dirty="0"/>
              <a:t>, add </a:t>
            </a:r>
            <a:r>
              <a:rPr lang="en-US" dirty="0" err="1">
                <a:latin typeface="Courier New" panose="02070309020205020404" pitchFamily="49" charset="0"/>
              </a:rPr>
              <a:t>nums</a:t>
            </a:r>
            <a:r>
              <a:rPr lang="en-US" dirty="0">
                <a:latin typeface="Courier New" panose="02070309020205020404" pitchFamily="49" charset="0"/>
              </a:rPr>
              <a:t>[</a:t>
            </a:r>
            <a:r>
              <a:rPr lang="en-US" dirty="0" err="1">
                <a:latin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</a:rPr>
              <a:t>]</a:t>
            </a:r>
            <a:r>
              <a:rPr lang="en-US" dirty="0"/>
              <a:t> to </a:t>
            </a:r>
            <a:r>
              <a:rPr lang="en-US" dirty="0">
                <a:latin typeface="Courier New" panose="02070309020205020404" pitchFamily="49" charset="0"/>
              </a:rPr>
              <a:t>sum</a:t>
            </a:r>
            <a:endParaRPr lang="en-US" dirty="0"/>
          </a:p>
          <a:p>
            <a:pPr>
              <a:buNone/>
            </a:pPr>
            <a:br>
              <a:rPr lang="en-US" dirty="0"/>
            </a:br>
            <a:r>
              <a:rPr lang="en-US" b="1" dirty="0"/>
              <a:t>Brute Force Walkthrough</a:t>
            </a:r>
          </a:p>
          <a:p>
            <a:pPr>
              <a:buNone/>
            </a:pPr>
            <a:r>
              <a:rPr lang="en-US" b="1" dirty="0" err="1"/>
              <a:t>nums</a:t>
            </a:r>
            <a:r>
              <a:rPr lang="en-US" b="1" dirty="0"/>
              <a:t> = </a:t>
            </a:r>
            <a:r>
              <a:rPr lang="en-US" b="1" dirty="0">
                <a:latin typeface="Courier New" panose="02070309020205020404" pitchFamily="49" charset="0"/>
              </a:rPr>
              <a:t>[1, 2, 3, 2]</a:t>
            </a:r>
            <a:endParaRPr lang="en-US" b="1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28C1552-C830-E958-8A4B-4F16960F8A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1270984"/>
              </p:ext>
            </p:extLst>
          </p:nvPr>
        </p:nvGraphicFramePr>
        <p:xfrm>
          <a:off x="5240592" y="373184"/>
          <a:ext cx="6518787" cy="18288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172929">
                  <a:extLst>
                    <a:ext uri="{9D8B030D-6E8A-4147-A177-3AD203B41FA5}">
                      <a16:colId xmlns:a16="http://schemas.microsoft.com/office/drawing/2014/main" val="3845277049"/>
                    </a:ext>
                  </a:extLst>
                </a:gridCol>
                <a:gridCol w="2172929">
                  <a:extLst>
                    <a:ext uri="{9D8B030D-6E8A-4147-A177-3AD203B41FA5}">
                      <a16:colId xmlns:a16="http://schemas.microsoft.com/office/drawing/2014/main" val="3166144938"/>
                    </a:ext>
                  </a:extLst>
                </a:gridCol>
                <a:gridCol w="2172929">
                  <a:extLst>
                    <a:ext uri="{9D8B030D-6E8A-4147-A177-3AD203B41FA5}">
                      <a16:colId xmlns:a16="http://schemas.microsoft.com/office/drawing/2014/main" val="266254977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Element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Count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Added to Sum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84977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70897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469056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2492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264060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4BABB40-58A6-A0AF-7A6E-0D9D2CA793F6}"/>
              </a:ext>
            </a:extLst>
          </p:cNvPr>
          <p:cNvSpPr txBox="1"/>
          <p:nvPr/>
        </p:nvSpPr>
        <p:spPr>
          <a:xfrm>
            <a:off x="5240592" y="2755179"/>
            <a:ext cx="35002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Final Sum</a:t>
            </a:r>
            <a:r>
              <a:rPr lang="en-IN" dirty="0"/>
              <a:t> = </a:t>
            </a:r>
            <a:r>
              <a:rPr lang="en-IN" dirty="0">
                <a:latin typeface="Courier New" panose="02070309020205020404" pitchFamily="49" charset="0"/>
              </a:rPr>
              <a:t>1 + 3 = 4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2294108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F84AB3E-D4DF-4424-42FF-602CAEE09401}"/>
              </a:ext>
            </a:extLst>
          </p:cNvPr>
          <p:cNvSpPr txBox="1"/>
          <p:nvPr/>
        </p:nvSpPr>
        <p:spPr>
          <a:xfrm>
            <a:off x="363794" y="18896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/>
              <a:t>Brute Force Pseudocode (C++ Style)</a:t>
            </a:r>
            <a:endParaRPr lang="en-IN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09F767-E65B-FFBC-5794-66CA408976BD}"/>
              </a:ext>
            </a:extLst>
          </p:cNvPr>
          <p:cNvSpPr txBox="1"/>
          <p:nvPr/>
        </p:nvSpPr>
        <p:spPr>
          <a:xfrm>
            <a:off x="432619" y="807202"/>
            <a:ext cx="4148905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 err="1"/>
              <a:t>sumOfUnique</a:t>
            </a:r>
            <a:r>
              <a:rPr lang="en-US" sz="2400" dirty="0"/>
              <a:t>(</a:t>
            </a:r>
            <a:r>
              <a:rPr lang="en-US" sz="2400" dirty="0" err="1"/>
              <a:t>nums</a:t>
            </a:r>
            <a:r>
              <a:rPr lang="en-US" sz="2400" dirty="0"/>
              <a:t>):</a:t>
            </a:r>
          </a:p>
          <a:p>
            <a:r>
              <a:rPr lang="en-US" sz="2400" dirty="0"/>
              <a:t>    sum = 0</a:t>
            </a:r>
          </a:p>
          <a:p>
            <a:r>
              <a:rPr lang="en-US" sz="2400" dirty="0"/>
              <a:t>    n = </a:t>
            </a:r>
            <a:r>
              <a:rPr lang="en-US" sz="2400" dirty="0" err="1"/>
              <a:t>nums.size</a:t>
            </a:r>
            <a:r>
              <a:rPr lang="en-US" sz="2400" dirty="0"/>
              <a:t>()</a:t>
            </a:r>
          </a:p>
          <a:p>
            <a:endParaRPr lang="en-US" sz="2400" dirty="0"/>
          </a:p>
          <a:p>
            <a:r>
              <a:rPr lang="en-US" sz="2400" dirty="0"/>
              <a:t>    for </a:t>
            </a:r>
            <a:r>
              <a:rPr lang="en-US" sz="2400" dirty="0" err="1"/>
              <a:t>i</a:t>
            </a:r>
            <a:r>
              <a:rPr lang="en-US" sz="2400" dirty="0"/>
              <a:t> = 0 to n-1:</a:t>
            </a:r>
          </a:p>
          <a:p>
            <a:r>
              <a:rPr lang="en-US" sz="2400" dirty="0"/>
              <a:t>        count = 0</a:t>
            </a:r>
          </a:p>
          <a:p>
            <a:r>
              <a:rPr lang="en-US" sz="2400" dirty="0"/>
              <a:t>        for j = 0 to n-1:</a:t>
            </a:r>
          </a:p>
          <a:p>
            <a:r>
              <a:rPr lang="en-US" sz="2400" dirty="0"/>
              <a:t>            if </a:t>
            </a:r>
            <a:r>
              <a:rPr lang="en-US" sz="2400" dirty="0" err="1"/>
              <a:t>nums</a:t>
            </a:r>
            <a:r>
              <a:rPr lang="en-US" sz="2400" dirty="0"/>
              <a:t>[</a:t>
            </a:r>
            <a:r>
              <a:rPr lang="en-US" sz="2400" dirty="0" err="1"/>
              <a:t>i</a:t>
            </a:r>
            <a:r>
              <a:rPr lang="en-US" sz="2400" dirty="0"/>
              <a:t>] == </a:t>
            </a:r>
            <a:r>
              <a:rPr lang="en-US" sz="2400" dirty="0" err="1"/>
              <a:t>nums</a:t>
            </a:r>
            <a:r>
              <a:rPr lang="en-US" sz="2400" dirty="0"/>
              <a:t>[j]:</a:t>
            </a:r>
          </a:p>
          <a:p>
            <a:r>
              <a:rPr lang="en-US" sz="2400" dirty="0"/>
              <a:t>                count++</a:t>
            </a:r>
          </a:p>
          <a:p>
            <a:endParaRPr lang="en-US" sz="2400" dirty="0"/>
          </a:p>
          <a:p>
            <a:r>
              <a:rPr lang="en-US" sz="2400" dirty="0"/>
              <a:t>        if count == 1:</a:t>
            </a:r>
          </a:p>
          <a:p>
            <a:r>
              <a:rPr lang="en-US" sz="2400" dirty="0"/>
              <a:t>            sum += </a:t>
            </a:r>
            <a:r>
              <a:rPr lang="en-US" sz="2400" dirty="0" err="1"/>
              <a:t>nums</a:t>
            </a:r>
            <a:r>
              <a:rPr lang="en-US" sz="2400" dirty="0"/>
              <a:t>[</a:t>
            </a:r>
            <a:r>
              <a:rPr lang="en-US" sz="2400" dirty="0" err="1"/>
              <a:t>i</a:t>
            </a:r>
            <a:r>
              <a:rPr lang="en-US" sz="2400" dirty="0"/>
              <a:t>]</a:t>
            </a:r>
          </a:p>
          <a:p>
            <a:endParaRPr lang="en-US" sz="2400" dirty="0"/>
          </a:p>
          <a:p>
            <a:r>
              <a:rPr lang="en-US" sz="2400" dirty="0"/>
              <a:t>    return sum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52B2B1-287C-01DB-A1B7-D242777C4710}"/>
              </a:ext>
            </a:extLst>
          </p:cNvPr>
          <p:cNvSpPr txBox="1"/>
          <p:nvPr/>
        </p:nvSpPr>
        <p:spPr>
          <a:xfrm>
            <a:off x="6096000" y="18896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Brute Force Complexity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1224417-A24F-5790-C0F8-3E1C66D92B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045026"/>
              </p:ext>
            </p:extLst>
          </p:nvPr>
        </p:nvGraphicFramePr>
        <p:xfrm>
          <a:off x="5211097" y="738944"/>
          <a:ext cx="6752304" cy="10972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376152">
                  <a:extLst>
                    <a:ext uri="{9D8B030D-6E8A-4147-A177-3AD203B41FA5}">
                      <a16:colId xmlns:a16="http://schemas.microsoft.com/office/drawing/2014/main" val="1533583378"/>
                    </a:ext>
                  </a:extLst>
                </a:gridCol>
                <a:gridCol w="3376152">
                  <a:extLst>
                    <a:ext uri="{9D8B030D-6E8A-4147-A177-3AD203B41FA5}">
                      <a16:colId xmlns:a16="http://schemas.microsoft.com/office/drawing/2014/main" val="102878072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805887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O(n²)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067157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Space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O(1)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904926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6399192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4CFDE31-C967-8C68-740E-168E81AE9BC9}"/>
              </a:ext>
            </a:extLst>
          </p:cNvPr>
          <p:cNvSpPr txBox="1"/>
          <p:nvPr/>
        </p:nvSpPr>
        <p:spPr>
          <a:xfrm>
            <a:off x="324465" y="245806"/>
            <a:ext cx="7688825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APPROACH 2: Optimal (Using Frequency Map)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en-US" b="1" dirty="0"/>
              <a:t>1 Key Observation </a:t>
            </a:r>
          </a:p>
          <a:p>
            <a:pPr>
              <a:buNone/>
            </a:pPr>
            <a:r>
              <a:rPr lang="en-US" dirty="0"/>
              <a:t>If we know </a:t>
            </a:r>
            <a:r>
              <a:rPr lang="en-US" b="1" dirty="0"/>
              <a:t>how many times each number appears</a:t>
            </a:r>
            <a:r>
              <a:rPr lang="en-US" dirty="0"/>
              <a:t>, we can easily decide: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Appears once → add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Appears more than once → ignore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2 Optimal Logic (Text Form)</a:t>
            </a:r>
          </a:p>
          <a:p>
            <a:pPr>
              <a:buFont typeface="+mj-lt"/>
              <a:buAutoNum type="arabicPeriod"/>
            </a:pPr>
            <a:r>
              <a:rPr lang="en-US" dirty="0"/>
              <a:t>Create a frequency map</a:t>
            </a:r>
          </a:p>
          <a:p>
            <a:pPr>
              <a:buFont typeface="+mj-lt"/>
              <a:buAutoNum type="arabicPeriod"/>
            </a:pPr>
            <a:r>
              <a:rPr lang="en-US" dirty="0"/>
              <a:t>Traverse the array and count occurrences</a:t>
            </a:r>
          </a:p>
          <a:p>
            <a:pPr>
              <a:buFont typeface="+mj-lt"/>
              <a:buAutoNum type="arabicPeriod"/>
            </a:pPr>
            <a:r>
              <a:rPr lang="en-US" dirty="0"/>
              <a:t>Traverse the map: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If frequency == 1 → add key to sum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3 Optimal Walkthrough (Step-by-Step)</a:t>
            </a:r>
          </a:p>
          <a:p>
            <a:pPr>
              <a:buNone/>
            </a:pPr>
            <a:r>
              <a:rPr lang="en-US" b="1" dirty="0" err="1"/>
              <a:t>nums</a:t>
            </a:r>
            <a:r>
              <a:rPr lang="en-US" b="1" dirty="0"/>
              <a:t> = </a:t>
            </a:r>
            <a:r>
              <a:rPr lang="en-US" b="1" dirty="0">
                <a:latin typeface="Courier New" panose="02070309020205020404" pitchFamily="49" charset="0"/>
              </a:rPr>
              <a:t>[1, 2, 3, 2]</a:t>
            </a:r>
          </a:p>
          <a:p>
            <a:pPr>
              <a:buNone/>
            </a:pPr>
            <a:endParaRPr lang="en-US" b="1" dirty="0"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IN" dirty="0"/>
              <a:t>Step 1: Frequency Map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7047794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7B46C82-2499-1335-6C44-197498585B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9786098"/>
              </p:ext>
            </p:extLst>
          </p:nvPr>
        </p:nvGraphicFramePr>
        <p:xfrm>
          <a:off x="838200" y="133275"/>
          <a:ext cx="10515600" cy="14630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831979466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95077621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Element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Frequency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7345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900114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936859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927314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CB5688FB-7D30-7A7D-D724-D448310F2288}"/>
              </a:ext>
            </a:extLst>
          </p:cNvPr>
          <p:cNvSpPr txBox="1"/>
          <p:nvPr/>
        </p:nvSpPr>
        <p:spPr>
          <a:xfrm>
            <a:off x="766916" y="204725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Step 2: Sum Unique Elements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31E4A76-43BB-08B9-F4EC-5DB91CBC5B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1464269"/>
              </p:ext>
            </p:extLst>
          </p:nvPr>
        </p:nvGraphicFramePr>
        <p:xfrm>
          <a:off x="838200" y="2542186"/>
          <a:ext cx="10515600" cy="14630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3059102039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792203959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5211506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Element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Frequency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Added?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00946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24455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27732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1247727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51B291A-111C-5E4F-A1C6-9F6CA558A6EC}"/>
              </a:ext>
            </a:extLst>
          </p:cNvPr>
          <p:cNvSpPr txBox="1"/>
          <p:nvPr/>
        </p:nvSpPr>
        <p:spPr>
          <a:xfrm>
            <a:off x="838200" y="435783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Final Sum = </a:t>
            </a:r>
            <a:r>
              <a:rPr lang="en-IN" dirty="0">
                <a:latin typeface="Courier New" panose="02070309020205020404" pitchFamily="49" charset="0"/>
              </a:rPr>
              <a:t>4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1596732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380866A-F549-228D-83FE-FA90AE558A32}"/>
              </a:ext>
            </a:extLst>
          </p:cNvPr>
          <p:cNvSpPr txBox="1"/>
          <p:nvPr/>
        </p:nvSpPr>
        <p:spPr>
          <a:xfrm>
            <a:off x="462116" y="179127"/>
            <a:ext cx="38739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Optimal Pseudocode (C++ Style)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BC23B2-6B9D-B876-E90C-84B1DE3803E9}"/>
              </a:ext>
            </a:extLst>
          </p:cNvPr>
          <p:cNvSpPr txBox="1"/>
          <p:nvPr/>
        </p:nvSpPr>
        <p:spPr>
          <a:xfrm>
            <a:off x="530942" y="730238"/>
            <a:ext cx="3716593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sumOfUnique</a:t>
            </a:r>
            <a:r>
              <a:rPr lang="en-US" dirty="0"/>
              <a:t>(</a:t>
            </a:r>
            <a:r>
              <a:rPr lang="en-US" dirty="0" err="1"/>
              <a:t>nums</a:t>
            </a:r>
            <a:r>
              <a:rPr lang="en-US" dirty="0"/>
              <a:t>):</a:t>
            </a:r>
          </a:p>
          <a:p>
            <a:r>
              <a:rPr lang="en-US" dirty="0"/>
              <a:t>    map </a:t>
            </a:r>
            <a:r>
              <a:rPr lang="en-US" dirty="0" err="1"/>
              <a:t>freq</a:t>
            </a:r>
            <a:endParaRPr lang="en-US" dirty="0"/>
          </a:p>
          <a:p>
            <a:r>
              <a:rPr lang="en-US" dirty="0"/>
              <a:t>    sum = 0</a:t>
            </a:r>
          </a:p>
          <a:p>
            <a:endParaRPr lang="en-US" dirty="0"/>
          </a:p>
          <a:p>
            <a:r>
              <a:rPr lang="en-US" dirty="0"/>
              <a:t>    for num in </a:t>
            </a:r>
            <a:r>
              <a:rPr lang="en-US" dirty="0" err="1"/>
              <a:t>nums</a:t>
            </a:r>
            <a:r>
              <a:rPr lang="en-US" dirty="0"/>
              <a:t>:</a:t>
            </a:r>
          </a:p>
          <a:p>
            <a:r>
              <a:rPr lang="en-US" dirty="0"/>
              <a:t>        </a:t>
            </a:r>
            <a:r>
              <a:rPr lang="en-US" dirty="0" err="1"/>
              <a:t>freq</a:t>
            </a:r>
            <a:r>
              <a:rPr lang="en-US" dirty="0"/>
              <a:t>[num]++</a:t>
            </a:r>
          </a:p>
          <a:p>
            <a:endParaRPr lang="en-US" dirty="0"/>
          </a:p>
          <a:p>
            <a:r>
              <a:rPr lang="en-US" dirty="0"/>
              <a:t>    for each (key, value) in </a:t>
            </a:r>
            <a:r>
              <a:rPr lang="en-US" dirty="0" err="1"/>
              <a:t>freq</a:t>
            </a:r>
            <a:r>
              <a:rPr lang="en-US" dirty="0"/>
              <a:t>:</a:t>
            </a:r>
          </a:p>
          <a:p>
            <a:r>
              <a:rPr lang="en-US" dirty="0"/>
              <a:t>        if value == 1:</a:t>
            </a:r>
          </a:p>
          <a:p>
            <a:r>
              <a:rPr lang="en-US" dirty="0"/>
              <a:t>            sum += key</a:t>
            </a:r>
          </a:p>
          <a:p>
            <a:endParaRPr lang="en-US" dirty="0"/>
          </a:p>
          <a:p>
            <a:r>
              <a:rPr lang="en-US" dirty="0"/>
              <a:t>    return sum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3D1DE9-23B6-68CA-CEA1-B1A9612418BF}"/>
              </a:ext>
            </a:extLst>
          </p:cNvPr>
          <p:cNvSpPr txBox="1"/>
          <p:nvPr/>
        </p:nvSpPr>
        <p:spPr>
          <a:xfrm>
            <a:off x="530942" y="4642973"/>
            <a:ext cx="27235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Optimal Complexity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CB18C33-EB34-840B-5868-1F73987C12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5935756"/>
              </p:ext>
            </p:extLst>
          </p:nvPr>
        </p:nvGraphicFramePr>
        <p:xfrm>
          <a:off x="651388" y="5191627"/>
          <a:ext cx="10515600" cy="10972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932432887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5825229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08718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O(n)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85528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Space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O(n)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31465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4367598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2802245-B4B3-C603-AA85-151D1D9E178E}"/>
              </a:ext>
            </a:extLst>
          </p:cNvPr>
          <p:cNvSpPr txBox="1"/>
          <p:nvPr/>
        </p:nvSpPr>
        <p:spPr>
          <a:xfrm>
            <a:off x="68826" y="122336"/>
            <a:ext cx="830825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APPROACH 3: More Optimal (Using Fixed Array – Constraint Based)</a:t>
            </a:r>
          </a:p>
          <a:p>
            <a:pPr>
              <a:buNone/>
            </a:pPr>
            <a:r>
              <a:rPr lang="en-US" dirty="0" err="1"/>
              <a:t>LeetCode</a:t>
            </a:r>
            <a:r>
              <a:rPr lang="en-US" dirty="0"/>
              <a:t> constraint: </a:t>
            </a:r>
            <a:r>
              <a:rPr lang="en-US" dirty="0">
                <a:latin typeface="Courier New" panose="02070309020205020404" pitchFamily="49" charset="0"/>
              </a:rPr>
              <a:t>1 ≤ </a:t>
            </a:r>
            <a:r>
              <a:rPr lang="en-US" dirty="0" err="1">
                <a:latin typeface="Courier New" panose="02070309020205020404" pitchFamily="49" charset="0"/>
              </a:rPr>
              <a:t>nums</a:t>
            </a:r>
            <a:r>
              <a:rPr lang="en-US" dirty="0">
                <a:latin typeface="Courier New" panose="02070309020205020404" pitchFamily="49" charset="0"/>
              </a:rPr>
              <a:t>[</a:t>
            </a:r>
            <a:r>
              <a:rPr lang="en-US" dirty="0" err="1">
                <a:latin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</a:rPr>
              <a:t>] ≤ 100</a:t>
            </a:r>
            <a:endParaRPr lang="en-US" dirty="0"/>
          </a:p>
          <a:p>
            <a:pPr>
              <a:buNone/>
            </a:pPr>
            <a:br>
              <a:rPr lang="en-US" dirty="0"/>
            </a:br>
            <a:r>
              <a:rPr lang="en-US" b="1" dirty="0"/>
              <a:t>Idea</a:t>
            </a:r>
          </a:p>
          <a:p>
            <a:pPr>
              <a:buNone/>
            </a:pPr>
            <a:r>
              <a:rPr lang="en-US" dirty="0"/>
              <a:t>Use an array of size </a:t>
            </a:r>
            <a:r>
              <a:rPr lang="en-US" dirty="0">
                <a:latin typeface="Courier New" panose="02070309020205020404" pitchFamily="49" charset="0"/>
              </a:rPr>
              <a:t>101</a:t>
            </a:r>
            <a:r>
              <a:rPr lang="en-US" dirty="0"/>
              <a:t> instead of a map.</a:t>
            </a:r>
          </a:p>
          <a:p>
            <a:pPr>
              <a:buNone/>
            </a:pPr>
            <a:br>
              <a:rPr lang="en-US" dirty="0"/>
            </a:br>
            <a:r>
              <a:rPr lang="en-US" b="1" dirty="0"/>
              <a:t>Pseudocode (C++ Style)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D09CAE-0511-28EC-6AA8-6A0FA78EE343}"/>
              </a:ext>
            </a:extLst>
          </p:cNvPr>
          <p:cNvSpPr txBox="1"/>
          <p:nvPr/>
        </p:nvSpPr>
        <p:spPr>
          <a:xfrm>
            <a:off x="68826" y="2153661"/>
            <a:ext cx="305783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sumOfUnique(nums):</a:t>
            </a:r>
          </a:p>
          <a:p>
            <a:r>
              <a:rPr lang="pt-BR" dirty="0"/>
              <a:t>    freq[101] = {0}</a:t>
            </a:r>
          </a:p>
          <a:p>
            <a:r>
              <a:rPr lang="pt-BR" dirty="0"/>
              <a:t>    sum = 0</a:t>
            </a:r>
          </a:p>
          <a:p>
            <a:endParaRPr lang="pt-BR" dirty="0"/>
          </a:p>
          <a:p>
            <a:r>
              <a:rPr lang="pt-BR" dirty="0"/>
              <a:t>    for num in nums:</a:t>
            </a:r>
          </a:p>
          <a:p>
            <a:r>
              <a:rPr lang="pt-BR" dirty="0"/>
              <a:t>        freq[num]++</a:t>
            </a:r>
          </a:p>
          <a:p>
            <a:endParaRPr lang="pt-BR" dirty="0"/>
          </a:p>
          <a:p>
            <a:r>
              <a:rPr lang="pt-BR" dirty="0"/>
              <a:t>    for num = 1 to 100:</a:t>
            </a:r>
          </a:p>
          <a:p>
            <a:r>
              <a:rPr lang="pt-BR" dirty="0"/>
              <a:t>        if freq[num] == 1:</a:t>
            </a:r>
          </a:p>
          <a:p>
            <a:r>
              <a:rPr lang="pt-BR" dirty="0"/>
              <a:t>            sum += num</a:t>
            </a:r>
          </a:p>
          <a:p>
            <a:endParaRPr lang="pt-BR" dirty="0"/>
          </a:p>
          <a:p>
            <a:r>
              <a:rPr lang="pt-BR" dirty="0"/>
              <a:t>    return sum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C16EDB-EACC-C29A-130C-9289E3403A6E}"/>
              </a:ext>
            </a:extLst>
          </p:cNvPr>
          <p:cNvSpPr txBox="1"/>
          <p:nvPr/>
        </p:nvSpPr>
        <p:spPr>
          <a:xfrm>
            <a:off x="5584723" y="1784329"/>
            <a:ext cx="23499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Complexity (Best)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D44E057-AEF4-FC94-D0E9-2F465C2707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1442377"/>
              </p:ext>
            </p:extLst>
          </p:nvPr>
        </p:nvGraphicFramePr>
        <p:xfrm>
          <a:off x="5584723" y="2479260"/>
          <a:ext cx="6253316" cy="10972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126658">
                  <a:extLst>
                    <a:ext uri="{9D8B030D-6E8A-4147-A177-3AD203B41FA5}">
                      <a16:colId xmlns:a16="http://schemas.microsoft.com/office/drawing/2014/main" val="2314835598"/>
                    </a:ext>
                  </a:extLst>
                </a:gridCol>
                <a:gridCol w="3126658">
                  <a:extLst>
                    <a:ext uri="{9D8B030D-6E8A-4147-A177-3AD203B41FA5}">
                      <a16:colId xmlns:a16="http://schemas.microsoft.com/office/drawing/2014/main" val="231014146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46666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O(n)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3341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Space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O(n)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214766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572307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B701E73-7D71-0F75-D18B-BAD0EB331E30}"/>
              </a:ext>
            </a:extLst>
          </p:cNvPr>
          <p:cNvSpPr txBox="1"/>
          <p:nvPr/>
        </p:nvSpPr>
        <p:spPr>
          <a:xfrm>
            <a:off x="216310" y="151832"/>
            <a:ext cx="1142508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1572. Matrix Diagonal Sum</a:t>
            </a:r>
          </a:p>
          <a:p>
            <a:pPr>
              <a:buNone/>
            </a:pPr>
            <a:br>
              <a:rPr lang="en-US" dirty="0"/>
            </a:br>
            <a:r>
              <a:rPr lang="en-US" b="1" dirty="0"/>
              <a:t>Problem in Simple Words</a:t>
            </a:r>
          </a:p>
          <a:p>
            <a:pPr>
              <a:buNone/>
            </a:pPr>
            <a:r>
              <a:rPr lang="en-US" dirty="0"/>
              <a:t>You are given a </a:t>
            </a:r>
            <a:r>
              <a:rPr lang="en-US" b="1" dirty="0"/>
              <a:t>square matrix</a:t>
            </a:r>
            <a:r>
              <a:rPr lang="en-US" dirty="0"/>
              <a:t> of size </a:t>
            </a:r>
            <a:r>
              <a:rPr lang="en-US" dirty="0">
                <a:latin typeface="Courier New" panose="02070309020205020404" pitchFamily="49" charset="0"/>
              </a:rPr>
              <a:t>n × n</a:t>
            </a:r>
            <a:r>
              <a:rPr lang="en-US" dirty="0"/>
              <a:t>.</a:t>
            </a:r>
          </a:p>
          <a:p>
            <a:pPr>
              <a:buNone/>
            </a:pPr>
            <a:r>
              <a:rPr lang="en-US" dirty="0"/>
              <a:t>You need to find the </a:t>
            </a:r>
            <a:r>
              <a:rPr lang="en-US" b="1" dirty="0"/>
              <a:t>sum of</a:t>
            </a:r>
            <a:r>
              <a:rPr lang="en-US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Primary diagonal</a:t>
            </a:r>
            <a:r>
              <a:rPr lang="en-US" dirty="0"/>
              <a:t> elements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Secondary diagonal</a:t>
            </a:r>
            <a:r>
              <a:rPr lang="en-US" dirty="0"/>
              <a:t> elements</a:t>
            </a:r>
          </a:p>
          <a:p>
            <a:pPr>
              <a:buNone/>
            </a:pPr>
            <a:r>
              <a:rPr lang="en-US" dirty="0"/>
              <a:t>If a cell belongs to </a:t>
            </a:r>
            <a:r>
              <a:rPr lang="en-US" b="1" dirty="0"/>
              <a:t>both diagonals</a:t>
            </a:r>
            <a:r>
              <a:rPr lang="en-US" dirty="0"/>
              <a:t> (center element in odd-sized matrix), </a:t>
            </a:r>
            <a:r>
              <a:rPr lang="en-US" b="1" dirty="0"/>
              <a:t>count it only once</a:t>
            </a:r>
            <a:r>
              <a:rPr lang="en-US" dirty="0"/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F07BBD-7BCC-8F21-9D14-43C97586A5FC}"/>
              </a:ext>
            </a:extLst>
          </p:cNvPr>
          <p:cNvSpPr txBox="1"/>
          <p:nvPr/>
        </p:nvSpPr>
        <p:spPr>
          <a:xfrm>
            <a:off x="216309" y="2460156"/>
            <a:ext cx="11867535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Example</a:t>
            </a:r>
          </a:p>
          <a:p>
            <a:pPr>
              <a:buNone/>
            </a:pPr>
            <a:r>
              <a:rPr lang="en-IN" b="1" dirty="0"/>
              <a:t>Input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matrix =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[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[1, 2, 3],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[4, 5, 6],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[7, 8, 9]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]</a:t>
            </a:r>
          </a:p>
          <a:p>
            <a:pPr>
              <a:buNone/>
            </a:pPr>
            <a:r>
              <a:rPr lang="en-IN" b="1" dirty="0"/>
              <a:t>Output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25</a:t>
            </a:r>
          </a:p>
          <a:p>
            <a:pPr>
              <a:buNone/>
            </a:pPr>
            <a:r>
              <a:rPr lang="en-IN" b="1" dirty="0"/>
              <a:t>Explanation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Primary diagonal → </a:t>
            </a:r>
            <a:r>
              <a:rPr lang="en-IN" dirty="0">
                <a:latin typeface="Courier New" panose="02070309020205020404" pitchFamily="49" charset="0"/>
              </a:rPr>
              <a:t>1 + 5 + 9 = 15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Secondary diagonal → </a:t>
            </a:r>
            <a:r>
              <a:rPr lang="en-IN" dirty="0">
                <a:latin typeface="Courier New" panose="02070309020205020404" pitchFamily="49" charset="0"/>
              </a:rPr>
              <a:t>3 + 5 + 7 = 15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 err="1"/>
              <a:t>Center</a:t>
            </a:r>
            <a:r>
              <a:rPr lang="en-IN" dirty="0"/>
              <a:t> element </a:t>
            </a:r>
            <a:r>
              <a:rPr lang="en-IN" dirty="0">
                <a:latin typeface="Courier New" panose="02070309020205020404" pitchFamily="49" charset="0"/>
              </a:rPr>
              <a:t>5</a:t>
            </a:r>
            <a:r>
              <a:rPr lang="en-IN" dirty="0"/>
              <a:t> counted twice → subtract once</a:t>
            </a:r>
          </a:p>
          <a:p>
            <a:pPr>
              <a:buNone/>
            </a:pPr>
            <a:r>
              <a:rPr lang="en-IN" dirty="0"/>
              <a:t>Final sum = </a:t>
            </a:r>
            <a:r>
              <a:rPr lang="en-IN" dirty="0">
                <a:latin typeface="Courier New" panose="02070309020205020404" pitchFamily="49" charset="0"/>
              </a:rPr>
              <a:t>15 + 15 − 5 = 25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6509162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48B85C0-EC18-BDCA-E99E-8156E83BABC9}"/>
              </a:ext>
            </a:extLst>
          </p:cNvPr>
          <p:cNvSpPr txBox="1"/>
          <p:nvPr/>
        </p:nvSpPr>
        <p:spPr>
          <a:xfrm>
            <a:off x="167149" y="136066"/>
            <a:ext cx="11218606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APPROACH: Single Traversal</a:t>
            </a:r>
          </a:p>
          <a:p>
            <a:pPr>
              <a:buNone/>
            </a:pPr>
            <a:br>
              <a:rPr lang="en-IN" dirty="0"/>
            </a:br>
            <a:r>
              <a:rPr lang="en-IN" b="1" dirty="0"/>
              <a:t>Key Observation</a:t>
            </a:r>
          </a:p>
          <a:p>
            <a:pPr>
              <a:buNone/>
            </a:pPr>
            <a:r>
              <a:rPr lang="en-IN" dirty="0"/>
              <a:t>For index </a:t>
            </a:r>
            <a:r>
              <a:rPr lang="en-IN" dirty="0">
                <a:latin typeface="Courier New" panose="02070309020205020404" pitchFamily="49" charset="0"/>
              </a:rPr>
              <a:t>i</a:t>
            </a:r>
            <a:r>
              <a:rPr lang="en-IN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Primary diagonal → </a:t>
            </a:r>
            <a:r>
              <a:rPr lang="en-IN" dirty="0">
                <a:latin typeface="Courier New" panose="02070309020205020404" pitchFamily="49" charset="0"/>
              </a:rPr>
              <a:t>matrix[</a:t>
            </a:r>
            <a:r>
              <a:rPr lang="en-IN" dirty="0" err="1">
                <a:latin typeface="Courier New" panose="02070309020205020404" pitchFamily="49" charset="0"/>
              </a:rPr>
              <a:t>i</a:t>
            </a:r>
            <a:r>
              <a:rPr lang="en-IN" dirty="0">
                <a:latin typeface="Courier New" panose="02070309020205020404" pitchFamily="49" charset="0"/>
              </a:rPr>
              <a:t>][</a:t>
            </a:r>
            <a:r>
              <a:rPr lang="en-IN" dirty="0" err="1">
                <a:latin typeface="Courier New" panose="02070309020205020404" pitchFamily="49" charset="0"/>
              </a:rPr>
              <a:t>i</a:t>
            </a:r>
            <a:r>
              <a:rPr lang="en-IN" dirty="0">
                <a:latin typeface="Courier New" panose="02070309020205020404" pitchFamily="49" charset="0"/>
              </a:rPr>
              <a:t>]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Secondary diagonal → </a:t>
            </a:r>
            <a:r>
              <a:rPr lang="en-IN" dirty="0">
                <a:latin typeface="Courier New" panose="02070309020205020404" pitchFamily="49" charset="0"/>
              </a:rPr>
              <a:t>matrix[</a:t>
            </a:r>
            <a:r>
              <a:rPr lang="en-IN" dirty="0" err="1">
                <a:latin typeface="Courier New" panose="02070309020205020404" pitchFamily="49" charset="0"/>
              </a:rPr>
              <a:t>i</a:t>
            </a:r>
            <a:r>
              <a:rPr lang="en-IN" dirty="0">
                <a:latin typeface="Courier New" panose="02070309020205020404" pitchFamily="49" charset="0"/>
              </a:rPr>
              <a:t>][n - </a:t>
            </a:r>
            <a:r>
              <a:rPr lang="en-IN" dirty="0" err="1">
                <a:latin typeface="Courier New" panose="02070309020205020404" pitchFamily="49" charset="0"/>
              </a:rPr>
              <a:t>i</a:t>
            </a:r>
            <a:r>
              <a:rPr lang="en-IN" dirty="0">
                <a:latin typeface="Courier New" panose="02070309020205020404" pitchFamily="49" charset="0"/>
              </a:rPr>
              <a:t> - 1]</a:t>
            </a:r>
            <a:endParaRPr lang="en-IN" dirty="0"/>
          </a:p>
          <a:p>
            <a:pPr>
              <a:buNone/>
            </a:pPr>
            <a:br>
              <a:rPr lang="en-IN" dirty="0"/>
            </a:br>
            <a:r>
              <a:rPr lang="en-IN" b="1" dirty="0"/>
              <a:t>Logic</a:t>
            </a:r>
          </a:p>
          <a:p>
            <a:pPr>
              <a:buFont typeface="+mj-lt"/>
              <a:buAutoNum type="arabicPeriod"/>
            </a:pPr>
            <a:r>
              <a:rPr lang="en-IN" dirty="0"/>
              <a:t>Initialize </a:t>
            </a:r>
            <a:r>
              <a:rPr lang="en-IN" dirty="0">
                <a:latin typeface="Courier New" panose="02070309020205020404" pitchFamily="49" charset="0"/>
              </a:rPr>
              <a:t>sum = 0</a:t>
            </a:r>
            <a:endParaRPr lang="en-IN" dirty="0"/>
          </a:p>
          <a:p>
            <a:pPr>
              <a:buFont typeface="+mj-lt"/>
              <a:buAutoNum type="arabicPeriod"/>
            </a:pPr>
            <a:r>
              <a:rPr lang="en-IN" dirty="0"/>
              <a:t>Traverse rows from </a:t>
            </a:r>
            <a:r>
              <a:rPr lang="en-IN" dirty="0">
                <a:latin typeface="Courier New" panose="02070309020205020404" pitchFamily="49" charset="0"/>
              </a:rPr>
              <a:t>0</a:t>
            </a:r>
            <a:r>
              <a:rPr lang="en-IN" dirty="0"/>
              <a:t> to </a:t>
            </a:r>
            <a:r>
              <a:rPr lang="en-IN" dirty="0">
                <a:latin typeface="Courier New" panose="02070309020205020404" pitchFamily="49" charset="0"/>
              </a:rPr>
              <a:t>n-1</a:t>
            </a:r>
            <a:endParaRPr lang="en-IN" dirty="0"/>
          </a:p>
          <a:p>
            <a:pPr>
              <a:buFont typeface="+mj-lt"/>
              <a:buAutoNum type="arabicPeriod"/>
            </a:pPr>
            <a:r>
              <a:rPr lang="en-IN" dirty="0"/>
              <a:t>Add primary diagonal element</a:t>
            </a:r>
          </a:p>
          <a:p>
            <a:pPr>
              <a:buFont typeface="+mj-lt"/>
              <a:buAutoNum type="arabicPeriod"/>
            </a:pPr>
            <a:r>
              <a:rPr lang="en-IN" dirty="0"/>
              <a:t>Add secondary diagonal element</a:t>
            </a:r>
          </a:p>
          <a:p>
            <a:pPr>
              <a:buFont typeface="+mj-lt"/>
              <a:buAutoNum type="arabicPeriod"/>
            </a:pPr>
            <a:r>
              <a:rPr lang="en-IN" dirty="0"/>
              <a:t>If matrix size is odd: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N" dirty="0"/>
              <a:t>Subtract the middle element once</a:t>
            </a:r>
          </a:p>
          <a:p>
            <a:pPr>
              <a:buFont typeface="+mj-lt"/>
              <a:buAutoNum type="arabicPeriod"/>
            </a:pPr>
            <a:r>
              <a:rPr lang="en-IN" dirty="0"/>
              <a:t>Return </a:t>
            </a:r>
            <a:r>
              <a:rPr lang="en-IN" dirty="0">
                <a:latin typeface="Courier New" panose="02070309020205020404" pitchFamily="49" charset="0"/>
              </a:rPr>
              <a:t>sum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49DD7B-3CF8-B92A-488E-8D981FE4E0F0}"/>
              </a:ext>
            </a:extLst>
          </p:cNvPr>
          <p:cNvSpPr txBox="1"/>
          <p:nvPr/>
        </p:nvSpPr>
        <p:spPr>
          <a:xfrm>
            <a:off x="167149" y="4551091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Walkthrough (Table)</a:t>
            </a:r>
          </a:p>
          <a:p>
            <a:pPr>
              <a:buNone/>
            </a:pPr>
            <a:r>
              <a:rPr lang="en-US" b="1" dirty="0"/>
              <a:t>matrix =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1  2  3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4  5  6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7  8  9</a:t>
            </a:r>
          </a:p>
        </p:txBody>
      </p:sp>
    </p:spTree>
    <p:extLst>
      <p:ext uri="{BB962C8B-B14F-4D97-AF65-F5344CB8AC3E}">
        <p14:creationId xmlns:p14="http://schemas.microsoft.com/office/powerpoint/2010/main" val="201466881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42934F4-99B2-53E1-DFC8-A622B12CD2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4004893"/>
              </p:ext>
            </p:extLst>
          </p:nvPr>
        </p:nvGraphicFramePr>
        <p:xfrm>
          <a:off x="297426" y="310264"/>
          <a:ext cx="10515600" cy="14630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101425858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73464483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42877326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5423931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Primary (</a:t>
                      </a:r>
                      <a:r>
                        <a:rPr lang="en-IN" dirty="0" err="1"/>
                        <a:t>i,i</a:t>
                      </a:r>
                      <a:r>
                        <a:rPr lang="en-IN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Secondary (i,n-i-1)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Sum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48808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46899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4242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30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8309795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2D28B7EB-C420-DCD3-47A0-3E68631DF3C4}"/>
              </a:ext>
            </a:extLst>
          </p:cNvPr>
          <p:cNvSpPr txBox="1"/>
          <p:nvPr/>
        </p:nvSpPr>
        <p:spPr>
          <a:xfrm>
            <a:off x="297426" y="204640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Middle element = </a:t>
            </a:r>
            <a:r>
              <a:rPr lang="en-US" dirty="0">
                <a:latin typeface="Courier New" panose="02070309020205020404" pitchFamily="49" charset="0"/>
              </a:rPr>
              <a:t>5</a:t>
            </a:r>
            <a:br>
              <a:rPr lang="en-US" dirty="0"/>
            </a:br>
            <a:r>
              <a:rPr lang="en-US" dirty="0"/>
              <a:t>Final sum = </a:t>
            </a:r>
            <a:r>
              <a:rPr lang="en-US" dirty="0">
                <a:latin typeface="Courier New" panose="02070309020205020404" pitchFamily="49" charset="0"/>
              </a:rPr>
              <a:t>30 - 5 = 25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314DDF-7FBD-54C6-3C64-3A4A199C0F1C}"/>
              </a:ext>
            </a:extLst>
          </p:cNvPr>
          <p:cNvSpPr txBox="1"/>
          <p:nvPr/>
        </p:nvSpPr>
        <p:spPr>
          <a:xfrm>
            <a:off x="442452" y="2965845"/>
            <a:ext cx="6096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Pseudocode (C++-Style)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n = </a:t>
            </a:r>
            <a:r>
              <a:rPr lang="en-IN" dirty="0" err="1">
                <a:latin typeface="Courier New" panose="02070309020205020404" pitchFamily="49" charset="0"/>
              </a:rPr>
              <a:t>matrix.size</a:t>
            </a:r>
            <a:r>
              <a:rPr lang="en-IN" dirty="0">
                <a:latin typeface="Courier New" panose="02070309020205020404" pitchFamily="49" charset="0"/>
              </a:rPr>
              <a:t>()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sum = 0</a:t>
            </a:r>
          </a:p>
          <a:p>
            <a:pPr rtl="0">
              <a:buNone/>
            </a:pPr>
            <a:endParaRPr lang="en-IN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for </a:t>
            </a:r>
            <a:r>
              <a:rPr lang="en-IN" dirty="0" err="1">
                <a:latin typeface="Courier New" panose="02070309020205020404" pitchFamily="49" charset="0"/>
              </a:rPr>
              <a:t>i</a:t>
            </a:r>
            <a:r>
              <a:rPr lang="en-IN" dirty="0">
                <a:latin typeface="Courier New" panose="02070309020205020404" pitchFamily="49" charset="0"/>
              </a:rPr>
              <a:t> = 0 to n-1: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sum = sum + matrix[</a:t>
            </a:r>
            <a:r>
              <a:rPr lang="en-IN" dirty="0" err="1">
                <a:latin typeface="Courier New" panose="02070309020205020404" pitchFamily="49" charset="0"/>
              </a:rPr>
              <a:t>i</a:t>
            </a:r>
            <a:r>
              <a:rPr lang="en-IN" dirty="0">
                <a:latin typeface="Courier New" panose="02070309020205020404" pitchFamily="49" charset="0"/>
              </a:rPr>
              <a:t>][</a:t>
            </a:r>
            <a:r>
              <a:rPr lang="en-IN" dirty="0" err="1">
                <a:latin typeface="Courier New" panose="02070309020205020404" pitchFamily="49" charset="0"/>
              </a:rPr>
              <a:t>i</a:t>
            </a:r>
            <a:r>
              <a:rPr lang="en-IN" dirty="0">
                <a:latin typeface="Courier New" panose="02070309020205020404" pitchFamily="49" charset="0"/>
              </a:rPr>
              <a:t>]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sum = sum + matrix[</a:t>
            </a:r>
            <a:r>
              <a:rPr lang="en-IN" dirty="0" err="1">
                <a:latin typeface="Courier New" panose="02070309020205020404" pitchFamily="49" charset="0"/>
              </a:rPr>
              <a:t>i</a:t>
            </a:r>
            <a:r>
              <a:rPr lang="en-IN" dirty="0">
                <a:latin typeface="Courier New" panose="02070309020205020404" pitchFamily="49" charset="0"/>
              </a:rPr>
              <a:t>][n - </a:t>
            </a:r>
            <a:r>
              <a:rPr lang="en-IN" dirty="0" err="1">
                <a:latin typeface="Courier New" panose="02070309020205020404" pitchFamily="49" charset="0"/>
              </a:rPr>
              <a:t>i</a:t>
            </a:r>
            <a:r>
              <a:rPr lang="en-IN" dirty="0">
                <a:latin typeface="Courier New" panose="02070309020205020404" pitchFamily="49" charset="0"/>
              </a:rPr>
              <a:t> - 1]</a:t>
            </a:r>
          </a:p>
          <a:p>
            <a:pPr rtl="0">
              <a:buNone/>
            </a:pPr>
            <a:endParaRPr lang="en-IN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if n is odd: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sum = sum - matrix[n/2][n/2]</a:t>
            </a:r>
          </a:p>
          <a:p>
            <a:pPr rtl="0">
              <a:buNone/>
            </a:pPr>
            <a:endParaRPr lang="en-IN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return sum</a:t>
            </a:r>
          </a:p>
        </p:txBody>
      </p:sp>
    </p:spTree>
    <p:extLst>
      <p:ext uri="{BB962C8B-B14F-4D97-AF65-F5344CB8AC3E}">
        <p14:creationId xmlns:p14="http://schemas.microsoft.com/office/powerpoint/2010/main" val="190080168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7F6E3E8-F145-75A5-C207-CBCA1C4DE8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5567638"/>
              </p:ext>
            </p:extLst>
          </p:nvPr>
        </p:nvGraphicFramePr>
        <p:xfrm>
          <a:off x="297426" y="227673"/>
          <a:ext cx="10515600" cy="10972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111105925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92767671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26598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O(n)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85878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Space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O(1)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40908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2787571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FA3FE97-3C3F-68CC-96EA-9277C9653856}"/>
              </a:ext>
            </a:extLst>
          </p:cNvPr>
          <p:cNvSpPr txBox="1"/>
          <p:nvPr/>
        </p:nvSpPr>
        <p:spPr>
          <a:xfrm>
            <a:off x="117987" y="167148"/>
            <a:ext cx="11631561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1672. Richest Customer Wealth</a:t>
            </a:r>
          </a:p>
          <a:p>
            <a:pPr>
              <a:buNone/>
            </a:pPr>
            <a:br>
              <a:rPr lang="en-US" dirty="0"/>
            </a:br>
            <a:r>
              <a:rPr lang="en-US" b="1" dirty="0"/>
              <a:t>Problem in Simple Words</a:t>
            </a:r>
          </a:p>
          <a:p>
            <a:pPr>
              <a:buNone/>
            </a:pPr>
            <a:r>
              <a:rPr lang="en-US" dirty="0"/>
              <a:t>You are given a 2D array </a:t>
            </a:r>
            <a:r>
              <a:rPr lang="en-US" dirty="0">
                <a:latin typeface="Courier New" panose="02070309020205020404" pitchFamily="49" charset="0"/>
              </a:rPr>
              <a:t>accounts</a:t>
            </a:r>
            <a:r>
              <a:rPr lang="en-US" dirty="0"/>
              <a:t> where: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Each </a:t>
            </a:r>
            <a:r>
              <a:rPr lang="en-US" b="1" dirty="0"/>
              <a:t>row</a:t>
            </a:r>
            <a:r>
              <a:rPr lang="en-US" dirty="0"/>
              <a:t> represents a </a:t>
            </a:r>
            <a:r>
              <a:rPr lang="en-US" b="1" dirty="0"/>
              <a:t>customer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Each </a:t>
            </a:r>
            <a:r>
              <a:rPr lang="en-US" b="1" dirty="0"/>
              <a:t>column</a:t>
            </a:r>
            <a:r>
              <a:rPr lang="en-US" dirty="0"/>
              <a:t> represents money in a </a:t>
            </a:r>
            <a:r>
              <a:rPr lang="en-US" b="1" dirty="0"/>
              <a:t>bank</a:t>
            </a:r>
            <a:endParaRPr lang="en-US" dirty="0"/>
          </a:p>
          <a:p>
            <a:pPr>
              <a:buNone/>
            </a:pPr>
            <a:r>
              <a:rPr lang="en-US" dirty="0"/>
              <a:t>Your task is to find the </a:t>
            </a:r>
            <a:r>
              <a:rPr lang="en-US" b="1" dirty="0"/>
              <a:t>maximum wealth</a:t>
            </a:r>
            <a:r>
              <a:rPr lang="en-US" dirty="0"/>
              <a:t> among all customers.</a:t>
            </a:r>
          </a:p>
          <a:p>
            <a:pPr>
              <a:buNone/>
            </a:pPr>
            <a:r>
              <a:rPr lang="en-US" b="1" dirty="0"/>
              <a:t>Customer wealth</a:t>
            </a:r>
            <a:r>
              <a:rPr lang="en-US" dirty="0"/>
              <a:t> = sum of money in all their bank accounts.</a:t>
            </a:r>
          </a:p>
          <a:p>
            <a:pPr>
              <a:buNone/>
            </a:pPr>
            <a:br>
              <a:rPr lang="en-US" dirty="0"/>
            </a:br>
            <a:r>
              <a:rPr lang="en-US" b="1" dirty="0"/>
              <a:t>Example</a:t>
            </a:r>
          </a:p>
          <a:p>
            <a:pPr>
              <a:buNone/>
            </a:pPr>
            <a:r>
              <a:rPr lang="en-US" b="1" dirty="0"/>
              <a:t>Input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accounts =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[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[1, 2, 3],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[3, 2, 1]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]</a:t>
            </a:r>
          </a:p>
          <a:p>
            <a:pPr>
              <a:buNone/>
            </a:pPr>
            <a:r>
              <a:rPr lang="en-US" b="1" dirty="0"/>
              <a:t>Output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6</a:t>
            </a:r>
          </a:p>
          <a:p>
            <a:pPr>
              <a:buNone/>
            </a:pPr>
            <a:r>
              <a:rPr lang="en-US" b="1" dirty="0"/>
              <a:t>Explanation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Customer 1 wealth = </a:t>
            </a:r>
            <a:r>
              <a:rPr lang="en-US" dirty="0">
                <a:latin typeface="Courier New" panose="02070309020205020404" pitchFamily="49" charset="0"/>
              </a:rPr>
              <a:t>1 + 2 + 3 = 6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Customer 2 wealth = </a:t>
            </a:r>
            <a:r>
              <a:rPr lang="en-US" dirty="0">
                <a:latin typeface="Courier New" panose="02070309020205020404" pitchFamily="49" charset="0"/>
              </a:rPr>
              <a:t>3 + 2 + 1 = 6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Maximum wealth = </a:t>
            </a:r>
            <a:r>
              <a:rPr lang="en-US" b="1" dirty="0"/>
              <a:t>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473366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65437C5-7800-31DE-DE67-90718C9CDD68}"/>
              </a:ext>
            </a:extLst>
          </p:cNvPr>
          <p:cNvSpPr txBox="1"/>
          <p:nvPr/>
        </p:nvSpPr>
        <p:spPr>
          <a:xfrm>
            <a:off x="176980" y="184379"/>
            <a:ext cx="9812593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APPROACH: Row-wise Sum (Optimal)</a:t>
            </a:r>
          </a:p>
          <a:p>
            <a:pPr>
              <a:buNone/>
            </a:pPr>
            <a:br>
              <a:rPr lang="en-US" dirty="0"/>
            </a:br>
            <a:r>
              <a:rPr lang="en-US" b="1" dirty="0"/>
              <a:t>Key Observation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Each row is independent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Just compute the sum of each row and track the maximum</a:t>
            </a:r>
          </a:p>
          <a:p>
            <a:pPr>
              <a:buNone/>
            </a:pPr>
            <a:br>
              <a:rPr lang="en-US" dirty="0"/>
            </a:br>
            <a:r>
              <a:rPr lang="en-US" b="1" dirty="0"/>
              <a:t>Logic</a:t>
            </a:r>
          </a:p>
          <a:p>
            <a:pPr>
              <a:buFont typeface="+mj-lt"/>
              <a:buAutoNum type="arabicPeriod"/>
            </a:pPr>
            <a:r>
              <a:rPr lang="en-US" dirty="0"/>
              <a:t>Initialize </a:t>
            </a:r>
            <a:r>
              <a:rPr lang="en-US" dirty="0" err="1">
                <a:latin typeface="Courier New" panose="02070309020205020404" pitchFamily="49" charset="0"/>
              </a:rPr>
              <a:t>maxWealth</a:t>
            </a:r>
            <a:r>
              <a:rPr lang="en-US" dirty="0">
                <a:latin typeface="Courier New" panose="02070309020205020404" pitchFamily="49" charset="0"/>
              </a:rPr>
              <a:t> = 0</a:t>
            </a:r>
            <a:endParaRPr lang="en-US" dirty="0"/>
          </a:p>
          <a:p>
            <a:pPr>
              <a:buFont typeface="+mj-lt"/>
              <a:buAutoNum type="arabicPeriod"/>
            </a:pPr>
            <a:r>
              <a:rPr lang="en-US" dirty="0"/>
              <a:t>For each customer: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Compute sum of their accounts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Update maximum if current sum is larger</a:t>
            </a:r>
          </a:p>
          <a:p>
            <a:pPr>
              <a:buFont typeface="+mj-lt"/>
              <a:buAutoNum type="arabicPeriod"/>
            </a:pPr>
            <a:r>
              <a:rPr lang="en-US" dirty="0"/>
              <a:t>Return </a:t>
            </a:r>
            <a:r>
              <a:rPr lang="en-US" dirty="0" err="1">
                <a:latin typeface="Courier New" panose="02070309020205020404" pitchFamily="49" charset="0"/>
              </a:rPr>
              <a:t>maxWealth</a:t>
            </a:r>
            <a:endParaRPr lang="en-US" dirty="0"/>
          </a:p>
          <a:p>
            <a:pPr>
              <a:buNone/>
            </a:pPr>
            <a:br>
              <a:rPr lang="en-US" dirty="0"/>
            </a:br>
            <a:r>
              <a:rPr lang="en-US" b="1" dirty="0"/>
              <a:t>Walkthrough (Table)</a:t>
            </a:r>
          </a:p>
          <a:p>
            <a:pPr>
              <a:buNone/>
            </a:pPr>
            <a:r>
              <a:rPr lang="en-US" b="1" dirty="0"/>
              <a:t>accounts =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999B8E-CD03-D9FF-209E-F23266F16CA5}"/>
              </a:ext>
            </a:extLst>
          </p:cNvPr>
          <p:cNvSpPr txBox="1"/>
          <p:nvPr/>
        </p:nvSpPr>
        <p:spPr>
          <a:xfrm>
            <a:off x="707922" y="4431696"/>
            <a:ext cx="27333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[1, 2, 3]</a:t>
            </a:r>
          </a:p>
          <a:p>
            <a:r>
              <a:rPr lang="en-IN" dirty="0"/>
              <a:t>[3, 2, 1]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70112E5-5B60-2F73-A618-5D4E0A658E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8989734"/>
              </p:ext>
            </p:extLst>
          </p:nvPr>
        </p:nvGraphicFramePr>
        <p:xfrm>
          <a:off x="415413" y="5409273"/>
          <a:ext cx="10515600" cy="10972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73247776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85704257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70356024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81256159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Customer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Account Values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Row Sum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Max Wealth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825087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1, 2, 3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254562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3, 2, 1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562138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959750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A05F33D-8DBA-871E-18B4-8642D402609A}"/>
              </a:ext>
            </a:extLst>
          </p:cNvPr>
          <p:cNvSpPr txBox="1"/>
          <p:nvPr/>
        </p:nvSpPr>
        <p:spPr>
          <a:xfrm>
            <a:off x="196645" y="199298"/>
            <a:ext cx="6096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Pseudocode (C++-Style)</a:t>
            </a:r>
          </a:p>
          <a:p>
            <a:pPr rtl="0">
              <a:buNone/>
            </a:pPr>
            <a:r>
              <a:rPr lang="en-US" dirty="0" err="1">
                <a:latin typeface="Courier New" panose="02070309020205020404" pitchFamily="49" charset="0"/>
              </a:rPr>
              <a:t>maxWealth</a:t>
            </a:r>
            <a:r>
              <a:rPr lang="en-US" dirty="0">
                <a:latin typeface="Courier New" panose="02070309020205020404" pitchFamily="49" charset="0"/>
              </a:rPr>
              <a:t> = 0</a:t>
            </a:r>
          </a:p>
          <a:p>
            <a:pPr rtl="0">
              <a:buNone/>
            </a:pPr>
            <a:endParaRPr lang="en-US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for each row in accounts: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</a:rPr>
              <a:t>currentSum</a:t>
            </a:r>
            <a:r>
              <a:rPr lang="en-US" dirty="0">
                <a:latin typeface="Courier New" panose="02070309020205020404" pitchFamily="49" charset="0"/>
              </a:rPr>
              <a:t> = 0</a:t>
            </a:r>
          </a:p>
          <a:p>
            <a:pPr rtl="0">
              <a:buNone/>
            </a:pPr>
            <a:endParaRPr lang="en-US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for each value in row: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    </a:t>
            </a:r>
            <a:r>
              <a:rPr lang="en-US" dirty="0" err="1">
                <a:latin typeface="Courier New" panose="02070309020205020404" pitchFamily="49" charset="0"/>
              </a:rPr>
              <a:t>currentSum</a:t>
            </a:r>
            <a:r>
              <a:rPr lang="en-US" dirty="0">
                <a:latin typeface="Courier New" panose="02070309020205020404" pitchFamily="49" charset="0"/>
              </a:rPr>
              <a:t> = </a:t>
            </a:r>
            <a:r>
              <a:rPr lang="en-US" dirty="0" err="1">
                <a:latin typeface="Courier New" panose="02070309020205020404" pitchFamily="49" charset="0"/>
              </a:rPr>
              <a:t>currentSum</a:t>
            </a:r>
            <a:r>
              <a:rPr lang="en-US" dirty="0">
                <a:latin typeface="Courier New" panose="02070309020205020404" pitchFamily="49" charset="0"/>
              </a:rPr>
              <a:t> + value</a:t>
            </a:r>
          </a:p>
          <a:p>
            <a:pPr rtl="0">
              <a:buNone/>
            </a:pPr>
            <a:endParaRPr lang="en-US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</a:rPr>
              <a:t>maxWealth</a:t>
            </a:r>
            <a:r>
              <a:rPr lang="en-US" dirty="0">
                <a:latin typeface="Courier New" panose="02070309020205020404" pitchFamily="49" charset="0"/>
              </a:rPr>
              <a:t> = max(</a:t>
            </a:r>
            <a:r>
              <a:rPr lang="en-US" dirty="0" err="1">
                <a:latin typeface="Courier New" panose="02070309020205020404" pitchFamily="49" charset="0"/>
              </a:rPr>
              <a:t>maxWealth</a:t>
            </a:r>
            <a:r>
              <a:rPr lang="en-US" dirty="0">
                <a:latin typeface="Courier New" panose="02070309020205020404" pitchFamily="49" charset="0"/>
              </a:rPr>
              <a:t>, </a:t>
            </a:r>
            <a:r>
              <a:rPr lang="en-US" dirty="0" err="1">
                <a:latin typeface="Courier New" panose="02070309020205020404" pitchFamily="49" charset="0"/>
              </a:rPr>
              <a:t>currentSum</a:t>
            </a:r>
            <a:r>
              <a:rPr lang="en-US" dirty="0">
                <a:latin typeface="Courier New" panose="02070309020205020404" pitchFamily="49" charset="0"/>
              </a:rPr>
              <a:t>)</a:t>
            </a:r>
          </a:p>
          <a:p>
            <a:pPr rtl="0">
              <a:buNone/>
            </a:pPr>
            <a:endParaRPr lang="en-US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return </a:t>
            </a:r>
            <a:r>
              <a:rPr lang="en-US" dirty="0" err="1">
                <a:latin typeface="Courier New" panose="02070309020205020404" pitchFamily="49" charset="0"/>
              </a:rPr>
              <a:t>maxWealth</a:t>
            </a:r>
            <a:endParaRPr lang="en-US" dirty="0">
              <a:latin typeface="Courier New" panose="020703090202050204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576A5B-69A1-A82F-52C2-8484177C7A48}"/>
              </a:ext>
            </a:extLst>
          </p:cNvPr>
          <p:cNvSpPr txBox="1"/>
          <p:nvPr/>
        </p:nvSpPr>
        <p:spPr>
          <a:xfrm>
            <a:off x="196645" y="361561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Complexity Analysis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9F83E06-60A4-750B-1002-5AC3866F0F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020242"/>
              </p:ext>
            </p:extLst>
          </p:nvPr>
        </p:nvGraphicFramePr>
        <p:xfrm>
          <a:off x="326923" y="4160577"/>
          <a:ext cx="10515600" cy="10972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4246374814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53241736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70113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O(m × 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39204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Space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O(1)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92603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139173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BAC848B-B87E-12AC-BD8D-9130E2360396}"/>
              </a:ext>
            </a:extLst>
          </p:cNvPr>
          <p:cNvSpPr txBox="1"/>
          <p:nvPr/>
        </p:nvSpPr>
        <p:spPr>
          <a:xfrm>
            <a:off x="235974" y="167148"/>
            <a:ext cx="890802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242. Valid Anagram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Problem Statement</a:t>
            </a:r>
          </a:p>
          <a:p>
            <a:pPr>
              <a:buNone/>
            </a:pPr>
            <a:r>
              <a:rPr lang="en-US" dirty="0"/>
              <a:t>Given two strings </a:t>
            </a:r>
            <a:r>
              <a:rPr lang="en-US" dirty="0">
                <a:latin typeface="Courier New" panose="02070309020205020404" pitchFamily="49" charset="0"/>
              </a:rPr>
              <a:t>s</a:t>
            </a:r>
            <a:r>
              <a:rPr lang="en-US" dirty="0"/>
              <a:t> and </a:t>
            </a:r>
            <a:r>
              <a:rPr lang="en-US" dirty="0">
                <a:latin typeface="Courier New" panose="02070309020205020404" pitchFamily="49" charset="0"/>
              </a:rPr>
              <a:t>t</a:t>
            </a:r>
            <a:r>
              <a:rPr lang="en-US" dirty="0"/>
              <a:t>, return </a:t>
            </a:r>
            <a:r>
              <a:rPr lang="en-US" b="1" dirty="0"/>
              <a:t>true</a:t>
            </a:r>
            <a:r>
              <a:rPr lang="en-US" dirty="0"/>
              <a:t> if </a:t>
            </a:r>
            <a:r>
              <a:rPr lang="en-US" dirty="0">
                <a:latin typeface="Courier New" panose="02070309020205020404" pitchFamily="49" charset="0"/>
              </a:rPr>
              <a:t>t</a:t>
            </a:r>
            <a:r>
              <a:rPr lang="en-US" dirty="0"/>
              <a:t> is an anagram of </a:t>
            </a:r>
            <a:r>
              <a:rPr lang="en-US" dirty="0">
                <a:latin typeface="Courier New" panose="02070309020205020404" pitchFamily="49" charset="0"/>
              </a:rPr>
              <a:t>s</a:t>
            </a:r>
            <a:r>
              <a:rPr lang="en-US" dirty="0"/>
              <a:t>, otherwise return </a:t>
            </a:r>
            <a:r>
              <a:rPr lang="en-US" b="1" dirty="0"/>
              <a:t>false</a:t>
            </a:r>
            <a:r>
              <a:rPr lang="en-US" dirty="0"/>
              <a:t>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Anagram means both strings contain </a:t>
            </a:r>
            <a:r>
              <a:rPr lang="en-US" b="1" dirty="0"/>
              <a:t>same characters with same frequency</a:t>
            </a:r>
            <a:r>
              <a:rPr lang="en-US" dirty="0"/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5EB6A5-3DBA-4F0F-9BDD-532DC5E44AA4}"/>
              </a:ext>
            </a:extLst>
          </p:cNvPr>
          <p:cNvSpPr txBox="1"/>
          <p:nvPr/>
        </p:nvSpPr>
        <p:spPr>
          <a:xfrm>
            <a:off x="235973" y="2008939"/>
            <a:ext cx="11749549" cy="4681913"/>
          </a:xfrm>
          <a:prstGeom prst="rect">
            <a:avLst/>
          </a:prstGeom>
          <a:noFill/>
        </p:spPr>
        <p:txBody>
          <a:bodyPr wrap="square" numCol="2">
            <a:spAutoFit/>
          </a:bodyPr>
          <a:lstStyle/>
          <a:p>
            <a:pPr>
              <a:buNone/>
            </a:pPr>
            <a:r>
              <a:rPr lang="en-US" b="1" dirty="0"/>
              <a:t>Approach 1: Sort and Compare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Idea</a:t>
            </a:r>
          </a:p>
          <a:p>
            <a:pPr>
              <a:buNone/>
            </a:pPr>
            <a:r>
              <a:rPr lang="en-US" dirty="0"/>
              <a:t>If two strings are anagrams, then after sorting both strings, they must be equal.</a:t>
            </a:r>
          </a:p>
          <a:p>
            <a:pPr>
              <a:buNone/>
            </a:pPr>
            <a:br>
              <a:rPr lang="en-US" dirty="0"/>
            </a:br>
            <a:r>
              <a:rPr lang="en-US" b="1" dirty="0"/>
              <a:t>Pseudocode (C++-Style)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if length(s) != length(t):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    return false</a:t>
            </a:r>
            <a:br>
              <a:rPr lang="en-US" dirty="0">
                <a:latin typeface="Courier New" panose="02070309020205020404" pitchFamily="49" charset="0"/>
              </a:rPr>
            </a:b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sort(s)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sort(t)</a:t>
            </a:r>
            <a:br>
              <a:rPr lang="en-US" dirty="0">
                <a:latin typeface="Courier New" panose="02070309020205020404" pitchFamily="49" charset="0"/>
              </a:rPr>
            </a:b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if s == t: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    return true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else: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    return false</a:t>
            </a:r>
            <a:br>
              <a:rPr lang="en-US" dirty="0"/>
            </a:br>
            <a:endParaRPr lang="en-US" dirty="0"/>
          </a:p>
          <a:p>
            <a:pPr rtl="0">
              <a:buNone/>
            </a:pPr>
            <a:r>
              <a:rPr lang="en-US" b="1" dirty="0"/>
              <a:t>Time Complexity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O(n log n)</a:t>
            </a:r>
            <a:r>
              <a:rPr lang="en-US" dirty="0"/>
              <a:t> (because of sorting)</a:t>
            </a:r>
          </a:p>
          <a:p>
            <a:pPr>
              <a:buNone/>
            </a:pPr>
            <a:r>
              <a:rPr lang="en-US" b="1" dirty="0"/>
              <a:t>Space Complexity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O(1)</a:t>
            </a:r>
            <a:r>
              <a:rPr lang="en-US" dirty="0"/>
              <a:t> (ignoring sorting space)</a:t>
            </a:r>
          </a:p>
        </p:txBody>
      </p:sp>
    </p:spTree>
    <p:extLst>
      <p:ext uri="{BB962C8B-B14F-4D97-AF65-F5344CB8AC3E}">
        <p14:creationId xmlns:p14="http://schemas.microsoft.com/office/powerpoint/2010/main" val="98926468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D6A8744-B147-45D3-B738-A7B91D8AA77D}"/>
              </a:ext>
            </a:extLst>
          </p:cNvPr>
          <p:cNvSpPr txBox="1"/>
          <p:nvPr/>
        </p:nvSpPr>
        <p:spPr>
          <a:xfrm>
            <a:off x="216309" y="157317"/>
            <a:ext cx="11788877" cy="6607278"/>
          </a:xfrm>
          <a:prstGeom prst="rect">
            <a:avLst/>
          </a:prstGeom>
          <a:noFill/>
        </p:spPr>
        <p:txBody>
          <a:bodyPr wrap="square" numCol="2">
            <a:spAutoFit/>
          </a:bodyPr>
          <a:lstStyle/>
          <a:p>
            <a:pPr>
              <a:buNone/>
            </a:pPr>
            <a:r>
              <a:rPr lang="en-US" b="1" dirty="0"/>
              <a:t>Approach 2: Frequency Count (Optimal) 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Idea</a:t>
            </a:r>
          </a:p>
          <a:p>
            <a:pPr>
              <a:buNone/>
            </a:pPr>
            <a:r>
              <a:rPr lang="en-US" dirty="0"/>
              <a:t>Count frequency of each character using an array of size 26 (for lowercase letters).</a:t>
            </a:r>
          </a:p>
          <a:p>
            <a:pPr>
              <a:buNone/>
            </a:pPr>
            <a:br>
              <a:rPr lang="en-US" dirty="0"/>
            </a:br>
            <a:r>
              <a:rPr lang="en-US" b="1" dirty="0"/>
              <a:t>Pseudocode (C++-Style)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if length(s) != length(t):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    return false</a:t>
            </a:r>
            <a:br>
              <a:rPr lang="en-US" dirty="0">
                <a:latin typeface="Courier New" panose="02070309020205020404" pitchFamily="49" charset="0"/>
              </a:rPr>
            </a:b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create array </a:t>
            </a:r>
            <a:r>
              <a:rPr lang="en-US" dirty="0" err="1">
                <a:latin typeface="Courier New" panose="02070309020205020404" pitchFamily="49" charset="0"/>
              </a:rPr>
              <a:t>freq</a:t>
            </a:r>
            <a:r>
              <a:rPr lang="en-US" dirty="0">
                <a:latin typeface="Courier New" panose="02070309020205020404" pitchFamily="49" charset="0"/>
              </a:rPr>
              <a:t>[26] initialized to 0</a:t>
            </a:r>
            <a:br>
              <a:rPr lang="en-US" dirty="0">
                <a:latin typeface="Courier New" panose="02070309020205020404" pitchFamily="49" charset="0"/>
              </a:rPr>
            </a:b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for each character c in s: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</a:rPr>
              <a:t>freq</a:t>
            </a:r>
            <a:r>
              <a:rPr lang="en-US" dirty="0">
                <a:latin typeface="Courier New" panose="02070309020205020404" pitchFamily="49" charset="0"/>
              </a:rPr>
              <a:t>[c - 'a']++</a:t>
            </a:r>
            <a:br>
              <a:rPr lang="en-US" dirty="0">
                <a:latin typeface="Courier New" panose="02070309020205020404" pitchFamily="49" charset="0"/>
              </a:rPr>
            </a:b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for each character c in t: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</a:rPr>
              <a:t>freq</a:t>
            </a:r>
            <a:r>
              <a:rPr lang="en-US" dirty="0">
                <a:latin typeface="Courier New" panose="02070309020205020404" pitchFamily="49" charset="0"/>
              </a:rPr>
              <a:t>[c - 'a']--</a:t>
            </a:r>
            <a:br>
              <a:rPr lang="en-US" dirty="0">
                <a:latin typeface="Courier New" panose="02070309020205020404" pitchFamily="49" charset="0"/>
              </a:rPr>
            </a:b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for </a:t>
            </a:r>
            <a:r>
              <a:rPr lang="en-US" dirty="0" err="1">
                <a:latin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</a:rPr>
              <a:t> = 0 to 25: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    if </a:t>
            </a:r>
            <a:r>
              <a:rPr lang="en-US" dirty="0" err="1">
                <a:latin typeface="Courier New" panose="02070309020205020404" pitchFamily="49" charset="0"/>
              </a:rPr>
              <a:t>freq</a:t>
            </a:r>
            <a:r>
              <a:rPr lang="en-US" dirty="0">
                <a:latin typeface="Courier New" panose="02070309020205020404" pitchFamily="49" charset="0"/>
              </a:rPr>
              <a:t>[</a:t>
            </a:r>
            <a:r>
              <a:rPr lang="en-US" dirty="0" err="1">
                <a:latin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</a:rPr>
              <a:t>] != 0: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        return false</a:t>
            </a:r>
            <a:br>
              <a:rPr lang="en-US" dirty="0">
                <a:latin typeface="Courier New" panose="02070309020205020404" pitchFamily="49" charset="0"/>
              </a:rPr>
            </a:b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return true</a:t>
            </a:r>
          </a:p>
          <a:p>
            <a:pPr>
              <a:buNone/>
            </a:pPr>
            <a:r>
              <a:rPr lang="en-US" b="1" dirty="0"/>
              <a:t>Time Complexity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O(n)</a:t>
            </a:r>
            <a:endParaRPr lang="en-US" dirty="0"/>
          </a:p>
          <a:p>
            <a:pPr>
              <a:buNone/>
            </a:pPr>
            <a:r>
              <a:rPr lang="en-US" b="1" dirty="0"/>
              <a:t>Space Complexity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O(1)</a:t>
            </a:r>
            <a:r>
              <a:rPr lang="en-US" dirty="0"/>
              <a:t> (constant 26 size array)</a:t>
            </a:r>
          </a:p>
        </p:txBody>
      </p:sp>
    </p:spTree>
    <p:extLst>
      <p:ext uri="{BB962C8B-B14F-4D97-AF65-F5344CB8AC3E}">
        <p14:creationId xmlns:p14="http://schemas.microsoft.com/office/powerpoint/2010/main" val="67306849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2AD5D2E-AADE-0710-62C9-C0FEAE6C0A4D}"/>
              </a:ext>
            </a:extLst>
          </p:cNvPr>
          <p:cNvSpPr txBox="1"/>
          <p:nvPr/>
        </p:nvSpPr>
        <p:spPr>
          <a:xfrm>
            <a:off x="147483" y="106910"/>
            <a:ext cx="1185770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136. Single Number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Problem Statement</a:t>
            </a:r>
          </a:p>
          <a:p>
            <a:pPr>
              <a:buNone/>
            </a:pPr>
            <a:r>
              <a:rPr lang="en-US" dirty="0"/>
              <a:t>Given a non-empty array of integers, every element appears </a:t>
            </a:r>
            <a:r>
              <a:rPr lang="en-US" b="1" dirty="0"/>
              <a:t>twice</a:t>
            </a:r>
            <a:r>
              <a:rPr lang="en-US" dirty="0"/>
              <a:t> except for one.</a:t>
            </a:r>
            <a:br>
              <a:rPr lang="en-US" dirty="0"/>
            </a:br>
            <a:r>
              <a:rPr lang="en-US" dirty="0"/>
              <a:t>Find that single element.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C7785E-839F-9AF1-F10E-F732D98DE508}"/>
              </a:ext>
            </a:extLst>
          </p:cNvPr>
          <p:cNvSpPr txBox="1"/>
          <p:nvPr/>
        </p:nvSpPr>
        <p:spPr>
          <a:xfrm>
            <a:off x="147483" y="1661652"/>
            <a:ext cx="11592233" cy="40319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Approach 1: Brute Force (Count Frequency)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Pseudocode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for </a:t>
            </a:r>
            <a:r>
              <a:rPr lang="en-US" dirty="0" err="1">
                <a:latin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</a:rPr>
              <a:t> = 0 to n-1: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    count = 0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    for j = 0 to n-1: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        if </a:t>
            </a:r>
            <a:r>
              <a:rPr lang="en-US" dirty="0" err="1">
                <a:latin typeface="Courier New" panose="02070309020205020404" pitchFamily="49" charset="0"/>
              </a:rPr>
              <a:t>nums</a:t>
            </a:r>
            <a:r>
              <a:rPr lang="en-US" dirty="0">
                <a:latin typeface="Courier New" panose="02070309020205020404" pitchFamily="49" charset="0"/>
              </a:rPr>
              <a:t>[</a:t>
            </a:r>
            <a:r>
              <a:rPr lang="en-US" dirty="0" err="1">
                <a:latin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</a:rPr>
              <a:t>] == </a:t>
            </a:r>
            <a:r>
              <a:rPr lang="en-US" dirty="0" err="1">
                <a:latin typeface="Courier New" panose="02070309020205020404" pitchFamily="49" charset="0"/>
              </a:rPr>
              <a:t>nums</a:t>
            </a:r>
            <a:r>
              <a:rPr lang="en-US" dirty="0">
                <a:latin typeface="Courier New" panose="02070309020205020404" pitchFamily="49" charset="0"/>
              </a:rPr>
              <a:t>[j]: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            count++</a:t>
            </a:r>
            <a:br>
              <a:rPr lang="en-US" dirty="0">
                <a:latin typeface="Courier New" panose="02070309020205020404" pitchFamily="49" charset="0"/>
              </a:rPr>
            </a:b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    if count == 1: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        return </a:t>
            </a:r>
            <a:r>
              <a:rPr lang="en-US" dirty="0" err="1">
                <a:latin typeface="Courier New" panose="02070309020205020404" pitchFamily="49" charset="0"/>
              </a:rPr>
              <a:t>nums</a:t>
            </a:r>
            <a:r>
              <a:rPr lang="en-US" dirty="0">
                <a:latin typeface="Courier New" panose="02070309020205020404" pitchFamily="49" charset="0"/>
              </a:rPr>
              <a:t>[</a:t>
            </a:r>
            <a:r>
              <a:rPr lang="en-US" dirty="0" err="1">
                <a:latin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</a:rPr>
              <a:t>]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Time Complexity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O(n²)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085955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99D101E-2F53-E1AC-A3D2-9152D7779D9A}"/>
              </a:ext>
            </a:extLst>
          </p:cNvPr>
          <p:cNvSpPr txBox="1"/>
          <p:nvPr/>
        </p:nvSpPr>
        <p:spPr>
          <a:xfrm>
            <a:off x="275303" y="226142"/>
            <a:ext cx="3313471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Approach 2: Using HashMap</a:t>
            </a:r>
          </a:p>
          <a:p>
            <a:pPr>
              <a:buNone/>
            </a:pPr>
            <a:endParaRPr lang="en-IN" b="1" dirty="0"/>
          </a:p>
          <a:p>
            <a:pPr>
              <a:buNone/>
            </a:pPr>
            <a:r>
              <a:rPr lang="en-IN" b="1" dirty="0"/>
              <a:t>Pseudocode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create map </a:t>
            </a:r>
            <a:r>
              <a:rPr lang="en-IN" dirty="0" err="1">
                <a:latin typeface="Courier New" panose="02070309020205020404" pitchFamily="49" charset="0"/>
              </a:rPr>
              <a:t>mp</a:t>
            </a:r>
            <a:br>
              <a:rPr lang="en-IN" dirty="0">
                <a:latin typeface="Courier New" panose="02070309020205020404" pitchFamily="49" charset="0"/>
              </a:rPr>
            </a:b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for each </a:t>
            </a:r>
            <a:r>
              <a:rPr lang="en-IN" dirty="0" err="1">
                <a:latin typeface="Courier New" panose="02070309020205020404" pitchFamily="49" charset="0"/>
              </a:rPr>
              <a:t>num</a:t>
            </a:r>
            <a:r>
              <a:rPr lang="en-IN" dirty="0">
                <a:latin typeface="Courier New" panose="02070309020205020404" pitchFamily="49" charset="0"/>
              </a:rPr>
              <a:t> in </a:t>
            </a:r>
            <a:r>
              <a:rPr lang="en-IN" dirty="0" err="1">
                <a:latin typeface="Courier New" panose="02070309020205020404" pitchFamily="49" charset="0"/>
              </a:rPr>
              <a:t>nums</a:t>
            </a:r>
            <a:r>
              <a:rPr lang="en-IN" dirty="0">
                <a:latin typeface="Courier New" panose="02070309020205020404" pitchFamily="49" charset="0"/>
              </a:rPr>
              <a:t>: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    </a:t>
            </a:r>
            <a:r>
              <a:rPr lang="en-IN" dirty="0" err="1">
                <a:latin typeface="Courier New" panose="02070309020205020404" pitchFamily="49" charset="0"/>
              </a:rPr>
              <a:t>mp</a:t>
            </a:r>
            <a:r>
              <a:rPr lang="en-IN" dirty="0">
                <a:latin typeface="Courier New" panose="02070309020205020404" pitchFamily="49" charset="0"/>
              </a:rPr>
              <a:t>[</a:t>
            </a:r>
            <a:r>
              <a:rPr lang="en-IN" dirty="0" err="1">
                <a:latin typeface="Courier New" panose="02070309020205020404" pitchFamily="49" charset="0"/>
              </a:rPr>
              <a:t>num</a:t>
            </a:r>
            <a:r>
              <a:rPr lang="en-IN" dirty="0">
                <a:latin typeface="Courier New" panose="02070309020205020404" pitchFamily="49" charset="0"/>
              </a:rPr>
              <a:t>]++</a:t>
            </a:r>
            <a:br>
              <a:rPr lang="en-IN" dirty="0">
                <a:latin typeface="Courier New" panose="02070309020205020404" pitchFamily="49" charset="0"/>
              </a:rPr>
            </a:b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for each pair in </a:t>
            </a:r>
            <a:r>
              <a:rPr lang="en-IN" dirty="0" err="1">
                <a:latin typeface="Courier New" panose="02070309020205020404" pitchFamily="49" charset="0"/>
              </a:rPr>
              <a:t>mp</a:t>
            </a:r>
            <a:r>
              <a:rPr lang="en-IN" dirty="0">
                <a:latin typeface="Courier New" panose="02070309020205020404" pitchFamily="49" charset="0"/>
              </a:rPr>
              <a:t>: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    if value == 1: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        return key</a:t>
            </a:r>
          </a:p>
          <a:p>
            <a:pPr>
              <a:buNone/>
            </a:pPr>
            <a:endParaRPr lang="en-IN" b="1" dirty="0"/>
          </a:p>
          <a:p>
            <a:pPr>
              <a:buNone/>
            </a:pPr>
            <a:r>
              <a:rPr lang="en-IN" b="1" dirty="0"/>
              <a:t>Time Complexity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O(n)</a:t>
            </a:r>
            <a:endParaRPr lang="en-IN" dirty="0"/>
          </a:p>
          <a:p>
            <a:r>
              <a:rPr lang="en-IN" b="1" dirty="0"/>
              <a:t>Space Complexity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O(n)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824215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C194C82-FF2C-C6B1-54D8-64C627BA6487}"/>
              </a:ext>
            </a:extLst>
          </p:cNvPr>
          <p:cNvSpPr txBox="1"/>
          <p:nvPr/>
        </p:nvSpPr>
        <p:spPr>
          <a:xfrm>
            <a:off x="216309" y="127819"/>
            <a:ext cx="11857703" cy="6636775"/>
          </a:xfrm>
          <a:prstGeom prst="rect">
            <a:avLst/>
          </a:prstGeom>
          <a:noFill/>
        </p:spPr>
        <p:txBody>
          <a:bodyPr wrap="square" numCol="2">
            <a:spAutoFit/>
          </a:bodyPr>
          <a:lstStyle/>
          <a:p>
            <a:pPr>
              <a:buNone/>
            </a:pPr>
            <a:r>
              <a:rPr lang="en-IN" b="1" dirty="0"/>
              <a:t>Approach 3: XOR Trick (Optimal)</a:t>
            </a:r>
          </a:p>
          <a:p>
            <a:pPr>
              <a:buNone/>
            </a:pPr>
            <a:endParaRPr lang="en-IN" b="1" dirty="0"/>
          </a:p>
          <a:p>
            <a:pPr>
              <a:buNone/>
            </a:pPr>
            <a:r>
              <a:rPr lang="en-IN" b="1" dirty="0"/>
              <a:t>Important Concept</a:t>
            </a:r>
          </a:p>
          <a:p>
            <a:pPr>
              <a:buNone/>
            </a:pPr>
            <a:r>
              <a:rPr lang="en-IN" dirty="0"/>
              <a:t>Properties of XOR: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a ^ a = 0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a ^ 0 = a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XOR is commutative and associative</a:t>
            </a:r>
          </a:p>
          <a:p>
            <a:pPr>
              <a:buNone/>
            </a:pPr>
            <a:r>
              <a:rPr lang="en-IN" dirty="0"/>
              <a:t>So if every number appears twice: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a ^ a ^ b ^ b ^ c = c</a:t>
            </a:r>
          </a:p>
          <a:p>
            <a:pPr>
              <a:buNone/>
            </a:pPr>
            <a:r>
              <a:rPr lang="en-IN" dirty="0"/>
              <a:t>All duplicates cancel out.</a:t>
            </a:r>
          </a:p>
          <a:p>
            <a:pPr>
              <a:buNone/>
            </a:pPr>
            <a:br>
              <a:rPr lang="en-IN" dirty="0"/>
            </a:br>
            <a:r>
              <a:rPr lang="en-IN" b="1" dirty="0"/>
              <a:t>Pseudocode (C++-Style)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result = 0</a:t>
            </a:r>
            <a:br>
              <a:rPr lang="en-IN" dirty="0">
                <a:latin typeface="Courier New" panose="02070309020205020404" pitchFamily="49" charset="0"/>
              </a:rPr>
            </a:b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for each </a:t>
            </a:r>
            <a:r>
              <a:rPr lang="en-IN" dirty="0" err="1">
                <a:latin typeface="Courier New" panose="02070309020205020404" pitchFamily="49" charset="0"/>
              </a:rPr>
              <a:t>num</a:t>
            </a:r>
            <a:r>
              <a:rPr lang="en-IN" dirty="0">
                <a:latin typeface="Courier New" panose="02070309020205020404" pitchFamily="49" charset="0"/>
              </a:rPr>
              <a:t> in </a:t>
            </a:r>
            <a:r>
              <a:rPr lang="en-IN" dirty="0" err="1">
                <a:latin typeface="Courier New" panose="02070309020205020404" pitchFamily="49" charset="0"/>
              </a:rPr>
              <a:t>nums</a:t>
            </a:r>
            <a:r>
              <a:rPr lang="en-IN" dirty="0">
                <a:latin typeface="Courier New" panose="02070309020205020404" pitchFamily="49" charset="0"/>
              </a:rPr>
              <a:t>: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    result = result ^ </a:t>
            </a:r>
            <a:r>
              <a:rPr lang="en-IN" dirty="0" err="1">
                <a:latin typeface="Courier New" panose="02070309020205020404" pitchFamily="49" charset="0"/>
              </a:rPr>
              <a:t>num</a:t>
            </a:r>
            <a:br>
              <a:rPr lang="en-IN" dirty="0">
                <a:latin typeface="Courier New" panose="02070309020205020404" pitchFamily="49" charset="0"/>
              </a:rPr>
            </a:b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return result</a:t>
            </a:r>
          </a:p>
          <a:p>
            <a:pPr>
              <a:buNone/>
            </a:pPr>
            <a:br>
              <a:rPr lang="en-IN" dirty="0"/>
            </a:br>
            <a:endParaRPr lang="en-IN" dirty="0"/>
          </a:p>
          <a:p>
            <a:pPr>
              <a:buNone/>
            </a:pPr>
            <a:endParaRPr lang="en-IN" b="1" dirty="0"/>
          </a:p>
          <a:p>
            <a:pPr>
              <a:buNone/>
            </a:pPr>
            <a:endParaRPr lang="en-IN" b="1" dirty="0"/>
          </a:p>
          <a:p>
            <a:pPr>
              <a:buNone/>
            </a:pPr>
            <a:endParaRPr lang="en-IN" b="1" dirty="0"/>
          </a:p>
          <a:p>
            <a:pPr>
              <a:buNone/>
            </a:pPr>
            <a:r>
              <a:rPr lang="en-IN" b="1" dirty="0"/>
              <a:t>Example</a:t>
            </a:r>
          </a:p>
          <a:p>
            <a:pPr>
              <a:buNone/>
            </a:pPr>
            <a:r>
              <a:rPr lang="en-IN" dirty="0" err="1"/>
              <a:t>nums</a:t>
            </a:r>
            <a:r>
              <a:rPr lang="en-IN" dirty="0"/>
              <a:t> = [4,1,2,1,2]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0 ^ 4 = 4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4 ^ 1 = 5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5 ^ 2 = 7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7 ^ 1 = 6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6 ^ 2 = 4</a:t>
            </a:r>
          </a:p>
          <a:p>
            <a:pPr>
              <a:buNone/>
            </a:pPr>
            <a:r>
              <a:rPr lang="en-IN" dirty="0"/>
              <a:t>Answer = 4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F4149D-F7AE-C648-010F-A1F79A2B40E2}"/>
              </a:ext>
            </a:extLst>
          </p:cNvPr>
          <p:cNvSpPr txBox="1"/>
          <p:nvPr/>
        </p:nvSpPr>
        <p:spPr>
          <a:xfrm>
            <a:off x="5751871" y="2828835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/>
              <a:t>Time Complexity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b="1" dirty="0"/>
              <a:t>O(n)</a:t>
            </a:r>
            <a:endParaRPr lang="pt-BR" dirty="0"/>
          </a:p>
          <a:p>
            <a:pPr>
              <a:buNone/>
            </a:pPr>
            <a:endParaRPr lang="pt-BR" b="1" dirty="0"/>
          </a:p>
          <a:p>
            <a:pPr>
              <a:buNone/>
            </a:pPr>
            <a:r>
              <a:rPr lang="pt-BR" b="1" dirty="0"/>
              <a:t>Space Complexity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b="1" dirty="0"/>
              <a:t>O(1)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4139875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8504D48-C28B-1237-FB65-D2814A870F80}"/>
              </a:ext>
            </a:extLst>
          </p:cNvPr>
          <p:cNvSpPr txBox="1"/>
          <p:nvPr/>
        </p:nvSpPr>
        <p:spPr>
          <a:xfrm>
            <a:off x="186813" y="84704"/>
            <a:ext cx="11739716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1351. Count Negative Numbers in a Sorted Matrix</a:t>
            </a:r>
          </a:p>
          <a:p>
            <a:pPr>
              <a:buNone/>
            </a:pPr>
            <a:br>
              <a:rPr lang="en-US" dirty="0"/>
            </a:br>
            <a:r>
              <a:rPr lang="en-US" b="1" dirty="0"/>
              <a:t>Problem in Simple Words</a:t>
            </a:r>
          </a:p>
          <a:p>
            <a:pPr>
              <a:buNone/>
            </a:pPr>
            <a:r>
              <a:rPr lang="en-US" dirty="0"/>
              <a:t>You are given a matrix where: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Each row is sorted in </a:t>
            </a:r>
            <a:r>
              <a:rPr lang="en-US" b="1" dirty="0"/>
              <a:t>non-increasing order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Each column is also sorted in </a:t>
            </a:r>
            <a:r>
              <a:rPr lang="en-US" b="1" dirty="0"/>
              <a:t>non-increasing order</a:t>
            </a:r>
            <a:endParaRPr lang="en-US" dirty="0"/>
          </a:p>
          <a:p>
            <a:pPr>
              <a:buNone/>
            </a:pPr>
            <a:r>
              <a:rPr lang="en-US" dirty="0"/>
              <a:t>Non-increasing means:</a:t>
            </a:r>
          </a:p>
          <a:p>
            <a:pPr>
              <a:buNone/>
            </a:pPr>
            <a:r>
              <a:rPr lang="en-US" dirty="0"/>
              <a:t>	5 ≥ 3 ≥ 1 ≥ -1 ≥ -4</a:t>
            </a:r>
          </a:p>
          <a:p>
            <a:r>
              <a:rPr lang="en-US" dirty="0"/>
              <a:t>Your task:</a:t>
            </a:r>
            <a:br>
              <a:rPr lang="en-US" dirty="0"/>
            </a:br>
            <a:r>
              <a:rPr lang="en-US" dirty="0"/>
              <a:t>Count total number of </a:t>
            </a:r>
            <a:r>
              <a:rPr lang="en-US" b="1" dirty="0"/>
              <a:t>negative numbers</a:t>
            </a:r>
            <a:r>
              <a:rPr lang="en-US" dirty="0"/>
              <a:t> in the matrix.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Example</a:t>
            </a:r>
          </a:p>
          <a:p>
            <a:r>
              <a:rPr lang="en-US" b="1" dirty="0"/>
              <a:t>Input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[</a:t>
            </a:r>
          </a:p>
          <a:p>
            <a:pPr>
              <a:buNone/>
            </a:pPr>
            <a:r>
              <a:rPr lang="en-US" dirty="0"/>
              <a:t> [4, 3, 2, -1],</a:t>
            </a:r>
          </a:p>
          <a:p>
            <a:pPr>
              <a:buNone/>
            </a:pPr>
            <a:r>
              <a:rPr lang="en-US" dirty="0"/>
              <a:t> [3, 2, 1, -1],</a:t>
            </a:r>
          </a:p>
          <a:p>
            <a:pPr>
              <a:buNone/>
            </a:pPr>
            <a:r>
              <a:rPr lang="en-US" dirty="0"/>
              <a:t> [1, 1, -1, -2],</a:t>
            </a:r>
          </a:p>
          <a:p>
            <a:pPr>
              <a:buNone/>
            </a:pPr>
            <a:r>
              <a:rPr lang="en-US" dirty="0"/>
              <a:t> [-1, -1, -2, -3]</a:t>
            </a:r>
          </a:p>
          <a:p>
            <a:pPr>
              <a:buNone/>
            </a:pPr>
            <a:r>
              <a:rPr lang="en-US" dirty="0"/>
              <a:t>]</a:t>
            </a:r>
          </a:p>
          <a:p>
            <a:pPr>
              <a:buNone/>
            </a:pPr>
            <a:endParaRPr lang="en-US" dirty="0"/>
          </a:p>
          <a:p>
            <a:r>
              <a:rPr lang="en-IN" b="1" dirty="0"/>
              <a:t>Output</a:t>
            </a:r>
          </a:p>
          <a:p>
            <a:r>
              <a:rPr lang="en-IN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24694555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E4F79DA-6CE2-82C1-E6E0-3EDFD471AE8F}"/>
              </a:ext>
            </a:extLst>
          </p:cNvPr>
          <p:cNvSpPr txBox="1"/>
          <p:nvPr/>
        </p:nvSpPr>
        <p:spPr>
          <a:xfrm>
            <a:off x="235974" y="117987"/>
            <a:ext cx="8908026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APPROACH 1: Brute Force</a:t>
            </a:r>
          </a:p>
          <a:p>
            <a:pPr>
              <a:buNone/>
            </a:pPr>
            <a:br>
              <a:rPr lang="en-IN" dirty="0"/>
            </a:br>
            <a:r>
              <a:rPr lang="en-IN" b="1" dirty="0"/>
              <a:t>Idea</a:t>
            </a:r>
          </a:p>
          <a:p>
            <a:pPr>
              <a:buNone/>
            </a:pPr>
            <a:r>
              <a:rPr lang="en-IN" dirty="0"/>
              <a:t>Check every element.</a:t>
            </a:r>
            <a:br>
              <a:rPr lang="en-IN" dirty="0"/>
            </a:br>
            <a:r>
              <a:rPr lang="en-IN" dirty="0"/>
              <a:t>If element &lt; 0 → increase count.</a:t>
            </a:r>
          </a:p>
          <a:p>
            <a:pPr>
              <a:buNone/>
            </a:pPr>
            <a:br>
              <a:rPr lang="en-IN" dirty="0"/>
            </a:br>
            <a:r>
              <a:rPr lang="en-IN" b="1" dirty="0"/>
              <a:t>Logic</a:t>
            </a:r>
          </a:p>
          <a:p>
            <a:pPr>
              <a:buFont typeface="+mj-lt"/>
              <a:buAutoNum type="arabicPeriod"/>
            </a:pPr>
            <a:r>
              <a:rPr lang="en-IN" dirty="0"/>
              <a:t>Initialize </a:t>
            </a:r>
            <a:r>
              <a:rPr lang="en-IN" dirty="0">
                <a:latin typeface="Courier New" panose="02070309020205020404" pitchFamily="49" charset="0"/>
              </a:rPr>
              <a:t>count = 0</a:t>
            </a:r>
            <a:endParaRPr lang="en-IN" dirty="0"/>
          </a:p>
          <a:p>
            <a:pPr>
              <a:buFont typeface="+mj-lt"/>
              <a:buAutoNum type="arabicPeriod"/>
            </a:pPr>
            <a:r>
              <a:rPr lang="en-IN" dirty="0"/>
              <a:t>Traverse each row</a:t>
            </a:r>
          </a:p>
          <a:p>
            <a:pPr>
              <a:buFont typeface="+mj-lt"/>
              <a:buAutoNum type="arabicPeriod"/>
            </a:pPr>
            <a:r>
              <a:rPr lang="en-IN" dirty="0"/>
              <a:t>Traverse each column</a:t>
            </a:r>
          </a:p>
          <a:p>
            <a:pPr>
              <a:buFont typeface="+mj-lt"/>
              <a:buAutoNum type="arabicPeriod"/>
            </a:pPr>
            <a:r>
              <a:rPr lang="en-IN" dirty="0"/>
              <a:t>If element &lt; 0 → count++</a:t>
            </a:r>
          </a:p>
          <a:p>
            <a:pPr>
              <a:buNone/>
            </a:pPr>
            <a:br>
              <a:rPr lang="en-IN" dirty="0"/>
            </a:br>
            <a:r>
              <a:rPr lang="en-IN" b="1" dirty="0"/>
              <a:t>Pseudocode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count = 0</a:t>
            </a:r>
            <a:br>
              <a:rPr lang="en-IN" dirty="0">
                <a:latin typeface="Courier New" panose="02070309020205020404" pitchFamily="49" charset="0"/>
              </a:rPr>
            </a:b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for </a:t>
            </a:r>
            <a:r>
              <a:rPr lang="en-IN" dirty="0" err="1">
                <a:latin typeface="Courier New" panose="02070309020205020404" pitchFamily="49" charset="0"/>
              </a:rPr>
              <a:t>i</a:t>
            </a:r>
            <a:r>
              <a:rPr lang="en-IN" dirty="0">
                <a:latin typeface="Courier New" panose="02070309020205020404" pitchFamily="49" charset="0"/>
              </a:rPr>
              <a:t> = 0 to rows-1: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    for j = 0 to cols-1: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        if matrix[</a:t>
            </a:r>
            <a:r>
              <a:rPr lang="en-IN" dirty="0" err="1">
                <a:latin typeface="Courier New" panose="02070309020205020404" pitchFamily="49" charset="0"/>
              </a:rPr>
              <a:t>i</a:t>
            </a:r>
            <a:r>
              <a:rPr lang="en-IN" dirty="0">
                <a:latin typeface="Courier New" panose="02070309020205020404" pitchFamily="49" charset="0"/>
              </a:rPr>
              <a:t>][j] &lt; 0: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            count++</a:t>
            </a:r>
            <a:br>
              <a:rPr lang="en-IN" dirty="0">
                <a:latin typeface="Courier New" panose="02070309020205020404" pitchFamily="49" charset="0"/>
              </a:rPr>
            </a:b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return count</a:t>
            </a:r>
          </a:p>
          <a:p>
            <a:pPr>
              <a:buNone/>
            </a:pPr>
            <a:br>
              <a:rPr lang="en-IN" dirty="0"/>
            </a:br>
            <a:r>
              <a:rPr lang="en-IN" b="1" dirty="0"/>
              <a:t>Complexity</a:t>
            </a:r>
          </a:p>
        </p:txBody>
      </p:sp>
    </p:spTree>
    <p:extLst>
      <p:ext uri="{BB962C8B-B14F-4D97-AF65-F5344CB8AC3E}">
        <p14:creationId xmlns:p14="http://schemas.microsoft.com/office/powerpoint/2010/main" val="58807123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2CAE03B-C0B8-3CF0-63EC-A27F9C5CBC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0970596"/>
              </p:ext>
            </p:extLst>
          </p:nvPr>
        </p:nvGraphicFramePr>
        <p:xfrm>
          <a:off x="838200" y="158838"/>
          <a:ext cx="10515600" cy="10972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997460307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28115249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83638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O(m × 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38318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Space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O(1)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45484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9956510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5F753B8-7E2A-7554-5AF6-89F7C54F2ADE}"/>
              </a:ext>
            </a:extLst>
          </p:cNvPr>
          <p:cNvSpPr txBox="1"/>
          <p:nvPr/>
        </p:nvSpPr>
        <p:spPr>
          <a:xfrm>
            <a:off x="186813" y="98323"/>
            <a:ext cx="11818374" cy="6577780"/>
          </a:xfrm>
          <a:prstGeom prst="rect">
            <a:avLst/>
          </a:prstGeom>
          <a:noFill/>
        </p:spPr>
        <p:txBody>
          <a:bodyPr wrap="square" numCol="2">
            <a:spAutoFit/>
          </a:bodyPr>
          <a:lstStyle/>
          <a:p>
            <a:pPr>
              <a:buNone/>
            </a:pPr>
            <a:r>
              <a:rPr lang="en-US" b="1" dirty="0"/>
              <a:t>APPROACH 2: Binary Search on Each Row</a:t>
            </a:r>
          </a:p>
          <a:p>
            <a:pPr>
              <a:buNone/>
            </a:pPr>
            <a:br>
              <a:rPr lang="en-US" dirty="0"/>
            </a:br>
            <a:r>
              <a:rPr lang="en-US" b="1" dirty="0"/>
              <a:t>Why It Works?</a:t>
            </a:r>
          </a:p>
          <a:p>
            <a:pPr>
              <a:buNone/>
            </a:pPr>
            <a:r>
              <a:rPr lang="en-US" dirty="0"/>
              <a:t>Each row is sorted.</a:t>
            </a:r>
            <a:br>
              <a:rPr lang="en-US" dirty="0"/>
            </a:br>
            <a:r>
              <a:rPr lang="en-US" dirty="0"/>
              <a:t>So once we find first negative,</a:t>
            </a:r>
            <a:br>
              <a:rPr lang="en-US" dirty="0"/>
            </a:br>
            <a:r>
              <a:rPr lang="en-US" dirty="0"/>
              <a:t>all elements after that are negative.</a:t>
            </a:r>
          </a:p>
          <a:p>
            <a:pPr>
              <a:buNone/>
            </a:pPr>
            <a:br>
              <a:rPr lang="en-US" dirty="0"/>
            </a:br>
            <a:r>
              <a:rPr lang="en-US" b="1" dirty="0"/>
              <a:t>Logic</a:t>
            </a:r>
          </a:p>
          <a:p>
            <a:pPr>
              <a:buFont typeface="+mj-lt"/>
              <a:buAutoNum type="arabicPeriod"/>
            </a:pPr>
            <a:r>
              <a:rPr lang="en-US" dirty="0"/>
              <a:t>For each row: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Use binary search to find first negative index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Count = total columns - index</a:t>
            </a:r>
          </a:p>
          <a:p>
            <a:pPr>
              <a:buFont typeface="+mj-lt"/>
              <a:buAutoNum type="arabicPeriod"/>
            </a:pPr>
            <a:r>
              <a:rPr lang="en-US" dirty="0"/>
              <a:t>Add to total count</a:t>
            </a:r>
          </a:p>
          <a:p>
            <a:pPr>
              <a:buNone/>
            </a:pPr>
            <a:br>
              <a:rPr lang="en-US" dirty="0"/>
            </a:br>
            <a:r>
              <a:rPr lang="en-US" b="1" dirty="0"/>
              <a:t>Walkthrough (First Row)</a:t>
            </a:r>
          </a:p>
          <a:p>
            <a:pPr>
              <a:buNone/>
            </a:pPr>
            <a:r>
              <a:rPr lang="en-US" dirty="0"/>
              <a:t>Row: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[4, 3, 2, -1]</a:t>
            </a:r>
          </a:p>
          <a:p>
            <a:pPr>
              <a:buNone/>
            </a:pPr>
            <a:r>
              <a:rPr lang="en-US" dirty="0"/>
              <a:t>Binary search finds:</a:t>
            </a:r>
            <a:br>
              <a:rPr lang="en-US" dirty="0"/>
            </a:br>
            <a:r>
              <a:rPr lang="en-US" dirty="0"/>
              <a:t>First negative at index = 3</a:t>
            </a:r>
          </a:p>
          <a:p>
            <a:pPr>
              <a:buNone/>
            </a:pPr>
            <a:r>
              <a:rPr lang="en-US" dirty="0"/>
              <a:t>Negatives = 4 - 3 = 1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  <a:p>
            <a:pPr>
              <a:buNone/>
            </a:pPr>
            <a:endParaRPr lang="en-US" b="1" dirty="0"/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Pseudocode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count = 0</a:t>
            </a:r>
            <a:br>
              <a:rPr lang="en-US" dirty="0">
                <a:latin typeface="Courier New" panose="02070309020205020404" pitchFamily="49" charset="0"/>
              </a:rPr>
            </a:b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for each row in matrix: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    index = </a:t>
            </a:r>
            <a:r>
              <a:rPr lang="en-US" dirty="0" err="1">
                <a:latin typeface="Courier New" panose="02070309020205020404" pitchFamily="49" charset="0"/>
              </a:rPr>
              <a:t>binarySearchFirstNegative</a:t>
            </a:r>
            <a:r>
              <a:rPr lang="en-US" dirty="0">
                <a:latin typeface="Courier New" panose="02070309020205020404" pitchFamily="49" charset="0"/>
              </a:rPr>
              <a:t>(row)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    if index != -1: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        count = count + (cols - index)</a:t>
            </a:r>
            <a:br>
              <a:rPr lang="en-US" dirty="0">
                <a:latin typeface="Courier New" panose="02070309020205020404" pitchFamily="49" charset="0"/>
              </a:rPr>
            </a:b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return count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en-US" b="1" dirty="0"/>
              <a:t>Complexity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endParaRPr lang="en-US" b="1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0586B47-9A69-D9D6-D2DF-61C7FF758B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6468695"/>
              </p:ext>
            </p:extLst>
          </p:nvPr>
        </p:nvGraphicFramePr>
        <p:xfrm>
          <a:off x="5043948" y="4160578"/>
          <a:ext cx="7098892" cy="10972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549446">
                  <a:extLst>
                    <a:ext uri="{9D8B030D-6E8A-4147-A177-3AD203B41FA5}">
                      <a16:colId xmlns:a16="http://schemas.microsoft.com/office/drawing/2014/main" val="4253992361"/>
                    </a:ext>
                  </a:extLst>
                </a:gridCol>
                <a:gridCol w="3549446">
                  <a:extLst>
                    <a:ext uri="{9D8B030D-6E8A-4147-A177-3AD203B41FA5}">
                      <a16:colId xmlns:a16="http://schemas.microsoft.com/office/drawing/2014/main" val="63173756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983410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O(m log 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943202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Space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O(1)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06441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727325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A6DBAD9-283A-D335-02CC-EAE010A0A491}"/>
              </a:ext>
            </a:extLst>
          </p:cNvPr>
          <p:cNvSpPr txBox="1"/>
          <p:nvPr/>
        </p:nvSpPr>
        <p:spPr>
          <a:xfrm>
            <a:off x="235974" y="176981"/>
            <a:ext cx="11572568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APPROACH 3: Optimal — Start from Top Right </a:t>
            </a:r>
          </a:p>
          <a:p>
            <a:pPr>
              <a:buNone/>
            </a:pPr>
            <a:br>
              <a:rPr lang="en-US" dirty="0"/>
            </a:br>
            <a:r>
              <a:rPr lang="en-US" b="1" dirty="0"/>
              <a:t>Key Observation</a:t>
            </a:r>
          </a:p>
          <a:p>
            <a:pPr>
              <a:buNone/>
            </a:pPr>
            <a:r>
              <a:rPr lang="en-US" dirty="0"/>
              <a:t>Matrix is sorted: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Left → bigger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Down → smaller</a:t>
            </a:r>
          </a:p>
          <a:p>
            <a:pPr>
              <a:buNone/>
            </a:pPr>
            <a:r>
              <a:rPr lang="en-US" dirty="0"/>
              <a:t>Start from </a:t>
            </a:r>
            <a:r>
              <a:rPr lang="en-US" b="1" dirty="0"/>
              <a:t>top-right corner</a:t>
            </a:r>
            <a:endParaRPr lang="en-US" dirty="0"/>
          </a:p>
          <a:p>
            <a:pPr>
              <a:buNone/>
            </a:pPr>
            <a:br>
              <a:rPr lang="en-US" dirty="0"/>
            </a:br>
            <a:r>
              <a:rPr lang="en-US" b="1" dirty="0"/>
              <a:t>Strategy</a:t>
            </a:r>
          </a:p>
          <a:p>
            <a:pPr>
              <a:buNone/>
            </a:pPr>
            <a:r>
              <a:rPr lang="en-US" dirty="0"/>
              <a:t>If current element &lt; 0: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All elements below are also negative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Add </a:t>
            </a:r>
            <a:r>
              <a:rPr lang="en-US" dirty="0">
                <a:latin typeface="Courier New" panose="02070309020205020404" pitchFamily="49" charset="0"/>
              </a:rPr>
              <a:t>(rows - </a:t>
            </a:r>
            <a:r>
              <a:rPr lang="en-US" dirty="0" err="1">
                <a:latin typeface="Courier New" panose="02070309020205020404" pitchFamily="49" charset="0"/>
              </a:rPr>
              <a:t>current_row</a:t>
            </a:r>
            <a:r>
              <a:rPr lang="en-US" dirty="0">
                <a:latin typeface="Courier New" panose="02070309020205020404" pitchFamily="49" charset="0"/>
              </a:rPr>
              <a:t>)</a:t>
            </a:r>
            <a:r>
              <a:rPr lang="en-US" dirty="0"/>
              <a:t> to count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Move left</a:t>
            </a:r>
          </a:p>
          <a:p>
            <a:pPr>
              <a:buNone/>
            </a:pPr>
            <a:r>
              <a:rPr lang="en-US" dirty="0"/>
              <a:t>If current element ≥ 0: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Move down</a:t>
            </a:r>
          </a:p>
          <a:p>
            <a:pPr>
              <a:buNone/>
            </a:pPr>
            <a:br>
              <a:rPr lang="en-US" dirty="0"/>
            </a:br>
            <a:r>
              <a:rPr lang="en-US" b="1" dirty="0"/>
              <a:t>Walkthrough</a:t>
            </a:r>
          </a:p>
          <a:p>
            <a:pPr>
              <a:buNone/>
            </a:pPr>
            <a:r>
              <a:rPr lang="en-US" dirty="0"/>
              <a:t>Matrix: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4   3   2  -1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 3   2   1  -1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 1   1  -1  -2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-1  -1  -2  -3</a:t>
            </a:r>
          </a:p>
          <a:p>
            <a:pPr>
              <a:buNone/>
            </a:pPr>
            <a:r>
              <a:rPr lang="en-US" dirty="0"/>
              <a:t>Start at top-right (0,3) → -1</a:t>
            </a:r>
          </a:p>
        </p:txBody>
      </p:sp>
    </p:spTree>
    <p:extLst>
      <p:ext uri="{BB962C8B-B14F-4D97-AF65-F5344CB8AC3E}">
        <p14:creationId xmlns:p14="http://schemas.microsoft.com/office/powerpoint/2010/main" val="294931530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9E95814-8D74-88E1-0424-B2CCBD0A03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0228970"/>
              </p:ext>
            </p:extLst>
          </p:nvPr>
        </p:nvGraphicFramePr>
        <p:xfrm>
          <a:off x="356420" y="247338"/>
          <a:ext cx="10515600" cy="29260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4224017349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24590583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476664537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330615279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419846694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Step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Position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Value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Count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284978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(0,3)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-1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Add 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22747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(0,2)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Move Down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95196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(1,2)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Move Down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77448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(2,2)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-1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Add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399605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(2,1)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Move Down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38069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(3,1)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-1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Add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42223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(3,0)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-1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Add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2666049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38D456AA-13D7-7494-5CB5-F71A4C7AFE6D}"/>
              </a:ext>
            </a:extLst>
          </p:cNvPr>
          <p:cNvSpPr txBox="1"/>
          <p:nvPr/>
        </p:nvSpPr>
        <p:spPr>
          <a:xfrm>
            <a:off x="356420" y="336760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Final count = 8 </a:t>
            </a:r>
          </a:p>
        </p:txBody>
      </p:sp>
    </p:spTree>
    <p:extLst>
      <p:ext uri="{BB962C8B-B14F-4D97-AF65-F5344CB8AC3E}">
        <p14:creationId xmlns:p14="http://schemas.microsoft.com/office/powerpoint/2010/main" val="340513795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A54E15D-3ECB-BD87-3771-03105301057A}"/>
              </a:ext>
            </a:extLst>
          </p:cNvPr>
          <p:cNvSpPr txBox="1"/>
          <p:nvPr/>
        </p:nvSpPr>
        <p:spPr>
          <a:xfrm>
            <a:off x="285136" y="106568"/>
            <a:ext cx="609600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Optimal Pseudocode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rows = </a:t>
            </a:r>
            <a:r>
              <a:rPr lang="en-US" dirty="0" err="1">
                <a:latin typeface="Courier New" panose="02070309020205020404" pitchFamily="49" charset="0"/>
              </a:rPr>
              <a:t>matrix.size</a:t>
            </a:r>
            <a:r>
              <a:rPr lang="en-US" dirty="0">
                <a:latin typeface="Courier New" panose="02070309020205020404" pitchFamily="49" charset="0"/>
              </a:rPr>
              <a:t>()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cols = matrix[0].size()</a:t>
            </a:r>
            <a:br>
              <a:rPr lang="en-US" dirty="0">
                <a:latin typeface="Courier New" panose="02070309020205020404" pitchFamily="49" charset="0"/>
              </a:rPr>
            </a:b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row = 0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col = cols - 1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count = 0</a:t>
            </a:r>
            <a:br>
              <a:rPr lang="en-US" dirty="0">
                <a:latin typeface="Courier New" panose="02070309020205020404" pitchFamily="49" charset="0"/>
              </a:rPr>
            </a:b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while row &lt; rows and col &gt;= 0:</a:t>
            </a:r>
            <a:br>
              <a:rPr lang="en-US" dirty="0">
                <a:latin typeface="Courier New" panose="02070309020205020404" pitchFamily="49" charset="0"/>
              </a:rPr>
            </a:b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    if matrix[row][col] &lt; 0: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        count = count + (rows - row)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        col--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    else: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        row++</a:t>
            </a:r>
            <a:br>
              <a:rPr lang="en-US" dirty="0">
                <a:latin typeface="Courier New" panose="02070309020205020404" pitchFamily="49" charset="0"/>
              </a:rPr>
            </a:b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return count</a:t>
            </a:r>
          </a:p>
        </p:txBody>
      </p:sp>
    </p:spTree>
    <p:extLst>
      <p:ext uri="{BB962C8B-B14F-4D97-AF65-F5344CB8AC3E}">
        <p14:creationId xmlns:p14="http://schemas.microsoft.com/office/powerpoint/2010/main" val="338336664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2BE2E54-5A47-0547-6911-C8BE70B9D856}"/>
              </a:ext>
            </a:extLst>
          </p:cNvPr>
          <p:cNvSpPr txBox="1"/>
          <p:nvPr/>
        </p:nvSpPr>
        <p:spPr>
          <a:xfrm>
            <a:off x="117988" y="10047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Complexity (Optimal)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EC946EB-8BD1-69D8-F343-1913D7EFE0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7366108"/>
              </p:ext>
            </p:extLst>
          </p:nvPr>
        </p:nvGraphicFramePr>
        <p:xfrm>
          <a:off x="572729" y="640628"/>
          <a:ext cx="10515600" cy="10972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4243863986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08961819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381600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O(m + 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611545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Space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O(1)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33974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311237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42FA363-4728-F3E3-F1F9-E5468B708044}"/>
              </a:ext>
            </a:extLst>
          </p:cNvPr>
          <p:cNvSpPr txBox="1"/>
          <p:nvPr/>
        </p:nvSpPr>
        <p:spPr>
          <a:xfrm>
            <a:off x="255639" y="267618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0" i="0" dirty="0">
                <a:effectLst/>
                <a:latin typeface="Arial" panose="020B0604020202020204" pitchFamily="34" charset="0"/>
              </a:rPr>
              <a:t>1582. Special Positions in a Binary Matrix</a:t>
            </a:r>
            <a:endParaRPr lang="en-IN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F3BEAF-C89C-02FD-0EC7-A07D095064D6}"/>
              </a:ext>
            </a:extLst>
          </p:cNvPr>
          <p:cNvSpPr txBox="1"/>
          <p:nvPr/>
        </p:nvSpPr>
        <p:spPr>
          <a:xfrm>
            <a:off x="255639" y="610881"/>
            <a:ext cx="11326761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Problem in Simple Words</a:t>
            </a:r>
          </a:p>
          <a:p>
            <a:pPr>
              <a:buNone/>
            </a:pPr>
            <a:r>
              <a:rPr lang="en-US" dirty="0"/>
              <a:t>You are given a </a:t>
            </a:r>
            <a:r>
              <a:rPr lang="en-US" b="1" dirty="0"/>
              <a:t>binary matrix</a:t>
            </a:r>
            <a:r>
              <a:rPr lang="en-US" dirty="0"/>
              <a:t> (only 0s and 1s).</a:t>
            </a:r>
          </a:p>
          <a:p>
            <a:pPr>
              <a:buNone/>
            </a:pPr>
            <a:r>
              <a:rPr lang="en-US" dirty="0"/>
              <a:t>A position </a:t>
            </a:r>
            <a:r>
              <a:rPr lang="en-US" dirty="0">
                <a:latin typeface="Courier New" panose="02070309020205020404" pitchFamily="49" charset="0"/>
              </a:rPr>
              <a:t>(</a:t>
            </a:r>
            <a:r>
              <a:rPr lang="en-US" dirty="0" err="1">
                <a:latin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</a:rPr>
              <a:t>, j)</a:t>
            </a:r>
            <a:r>
              <a:rPr lang="en-US" dirty="0"/>
              <a:t> is called </a:t>
            </a:r>
            <a:r>
              <a:rPr lang="en-US" b="1" dirty="0"/>
              <a:t>special</a:t>
            </a:r>
            <a:r>
              <a:rPr lang="en-US" dirty="0"/>
              <a:t> if: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ourier New" panose="02070309020205020404" pitchFamily="49" charset="0"/>
              </a:rPr>
              <a:t>matrix[</a:t>
            </a:r>
            <a:r>
              <a:rPr lang="en-US" dirty="0" err="1">
                <a:latin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</a:rPr>
              <a:t>][j] == 1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All other elements in row </a:t>
            </a:r>
            <a:r>
              <a:rPr lang="en-US" dirty="0" err="1">
                <a:latin typeface="Courier New" panose="02070309020205020404" pitchFamily="49" charset="0"/>
              </a:rPr>
              <a:t>i</a:t>
            </a:r>
            <a:r>
              <a:rPr lang="en-US" dirty="0"/>
              <a:t> are </a:t>
            </a:r>
            <a:r>
              <a:rPr lang="en-US" dirty="0">
                <a:latin typeface="Courier New" panose="02070309020205020404" pitchFamily="49" charset="0"/>
              </a:rPr>
              <a:t>0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All other elements in column </a:t>
            </a:r>
            <a:r>
              <a:rPr lang="en-US" dirty="0">
                <a:latin typeface="Courier New" panose="02070309020205020404" pitchFamily="49" charset="0"/>
              </a:rPr>
              <a:t>j</a:t>
            </a:r>
            <a:r>
              <a:rPr lang="en-US" dirty="0"/>
              <a:t> are </a:t>
            </a:r>
            <a:r>
              <a:rPr lang="en-US" dirty="0">
                <a:latin typeface="Courier New" panose="02070309020205020404" pitchFamily="49" charset="0"/>
              </a:rPr>
              <a:t>0</a:t>
            </a: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That means:</a:t>
            </a:r>
            <a:br>
              <a:rPr lang="en-US" dirty="0"/>
            </a:br>
            <a:r>
              <a:rPr lang="en-US" dirty="0"/>
              <a:t>There must be </a:t>
            </a:r>
            <a:r>
              <a:rPr lang="en-US" b="1" dirty="0"/>
              <a:t>exactly one 1 in that row and exactly one 1 in that column</a:t>
            </a:r>
            <a:r>
              <a:rPr lang="en-US" dirty="0"/>
              <a:t>.</a:t>
            </a:r>
          </a:p>
          <a:p>
            <a:pPr>
              <a:buNone/>
            </a:pPr>
            <a:r>
              <a:rPr lang="en-US" dirty="0"/>
              <a:t>Return the total number of such special positions.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en-US" b="1" dirty="0"/>
              <a:t>Example</a:t>
            </a:r>
          </a:p>
          <a:p>
            <a:pPr>
              <a:buNone/>
            </a:pPr>
            <a:r>
              <a:rPr lang="en-US" b="1" dirty="0"/>
              <a:t>Input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matrix =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[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 [1,0,0],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 [0,0,1],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 [1,0,0]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]</a:t>
            </a:r>
          </a:p>
          <a:p>
            <a:pPr>
              <a:buNone/>
            </a:pPr>
            <a:r>
              <a:rPr lang="en-US" b="1" dirty="0"/>
              <a:t>Output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56074658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A32ED70-3F40-F6DF-6AF5-FD5EFF755B94}"/>
              </a:ext>
            </a:extLst>
          </p:cNvPr>
          <p:cNvSpPr txBox="1"/>
          <p:nvPr/>
        </p:nvSpPr>
        <p:spPr>
          <a:xfrm>
            <a:off x="560438" y="185569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Explanation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(0,0) → Column 0 has another 1 → 	not special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(1,2) → Only 1 in row 1 and column 2 →  special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(2,0) → Column 0 has another 1 → not special</a:t>
            </a:r>
          </a:p>
          <a:p>
            <a:pPr>
              <a:buNone/>
            </a:pPr>
            <a:r>
              <a:rPr lang="en-US" dirty="0"/>
              <a:t>Answer = </a:t>
            </a:r>
            <a:r>
              <a:rPr lang="en-US" b="1" dirty="0"/>
              <a:t>1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36F394-7B67-91CD-E070-B65C6ECDF7E9}"/>
              </a:ext>
            </a:extLst>
          </p:cNvPr>
          <p:cNvSpPr txBox="1"/>
          <p:nvPr/>
        </p:nvSpPr>
        <p:spPr>
          <a:xfrm>
            <a:off x="560438" y="1857559"/>
            <a:ext cx="60960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APPROACH 1: Brute Force</a:t>
            </a:r>
          </a:p>
          <a:p>
            <a:pPr>
              <a:buNone/>
            </a:pPr>
            <a:br>
              <a:rPr lang="en-US" dirty="0"/>
            </a:br>
            <a:r>
              <a:rPr lang="en-US" b="1" dirty="0"/>
              <a:t>Idea</a:t>
            </a:r>
          </a:p>
          <a:p>
            <a:pPr>
              <a:buNone/>
            </a:pPr>
            <a:r>
              <a:rPr lang="en-US" dirty="0"/>
              <a:t>For every cell that is 1: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Check entire row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Check entire column</a:t>
            </a:r>
          </a:p>
          <a:p>
            <a:pPr>
              <a:buNone/>
            </a:pPr>
            <a:br>
              <a:rPr lang="en-US" dirty="0"/>
            </a:br>
            <a:r>
              <a:rPr lang="en-US" b="1" dirty="0"/>
              <a:t>Logic</a:t>
            </a:r>
          </a:p>
          <a:p>
            <a:pPr>
              <a:buFont typeface="+mj-lt"/>
              <a:buAutoNum type="arabicPeriod"/>
            </a:pPr>
            <a:r>
              <a:rPr lang="en-US" dirty="0"/>
              <a:t>Initialize </a:t>
            </a:r>
            <a:r>
              <a:rPr lang="en-US" dirty="0">
                <a:latin typeface="Courier New" panose="02070309020205020404" pitchFamily="49" charset="0"/>
              </a:rPr>
              <a:t>count = 0</a:t>
            </a:r>
            <a:endParaRPr lang="en-US" dirty="0"/>
          </a:p>
          <a:p>
            <a:pPr>
              <a:buFont typeface="+mj-lt"/>
              <a:buAutoNum type="arabicPeriod"/>
            </a:pPr>
            <a:r>
              <a:rPr lang="en-US" dirty="0"/>
              <a:t>Traverse each cell</a:t>
            </a:r>
          </a:p>
          <a:p>
            <a:pPr>
              <a:buFont typeface="+mj-lt"/>
              <a:buAutoNum type="arabicPeriod"/>
            </a:pPr>
            <a:r>
              <a:rPr lang="en-US" dirty="0"/>
              <a:t>If cell == 1: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Count number of 1s in that row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Count number of 1s in that column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If both counts == 1 → increase answer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3DD408-F9F1-6D3E-0DC4-1CBF7083EF2B}"/>
              </a:ext>
            </a:extLst>
          </p:cNvPr>
          <p:cNvSpPr txBox="1"/>
          <p:nvPr/>
        </p:nvSpPr>
        <p:spPr>
          <a:xfrm>
            <a:off x="5329084" y="1166842"/>
            <a:ext cx="6784258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Pseudocode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count = 0</a:t>
            </a:r>
            <a:br>
              <a:rPr lang="en-US" dirty="0">
                <a:latin typeface="Courier New" panose="02070309020205020404" pitchFamily="49" charset="0"/>
              </a:rPr>
            </a:b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for </a:t>
            </a:r>
            <a:r>
              <a:rPr lang="en-US" dirty="0" err="1">
                <a:latin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</a:rPr>
              <a:t> = 0 to rows-1: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    for j = 0 to cols-1: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        if matrix[</a:t>
            </a:r>
            <a:r>
              <a:rPr lang="en-US" dirty="0" err="1">
                <a:latin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</a:rPr>
              <a:t>][j] == 1:</a:t>
            </a:r>
            <a:br>
              <a:rPr lang="en-US" dirty="0">
                <a:latin typeface="Courier New" panose="02070309020205020404" pitchFamily="49" charset="0"/>
              </a:rPr>
            </a:b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            </a:t>
            </a:r>
            <a:r>
              <a:rPr lang="en-US" dirty="0" err="1">
                <a:latin typeface="Courier New" panose="02070309020205020404" pitchFamily="49" charset="0"/>
              </a:rPr>
              <a:t>rowCount</a:t>
            </a:r>
            <a:r>
              <a:rPr lang="en-US" dirty="0">
                <a:latin typeface="Courier New" panose="02070309020205020404" pitchFamily="49" charset="0"/>
              </a:rPr>
              <a:t> = count of 1s in row </a:t>
            </a:r>
            <a:r>
              <a:rPr lang="en-US" dirty="0" err="1">
                <a:latin typeface="Courier New" panose="02070309020205020404" pitchFamily="49" charset="0"/>
              </a:rPr>
              <a:t>i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            </a:t>
            </a:r>
            <a:r>
              <a:rPr lang="en-US" dirty="0" err="1">
                <a:latin typeface="Courier New" panose="02070309020205020404" pitchFamily="49" charset="0"/>
              </a:rPr>
              <a:t>colCount</a:t>
            </a:r>
            <a:r>
              <a:rPr lang="en-US" dirty="0">
                <a:latin typeface="Courier New" panose="02070309020205020404" pitchFamily="49" charset="0"/>
              </a:rPr>
              <a:t> = count of 1s in column j</a:t>
            </a:r>
            <a:br>
              <a:rPr lang="en-US" dirty="0">
                <a:latin typeface="Courier New" panose="02070309020205020404" pitchFamily="49" charset="0"/>
              </a:rPr>
            </a:b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            if </a:t>
            </a:r>
            <a:r>
              <a:rPr lang="en-US" dirty="0" err="1">
                <a:latin typeface="Courier New" panose="02070309020205020404" pitchFamily="49" charset="0"/>
              </a:rPr>
              <a:t>rowCount</a:t>
            </a:r>
            <a:r>
              <a:rPr lang="en-US" dirty="0">
                <a:latin typeface="Courier New" panose="02070309020205020404" pitchFamily="49" charset="0"/>
              </a:rPr>
              <a:t> == 1 and </a:t>
            </a:r>
            <a:r>
              <a:rPr lang="en-US" dirty="0" err="1">
                <a:latin typeface="Courier New" panose="02070309020205020404" pitchFamily="49" charset="0"/>
              </a:rPr>
              <a:t>colCount</a:t>
            </a:r>
            <a:r>
              <a:rPr lang="en-US" dirty="0">
                <a:latin typeface="Courier New" panose="02070309020205020404" pitchFamily="49" charset="0"/>
              </a:rPr>
              <a:t> == 1: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                count++</a:t>
            </a:r>
            <a:br>
              <a:rPr lang="en-US" dirty="0">
                <a:latin typeface="Courier New" panose="02070309020205020404" pitchFamily="49" charset="0"/>
              </a:rPr>
            </a:b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return count</a:t>
            </a:r>
          </a:p>
        </p:txBody>
      </p:sp>
    </p:spTree>
    <p:extLst>
      <p:ext uri="{BB962C8B-B14F-4D97-AF65-F5344CB8AC3E}">
        <p14:creationId xmlns:p14="http://schemas.microsoft.com/office/powerpoint/2010/main" val="412501064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177830D-5876-8014-813E-4A003E0CDBE2}"/>
              </a:ext>
            </a:extLst>
          </p:cNvPr>
          <p:cNvSpPr txBox="1"/>
          <p:nvPr/>
        </p:nvSpPr>
        <p:spPr>
          <a:xfrm>
            <a:off x="442451" y="28728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Complexity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7CEB176-653A-9643-7101-2FB92CAD72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2174382"/>
              </p:ext>
            </p:extLst>
          </p:nvPr>
        </p:nvGraphicFramePr>
        <p:xfrm>
          <a:off x="336755" y="656614"/>
          <a:ext cx="10515600" cy="10972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774483438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23933893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281801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/>
                        <a:t>O(m × n × (m + n))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028745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Space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O(1)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58158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6672937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E63FCB2-AD26-1B09-3240-A887F9EE98C1}"/>
              </a:ext>
            </a:extLst>
          </p:cNvPr>
          <p:cNvSpPr txBox="1"/>
          <p:nvPr/>
        </p:nvSpPr>
        <p:spPr>
          <a:xfrm>
            <a:off x="155865" y="197427"/>
            <a:ext cx="11814462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APPROACH 2: </a:t>
            </a:r>
            <a:r>
              <a:rPr lang="en-IN" b="1" dirty="0"/>
              <a:t>Row Validation + Column Check </a:t>
            </a:r>
            <a:endParaRPr lang="en-US" b="1" dirty="0"/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Key Idea </a:t>
            </a:r>
          </a:p>
          <a:p>
            <a:pPr>
              <a:buNone/>
            </a:pPr>
            <a:r>
              <a:rPr lang="en-US" dirty="0"/>
              <a:t>Instead of: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Checking every row &amp; column repeatedly </a:t>
            </a:r>
          </a:p>
          <a:p>
            <a:pPr>
              <a:buNone/>
            </a:pPr>
            <a:r>
              <a:rPr lang="en-US" dirty="0"/>
              <a:t>We: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Count 1s in each row</a:t>
            </a:r>
            <a:endParaRPr lang="en-US" dirty="0"/>
          </a:p>
          <a:p>
            <a:pPr>
              <a:buFont typeface="+mj-lt"/>
              <a:buAutoNum type="arabicPeriod"/>
            </a:pPr>
            <a:r>
              <a:rPr lang="en-US" dirty="0"/>
              <a:t>Only process rows where </a:t>
            </a:r>
            <a:r>
              <a:rPr lang="en-US" b="1" dirty="0" err="1"/>
              <a:t>rowCount</a:t>
            </a:r>
            <a:r>
              <a:rPr lang="en-US" b="1" dirty="0"/>
              <a:t> == 1</a:t>
            </a:r>
            <a:endParaRPr lang="en-US" dirty="0"/>
          </a:p>
          <a:p>
            <a:pPr>
              <a:buFont typeface="+mj-lt"/>
              <a:buAutoNum type="arabicPeriod"/>
            </a:pPr>
            <a:r>
              <a:rPr lang="en-US" dirty="0"/>
              <a:t>Then check column for that position</a:t>
            </a:r>
          </a:p>
          <a:p>
            <a:pPr>
              <a:buNone/>
            </a:pPr>
            <a:r>
              <a:rPr lang="en-US" dirty="0"/>
              <a:t>This reduces unnecessary checks.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Logic (Text Form)</a:t>
            </a:r>
          </a:p>
          <a:p>
            <a:pPr>
              <a:buFont typeface="+mj-lt"/>
              <a:buAutoNum type="arabicPeriod"/>
            </a:pPr>
            <a:r>
              <a:rPr lang="en-US" dirty="0"/>
              <a:t>Create </a:t>
            </a:r>
            <a:r>
              <a:rPr lang="en-US" dirty="0" err="1">
                <a:latin typeface="Courier New" panose="02070309020205020404" pitchFamily="49" charset="0"/>
              </a:rPr>
              <a:t>rowCount</a:t>
            </a:r>
            <a:r>
              <a:rPr lang="en-US" dirty="0">
                <a:latin typeface="Courier New" panose="02070309020205020404" pitchFamily="49" charset="0"/>
              </a:rPr>
              <a:t>[]</a:t>
            </a:r>
            <a:r>
              <a:rPr lang="en-US" dirty="0"/>
              <a:t> and </a:t>
            </a:r>
            <a:r>
              <a:rPr lang="en-US" dirty="0" err="1">
                <a:latin typeface="Courier New" panose="02070309020205020404" pitchFamily="49" charset="0"/>
              </a:rPr>
              <a:t>colCount</a:t>
            </a:r>
            <a:r>
              <a:rPr lang="en-US" dirty="0">
                <a:latin typeface="Courier New" panose="02070309020205020404" pitchFamily="49" charset="0"/>
              </a:rPr>
              <a:t>[]</a:t>
            </a:r>
            <a:endParaRPr lang="en-US" dirty="0"/>
          </a:p>
          <a:p>
            <a:pPr>
              <a:buFont typeface="+mj-lt"/>
              <a:buAutoNum type="arabicPeriod"/>
            </a:pPr>
            <a:r>
              <a:rPr lang="en-US" dirty="0"/>
              <a:t>Traverse matrix once: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Count number of 1s in each row and column</a:t>
            </a:r>
          </a:p>
          <a:p>
            <a:pPr>
              <a:buFont typeface="+mj-lt"/>
              <a:buAutoNum type="arabicPeriod"/>
            </a:pPr>
            <a:r>
              <a:rPr lang="en-US" dirty="0"/>
              <a:t>Traverse again: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If </a:t>
            </a:r>
            <a:r>
              <a:rPr lang="en-US" dirty="0">
                <a:latin typeface="Courier New" panose="02070309020205020404" pitchFamily="49" charset="0"/>
              </a:rPr>
              <a:t>matrix[</a:t>
            </a:r>
            <a:r>
              <a:rPr lang="en-US" dirty="0" err="1">
                <a:latin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</a:rPr>
              <a:t>][j] == 1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AND </a:t>
            </a:r>
            <a:r>
              <a:rPr lang="en-US" dirty="0" err="1">
                <a:latin typeface="Courier New" panose="02070309020205020404" pitchFamily="49" charset="0"/>
              </a:rPr>
              <a:t>rowCount</a:t>
            </a:r>
            <a:r>
              <a:rPr lang="en-US" dirty="0">
                <a:latin typeface="Courier New" panose="02070309020205020404" pitchFamily="49" charset="0"/>
              </a:rPr>
              <a:t>[</a:t>
            </a:r>
            <a:r>
              <a:rPr lang="en-US" dirty="0" err="1">
                <a:latin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</a:rPr>
              <a:t>] == 1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AND </a:t>
            </a:r>
            <a:r>
              <a:rPr lang="en-US" dirty="0" err="1">
                <a:latin typeface="Courier New" panose="02070309020205020404" pitchFamily="49" charset="0"/>
              </a:rPr>
              <a:t>colCount</a:t>
            </a:r>
            <a:r>
              <a:rPr lang="en-US" dirty="0">
                <a:latin typeface="Courier New" panose="02070309020205020404" pitchFamily="49" charset="0"/>
              </a:rPr>
              <a:t>[j] == 1</a:t>
            </a:r>
            <a:br>
              <a:rPr lang="en-US" dirty="0"/>
            </a:br>
            <a:r>
              <a:rPr lang="en-US" dirty="0"/>
              <a:t>→ increment answer</a:t>
            </a:r>
          </a:p>
        </p:txBody>
      </p:sp>
    </p:spTree>
    <p:extLst>
      <p:ext uri="{BB962C8B-B14F-4D97-AF65-F5344CB8AC3E}">
        <p14:creationId xmlns:p14="http://schemas.microsoft.com/office/powerpoint/2010/main" val="45594685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E2370C2-4A88-2FA4-6952-5D57D9041812}"/>
              </a:ext>
            </a:extLst>
          </p:cNvPr>
          <p:cNvSpPr txBox="1"/>
          <p:nvPr/>
        </p:nvSpPr>
        <p:spPr>
          <a:xfrm>
            <a:off x="106506" y="161928"/>
            <a:ext cx="609426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Walkthrough</a:t>
            </a:r>
          </a:p>
          <a:p>
            <a:pPr>
              <a:buNone/>
            </a:pPr>
            <a:r>
              <a:rPr lang="en-US" dirty="0"/>
              <a:t>Matrix: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[1,0,0]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[0,0,1]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[1,0,0]</a:t>
            </a:r>
          </a:p>
          <a:p>
            <a:pPr>
              <a:buNone/>
            </a:pPr>
            <a:r>
              <a:rPr lang="en-US" b="1" dirty="0"/>
              <a:t>Step 1: Count arrays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E29F77A-6262-B412-F035-10BD13C0B7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1640631"/>
              </p:ext>
            </p:extLst>
          </p:nvPr>
        </p:nvGraphicFramePr>
        <p:xfrm>
          <a:off x="443346" y="1965960"/>
          <a:ext cx="10515600" cy="14630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638024705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0829831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Row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 err="1"/>
                        <a:t>rowCount</a:t>
                      </a:r>
                      <a:endParaRPr lang="en-IN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65551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652392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957096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0575744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FE6D4D9-76B1-6B00-DDF9-A2D089D2EC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6790132"/>
              </p:ext>
            </p:extLst>
          </p:nvPr>
        </p:nvGraphicFramePr>
        <p:xfrm>
          <a:off x="443346" y="3965965"/>
          <a:ext cx="10515600" cy="14630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120069477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96974486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Col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 err="1"/>
                        <a:t>colCount</a:t>
                      </a:r>
                      <a:endParaRPr lang="en-IN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729373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60979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022435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73031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7719956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EB1A775-6342-5F0F-A020-C25B36642DED}"/>
              </a:ext>
            </a:extLst>
          </p:cNvPr>
          <p:cNvSpPr txBox="1"/>
          <p:nvPr/>
        </p:nvSpPr>
        <p:spPr>
          <a:xfrm>
            <a:off x="179243" y="189406"/>
            <a:ext cx="60942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Step 2: Process only valid rows</a:t>
            </a: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CA8C327-D8A2-25EC-339C-1373BF1771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9869182"/>
              </p:ext>
            </p:extLst>
          </p:nvPr>
        </p:nvGraphicFramePr>
        <p:xfrm>
          <a:off x="568037" y="734392"/>
          <a:ext cx="10515600" cy="14630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162325727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985712529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66365031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Row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Condition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Action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3956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rowCount=1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check col → </a:t>
                      </a:r>
                      <a:r>
                        <a:rPr lang="en-IN" dirty="0" err="1"/>
                        <a:t>colCount</a:t>
                      </a:r>
                      <a:r>
                        <a:rPr lang="en-IN" dirty="0"/>
                        <a:t>=2 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968671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rowCount=1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colCount=1 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030104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rowCount=1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 err="1"/>
                        <a:t>colCount</a:t>
                      </a:r>
                      <a:r>
                        <a:rPr lang="en-IN" dirty="0"/>
                        <a:t>=2 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981177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8C8B7FA1-B0B2-7876-FA2C-85047F3BC4C6}"/>
              </a:ext>
            </a:extLst>
          </p:cNvPr>
          <p:cNvSpPr txBox="1"/>
          <p:nvPr/>
        </p:nvSpPr>
        <p:spPr>
          <a:xfrm>
            <a:off x="262371" y="2475406"/>
            <a:ext cx="60942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Answer = 1</a:t>
            </a:r>
          </a:p>
        </p:txBody>
      </p:sp>
    </p:spTree>
    <p:extLst>
      <p:ext uri="{BB962C8B-B14F-4D97-AF65-F5344CB8AC3E}">
        <p14:creationId xmlns:p14="http://schemas.microsoft.com/office/powerpoint/2010/main" val="77717504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9D3D962-A7AA-42A6-8F8C-7E8D368E5878}"/>
              </a:ext>
            </a:extLst>
          </p:cNvPr>
          <p:cNvSpPr txBox="1"/>
          <p:nvPr/>
        </p:nvSpPr>
        <p:spPr>
          <a:xfrm>
            <a:off x="3047134" y="197346"/>
            <a:ext cx="6094268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Optimal Pseudocode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rows = </a:t>
            </a:r>
            <a:r>
              <a:rPr lang="en-IN" dirty="0" err="1">
                <a:latin typeface="Courier New" panose="02070309020205020404" pitchFamily="49" charset="0"/>
              </a:rPr>
              <a:t>matrix.size</a:t>
            </a:r>
            <a:r>
              <a:rPr lang="en-IN" dirty="0">
                <a:latin typeface="Courier New" panose="02070309020205020404" pitchFamily="49" charset="0"/>
              </a:rPr>
              <a:t>()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cols = matrix[0].size()</a:t>
            </a:r>
            <a:br>
              <a:rPr lang="en-IN" dirty="0">
                <a:latin typeface="Courier New" panose="02070309020205020404" pitchFamily="49" charset="0"/>
              </a:rPr>
            </a:b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 err="1">
                <a:latin typeface="Courier New" panose="02070309020205020404" pitchFamily="49" charset="0"/>
              </a:rPr>
              <a:t>rowCount</a:t>
            </a:r>
            <a:r>
              <a:rPr lang="en-IN" dirty="0">
                <a:latin typeface="Courier New" panose="02070309020205020404" pitchFamily="49" charset="0"/>
              </a:rPr>
              <a:t>[rows] = {0}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 err="1">
                <a:latin typeface="Courier New" panose="02070309020205020404" pitchFamily="49" charset="0"/>
              </a:rPr>
              <a:t>colCount</a:t>
            </a:r>
            <a:r>
              <a:rPr lang="en-IN" dirty="0">
                <a:latin typeface="Courier New" panose="02070309020205020404" pitchFamily="49" charset="0"/>
              </a:rPr>
              <a:t>[cols] = {0}</a:t>
            </a:r>
            <a:br>
              <a:rPr lang="en-IN" dirty="0">
                <a:latin typeface="Courier New" panose="02070309020205020404" pitchFamily="49" charset="0"/>
              </a:rPr>
            </a:b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for </a:t>
            </a:r>
            <a:r>
              <a:rPr lang="en-IN" dirty="0" err="1">
                <a:latin typeface="Courier New" panose="02070309020205020404" pitchFamily="49" charset="0"/>
              </a:rPr>
              <a:t>i</a:t>
            </a:r>
            <a:r>
              <a:rPr lang="en-IN" dirty="0">
                <a:latin typeface="Courier New" panose="02070309020205020404" pitchFamily="49" charset="0"/>
              </a:rPr>
              <a:t> = 0 to rows-1: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    for j = 0 to cols-1: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        if matrix[</a:t>
            </a:r>
            <a:r>
              <a:rPr lang="en-IN" dirty="0" err="1">
                <a:latin typeface="Courier New" panose="02070309020205020404" pitchFamily="49" charset="0"/>
              </a:rPr>
              <a:t>i</a:t>
            </a:r>
            <a:r>
              <a:rPr lang="en-IN" dirty="0">
                <a:latin typeface="Courier New" panose="02070309020205020404" pitchFamily="49" charset="0"/>
              </a:rPr>
              <a:t>][j] == 1: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            </a:t>
            </a:r>
            <a:r>
              <a:rPr lang="en-IN" dirty="0" err="1">
                <a:latin typeface="Courier New" panose="02070309020205020404" pitchFamily="49" charset="0"/>
              </a:rPr>
              <a:t>rowCount</a:t>
            </a:r>
            <a:r>
              <a:rPr lang="en-IN" dirty="0">
                <a:latin typeface="Courier New" panose="02070309020205020404" pitchFamily="49" charset="0"/>
              </a:rPr>
              <a:t>[</a:t>
            </a:r>
            <a:r>
              <a:rPr lang="en-IN" dirty="0" err="1">
                <a:latin typeface="Courier New" panose="02070309020205020404" pitchFamily="49" charset="0"/>
              </a:rPr>
              <a:t>i</a:t>
            </a:r>
            <a:r>
              <a:rPr lang="en-IN" dirty="0">
                <a:latin typeface="Courier New" panose="02070309020205020404" pitchFamily="49" charset="0"/>
              </a:rPr>
              <a:t>]++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            </a:t>
            </a:r>
            <a:r>
              <a:rPr lang="en-IN" dirty="0" err="1">
                <a:latin typeface="Courier New" panose="02070309020205020404" pitchFamily="49" charset="0"/>
              </a:rPr>
              <a:t>colCount</a:t>
            </a:r>
            <a:r>
              <a:rPr lang="en-IN" dirty="0">
                <a:latin typeface="Courier New" panose="02070309020205020404" pitchFamily="49" charset="0"/>
              </a:rPr>
              <a:t>[j]++</a:t>
            </a:r>
            <a:br>
              <a:rPr lang="en-IN" dirty="0">
                <a:latin typeface="Courier New" panose="02070309020205020404" pitchFamily="49" charset="0"/>
              </a:rPr>
            </a:b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count = 0</a:t>
            </a:r>
            <a:br>
              <a:rPr lang="en-IN" dirty="0">
                <a:latin typeface="Courier New" panose="02070309020205020404" pitchFamily="49" charset="0"/>
              </a:rPr>
            </a:b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for </a:t>
            </a:r>
            <a:r>
              <a:rPr lang="en-IN" dirty="0" err="1">
                <a:latin typeface="Courier New" panose="02070309020205020404" pitchFamily="49" charset="0"/>
              </a:rPr>
              <a:t>i</a:t>
            </a:r>
            <a:r>
              <a:rPr lang="en-IN" dirty="0">
                <a:latin typeface="Courier New" panose="02070309020205020404" pitchFamily="49" charset="0"/>
              </a:rPr>
              <a:t> = 0 to rows-1: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    for j = 0 to cols-1: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        if matrix[</a:t>
            </a:r>
            <a:r>
              <a:rPr lang="en-IN" dirty="0" err="1">
                <a:latin typeface="Courier New" panose="02070309020205020404" pitchFamily="49" charset="0"/>
              </a:rPr>
              <a:t>i</a:t>
            </a:r>
            <a:r>
              <a:rPr lang="en-IN" dirty="0">
                <a:latin typeface="Courier New" panose="02070309020205020404" pitchFamily="49" charset="0"/>
              </a:rPr>
              <a:t>][j] == 1 and 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           </a:t>
            </a:r>
            <a:r>
              <a:rPr lang="en-IN" dirty="0" err="1">
                <a:latin typeface="Courier New" panose="02070309020205020404" pitchFamily="49" charset="0"/>
              </a:rPr>
              <a:t>rowCount</a:t>
            </a:r>
            <a:r>
              <a:rPr lang="en-IN" dirty="0">
                <a:latin typeface="Courier New" panose="02070309020205020404" pitchFamily="49" charset="0"/>
              </a:rPr>
              <a:t>[</a:t>
            </a:r>
            <a:r>
              <a:rPr lang="en-IN" dirty="0" err="1">
                <a:latin typeface="Courier New" panose="02070309020205020404" pitchFamily="49" charset="0"/>
              </a:rPr>
              <a:t>i</a:t>
            </a:r>
            <a:r>
              <a:rPr lang="en-IN" dirty="0">
                <a:latin typeface="Courier New" panose="02070309020205020404" pitchFamily="49" charset="0"/>
              </a:rPr>
              <a:t>] == 1 and 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           </a:t>
            </a:r>
            <a:r>
              <a:rPr lang="en-IN" dirty="0" err="1">
                <a:latin typeface="Courier New" panose="02070309020205020404" pitchFamily="49" charset="0"/>
              </a:rPr>
              <a:t>colCount</a:t>
            </a:r>
            <a:r>
              <a:rPr lang="en-IN" dirty="0">
                <a:latin typeface="Courier New" panose="02070309020205020404" pitchFamily="49" charset="0"/>
              </a:rPr>
              <a:t>[j] == 1: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            count++</a:t>
            </a:r>
            <a:br>
              <a:rPr lang="en-IN" dirty="0">
                <a:latin typeface="Courier New" panose="02070309020205020404" pitchFamily="49" charset="0"/>
              </a:rPr>
            </a:b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return count</a:t>
            </a:r>
          </a:p>
        </p:txBody>
      </p:sp>
    </p:spTree>
    <p:extLst>
      <p:ext uri="{BB962C8B-B14F-4D97-AF65-F5344CB8AC3E}">
        <p14:creationId xmlns:p14="http://schemas.microsoft.com/office/powerpoint/2010/main" val="305518655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923EDC37-44D6-9310-B3A6-1E18EE0643BD}"/>
              </a:ext>
            </a:extLst>
          </p:cNvPr>
          <p:cNvSpPr txBox="1"/>
          <p:nvPr/>
        </p:nvSpPr>
        <p:spPr>
          <a:xfrm>
            <a:off x="189635" y="226019"/>
            <a:ext cx="60942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Complexity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F46EDF61-3A60-13C6-C1AF-A6DCC24814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4163811"/>
              </p:ext>
            </p:extLst>
          </p:nvPr>
        </p:nvGraphicFramePr>
        <p:xfrm>
          <a:off x="318653" y="844538"/>
          <a:ext cx="10515600" cy="10972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09713085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551545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85567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O(m × 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155612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Space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O(m + 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751684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5353705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033BA50-0848-E85E-D0A0-7A4E097C64EA}"/>
              </a:ext>
            </a:extLst>
          </p:cNvPr>
          <p:cNvSpPr txBox="1"/>
          <p:nvPr/>
        </p:nvSpPr>
        <p:spPr>
          <a:xfrm>
            <a:off x="147484" y="83007"/>
            <a:ext cx="11877368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1523. Count Odd Numbers in an Interval Range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Problem Statement</a:t>
            </a:r>
          </a:p>
          <a:p>
            <a:pPr>
              <a:buNone/>
            </a:pPr>
            <a:r>
              <a:rPr lang="en-US" dirty="0"/>
              <a:t>Given two integers </a:t>
            </a:r>
            <a:r>
              <a:rPr lang="en-US" dirty="0">
                <a:latin typeface="Courier New" panose="02070309020205020404" pitchFamily="49" charset="0"/>
              </a:rPr>
              <a:t>low</a:t>
            </a:r>
            <a:r>
              <a:rPr lang="en-US" dirty="0"/>
              <a:t> and </a:t>
            </a:r>
            <a:r>
              <a:rPr lang="en-US" dirty="0">
                <a:latin typeface="Courier New" panose="02070309020205020404" pitchFamily="49" charset="0"/>
              </a:rPr>
              <a:t>high</a:t>
            </a:r>
            <a:r>
              <a:rPr lang="en-US" dirty="0"/>
              <a:t>, return the number of </a:t>
            </a:r>
            <a:r>
              <a:rPr lang="en-US" b="1" dirty="0"/>
              <a:t>odd numbers</a:t>
            </a:r>
            <a:r>
              <a:rPr lang="en-US" dirty="0"/>
              <a:t> between </a:t>
            </a:r>
            <a:r>
              <a:rPr lang="en-US" dirty="0">
                <a:latin typeface="Courier New" panose="02070309020205020404" pitchFamily="49" charset="0"/>
              </a:rPr>
              <a:t>low</a:t>
            </a:r>
            <a:r>
              <a:rPr lang="en-US" dirty="0"/>
              <a:t> and </a:t>
            </a:r>
            <a:r>
              <a:rPr lang="en-US" dirty="0">
                <a:latin typeface="Courier New" panose="02070309020205020404" pitchFamily="49" charset="0"/>
              </a:rPr>
              <a:t>high</a:t>
            </a:r>
            <a:r>
              <a:rPr lang="en-US" dirty="0"/>
              <a:t> (inclusive).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en-US" b="1" dirty="0"/>
              <a:t>Approach 1: Simple Loop (Brute Force)</a:t>
            </a:r>
          </a:p>
          <a:p>
            <a:pPr>
              <a:buNone/>
            </a:pPr>
            <a:r>
              <a:rPr lang="en-US" b="1" dirty="0"/>
              <a:t>Idea</a:t>
            </a:r>
          </a:p>
          <a:p>
            <a:pPr>
              <a:buNone/>
            </a:pPr>
            <a:r>
              <a:rPr lang="en-US" dirty="0"/>
              <a:t>Check every number from </a:t>
            </a:r>
            <a:r>
              <a:rPr lang="en-US" dirty="0">
                <a:latin typeface="Courier New" panose="02070309020205020404" pitchFamily="49" charset="0"/>
              </a:rPr>
              <a:t>low</a:t>
            </a:r>
            <a:r>
              <a:rPr lang="en-US" dirty="0"/>
              <a:t> to </a:t>
            </a:r>
            <a:r>
              <a:rPr lang="en-US" dirty="0">
                <a:latin typeface="Courier New" panose="02070309020205020404" pitchFamily="49" charset="0"/>
              </a:rPr>
              <a:t>high</a:t>
            </a:r>
            <a:r>
              <a:rPr lang="en-US" dirty="0"/>
              <a:t> and count if it is odd.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420883-1DE8-FF33-16AF-541BE65A21AF}"/>
              </a:ext>
            </a:extLst>
          </p:cNvPr>
          <p:cNvSpPr txBox="1"/>
          <p:nvPr/>
        </p:nvSpPr>
        <p:spPr>
          <a:xfrm>
            <a:off x="167147" y="2668330"/>
            <a:ext cx="6331975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Pseudocode (C++-Style)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count = 0</a:t>
            </a:r>
            <a:br>
              <a:rPr lang="en-US" dirty="0">
                <a:latin typeface="Courier New" panose="02070309020205020404" pitchFamily="49" charset="0"/>
              </a:rPr>
            </a:b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for </a:t>
            </a:r>
            <a:r>
              <a:rPr lang="en-US" dirty="0" err="1">
                <a:latin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</a:rPr>
              <a:t> = low to high: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    if </a:t>
            </a:r>
            <a:r>
              <a:rPr lang="en-US" dirty="0" err="1">
                <a:latin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</a:rPr>
              <a:t> % 2 != 0: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        count = count + 1</a:t>
            </a:r>
            <a:br>
              <a:rPr lang="en-US" dirty="0">
                <a:latin typeface="Courier New" panose="02070309020205020404" pitchFamily="49" charset="0"/>
              </a:rPr>
            </a:b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return count</a:t>
            </a:r>
          </a:p>
          <a:p>
            <a:pPr>
              <a:buNone/>
            </a:pPr>
            <a:br>
              <a:rPr lang="en-US" dirty="0"/>
            </a:br>
            <a:r>
              <a:rPr lang="en-US" b="1" dirty="0"/>
              <a:t>Time Complexity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O(n)</a:t>
            </a:r>
            <a:r>
              <a:rPr lang="en-US" dirty="0"/>
              <a:t> → where n = high – low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None/>
            </a:pPr>
            <a:r>
              <a:rPr lang="en-US" b="1" dirty="0"/>
              <a:t>Space Complexity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O(1)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114754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DBCF076-FBDC-AD35-798F-6F715DC905FF}"/>
              </a:ext>
            </a:extLst>
          </p:cNvPr>
          <p:cNvSpPr txBox="1"/>
          <p:nvPr/>
        </p:nvSpPr>
        <p:spPr>
          <a:xfrm>
            <a:off x="78658" y="186814"/>
            <a:ext cx="11882284" cy="6420464"/>
          </a:xfrm>
          <a:prstGeom prst="rect">
            <a:avLst/>
          </a:prstGeom>
          <a:noFill/>
        </p:spPr>
        <p:txBody>
          <a:bodyPr wrap="square" numCol="2">
            <a:spAutoFit/>
          </a:bodyPr>
          <a:lstStyle/>
          <a:p>
            <a:pPr>
              <a:buNone/>
            </a:pPr>
            <a:r>
              <a:rPr lang="en-US" b="1" dirty="0"/>
              <a:t>Approach 2: Optimal Mathematical Formula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Observation</a:t>
            </a:r>
          </a:p>
          <a:p>
            <a:pPr>
              <a:buNone/>
            </a:pPr>
            <a:r>
              <a:rPr lang="en-US" dirty="0"/>
              <a:t>Between any two numbers:</a:t>
            </a:r>
          </a:p>
          <a:p>
            <a:pPr>
              <a:buNone/>
            </a:pPr>
            <a:r>
              <a:rPr lang="en-US" dirty="0"/>
              <a:t>Number of odd numbers =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(high - low) / 2</a:t>
            </a:r>
          </a:p>
          <a:p>
            <a:pPr>
              <a:buNone/>
            </a:pPr>
            <a:r>
              <a:rPr lang="en-US" dirty="0"/>
              <a:t>But we must handle inclusive range properly.</a:t>
            </a:r>
          </a:p>
          <a:p>
            <a:pPr>
              <a:buNone/>
            </a:pPr>
            <a:br>
              <a:rPr lang="en-US" dirty="0"/>
            </a:br>
            <a:r>
              <a:rPr lang="en-US" b="1" dirty="0"/>
              <a:t>Final Formula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count = (high - low) / 2</a:t>
            </a:r>
            <a:br>
              <a:rPr lang="en-US" dirty="0">
                <a:latin typeface="Courier New" panose="02070309020205020404" pitchFamily="49" charset="0"/>
              </a:rPr>
            </a:b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if low is odd OR high is odd: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    count = count + 1</a:t>
            </a:r>
            <a:br>
              <a:rPr lang="en-US" dirty="0">
                <a:latin typeface="Courier New" panose="02070309020205020404" pitchFamily="49" charset="0"/>
              </a:rPr>
            </a:b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return count</a:t>
            </a:r>
          </a:p>
          <a:p>
            <a:pPr>
              <a:buNone/>
            </a:pPr>
            <a:br>
              <a:rPr lang="en-US" dirty="0"/>
            </a:br>
            <a:r>
              <a:rPr lang="en-US" b="1" dirty="0"/>
              <a:t>Better Optimized Version</a:t>
            </a:r>
          </a:p>
          <a:p>
            <a:pPr>
              <a:buNone/>
            </a:pPr>
            <a:r>
              <a:rPr lang="en-US" dirty="0"/>
              <a:t>Even cleaner formula: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return (high + 1) / 2 - low / 2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  <a:p>
            <a:pPr>
              <a:buNone/>
            </a:pPr>
            <a:endParaRPr lang="en-US" b="1" dirty="0"/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Why This Works?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ourier New" panose="02070309020205020404" pitchFamily="49" charset="0"/>
              </a:rPr>
              <a:t>(x / 2)</a:t>
            </a:r>
            <a:r>
              <a:rPr lang="en-US" dirty="0"/>
              <a:t> gives number of even numbers before x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Subtracting gives number of odd numbers in range</a:t>
            </a:r>
          </a:p>
          <a:p>
            <a:pPr>
              <a:buNone/>
            </a:pPr>
            <a:r>
              <a:rPr lang="en-US" dirty="0"/>
              <a:t>Example:</a:t>
            </a:r>
          </a:p>
          <a:p>
            <a:pPr>
              <a:buNone/>
            </a:pPr>
            <a:r>
              <a:rPr lang="en-US" dirty="0"/>
              <a:t>low = 3, high = 7</a:t>
            </a:r>
          </a:p>
          <a:p>
            <a:pPr>
              <a:buNone/>
            </a:pPr>
            <a:r>
              <a:rPr lang="en-US" dirty="0"/>
              <a:t>Odd numbers → 3,5,7 → 3 numbers</a:t>
            </a:r>
          </a:p>
          <a:p>
            <a:pPr>
              <a:buNone/>
            </a:pPr>
            <a:r>
              <a:rPr lang="en-US" dirty="0"/>
              <a:t>Using formula: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(7 + 1) / 2 - 3 / 2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= 8/2 - 1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= 4 - 1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= 3</a:t>
            </a:r>
          </a:p>
          <a:p>
            <a:pPr>
              <a:buNone/>
            </a:pPr>
            <a:r>
              <a:rPr lang="en-US" dirty="0"/>
              <a:t>Correct</a:t>
            </a:r>
          </a:p>
        </p:txBody>
      </p:sp>
    </p:spTree>
    <p:extLst>
      <p:ext uri="{BB962C8B-B14F-4D97-AF65-F5344CB8AC3E}">
        <p14:creationId xmlns:p14="http://schemas.microsoft.com/office/powerpoint/2010/main" val="170390196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7FC9053-F13F-1019-39B5-0556453D0370}"/>
              </a:ext>
            </a:extLst>
          </p:cNvPr>
          <p:cNvSpPr txBox="1"/>
          <p:nvPr/>
        </p:nvSpPr>
        <p:spPr>
          <a:xfrm>
            <a:off x="157316" y="117987"/>
            <a:ext cx="11651226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C++ Code (Optimal)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class Solution {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public: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    int </a:t>
            </a:r>
            <a:r>
              <a:rPr lang="en-US" dirty="0" err="1">
                <a:latin typeface="Courier New" panose="02070309020205020404" pitchFamily="49" charset="0"/>
              </a:rPr>
              <a:t>countOdds</a:t>
            </a:r>
            <a:r>
              <a:rPr lang="en-US" dirty="0">
                <a:latin typeface="Courier New" panose="02070309020205020404" pitchFamily="49" charset="0"/>
              </a:rPr>
              <a:t>(int low, int high) {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        return (high + 1) / 2 - low / 2;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    }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};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en-US" b="1" dirty="0"/>
              <a:t>Time Complexity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O(1)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None/>
            </a:pPr>
            <a:r>
              <a:rPr lang="en-US" b="1" dirty="0"/>
              <a:t>Space Complexity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O(1)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510622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47F075D-E373-9088-A867-ECA5918E020B}"/>
                  </a:ext>
                </a:extLst>
              </p:cNvPr>
              <p:cNvSpPr txBox="1"/>
              <p:nvPr/>
            </p:nvSpPr>
            <p:spPr>
              <a:xfrm>
                <a:off x="196645" y="98324"/>
                <a:ext cx="11366090" cy="45243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b="1" dirty="0"/>
                  <a:t>1913. Maximum Product Difference Between Two Pairs</a:t>
                </a:r>
              </a:p>
              <a:p>
                <a:pPr>
                  <a:buNone/>
                </a:pPr>
                <a:endParaRPr lang="en-IN" b="1" dirty="0"/>
              </a:p>
              <a:p>
                <a:pPr>
                  <a:buNone/>
                </a:pPr>
                <a:r>
                  <a:rPr lang="en-IN" b="1" dirty="0"/>
                  <a:t>Problem Statement</a:t>
                </a:r>
              </a:p>
              <a:p>
                <a:pPr>
                  <a:buNone/>
                </a:pPr>
                <a:r>
                  <a:rPr lang="en-IN" dirty="0"/>
                  <a:t>Given an integer array </a:t>
                </a:r>
                <a:r>
                  <a:rPr lang="en-IN" dirty="0" err="1">
                    <a:latin typeface="Courier New" panose="02070309020205020404" pitchFamily="49" charset="0"/>
                  </a:rPr>
                  <a:t>nums</a:t>
                </a:r>
                <a:r>
                  <a:rPr lang="en-IN" dirty="0"/>
                  <a:t>, choose four </a:t>
                </a:r>
                <a:r>
                  <a:rPr lang="en-IN" b="1" dirty="0"/>
                  <a:t>distinct</a:t>
                </a:r>
                <a:r>
                  <a:rPr lang="en-IN" dirty="0"/>
                  <a:t> elements and maximize: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𝑛𝑢𝑚𝑠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𝑛𝑢𝑚𝑠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</m:e>
                      </m:d>
                      <m:r>
                        <a:rPr lang="ar-AE" i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𝑛𝑢𝑚𝑠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d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𝑛𝑢𝑚𝑠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ar-AE" dirty="0"/>
              </a:p>
              <a:p>
                <a:pPr>
                  <a:buNone/>
                </a:pPr>
                <a:r>
                  <a:rPr lang="en-IN" dirty="0"/>
                  <a:t>Return the </a:t>
                </a:r>
                <a:r>
                  <a:rPr lang="en-IN" b="1" dirty="0"/>
                  <a:t>maximum product difference</a:t>
                </a:r>
                <a:r>
                  <a:rPr lang="en-IN" dirty="0"/>
                  <a:t>.</a:t>
                </a:r>
              </a:p>
              <a:p>
                <a:pPr>
                  <a:buNone/>
                </a:pPr>
                <a:br>
                  <a:rPr lang="en-IN" dirty="0"/>
                </a:br>
                <a:r>
                  <a:rPr lang="en-IN" b="1" dirty="0"/>
                  <a:t>Key Observation</a:t>
                </a:r>
              </a:p>
              <a:p>
                <a:pPr>
                  <a:buNone/>
                </a:pPr>
                <a:r>
                  <a:rPr lang="en-IN" dirty="0"/>
                  <a:t>To maximize:</a:t>
                </a:r>
              </a:p>
              <a:p>
                <a:pPr rtl="0">
                  <a:buNone/>
                </a:pPr>
                <a:r>
                  <a:rPr lang="en-IN" dirty="0">
                    <a:latin typeface="Courier New" panose="02070309020205020404" pitchFamily="49" charset="0"/>
                  </a:rPr>
                  <a:t>(a × b) − (c × d)</a:t>
                </a:r>
              </a:p>
              <a:p>
                <a:pPr>
                  <a:buNone/>
                </a:pPr>
                <a:r>
                  <a:rPr lang="en-IN" dirty="0"/>
                  <a:t>We should: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dirty="0"/>
                  <a:t>Make </a:t>
                </a:r>
                <a:r>
                  <a:rPr lang="en-IN" b="1" dirty="0"/>
                  <a:t>a × b</a:t>
                </a:r>
                <a:r>
                  <a:rPr lang="en-IN" dirty="0"/>
                  <a:t> as large as possible → choose </a:t>
                </a:r>
                <a:r>
                  <a:rPr lang="en-IN" b="1" dirty="0"/>
                  <a:t>two largest numbers</a:t>
                </a:r>
                <a:endParaRPr lang="en-IN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dirty="0"/>
                  <a:t>Make </a:t>
                </a:r>
                <a:r>
                  <a:rPr lang="en-IN" b="1" dirty="0"/>
                  <a:t>c × d</a:t>
                </a:r>
                <a:r>
                  <a:rPr lang="en-IN" dirty="0"/>
                  <a:t> as small as possible → choose </a:t>
                </a:r>
                <a:r>
                  <a:rPr lang="en-IN" b="1" dirty="0"/>
                  <a:t>two smallest numbers</a:t>
                </a:r>
                <a:endParaRPr lang="en-IN" dirty="0"/>
              </a:p>
              <a:p>
                <a:pPr>
                  <a:buNone/>
                </a:pPr>
                <a:r>
                  <a:rPr lang="en-IN" dirty="0"/>
                  <a:t>So final formula becomes:</a:t>
                </a:r>
              </a:p>
              <a:p>
                <a:pPr rtl="0">
                  <a:buNone/>
                </a:pPr>
                <a:endParaRPr lang="en-IN" dirty="0">
                  <a:latin typeface="Courier New" panose="02070309020205020404" pitchFamily="49" charset="0"/>
                </a:endParaRPr>
              </a:p>
              <a:p>
                <a:pPr rtl="0">
                  <a:buNone/>
                </a:pPr>
                <a:r>
                  <a:rPr lang="en-IN" dirty="0">
                    <a:latin typeface="Courier New" panose="02070309020205020404" pitchFamily="49" charset="0"/>
                  </a:rPr>
                  <a:t>(max1 × max2) − (min1 × min2)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47F075D-E373-9088-A867-ECA5918E02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645" y="98324"/>
                <a:ext cx="11366090" cy="4524315"/>
              </a:xfrm>
              <a:prstGeom prst="rect">
                <a:avLst/>
              </a:prstGeom>
              <a:blipFill>
                <a:blip r:embed="rId2"/>
                <a:stretch>
                  <a:fillRect l="-429" t="-539" b="-121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3DDAF212-8D07-E840-32A6-045A5EC16BEB}"/>
              </a:ext>
            </a:extLst>
          </p:cNvPr>
          <p:cNvSpPr txBox="1"/>
          <p:nvPr/>
        </p:nvSpPr>
        <p:spPr>
          <a:xfrm>
            <a:off x="196644" y="4786218"/>
            <a:ext cx="10933471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Approach 1: Sort and Pick Ends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Idea</a:t>
            </a:r>
          </a:p>
          <a:p>
            <a:pPr>
              <a:buNone/>
            </a:pPr>
            <a:r>
              <a:rPr lang="en-US" dirty="0"/>
              <a:t>Sort the array.</a:t>
            </a:r>
            <a:br>
              <a:rPr lang="en-US" dirty="0"/>
            </a:br>
            <a:r>
              <a:rPr lang="en-US" dirty="0"/>
              <a:t>Then: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Last two elements → largest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First two elements → smallest</a:t>
            </a:r>
          </a:p>
        </p:txBody>
      </p:sp>
    </p:spTree>
    <p:extLst>
      <p:ext uri="{BB962C8B-B14F-4D97-AF65-F5344CB8AC3E}">
        <p14:creationId xmlns:p14="http://schemas.microsoft.com/office/powerpoint/2010/main" val="192545418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75348B4-7080-6579-9312-C81D18A07ABE}"/>
              </a:ext>
            </a:extLst>
          </p:cNvPr>
          <p:cNvSpPr txBox="1"/>
          <p:nvPr/>
        </p:nvSpPr>
        <p:spPr>
          <a:xfrm>
            <a:off x="186812" y="79109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Walkthrough Example</a:t>
            </a:r>
          </a:p>
          <a:p>
            <a:pPr>
              <a:buNone/>
            </a:pPr>
            <a:r>
              <a:rPr lang="en-US" dirty="0" err="1"/>
              <a:t>nums</a:t>
            </a:r>
            <a:r>
              <a:rPr lang="en-US" dirty="0"/>
              <a:t> = [5,6,2,7,4]</a:t>
            </a:r>
          </a:p>
          <a:p>
            <a:pPr>
              <a:buNone/>
            </a:pPr>
            <a:r>
              <a:rPr lang="en-US" dirty="0"/>
              <a:t>After sorting: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1A283A0-5240-77A9-5791-29EE0D8D0C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8755605"/>
              </p:ext>
            </p:extLst>
          </p:nvPr>
        </p:nvGraphicFramePr>
        <p:xfrm>
          <a:off x="474407" y="1153872"/>
          <a:ext cx="10515600" cy="21945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409511702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60558176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Index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126927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485779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344469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293506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00012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9918762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1B5F10DA-30D1-B7AC-98B1-BFC6234C865D}"/>
              </a:ext>
            </a:extLst>
          </p:cNvPr>
          <p:cNvSpPr txBox="1"/>
          <p:nvPr/>
        </p:nvSpPr>
        <p:spPr>
          <a:xfrm>
            <a:off x="474407" y="3612788"/>
            <a:ext cx="3409335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Now: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max1 = 7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max2 = 6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min1 = 2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min2 = 4</a:t>
            </a:r>
          </a:p>
          <a:p>
            <a:pPr>
              <a:buNone/>
            </a:pPr>
            <a:r>
              <a:rPr lang="en-US" dirty="0"/>
              <a:t>Compute: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(7 × 6) − (2 × 4)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= 42 − 8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= 34</a:t>
            </a:r>
          </a:p>
          <a:p>
            <a:pPr>
              <a:buNone/>
            </a:pPr>
            <a:r>
              <a:rPr lang="en-US" dirty="0"/>
              <a:t>✅ Answer = 34</a:t>
            </a:r>
          </a:p>
        </p:txBody>
      </p:sp>
    </p:spTree>
    <p:extLst>
      <p:ext uri="{BB962C8B-B14F-4D97-AF65-F5344CB8AC3E}">
        <p14:creationId xmlns:p14="http://schemas.microsoft.com/office/powerpoint/2010/main" val="150793908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C0A4D71-EF3C-6223-0946-37C211AE1B44}"/>
              </a:ext>
            </a:extLst>
          </p:cNvPr>
          <p:cNvSpPr txBox="1"/>
          <p:nvPr/>
        </p:nvSpPr>
        <p:spPr>
          <a:xfrm>
            <a:off x="530940" y="3942339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Time Complexity</a:t>
            </a:r>
          </a:p>
          <a:p>
            <a:pPr>
              <a:buNone/>
            </a:pP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O(n log n)</a:t>
            </a:r>
            <a:r>
              <a:rPr lang="en-US" dirty="0"/>
              <a:t> (sorting)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None/>
            </a:pPr>
            <a:r>
              <a:rPr lang="en-US" b="1" dirty="0"/>
              <a:t>Space Complexity</a:t>
            </a:r>
          </a:p>
          <a:p>
            <a:pPr>
              <a:buNone/>
            </a:pP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O(1)</a:t>
            </a:r>
            <a:r>
              <a:rPr lang="en-US" dirty="0"/>
              <a:t> (if in-place sort)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BED676-2E5F-635F-04EB-1C6AC3E91B39}"/>
              </a:ext>
            </a:extLst>
          </p:cNvPr>
          <p:cNvSpPr txBox="1"/>
          <p:nvPr/>
        </p:nvSpPr>
        <p:spPr>
          <a:xfrm>
            <a:off x="530940" y="302731"/>
            <a:ext cx="556506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Pseudocode (C++-Style)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sort(</a:t>
            </a:r>
            <a:r>
              <a:rPr lang="en-IN" dirty="0" err="1">
                <a:latin typeface="Courier New" panose="02070309020205020404" pitchFamily="49" charset="0"/>
              </a:rPr>
              <a:t>nums</a:t>
            </a:r>
            <a:r>
              <a:rPr lang="en-IN" dirty="0">
                <a:latin typeface="Courier New" panose="02070309020205020404" pitchFamily="49" charset="0"/>
              </a:rPr>
              <a:t>)</a:t>
            </a:r>
            <a:br>
              <a:rPr lang="en-IN" dirty="0">
                <a:latin typeface="Courier New" panose="02070309020205020404" pitchFamily="49" charset="0"/>
              </a:rPr>
            </a:b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n = size(</a:t>
            </a:r>
            <a:r>
              <a:rPr lang="en-IN" dirty="0" err="1">
                <a:latin typeface="Courier New" panose="02070309020205020404" pitchFamily="49" charset="0"/>
              </a:rPr>
              <a:t>nums</a:t>
            </a:r>
            <a:r>
              <a:rPr lang="en-IN" dirty="0">
                <a:latin typeface="Courier New" panose="02070309020205020404" pitchFamily="49" charset="0"/>
              </a:rPr>
              <a:t>)</a:t>
            </a:r>
            <a:br>
              <a:rPr lang="en-IN" dirty="0">
                <a:latin typeface="Courier New" panose="02070309020205020404" pitchFamily="49" charset="0"/>
              </a:rPr>
            </a:b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max1 = </a:t>
            </a:r>
            <a:r>
              <a:rPr lang="en-IN" dirty="0" err="1">
                <a:latin typeface="Courier New" panose="02070309020205020404" pitchFamily="49" charset="0"/>
              </a:rPr>
              <a:t>nums</a:t>
            </a:r>
            <a:r>
              <a:rPr lang="en-IN" dirty="0">
                <a:latin typeface="Courier New" panose="02070309020205020404" pitchFamily="49" charset="0"/>
              </a:rPr>
              <a:t>[n-1]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max2 = </a:t>
            </a:r>
            <a:r>
              <a:rPr lang="en-IN" dirty="0" err="1">
                <a:latin typeface="Courier New" panose="02070309020205020404" pitchFamily="49" charset="0"/>
              </a:rPr>
              <a:t>nums</a:t>
            </a:r>
            <a:r>
              <a:rPr lang="en-IN" dirty="0">
                <a:latin typeface="Courier New" panose="02070309020205020404" pitchFamily="49" charset="0"/>
              </a:rPr>
              <a:t>[n-2]</a:t>
            </a:r>
            <a:br>
              <a:rPr lang="en-IN" dirty="0">
                <a:latin typeface="Courier New" panose="02070309020205020404" pitchFamily="49" charset="0"/>
              </a:rPr>
            </a:b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min1 = </a:t>
            </a:r>
            <a:r>
              <a:rPr lang="en-IN" dirty="0" err="1">
                <a:latin typeface="Courier New" panose="02070309020205020404" pitchFamily="49" charset="0"/>
              </a:rPr>
              <a:t>nums</a:t>
            </a:r>
            <a:r>
              <a:rPr lang="en-IN" dirty="0">
                <a:latin typeface="Courier New" panose="02070309020205020404" pitchFamily="49" charset="0"/>
              </a:rPr>
              <a:t>[0]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min2 = </a:t>
            </a:r>
            <a:r>
              <a:rPr lang="en-IN" dirty="0" err="1">
                <a:latin typeface="Courier New" panose="02070309020205020404" pitchFamily="49" charset="0"/>
              </a:rPr>
              <a:t>nums</a:t>
            </a:r>
            <a:r>
              <a:rPr lang="en-IN" dirty="0">
                <a:latin typeface="Courier New" panose="02070309020205020404" pitchFamily="49" charset="0"/>
              </a:rPr>
              <a:t>[1]</a:t>
            </a:r>
            <a:br>
              <a:rPr lang="en-IN" dirty="0">
                <a:latin typeface="Courier New" panose="02070309020205020404" pitchFamily="49" charset="0"/>
              </a:rPr>
            </a:b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return (max1 * max2) - (min1 * min2)</a:t>
            </a:r>
          </a:p>
        </p:txBody>
      </p:sp>
    </p:spTree>
    <p:extLst>
      <p:ext uri="{BB962C8B-B14F-4D97-AF65-F5344CB8AC3E}">
        <p14:creationId xmlns:p14="http://schemas.microsoft.com/office/powerpoint/2010/main" val="392177149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B782B3A-DAF4-BAD6-8ED3-1779DA244AF2}"/>
              </a:ext>
            </a:extLst>
          </p:cNvPr>
          <p:cNvSpPr txBox="1"/>
          <p:nvPr/>
        </p:nvSpPr>
        <p:spPr>
          <a:xfrm>
            <a:off x="265471" y="143696"/>
            <a:ext cx="6096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Approach 2: One Pass (Optimal)</a:t>
            </a:r>
          </a:p>
          <a:p>
            <a:pPr>
              <a:buNone/>
            </a:pPr>
            <a:r>
              <a:rPr lang="en-US" b="1" dirty="0"/>
              <a:t>Idea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dirty="0"/>
              <a:t>Instead of sorting, find: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Largest number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Second largest number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Smallest number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Second smallest number</a:t>
            </a:r>
          </a:p>
          <a:p>
            <a:pPr>
              <a:buNone/>
            </a:pPr>
            <a:r>
              <a:rPr lang="en-US" dirty="0"/>
              <a:t>in </a:t>
            </a:r>
            <a:r>
              <a:rPr lang="en-US" b="1" dirty="0"/>
              <a:t>one traversal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078941-5962-F7EE-38A1-2FA52A022E7C}"/>
              </a:ext>
            </a:extLst>
          </p:cNvPr>
          <p:cNvSpPr txBox="1"/>
          <p:nvPr/>
        </p:nvSpPr>
        <p:spPr>
          <a:xfrm>
            <a:off x="265471" y="2764163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Detailed Walkthrough</a:t>
            </a:r>
          </a:p>
          <a:p>
            <a:pPr>
              <a:buNone/>
            </a:pPr>
            <a:r>
              <a:rPr lang="en-US" dirty="0" err="1"/>
              <a:t>nums</a:t>
            </a:r>
            <a:r>
              <a:rPr lang="en-US" dirty="0"/>
              <a:t> = [5,6,2,7,4]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8B992E0-EE10-FAE5-CBEE-C035756BF6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4041395"/>
              </p:ext>
            </p:extLst>
          </p:nvPr>
        </p:nvGraphicFramePr>
        <p:xfrm>
          <a:off x="572729" y="3583127"/>
          <a:ext cx="10515600" cy="25603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752600">
                  <a:extLst>
                    <a:ext uri="{9D8B030D-6E8A-4147-A177-3AD203B41FA5}">
                      <a16:colId xmlns:a16="http://schemas.microsoft.com/office/drawing/2014/main" val="2850247355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4034378655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499176357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618160347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760322073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9327121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Step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 err="1"/>
                        <a:t>num</a:t>
                      </a:r>
                      <a:endParaRPr lang="en-IN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max1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max2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min1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min2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78813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Init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-∞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-∞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+∞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+∞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77358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-∞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+∞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5078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306732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399687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042001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66643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072588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8624E9F-1E9B-4E10-A56B-40945B6E0AC2}"/>
              </a:ext>
            </a:extLst>
          </p:cNvPr>
          <p:cNvSpPr txBox="1"/>
          <p:nvPr/>
        </p:nvSpPr>
        <p:spPr>
          <a:xfrm>
            <a:off x="294968" y="92839"/>
            <a:ext cx="306766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Final values: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max1 = 7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max2 = 6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min1 = 2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min2 = 4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Result: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(7 × 6) − (2 × 4)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= 42 − 8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= 34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Answer = 34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CFA669-D690-916C-F33C-A2AA1F69DA8F}"/>
              </a:ext>
            </a:extLst>
          </p:cNvPr>
          <p:cNvSpPr txBox="1"/>
          <p:nvPr/>
        </p:nvSpPr>
        <p:spPr>
          <a:xfrm>
            <a:off x="5948516" y="139005"/>
            <a:ext cx="6096000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Pseudocode (C++-Style)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max1 = -infinity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max2 = -infinity</a:t>
            </a:r>
            <a:br>
              <a:rPr lang="en-IN" dirty="0">
                <a:latin typeface="Courier New" panose="02070309020205020404" pitchFamily="49" charset="0"/>
              </a:rPr>
            </a:b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min1 = +infinity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min2 = +infinity</a:t>
            </a:r>
            <a:br>
              <a:rPr lang="en-IN" dirty="0">
                <a:latin typeface="Courier New" panose="02070309020205020404" pitchFamily="49" charset="0"/>
              </a:rPr>
            </a:b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for each </a:t>
            </a:r>
            <a:r>
              <a:rPr lang="en-IN" dirty="0" err="1">
                <a:latin typeface="Courier New" panose="02070309020205020404" pitchFamily="49" charset="0"/>
              </a:rPr>
              <a:t>num</a:t>
            </a:r>
            <a:r>
              <a:rPr lang="en-IN" dirty="0">
                <a:latin typeface="Courier New" panose="02070309020205020404" pitchFamily="49" charset="0"/>
              </a:rPr>
              <a:t> in </a:t>
            </a:r>
            <a:r>
              <a:rPr lang="en-IN" dirty="0" err="1">
                <a:latin typeface="Courier New" panose="02070309020205020404" pitchFamily="49" charset="0"/>
              </a:rPr>
              <a:t>nums</a:t>
            </a:r>
            <a:r>
              <a:rPr lang="en-IN" dirty="0">
                <a:latin typeface="Courier New" panose="02070309020205020404" pitchFamily="49" charset="0"/>
              </a:rPr>
              <a:t>:</a:t>
            </a:r>
            <a:br>
              <a:rPr lang="en-IN" dirty="0">
                <a:latin typeface="Courier New" panose="02070309020205020404" pitchFamily="49" charset="0"/>
              </a:rPr>
            </a:b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    if </a:t>
            </a:r>
            <a:r>
              <a:rPr lang="en-IN" dirty="0" err="1">
                <a:latin typeface="Courier New" panose="02070309020205020404" pitchFamily="49" charset="0"/>
              </a:rPr>
              <a:t>num</a:t>
            </a:r>
            <a:r>
              <a:rPr lang="en-IN" dirty="0">
                <a:latin typeface="Courier New" panose="02070309020205020404" pitchFamily="49" charset="0"/>
              </a:rPr>
              <a:t> &gt; max1: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        max2 = max1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        </a:t>
            </a:r>
            <a:r>
              <a:rPr lang="en-IN" dirty="0" err="1">
                <a:latin typeface="Courier New" panose="02070309020205020404" pitchFamily="49" charset="0"/>
              </a:rPr>
              <a:t>max1</a:t>
            </a:r>
            <a:r>
              <a:rPr lang="en-IN" dirty="0">
                <a:latin typeface="Courier New" panose="02070309020205020404" pitchFamily="49" charset="0"/>
              </a:rPr>
              <a:t> = </a:t>
            </a:r>
            <a:r>
              <a:rPr lang="en-IN" dirty="0" err="1">
                <a:latin typeface="Courier New" panose="02070309020205020404" pitchFamily="49" charset="0"/>
              </a:rPr>
              <a:t>num</a:t>
            </a:r>
            <a:br>
              <a:rPr lang="en-IN" dirty="0">
                <a:latin typeface="Courier New" panose="02070309020205020404" pitchFamily="49" charset="0"/>
              </a:rPr>
            </a:b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    else if </a:t>
            </a:r>
            <a:r>
              <a:rPr lang="en-IN" dirty="0" err="1">
                <a:latin typeface="Courier New" panose="02070309020205020404" pitchFamily="49" charset="0"/>
              </a:rPr>
              <a:t>num</a:t>
            </a:r>
            <a:r>
              <a:rPr lang="en-IN" dirty="0">
                <a:latin typeface="Courier New" panose="02070309020205020404" pitchFamily="49" charset="0"/>
              </a:rPr>
              <a:t> &gt; max2: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        max2 = </a:t>
            </a:r>
            <a:r>
              <a:rPr lang="en-IN" dirty="0" err="1">
                <a:latin typeface="Courier New" panose="02070309020205020404" pitchFamily="49" charset="0"/>
              </a:rPr>
              <a:t>num</a:t>
            </a:r>
            <a:br>
              <a:rPr lang="en-IN" dirty="0">
                <a:latin typeface="Courier New" panose="02070309020205020404" pitchFamily="49" charset="0"/>
              </a:rPr>
            </a:b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    if </a:t>
            </a:r>
            <a:r>
              <a:rPr lang="en-IN" dirty="0" err="1">
                <a:latin typeface="Courier New" panose="02070309020205020404" pitchFamily="49" charset="0"/>
              </a:rPr>
              <a:t>num</a:t>
            </a:r>
            <a:r>
              <a:rPr lang="en-IN" dirty="0">
                <a:latin typeface="Courier New" panose="02070309020205020404" pitchFamily="49" charset="0"/>
              </a:rPr>
              <a:t> &lt; min1: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        min2 = min1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        </a:t>
            </a:r>
            <a:r>
              <a:rPr lang="en-IN" dirty="0" err="1">
                <a:latin typeface="Courier New" panose="02070309020205020404" pitchFamily="49" charset="0"/>
              </a:rPr>
              <a:t>min1</a:t>
            </a:r>
            <a:r>
              <a:rPr lang="en-IN" dirty="0">
                <a:latin typeface="Courier New" panose="02070309020205020404" pitchFamily="49" charset="0"/>
              </a:rPr>
              <a:t> = </a:t>
            </a:r>
            <a:r>
              <a:rPr lang="en-IN" dirty="0" err="1">
                <a:latin typeface="Courier New" panose="02070309020205020404" pitchFamily="49" charset="0"/>
              </a:rPr>
              <a:t>num</a:t>
            </a:r>
            <a:br>
              <a:rPr lang="en-IN" dirty="0">
                <a:latin typeface="Courier New" panose="02070309020205020404" pitchFamily="49" charset="0"/>
              </a:rPr>
            </a:b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    else if </a:t>
            </a:r>
            <a:r>
              <a:rPr lang="en-IN" dirty="0" err="1">
                <a:latin typeface="Courier New" panose="02070309020205020404" pitchFamily="49" charset="0"/>
              </a:rPr>
              <a:t>num</a:t>
            </a:r>
            <a:r>
              <a:rPr lang="en-IN" dirty="0">
                <a:latin typeface="Courier New" panose="02070309020205020404" pitchFamily="49" charset="0"/>
              </a:rPr>
              <a:t> &lt; min2: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        min2 = </a:t>
            </a:r>
            <a:r>
              <a:rPr lang="en-IN" dirty="0" err="1">
                <a:latin typeface="Courier New" panose="02070309020205020404" pitchFamily="49" charset="0"/>
              </a:rPr>
              <a:t>num</a:t>
            </a:r>
            <a:br>
              <a:rPr lang="en-IN" dirty="0">
                <a:latin typeface="Courier New" panose="02070309020205020404" pitchFamily="49" charset="0"/>
              </a:rPr>
            </a:b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return (max1 * max2) - (min1 * min2)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EE7AAE8-D9C4-29BD-87CE-F1AD4854851B}"/>
              </a:ext>
            </a:extLst>
          </p:cNvPr>
          <p:cNvSpPr txBox="1"/>
          <p:nvPr/>
        </p:nvSpPr>
        <p:spPr>
          <a:xfrm>
            <a:off x="422787" y="5200867"/>
            <a:ext cx="354944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/>
              <a:t>Time Complexity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O(n)</a:t>
            </a:r>
          </a:p>
          <a:p>
            <a:pPr>
              <a:buNone/>
            </a:pPr>
            <a:r>
              <a:rPr lang="pt-BR" b="1" dirty="0"/>
              <a:t>Space Complexity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O(1)</a:t>
            </a:r>
          </a:p>
        </p:txBody>
      </p:sp>
    </p:spTree>
    <p:extLst>
      <p:ext uri="{BB962C8B-B14F-4D97-AF65-F5344CB8AC3E}">
        <p14:creationId xmlns:p14="http://schemas.microsoft.com/office/powerpoint/2010/main" val="1501116096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89BD29D-CC7D-68A2-0ED7-A275713ADB37}"/>
              </a:ext>
            </a:extLst>
          </p:cNvPr>
          <p:cNvSpPr txBox="1"/>
          <p:nvPr/>
        </p:nvSpPr>
        <p:spPr>
          <a:xfrm>
            <a:off x="196645" y="78658"/>
            <a:ext cx="5692878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26. Remove Duplicates from Sorted Array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Problem Statement</a:t>
            </a:r>
          </a:p>
          <a:p>
            <a:pPr>
              <a:buNone/>
            </a:pPr>
            <a:r>
              <a:rPr lang="en-US" dirty="0"/>
              <a:t>You are given a </a:t>
            </a:r>
            <a:r>
              <a:rPr lang="en-US" b="1" dirty="0"/>
              <a:t>sorted array</a:t>
            </a:r>
            <a:r>
              <a:rPr lang="en-US" dirty="0"/>
              <a:t> </a:t>
            </a:r>
            <a:r>
              <a:rPr lang="en-US" dirty="0" err="1">
                <a:latin typeface="Courier New" panose="02070309020205020404" pitchFamily="49" charset="0"/>
              </a:rPr>
              <a:t>nums</a:t>
            </a:r>
            <a:r>
              <a:rPr lang="en-US" dirty="0"/>
              <a:t>.</a:t>
            </a:r>
          </a:p>
          <a:p>
            <a:pPr>
              <a:buNone/>
            </a:pPr>
            <a:r>
              <a:rPr lang="en-US" dirty="0"/>
              <a:t>Remove duplicates </a:t>
            </a:r>
            <a:r>
              <a:rPr lang="en-US" b="1" dirty="0"/>
              <a:t>in-place</a:t>
            </a:r>
            <a:r>
              <a:rPr lang="en-US" dirty="0"/>
              <a:t> such that: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Each unique element appears only once.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Return the number of unique elements </a:t>
            </a:r>
            <a:r>
              <a:rPr lang="en-US" dirty="0">
                <a:latin typeface="Courier New" panose="02070309020205020404" pitchFamily="49" charset="0"/>
              </a:rPr>
              <a:t>k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First </a:t>
            </a:r>
            <a:r>
              <a:rPr lang="en-US" dirty="0">
                <a:latin typeface="Courier New" panose="02070309020205020404" pitchFamily="49" charset="0"/>
              </a:rPr>
              <a:t>k</a:t>
            </a:r>
            <a:r>
              <a:rPr lang="en-US" dirty="0"/>
              <a:t> elements of array should contain unique values.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You cannot use extra space for another array.</a:t>
            </a:r>
          </a:p>
          <a:p>
            <a:pPr>
              <a:buNone/>
            </a:pPr>
            <a:br>
              <a:rPr lang="en-US" dirty="0"/>
            </a:br>
            <a:r>
              <a:rPr lang="en-US" b="1" dirty="0"/>
              <a:t>Example</a:t>
            </a:r>
          </a:p>
          <a:p>
            <a:pPr>
              <a:buNone/>
            </a:pPr>
            <a:r>
              <a:rPr lang="en-US" dirty="0"/>
              <a:t>Input:</a:t>
            </a:r>
          </a:p>
          <a:p>
            <a:pPr rtl="0">
              <a:buNone/>
            </a:pPr>
            <a:r>
              <a:rPr lang="en-US" dirty="0" err="1">
                <a:latin typeface="Courier New" panose="02070309020205020404" pitchFamily="49" charset="0"/>
              </a:rPr>
              <a:t>nums</a:t>
            </a:r>
            <a:r>
              <a:rPr lang="en-US" dirty="0">
                <a:latin typeface="Courier New" panose="02070309020205020404" pitchFamily="49" charset="0"/>
              </a:rPr>
              <a:t> = [1,1,2]</a:t>
            </a:r>
          </a:p>
          <a:p>
            <a:pPr>
              <a:buNone/>
            </a:pPr>
            <a:r>
              <a:rPr lang="en-US" dirty="0"/>
              <a:t>Output: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k = 2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 err="1">
                <a:latin typeface="Courier New" panose="02070309020205020404" pitchFamily="49" charset="0"/>
              </a:rPr>
              <a:t>nums</a:t>
            </a:r>
            <a:r>
              <a:rPr lang="en-US" dirty="0">
                <a:latin typeface="Courier New" panose="02070309020205020404" pitchFamily="49" charset="0"/>
              </a:rPr>
              <a:t> = [1,2,_]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Input:</a:t>
            </a:r>
          </a:p>
          <a:p>
            <a:pPr rtl="0">
              <a:buNone/>
            </a:pPr>
            <a:r>
              <a:rPr lang="en-US" dirty="0" err="1">
                <a:latin typeface="Courier New" panose="02070309020205020404" pitchFamily="49" charset="0"/>
              </a:rPr>
              <a:t>nums</a:t>
            </a:r>
            <a:r>
              <a:rPr lang="en-US" dirty="0">
                <a:latin typeface="Courier New" panose="02070309020205020404" pitchFamily="49" charset="0"/>
              </a:rPr>
              <a:t> = [0,0,1,1,1,2,2,3,3,4]</a:t>
            </a:r>
          </a:p>
          <a:p>
            <a:pPr>
              <a:buNone/>
            </a:pPr>
            <a:r>
              <a:rPr lang="en-US" dirty="0"/>
              <a:t>Output: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k = 5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 err="1">
                <a:latin typeface="Courier New" panose="02070309020205020404" pitchFamily="49" charset="0"/>
              </a:rPr>
              <a:t>nums</a:t>
            </a:r>
            <a:r>
              <a:rPr lang="en-US" dirty="0">
                <a:latin typeface="Courier New" panose="02070309020205020404" pitchFamily="49" charset="0"/>
              </a:rPr>
              <a:t> = [0,1,2,3,4,_,_,_,_,_]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CAE1C1-EAA1-2D10-B3D5-3D0197328F83}"/>
              </a:ext>
            </a:extLst>
          </p:cNvPr>
          <p:cNvSpPr txBox="1"/>
          <p:nvPr/>
        </p:nvSpPr>
        <p:spPr>
          <a:xfrm>
            <a:off x="6685935" y="78658"/>
            <a:ext cx="467032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When copying is necessary</a:t>
            </a:r>
          </a:p>
          <a:p>
            <a:pPr>
              <a:buNone/>
            </a:pPr>
            <a:r>
              <a:rPr lang="en-US" dirty="0"/>
              <a:t>✔ When problem says: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“modify the input array”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“in-place operation”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“do not use extra space”</a:t>
            </a:r>
          </a:p>
        </p:txBody>
      </p:sp>
    </p:spTree>
    <p:extLst>
      <p:ext uri="{BB962C8B-B14F-4D97-AF65-F5344CB8AC3E}">
        <p14:creationId xmlns:p14="http://schemas.microsoft.com/office/powerpoint/2010/main" val="4107248976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1B666AE-5604-3D62-4DC4-B8F3B0BFF456}"/>
              </a:ext>
            </a:extLst>
          </p:cNvPr>
          <p:cNvSpPr txBox="1"/>
          <p:nvPr/>
        </p:nvSpPr>
        <p:spPr>
          <a:xfrm>
            <a:off x="206478" y="206928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Approach 1: Using Extra Array (Brute Force)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Idea</a:t>
            </a:r>
          </a:p>
          <a:p>
            <a:pPr>
              <a:buNone/>
            </a:pPr>
            <a:r>
              <a:rPr lang="en-US" dirty="0"/>
              <a:t>Store unique elements in another array.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018A7C-7BA1-D8C8-5AF6-B2AA40F44E1C}"/>
              </a:ext>
            </a:extLst>
          </p:cNvPr>
          <p:cNvSpPr txBox="1"/>
          <p:nvPr/>
        </p:nvSpPr>
        <p:spPr>
          <a:xfrm>
            <a:off x="206478" y="1407257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Walkthrough</a:t>
            </a:r>
          </a:p>
          <a:p>
            <a:pPr>
              <a:buNone/>
            </a:pPr>
            <a:r>
              <a:rPr lang="en-IN" dirty="0" err="1"/>
              <a:t>nums</a:t>
            </a:r>
            <a:r>
              <a:rPr lang="en-IN" dirty="0"/>
              <a:t> = [1,1,2]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E7A0C15-8AB7-CD2B-C661-D3068FF568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8682290"/>
              </p:ext>
            </p:extLst>
          </p:nvPr>
        </p:nvGraphicFramePr>
        <p:xfrm>
          <a:off x="838200" y="2119398"/>
          <a:ext cx="10515600" cy="14630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375918093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93648672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14656059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85999684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 err="1"/>
                        <a:t>i</a:t>
                      </a:r>
                      <a:endParaRPr lang="en-IN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 err="1"/>
                        <a:t>nums</a:t>
                      </a:r>
                      <a:r>
                        <a:rPr lang="en-IN" b="1" dirty="0"/>
                        <a:t>[</a:t>
                      </a:r>
                      <a:r>
                        <a:rPr lang="en-IN" b="1" dirty="0" err="1"/>
                        <a:t>i</a:t>
                      </a:r>
                      <a:r>
                        <a:rPr lang="en-IN" b="1" dirty="0"/>
                        <a:t>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Condition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temp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308170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first element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[1]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167120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same as prev → skip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[1]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307708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different → add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[1,2]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47779894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F5076CF1-8F27-14F5-151C-DD7D567940C2}"/>
              </a:ext>
            </a:extLst>
          </p:cNvPr>
          <p:cNvSpPr txBox="1"/>
          <p:nvPr/>
        </p:nvSpPr>
        <p:spPr>
          <a:xfrm>
            <a:off x="285136" y="364824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Return 2.</a:t>
            </a:r>
          </a:p>
        </p:txBody>
      </p:sp>
    </p:spTree>
    <p:extLst>
      <p:ext uri="{BB962C8B-B14F-4D97-AF65-F5344CB8AC3E}">
        <p14:creationId xmlns:p14="http://schemas.microsoft.com/office/powerpoint/2010/main" val="354765923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53603EB-1C41-C771-375D-F089454844F3}"/>
              </a:ext>
            </a:extLst>
          </p:cNvPr>
          <p:cNvSpPr txBox="1"/>
          <p:nvPr/>
        </p:nvSpPr>
        <p:spPr>
          <a:xfrm>
            <a:off x="367145" y="306579"/>
            <a:ext cx="556170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Pseudocode (C++-Style)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vector&lt;int&gt; temp</a:t>
            </a:r>
            <a:br>
              <a:rPr lang="en-US" dirty="0">
                <a:latin typeface="Courier New" panose="02070309020205020404" pitchFamily="49" charset="0"/>
              </a:rPr>
            </a:b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for </a:t>
            </a:r>
            <a:r>
              <a:rPr lang="en-US" dirty="0" err="1">
                <a:latin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</a:rPr>
              <a:t> = 0 to n-1: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    if </a:t>
            </a:r>
            <a:r>
              <a:rPr lang="en-US" dirty="0" err="1">
                <a:latin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</a:rPr>
              <a:t> == 0 OR </a:t>
            </a:r>
            <a:r>
              <a:rPr lang="en-US" dirty="0" err="1">
                <a:latin typeface="Courier New" panose="02070309020205020404" pitchFamily="49" charset="0"/>
              </a:rPr>
              <a:t>nums</a:t>
            </a:r>
            <a:r>
              <a:rPr lang="en-US" dirty="0">
                <a:latin typeface="Courier New" panose="02070309020205020404" pitchFamily="49" charset="0"/>
              </a:rPr>
              <a:t>[</a:t>
            </a:r>
            <a:r>
              <a:rPr lang="en-US" dirty="0" err="1">
                <a:latin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</a:rPr>
              <a:t>] != </a:t>
            </a:r>
            <a:r>
              <a:rPr lang="en-US" dirty="0" err="1">
                <a:latin typeface="Courier New" panose="02070309020205020404" pitchFamily="49" charset="0"/>
              </a:rPr>
              <a:t>nums</a:t>
            </a:r>
            <a:r>
              <a:rPr lang="en-US" dirty="0">
                <a:latin typeface="Courier New" panose="02070309020205020404" pitchFamily="49" charset="0"/>
              </a:rPr>
              <a:t>[i-1]: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        </a:t>
            </a:r>
            <a:r>
              <a:rPr lang="en-US" dirty="0" err="1">
                <a:latin typeface="Courier New" panose="02070309020205020404" pitchFamily="49" charset="0"/>
              </a:rPr>
              <a:t>temp.push_back</a:t>
            </a:r>
            <a:r>
              <a:rPr lang="en-US" dirty="0">
                <a:latin typeface="Courier New" panose="02070309020205020404" pitchFamily="49" charset="0"/>
              </a:rPr>
              <a:t>(</a:t>
            </a:r>
            <a:r>
              <a:rPr lang="en-US" dirty="0" err="1">
                <a:latin typeface="Courier New" panose="02070309020205020404" pitchFamily="49" charset="0"/>
              </a:rPr>
              <a:t>nums</a:t>
            </a:r>
            <a:r>
              <a:rPr lang="en-US" dirty="0">
                <a:latin typeface="Courier New" panose="02070309020205020404" pitchFamily="49" charset="0"/>
              </a:rPr>
              <a:t>[</a:t>
            </a:r>
            <a:r>
              <a:rPr lang="en-US" dirty="0" err="1">
                <a:latin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</a:rPr>
              <a:t>])</a:t>
            </a:r>
            <a:br>
              <a:rPr lang="en-US" dirty="0">
                <a:latin typeface="Courier New" panose="02070309020205020404" pitchFamily="49" charset="0"/>
              </a:rPr>
            </a:b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copy temp back into </a:t>
            </a:r>
            <a:r>
              <a:rPr lang="en-US" dirty="0" err="1">
                <a:latin typeface="Courier New" panose="02070309020205020404" pitchFamily="49" charset="0"/>
              </a:rPr>
              <a:t>nums</a:t>
            </a:r>
            <a:br>
              <a:rPr lang="en-US" dirty="0">
                <a:latin typeface="Courier New" panose="02070309020205020404" pitchFamily="49" charset="0"/>
              </a:rPr>
            </a:b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return size(temp)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A35E79-67CA-312D-8EF6-7C7B870C91CF}"/>
              </a:ext>
            </a:extLst>
          </p:cNvPr>
          <p:cNvSpPr txBox="1"/>
          <p:nvPr/>
        </p:nvSpPr>
        <p:spPr>
          <a:xfrm>
            <a:off x="367144" y="3365934"/>
            <a:ext cx="60942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Walkthrough</a:t>
            </a:r>
          </a:p>
          <a:p>
            <a:pPr>
              <a:buNone/>
            </a:pPr>
            <a:r>
              <a:rPr lang="en-IN" dirty="0" err="1"/>
              <a:t>nums</a:t>
            </a:r>
            <a:r>
              <a:rPr lang="en-IN" dirty="0"/>
              <a:t> = [1,1,2]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900BEC9-B8AB-B541-CF8D-E37F465B50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330845"/>
              </p:ext>
            </p:extLst>
          </p:nvPr>
        </p:nvGraphicFramePr>
        <p:xfrm>
          <a:off x="723900" y="4433556"/>
          <a:ext cx="10515600" cy="14630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110853350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72896872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21035273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27317153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 err="1"/>
                        <a:t>i</a:t>
                      </a:r>
                      <a:endParaRPr lang="en-IN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 err="1"/>
                        <a:t>nums</a:t>
                      </a:r>
                      <a:r>
                        <a:rPr lang="en-IN" b="1" dirty="0"/>
                        <a:t>[</a:t>
                      </a:r>
                      <a:r>
                        <a:rPr lang="en-IN" b="1" dirty="0" err="1"/>
                        <a:t>i</a:t>
                      </a:r>
                      <a:r>
                        <a:rPr lang="en-IN" b="1" dirty="0"/>
                        <a:t>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Condition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temp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97160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first element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[1]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12745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same as prev → skip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[1]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33718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different → add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[1,2]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5478545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AADDD8E-3372-5B04-9DD3-9CB2862D669B}"/>
              </a:ext>
            </a:extLst>
          </p:cNvPr>
          <p:cNvSpPr txBox="1"/>
          <p:nvPr/>
        </p:nvSpPr>
        <p:spPr>
          <a:xfrm>
            <a:off x="367144" y="6317887"/>
            <a:ext cx="60942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Return 2.</a:t>
            </a:r>
          </a:p>
        </p:txBody>
      </p:sp>
    </p:spTree>
    <p:extLst>
      <p:ext uri="{BB962C8B-B14F-4D97-AF65-F5344CB8AC3E}">
        <p14:creationId xmlns:p14="http://schemas.microsoft.com/office/powerpoint/2010/main" val="371003727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0431272-5288-6889-464C-65C59F90A2F9}"/>
              </a:ext>
            </a:extLst>
          </p:cNvPr>
          <p:cNvSpPr txBox="1"/>
          <p:nvPr/>
        </p:nvSpPr>
        <p:spPr>
          <a:xfrm>
            <a:off x="210416" y="168902"/>
            <a:ext cx="609426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Time Complexity</a:t>
            </a:r>
          </a:p>
          <a:p>
            <a:pPr>
              <a:buNone/>
            </a:pPr>
            <a:r>
              <a:rPr lang="en-US" dirty="0"/>
              <a:t>O(n)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Space Complexity</a:t>
            </a:r>
          </a:p>
          <a:p>
            <a:pPr>
              <a:buNone/>
            </a:pPr>
            <a:r>
              <a:rPr lang="en-US" dirty="0"/>
              <a:t>O(n) (not allowed)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DD3364-3C6D-4359-EAAA-6F3CDEC12A39}"/>
              </a:ext>
            </a:extLst>
          </p:cNvPr>
          <p:cNvSpPr txBox="1"/>
          <p:nvPr/>
        </p:nvSpPr>
        <p:spPr>
          <a:xfrm>
            <a:off x="210416" y="1765822"/>
            <a:ext cx="923492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Approach 2: Two Pointer Technique (Optimal) </a:t>
            </a:r>
          </a:p>
          <a:p>
            <a:pPr>
              <a:buNone/>
            </a:pPr>
            <a:r>
              <a:rPr lang="en-US" dirty="0"/>
              <a:t>Since array is </a:t>
            </a:r>
            <a:r>
              <a:rPr lang="en-US" b="1" dirty="0"/>
              <a:t>sorted</a:t>
            </a:r>
            <a:r>
              <a:rPr lang="en-US" dirty="0"/>
              <a:t>, duplicates are adjacent.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en-US" b="1" dirty="0"/>
              <a:t>Core Idea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 two pointers: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>
                <a:latin typeface="Courier New" panose="02070309020205020404" pitchFamily="49" charset="0"/>
              </a:rPr>
              <a:t>i</a:t>
            </a:r>
            <a:r>
              <a:rPr lang="en-US" dirty="0"/>
              <a:t> → slow pointer (last unique position)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ourier New" panose="02070309020205020404" pitchFamily="49" charset="0"/>
              </a:rPr>
              <a:t>j</a:t>
            </a:r>
            <a:r>
              <a:rPr lang="en-US" dirty="0"/>
              <a:t> → fast pointer (scans array)</a:t>
            </a:r>
          </a:p>
          <a:p>
            <a:pPr>
              <a:buNone/>
            </a:pPr>
            <a:r>
              <a:rPr lang="en-US" dirty="0"/>
              <a:t>When we find a new unique element: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Move </a:t>
            </a:r>
            <a:r>
              <a:rPr lang="en-US" dirty="0" err="1">
                <a:latin typeface="Courier New" panose="02070309020205020404" pitchFamily="49" charset="0"/>
              </a:rPr>
              <a:t>i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Place element at position </a:t>
            </a:r>
            <a:r>
              <a:rPr lang="en-US" dirty="0" err="1">
                <a:latin typeface="Courier New" panose="02070309020205020404" pitchFamily="49" charset="0"/>
              </a:rPr>
              <a:t>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894534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19DC521-1E73-8991-6C9D-AAA27F1B5D5E}"/>
              </a:ext>
            </a:extLst>
          </p:cNvPr>
          <p:cNvSpPr txBox="1"/>
          <p:nvPr/>
        </p:nvSpPr>
        <p:spPr>
          <a:xfrm>
            <a:off x="293542" y="0"/>
            <a:ext cx="763125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Detailed Walkthrough (Table Format)</a:t>
            </a:r>
          </a:p>
          <a:p>
            <a:pPr>
              <a:buNone/>
            </a:pPr>
            <a:r>
              <a:rPr lang="en-US" dirty="0"/>
              <a:t>Example:</a:t>
            </a:r>
          </a:p>
          <a:p>
            <a:pPr rtl="0">
              <a:buNone/>
            </a:pPr>
            <a:r>
              <a:rPr lang="en-US" dirty="0" err="1">
                <a:latin typeface="Courier New" panose="02070309020205020404" pitchFamily="49" charset="0"/>
              </a:rPr>
              <a:t>nums</a:t>
            </a:r>
            <a:r>
              <a:rPr lang="en-US" dirty="0">
                <a:latin typeface="Courier New" panose="02070309020205020404" pitchFamily="49" charset="0"/>
              </a:rPr>
              <a:t> = [0,0,1,1,1,2,2,3,3,4]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29AAF7A-BFF0-4596-3DA5-EE5366224B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6036953"/>
              </p:ext>
            </p:extLst>
          </p:nvPr>
        </p:nvGraphicFramePr>
        <p:xfrm>
          <a:off x="540773" y="1002890"/>
          <a:ext cx="11375924" cy="5174075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625132">
                  <a:extLst>
                    <a:ext uri="{9D8B030D-6E8A-4147-A177-3AD203B41FA5}">
                      <a16:colId xmlns:a16="http://schemas.microsoft.com/office/drawing/2014/main" val="4266511883"/>
                    </a:ext>
                  </a:extLst>
                </a:gridCol>
                <a:gridCol w="1625132">
                  <a:extLst>
                    <a:ext uri="{9D8B030D-6E8A-4147-A177-3AD203B41FA5}">
                      <a16:colId xmlns:a16="http://schemas.microsoft.com/office/drawing/2014/main" val="3851696543"/>
                    </a:ext>
                  </a:extLst>
                </a:gridCol>
                <a:gridCol w="1625132">
                  <a:extLst>
                    <a:ext uri="{9D8B030D-6E8A-4147-A177-3AD203B41FA5}">
                      <a16:colId xmlns:a16="http://schemas.microsoft.com/office/drawing/2014/main" val="333057194"/>
                    </a:ext>
                  </a:extLst>
                </a:gridCol>
                <a:gridCol w="1625132">
                  <a:extLst>
                    <a:ext uri="{9D8B030D-6E8A-4147-A177-3AD203B41FA5}">
                      <a16:colId xmlns:a16="http://schemas.microsoft.com/office/drawing/2014/main" val="3882862280"/>
                    </a:ext>
                  </a:extLst>
                </a:gridCol>
                <a:gridCol w="1625132">
                  <a:extLst>
                    <a:ext uri="{9D8B030D-6E8A-4147-A177-3AD203B41FA5}">
                      <a16:colId xmlns:a16="http://schemas.microsoft.com/office/drawing/2014/main" val="2852606939"/>
                    </a:ext>
                  </a:extLst>
                </a:gridCol>
                <a:gridCol w="1625132">
                  <a:extLst>
                    <a:ext uri="{9D8B030D-6E8A-4147-A177-3AD203B41FA5}">
                      <a16:colId xmlns:a16="http://schemas.microsoft.com/office/drawing/2014/main" val="921305396"/>
                    </a:ext>
                  </a:extLst>
                </a:gridCol>
                <a:gridCol w="1625132">
                  <a:extLst>
                    <a:ext uri="{9D8B030D-6E8A-4147-A177-3AD203B41FA5}">
                      <a16:colId xmlns:a16="http://schemas.microsoft.com/office/drawing/2014/main" val="3815299509"/>
                    </a:ext>
                  </a:extLst>
                </a:gridCol>
              </a:tblGrid>
              <a:tr h="36957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 b="1" dirty="0"/>
                        <a:t>Step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 b="1" dirty="0"/>
                        <a:t>j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 b="1" dirty="0" err="1"/>
                        <a:t>nums</a:t>
                      </a:r>
                      <a:r>
                        <a:rPr lang="en-IN" sz="1500" b="1" dirty="0"/>
                        <a:t>[j]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 b="1" dirty="0" err="1"/>
                        <a:t>nums</a:t>
                      </a:r>
                      <a:r>
                        <a:rPr lang="en-IN" sz="1500" b="1" dirty="0"/>
                        <a:t>[</a:t>
                      </a:r>
                      <a:r>
                        <a:rPr lang="en-IN" sz="1500" b="1" dirty="0" err="1"/>
                        <a:t>i</a:t>
                      </a:r>
                      <a:r>
                        <a:rPr lang="en-IN" sz="1500" b="1" dirty="0"/>
                        <a:t>]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 b="1" dirty="0"/>
                        <a:t>Action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 b="1" dirty="0"/>
                        <a:t>Array State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 b="1" dirty="0" err="1"/>
                        <a:t>i</a:t>
                      </a:r>
                      <a:endParaRPr lang="en-IN" sz="1500" b="1" dirty="0"/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2237683892"/>
                  </a:ext>
                </a:extLst>
              </a:tr>
              <a:tr h="36957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/>
                        <a:t>Init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/>
                        <a:t>-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/>
                        <a:t>-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/>
                        <a:t>0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/>
                        <a:t>-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/>
                        <a:t>same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/>
                        <a:t>0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3215183974"/>
                  </a:ext>
                </a:extLst>
              </a:tr>
              <a:tr h="36957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/>
                        <a:t>1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/>
                        <a:t>1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/>
                        <a:t>0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/>
                        <a:t>0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/>
                        <a:t>skip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/>
                        <a:t>-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/>
                        <a:t>0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389740581"/>
                  </a:ext>
                </a:extLst>
              </a:tr>
              <a:tr h="64675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/>
                        <a:t>2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 dirty="0"/>
                        <a:t>2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/>
                        <a:t>1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/>
                        <a:t>0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/>
                        <a:t>new → i++ place 1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/>
                        <a:t>[0,1,...]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/>
                        <a:t>1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2019870020"/>
                  </a:ext>
                </a:extLst>
              </a:tr>
              <a:tr h="36957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/>
                        <a:t>3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/>
                        <a:t>3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/>
                        <a:t>1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/>
                        <a:t>1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/>
                        <a:t>skip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/>
                        <a:t>-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/>
                        <a:t>1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3747240009"/>
                  </a:ext>
                </a:extLst>
              </a:tr>
              <a:tr h="36957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/>
                        <a:t>4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/>
                        <a:t>4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/>
                        <a:t>1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/>
                        <a:t>1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/>
                        <a:t>skip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/>
                        <a:t>-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/>
                        <a:t>1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3756797961"/>
                  </a:ext>
                </a:extLst>
              </a:tr>
              <a:tr h="64675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/>
                        <a:t>5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 dirty="0"/>
                        <a:t>5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/>
                        <a:t>2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/>
                        <a:t>1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/>
                        <a:t>new → i++ place 2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/>
                        <a:t>[0,1,2,...]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/>
                        <a:t>2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1127475233"/>
                  </a:ext>
                </a:extLst>
              </a:tr>
              <a:tr h="36957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/>
                        <a:t>6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/>
                        <a:t>6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/>
                        <a:t>2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/>
                        <a:t>2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/>
                        <a:t>skip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/>
                        <a:t>-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/>
                        <a:t>2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2775631878"/>
                  </a:ext>
                </a:extLst>
              </a:tr>
              <a:tr h="64675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/>
                        <a:t>7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/>
                        <a:t>7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/>
                        <a:t>3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/>
                        <a:t>2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/>
                        <a:t>new → i++ place 3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/>
                        <a:t>[0,1,2,3,...]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/>
                        <a:t>3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111266764"/>
                  </a:ext>
                </a:extLst>
              </a:tr>
              <a:tr h="36957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/>
                        <a:t>8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/>
                        <a:t>8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/>
                        <a:t>3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/>
                        <a:t>3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/>
                        <a:t>skip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/>
                        <a:t>-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/>
                        <a:t>3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3451634880"/>
                  </a:ext>
                </a:extLst>
              </a:tr>
              <a:tr h="64675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/>
                        <a:t>9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/>
                        <a:t>9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/>
                        <a:t>4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/>
                        <a:t>3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/>
                        <a:t>new → i++ place 4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/>
                        <a:t>[0,1,2,3,4,...]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 dirty="0"/>
                        <a:t>4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22250687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F8113CAE-AE31-B0FB-DF71-E2F8DDCE457C}"/>
              </a:ext>
            </a:extLst>
          </p:cNvPr>
          <p:cNvSpPr txBox="1"/>
          <p:nvPr/>
        </p:nvSpPr>
        <p:spPr>
          <a:xfrm>
            <a:off x="540773" y="6176965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Return:</a:t>
            </a:r>
          </a:p>
          <a:p>
            <a:pPr rtl="0">
              <a:buNone/>
            </a:pPr>
            <a:r>
              <a:rPr lang="en-IN" dirty="0" err="1">
                <a:latin typeface="Courier New" panose="02070309020205020404" pitchFamily="49" charset="0"/>
              </a:rPr>
              <a:t>i</a:t>
            </a:r>
            <a:r>
              <a:rPr lang="en-IN" dirty="0">
                <a:latin typeface="Courier New" panose="02070309020205020404" pitchFamily="49" charset="0"/>
              </a:rPr>
              <a:t> + 1 = 5</a:t>
            </a:r>
          </a:p>
        </p:txBody>
      </p:sp>
    </p:spTree>
    <p:extLst>
      <p:ext uri="{BB962C8B-B14F-4D97-AF65-F5344CB8AC3E}">
        <p14:creationId xmlns:p14="http://schemas.microsoft.com/office/powerpoint/2010/main" val="3886707189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4DB8FA1-FB58-771B-4B83-3F0CEEB38FF9}"/>
              </a:ext>
            </a:extLst>
          </p:cNvPr>
          <p:cNvSpPr txBox="1"/>
          <p:nvPr/>
        </p:nvSpPr>
        <p:spPr>
          <a:xfrm>
            <a:off x="216309" y="179634"/>
            <a:ext cx="6096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Pseudocode (C++-Style)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if </a:t>
            </a:r>
            <a:r>
              <a:rPr lang="en-US" dirty="0" err="1">
                <a:latin typeface="Courier New" panose="02070309020205020404" pitchFamily="49" charset="0"/>
              </a:rPr>
              <a:t>nums</a:t>
            </a:r>
            <a:r>
              <a:rPr lang="en-US" dirty="0">
                <a:latin typeface="Courier New" panose="02070309020205020404" pitchFamily="49" charset="0"/>
              </a:rPr>
              <a:t> is empty: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    return 0</a:t>
            </a:r>
            <a:br>
              <a:rPr lang="en-US" dirty="0">
                <a:latin typeface="Courier New" panose="02070309020205020404" pitchFamily="49" charset="0"/>
              </a:rPr>
            </a:b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 err="1">
                <a:latin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</a:rPr>
              <a:t> = 0</a:t>
            </a:r>
            <a:br>
              <a:rPr lang="en-US" dirty="0">
                <a:latin typeface="Courier New" panose="02070309020205020404" pitchFamily="49" charset="0"/>
              </a:rPr>
            </a:b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for j = 1 to n-1: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    if </a:t>
            </a:r>
            <a:r>
              <a:rPr lang="en-US" dirty="0" err="1">
                <a:latin typeface="Courier New" panose="02070309020205020404" pitchFamily="49" charset="0"/>
              </a:rPr>
              <a:t>nums</a:t>
            </a:r>
            <a:r>
              <a:rPr lang="en-US" dirty="0">
                <a:latin typeface="Courier New" panose="02070309020205020404" pitchFamily="49" charset="0"/>
              </a:rPr>
              <a:t>[j] != </a:t>
            </a:r>
            <a:r>
              <a:rPr lang="en-US" dirty="0" err="1">
                <a:latin typeface="Courier New" panose="02070309020205020404" pitchFamily="49" charset="0"/>
              </a:rPr>
              <a:t>nums</a:t>
            </a:r>
            <a:r>
              <a:rPr lang="en-US" dirty="0">
                <a:latin typeface="Courier New" panose="02070309020205020404" pitchFamily="49" charset="0"/>
              </a:rPr>
              <a:t>[</a:t>
            </a:r>
            <a:r>
              <a:rPr lang="en-US" dirty="0" err="1">
                <a:latin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</a:rPr>
              <a:t>]: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        </a:t>
            </a:r>
            <a:r>
              <a:rPr lang="en-US" dirty="0" err="1">
                <a:latin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</a:rPr>
              <a:t> = </a:t>
            </a:r>
            <a:r>
              <a:rPr lang="en-US" dirty="0" err="1">
                <a:latin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</a:rPr>
              <a:t> + 1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        </a:t>
            </a:r>
            <a:r>
              <a:rPr lang="en-US" dirty="0" err="1">
                <a:latin typeface="Courier New" panose="02070309020205020404" pitchFamily="49" charset="0"/>
              </a:rPr>
              <a:t>nums</a:t>
            </a:r>
            <a:r>
              <a:rPr lang="en-US" dirty="0">
                <a:latin typeface="Courier New" panose="02070309020205020404" pitchFamily="49" charset="0"/>
              </a:rPr>
              <a:t>[</a:t>
            </a:r>
            <a:r>
              <a:rPr lang="en-US" dirty="0" err="1">
                <a:latin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</a:rPr>
              <a:t>] = </a:t>
            </a:r>
            <a:r>
              <a:rPr lang="en-US" dirty="0" err="1">
                <a:latin typeface="Courier New" panose="02070309020205020404" pitchFamily="49" charset="0"/>
              </a:rPr>
              <a:t>nums</a:t>
            </a:r>
            <a:r>
              <a:rPr lang="en-US" dirty="0">
                <a:latin typeface="Courier New" panose="02070309020205020404" pitchFamily="49" charset="0"/>
              </a:rPr>
              <a:t>[j]</a:t>
            </a:r>
            <a:br>
              <a:rPr lang="en-US" dirty="0">
                <a:latin typeface="Courier New" panose="02070309020205020404" pitchFamily="49" charset="0"/>
              </a:rPr>
            </a:b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return </a:t>
            </a:r>
            <a:r>
              <a:rPr lang="en-US" dirty="0" err="1">
                <a:latin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</a:rPr>
              <a:t> + 1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794309-B2BC-61E2-9703-A1B7A2D44041}"/>
              </a:ext>
            </a:extLst>
          </p:cNvPr>
          <p:cNvSpPr txBox="1"/>
          <p:nvPr/>
        </p:nvSpPr>
        <p:spPr>
          <a:xfrm>
            <a:off x="216309" y="359595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Time &amp; Space Complexity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09B068D-229B-72E1-FCB1-72FC510AC6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6459741"/>
              </p:ext>
            </p:extLst>
          </p:nvPr>
        </p:nvGraphicFramePr>
        <p:xfrm>
          <a:off x="484239" y="4150744"/>
          <a:ext cx="10515600" cy="10972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448240697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57864159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405195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O(n)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85594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Space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O(1)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658710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9554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7267</TotalTime>
  <Words>7195</Words>
  <Application>Microsoft Office PowerPoint</Application>
  <PresentationFormat>Widescreen</PresentationFormat>
  <Paragraphs>1643</Paragraphs>
  <Slides>77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77</vt:i4>
      </vt:variant>
    </vt:vector>
  </HeadingPairs>
  <TitlesOfParts>
    <vt:vector size="83" baseType="lpstr">
      <vt:lpstr>Aptos</vt:lpstr>
      <vt:lpstr>Aptos Display</vt:lpstr>
      <vt:lpstr>Arial</vt:lpstr>
      <vt:lpstr>Cambria Math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KAARTIK SHUKLA</dc:creator>
  <cp:lastModifiedBy>KAARTIK SHUKLA</cp:lastModifiedBy>
  <cp:revision>187</cp:revision>
  <dcterms:created xsi:type="dcterms:W3CDTF">2025-12-12T15:28:45Z</dcterms:created>
  <dcterms:modified xsi:type="dcterms:W3CDTF">2026-04-11T11:08:45Z</dcterms:modified>
</cp:coreProperties>
</file>