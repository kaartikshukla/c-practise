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0" r:id="rId8"/>
    <p:sldId id="263" r:id="rId9"/>
    <p:sldId id="264" r:id="rId10"/>
    <p:sldId id="265" r:id="rId11"/>
    <p:sldId id="266" r:id="rId12"/>
    <p:sldId id="267" r:id="rId13"/>
    <p:sldId id="271" r:id="rId14"/>
    <p:sldId id="272" r:id="rId15"/>
    <p:sldId id="273" r:id="rId16"/>
    <p:sldId id="274"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 id="304" r:id="rId32"/>
    <p:sldId id="305" r:id="rId33"/>
    <p:sldId id="306" r:id="rId34"/>
    <p:sldId id="307" r:id="rId35"/>
    <p:sldId id="308" r:id="rId36"/>
    <p:sldId id="309" r:id="rId37"/>
    <p:sldId id="310" r:id="rId38"/>
    <p:sldId id="311" r:id="rId39"/>
    <p:sldId id="312" r:id="rId40"/>
    <p:sldId id="313" r:id="rId41"/>
    <p:sldId id="314" r:id="rId42"/>
    <p:sldId id="315" r:id="rId43"/>
    <p:sldId id="316" r:id="rId44"/>
    <p:sldId id="317" r:id="rId45"/>
    <p:sldId id="275" r:id="rId46"/>
    <p:sldId id="280" r:id="rId47"/>
    <p:sldId id="276" r:id="rId48"/>
    <p:sldId id="278" r:id="rId49"/>
    <p:sldId id="279" r:id="rId50"/>
    <p:sldId id="281" r:id="rId51"/>
    <p:sldId id="277" r:id="rId52"/>
    <p:sldId id="282" r:id="rId53"/>
    <p:sldId id="283" r:id="rId54"/>
    <p:sldId id="284" r:id="rId55"/>
    <p:sldId id="285" r:id="rId56"/>
    <p:sldId id="342" r:id="rId57"/>
    <p:sldId id="343" r:id="rId58"/>
    <p:sldId id="344" r:id="rId59"/>
    <p:sldId id="345" r:id="rId60"/>
    <p:sldId id="346" r:id="rId61"/>
    <p:sldId id="347" r:id="rId62"/>
    <p:sldId id="348" r:id="rId63"/>
    <p:sldId id="373" r:id="rId64"/>
    <p:sldId id="374" r:id="rId65"/>
    <p:sldId id="349" r:id="rId66"/>
    <p:sldId id="350" r:id="rId67"/>
    <p:sldId id="376" r:id="rId68"/>
    <p:sldId id="377" r:id="rId69"/>
    <p:sldId id="378" r:id="rId70"/>
    <p:sldId id="379" r:id="rId71"/>
    <p:sldId id="351" r:id="rId72"/>
    <p:sldId id="352" r:id="rId73"/>
    <p:sldId id="353" r:id="rId74"/>
    <p:sldId id="354" r:id="rId75"/>
    <p:sldId id="355" r:id="rId76"/>
    <p:sldId id="288" r:id="rId77"/>
    <p:sldId id="289" r:id="rId78"/>
    <p:sldId id="286" r:id="rId79"/>
    <p:sldId id="319" r:id="rId80"/>
    <p:sldId id="320" r:id="rId81"/>
    <p:sldId id="321" r:id="rId82"/>
    <p:sldId id="322" r:id="rId83"/>
    <p:sldId id="323" r:id="rId84"/>
    <p:sldId id="324" r:id="rId85"/>
    <p:sldId id="325" r:id="rId86"/>
    <p:sldId id="326" r:id="rId87"/>
    <p:sldId id="375" r:id="rId88"/>
    <p:sldId id="328" r:id="rId89"/>
    <p:sldId id="329" r:id="rId90"/>
    <p:sldId id="330" r:id="rId91"/>
    <p:sldId id="331" r:id="rId92"/>
    <p:sldId id="332" r:id="rId93"/>
    <p:sldId id="333" r:id="rId94"/>
    <p:sldId id="365" r:id="rId95"/>
    <p:sldId id="366" r:id="rId96"/>
    <p:sldId id="367" r:id="rId97"/>
    <p:sldId id="334" r:id="rId98"/>
    <p:sldId id="335" r:id="rId99"/>
    <p:sldId id="336" r:id="rId100"/>
    <p:sldId id="339" r:id="rId101"/>
    <p:sldId id="337" r:id="rId102"/>
    <p:sldId id="338" r:id="rId103"/>
    <p:sldId id="268" r:id="rId104"/>
    <p:sldId id="356" r:id="rId105"/>
    <p:sldId id="357" r:id="rId106"/>
    <p:sldId id="358" r:id="rId107"/>
    <p:sldId id="368" r:id="rId108"/>
    <p:sldId id="369" r:id="rId109"/>
    <p:sldId id="370" r:id="rId110"/>
    <p:sldId id="371" r:id="rId111"/>
    <p:sldId id="359" r:id="rId112"/>
    <p:sldId id="360" r:id="rId113"/>
    <p:sldId id="361" r:id="rId114"/>
    <p:sldId id="362" r:id="rId115"/>
    <p:sldId id="363" r:id="rId116"/>
    <p:sldId id="364" r:id="rId117"/>
    <p:sldId id="372" r:id="rId118"/>
    <p:sldId id="381" r:id="rId119"/>
    <p:sldId id="384" r:id="rId120"/>
    <p:sldId id="382" r:id="rId121"/>
    <p:sldId id="380" r:id="rId122"/>
    <p:sldId id="383" r:id="rId123"/>
    <p:sldId id="340" r:id="rId124"/>
    <p:sldId id="341" r:id="rId125"/>
    <p:sldId id="385" r:id="rId126"/>
    <p:sldId id="386" r:id="rId127"/>
    <p:sldId id="387" r:id="rId128"/>
    <p:sldId id="388" r:id="rId129"/>
    <p:sldId id="389" r:id="rId130"/>
    <p:sldId id="390" r:id="rId131"/>
    <p:sldId id="391" r:id="rId132"/>
    <p:sldId id="392" r:id="rId133"/>
    <p:sldId id="393" r:id="rId134"/>
    <p:sldId id="287" r:id="rId135"/>
    <p:sldId id="318" r:id="rId136"/>
    <p:sldId id="327" r:id="rId1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I" id="{3675D633-C4CB-4218-8F33-4AD54E9B8134}">
          <p14:sldIdLst>
            <p14:sldId id="256"/>
            <p14:sldId id="257"/>
            <p14:sldId id="258"/>
            <p14:sldId id="259"/>
            <p14:sldId id="260"/>
            <p14:sldId id="261"/>
            <p14:sldId id="270"/>
            <p14:sldId id="263"/>
            <p14:sldId id="264"/>
            <p14:sldId id="265"/>
            <p14:sldId id="266"/>
            <p14:sldId id="267"/>
            <p14:sldId id="271"/>
            <p14:sldId id="272"/>
            <p14:sldId id="273"/>
            <p14:sldId id="274"/>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275"/>
            <p14:sldId id="280"/>
            <p14:sldId id="276"/>
            <p14:sldId id="278"/>
            <p14:sldId id="279"/>
            <p14:sldId id="281"/>
            <p14:sldId id="277"/>
          </p14:sldIdLst>
        </p14:section>
        <p14:section name="Unit-II" id="{083FA974-9C18-4066-98CA-7BEBA888788A}">
          <p14:sldIdLst>
            <p14:sldId id="282"/>
            <p14:sldId id="283"/>
            <p14:sldId id="284"/>
            <p14:sldId id="285"/>
            <p14:sldId id="342"/>
            <p14:sldId id="343"/>
            <p14:sldId id="344"/>
            <p14:sldId id="345"/>
            <p14:sldId id="346"/>
            <p14:sldId id="347"/>
            <p14:sldId id="348"/>
            <p14:sldId id="373"/>
            <p14:sldId id="374"/>
            <p14:sldId id="349"/>
            <p14:sldId id="350"/>
            <p14:sldId id="376"/>
            <p14:sldId id="377"/>
            <p14:sldId id="378"/>
            <p14:sldId id="379"/>
            <p14:sldId id="351"/>
            <p14:sldId id="352"/>
            <p14:sldId id="353"/>
            <p14:sldId id="354"/>
            <p14:sldId id="355"/>
            <p14:sldId id="288"/>
            <p14:sldId id="289"/>
            <p14:sldId id="286"/>
            <p14:sldId id="319"/>
          </p14:sldIdLst>
        </p14:section>
        <p14:section name="Unit-III" id="{0F4D13D3-B6CE-4AC9-BF30-5CEC880F9586}">
          <p14:sldIdLst>
            <p14:sldId id="320"/>
            <p14:sldId id="321"/>
            <p14:sldId id="322"/>
            <p14:sldId id="323"/>
            <p14:sldId id="324"/>
            <p14:sldId id="325"/>
            <p14:sldId id="326"/>
            <p14:sldId id="375"/>
            <p14:sldId id="328"/>
            <p14:sldId id="329"/>
            <p14:sldId id="330"/>
            <p14:sldId id="331"/>
            <p14:sldId id="332"/>
            <p14:sldId id="333"/>
            <p14:sldId id="365"/>
            <p14:sldId id="366"/>
            <p14:sldId id="367"/>
            <p14:sldId id="334"/>
            <p14:sldId id="335"/>
            <p14:sldId id="336"/>
            <p14:sldId id="339"/>
            <p14:sldId id="337"/>
            <p14:sldId id="338"/>
            <p14:sldId id="268"/>
            <p14:sldId id="356"/>
            <p14:sldId id="357"/>
            <p14:sldId id="358"/>
            <p14:sldId id="368"/>
            <p14:sldId id="369"/>
            <p14:sldId id="370"/>
            <p14:sldId id="371"/>
            <p14:sldId id="359"/>
            <p14:sldId id="360"/>
            <p14:sldId id="361"/>
            <p14:sldId id="362"/>
            <p14:sldId id="363"/>
            <p14:sldId id="364"/>
            <p14:sldId id="372"/>
            <p14:sldId id="381"/>
            <p14:sldId id="384"/>
            <p14:sldId id="382"/>
            <p14:sldId id="380"/>
            <p14:sldId id="383"/>
          </p14:sldIdLst>
        </p14:section>
        <p14:section name="Unit-IV" id="{8C083B60-92D4-46B1-84CB-3416BE6EDAC6}">
          <p14:sldIdLst>
            <p14:sldId id="340"/>
            <p14:sldId id="341"/>
          </p14:sldIdLst>
        </p14:section>
        <p14:section name="Unit-V" id="{42D730CE-FA8E-47C3-9AEC-06D70BA776B9}">
          <p14:sldIdLst>
            <p14:sldId id="385"/>
            <p14:sldId id="386"/>
            <p14:sldId id="387"/>
            <p14:sldId id="388"/>
            <p14:sldId id="389"/>
            <p14:sldId id="390"/>
            <p14:sldId id="391"/>
            <p14:sldId id="392"/>
            <p14:sldId id="393"/>
          </p14:sldIdLst>
        </p14:section>
        <p14:section name="Extra" id="{9F231149-1686-46AC-926F-B61C0FA276EE}">
          <p14:sldIdLst>
            <p14:sldId id="287"/>
            <p14:sldId id="318"/>
            <p14:sldId id="3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771" autoAdjust="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551A4-CBF7-FCC9-7798-395D1842E8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9899EA9-A6D3-92FC-6D94-E9B22A7885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6DFFED-E45C-F782-6748-F3F1C40EAAB3}"/>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5" name="Footer Placeholder 4">
            <a:extLst>
              <a:ext uri="{FF2B5EF4-FFF2-40B4-BE49-F238E27FC236}">
                <a16:creationId xmlns:a16="http://schemas.microsoft.com/office/drawing/2014/main" id="{81B20E45-2FDD-0DB6-7EEE-786563826D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1E9506-49B7-42B4-A972-128E26172817}"/>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563904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EB830-F0CA-F4D7-2BAE-BDE9CCA76D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CA3D88-1BF6-5010-C5B5-06B1BA13EC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F39B08-F5CF-6700-E473-FB3E27FD3E92}"/>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5" name="Footer Placeholder 4">
            <a:extLst>
              <a:ext uri="{FF2B5EF4-FFF2-40B4-BE49-F238E27FC236}">
                <a16:creationId xmlns:a16="http://schemas.microsoft.com/office/drawing/2014/main" id="{624E6CA9-DBE1-A387-F532-7E9F0BFBA2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880AE7-CB37-A698-B0F5-B56BE0C4393A}"/>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2620782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896E-0991-8663-B294-93D834BC30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E6532A-B925-A263-6AE7-08FD4D08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8F8080-DA2D-A8FA-9FFA-2AE52A766A52}"/>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5" name="Footer Placeholder 4">
            <a:extLst>
              <a:ext uri="{FF2B5EF4-FFF2-40B4-BE49-F238E27FC236}">
                <a16:creationId xmlns:a16="http://schemas.microsoft.com/office/drawing/2014/main" id="{334E824E-430C-1BE8-2E17-4A5E7D4043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0EC7C2-4E72-278D-7C90-FA795A673279}"/>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245502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C97B-8893-8150-D2E9-844128F2E07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7983E2-1352-6412-7644-1FBC3FC3A1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419F10-2FF9-5152-D519-FE80DD4F2EC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8AA15FC-3D13-C637-C0B0-0A6EBFC2EEDA}"/>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6" name="Footer Placeholder 5">
            <a:extLst>
              <a:ext uri="{FF2B5EF4-FFF2-40B4-BE49-F238E27FC236}">
                <a16:creationId xmlns:a16="http://schemas.microsoft.com/office/drawing/2014/main" id="{98EC968E-BD51-96E1-B2BF-2FF9795403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65ACCE-2EB0-3AF3-672B-6F6E3EE30F1E}"/>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3071358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56377-20A7-C6DA-B5C5-9B251D6323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43B618-8F3B-6157-B690-1FB031FD8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D4F66B-3667-387B-8D95-AA1077509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BB4401-4B5E-6EE2-DAB5-04D17A3A62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3B43B3-7A6A-3B3E-899C-9630B073EE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63E18A-A28D-1713-5547-5DC133CFD404}"/>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8" name="Footer Placeholder 7">
            <a:extLst>
              <a:ext uri="{FF2B5EF4-FFF2-40B4-BE49-F238E27FC236}">
                <a16:creationId xmlns:a16="http://schemas.microsoft.com/office/drawing/2014/main" id="{E1A6E7A8-C754-BBC6-7152-5F7DD68BF1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C6DF53E-5035-19F5-5A55-5BFBC443C620}"/>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2242914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6EC19-B59F-22A0-9788-E52140596C1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9AFEDA-1A97-B5BF-90DA-060D9AB48E3D}"/>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4" name="Footer Placeholder 3">
            <a:extLst>
              <a:ext uri="{FF2B5EF4-FFF2-40B4-BE49-F238E27FC236}">
                <a16:creationId xmlns:a16="http://schemas.microsoft.com/office/drawing/2014/main" id="{1ACA8E11-5C39-2B40-2329-864D82D240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4FD0F5A-528C-8931-3F95-F50EB3C48B67}"/>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625494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C1AD28-84AC-18EA-8A4B-D3E93C6733F9}"/>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3" name="Footer Placeholder 2">
            <a:extLst>
              <a:ext uri="{FF2B5EF4-FFF2-40B4-BE49-F238E27FC236}">
                <a16:creationId xmlns:a16="http://schemas.microsoft.com/office/drawing/2014/main" id="{329D07C7-3436-4D24-A66B-1C3384ED56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3340F6-C81F-19C4-2936-11D555158537}"/>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2477046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CFB00-9242-F058-E097-33BD6128E7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65A142-72DA-30A9-79DE-F7C274B415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E31415-0806-4BA9-62AD-4800C9C09D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FED09A-94AB-34D4-D481-E8941748852E}"/>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6" name="Footer Placeholder 5">
            <a:extLst>
              <a:ext uri="{FF2B5EF4-FFF2-40B4-BE49-F238E27FC236}">
                <a16:creationId xmlns:a16="http://schemas.microsoft.com/office/drawing/2014/main" id="{C3222608-45E4-E01D-2428-D6CB13ABD4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8BFB86-B211-4316-A670-A23F561C9013}"/>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2028702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3CC0B-064E-C68C-2C3F-67E795E56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CDE29B-306A-D5DB-EB4D-EF4DD39308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356B3D-7864-AB47-2711-7641454F8F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F76A9-8D1A-9FDA-CF89-A263695B3202}"/>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6" name="Footer Placeholder 5">
            <a:extLst>
              <a:ext uri="{FF2B5EF4-FFF2-40B4-BE49-F238E27FC236}">
                <a16:creationId xmlns:a16="http://schemas.microsoft.com/office/drawing/2014/main" id="{FE6CF902-145D-75E8-DDDF-5E83D0F816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C65781-0405-8F42-58A3-31AC412F3E85}"/>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1443513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19DD5-719D-2E6E-0DF4-4A19269E255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7FC98E-D10C-9678-9E0B-A051C2710C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2E8E02-1553-44FD-A401-AE1773C7F970}"/>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5" name="Footer Placeholder 4">
            <a:extLst>
              <a:ext uri="{FF2B5EF4-FFF2-40B4-BE49-F238E27FC236}">
                <a16:creationId xmlns:a16="http://schemas.microsoft.com/office/drawing/2014/main" id="{BBD8FDAB-6F68-64C2-2E78-FFAA514F3F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6F566B-7CC1-2007-56F8-D7648EC29F42}"/>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942385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9C347F-DD63-E4C9-7CEF-22E7D534A2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7ADD4C-02A0-BC30-132B-6C983B263D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2BC8B9-2B7A-217C-40B8-A98EFD2C43E4}"/>
              </a:ext>
            </a:extLst>
          </p:cNvPr>
          <p:cNvSpPr>
            <a:spLocks noGrp="1"/>
          </p:cNvSpPr>
          <p:nvPr>
            <p:ph type="dt" sz="half" idx="10"/>
          </p:nvPr>
        </p:nvSpPr>
        <p:spPr/>
        <p:txBody>
          <a:bodyPr/>
          <a:lstStyle/>
          <a:p>
            <a:fld id="{A9A82386-17CC-46EC-B393-D12AC0B270A0}" type="datetimeFigureOut">
              <a:rPr lang="en-IN" smtClean="0"/>
              <a:t>20-11-2025</a:t>
            </a:fld>
            <a:endParaRPr lang="en-IN"/>
          </a:p>
        </p:txBody>
      </p:sp>
      <p:sp>
        <p:nvSpPr>
          <p:cNvPr id="5" name="Footer Placeholder 4">
            <a:extLst>
              <a:ext uri="{FF2B5EF4-FFF2-40B4-BE49-F238E27FC236}">
                <a16:creationId xmlns:a16="http://schemas.microsoft.com/office/drawing/2014/main" id="{34166548-4524-B98F-4D38-4C918313BC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2412C1-EE18-6148-9A38-40C69FE78A45}"/>
              </a:ext>
            </a:extLst>
          </p:cNvPr>
          <p:cNvSpPr>
            <a:spLocks noGrp="1"/>
          </p:cNvSpPr>
          <p:nvPr>
            <p:ph type="sldNum" sz="quarter" idx="12"/>
          </p:nvPr>
        </p:nvSpPr>
        <p:spPr/>
        <p:txBody>
          <a:bodyPr/>
          <a:lstStyle/>
          <a:p>
            <a:fld id="{0FADDCA4-93C8-4452-9F06-BD0144263619}" type="slidenum">
              <a:rPr lang="en-IN" smtClean="0"/>
              <a:t>‹#›</a:t>
            </a:fld>
            <a:endParaRPr lang="en-IN"/>
          </a:p>
        </p:txBody>
      </p:sp>
    </p:spTree>
    <p:extLst>
      <p:ext uri="{BB962C8B-B14F-4D97-AF65-F5344CB8AC3E}">
        <p14:creationId xmlns:p14="http://schemas.microsoft.com/office/powerpoint/2010/main" val="1860816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A37689-07A7-9C32-6334-40B0CE1FDA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58A55E-4D3A-ACBB-975C-7EFBC79620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BB7A53-F373-6487-2EA8-5A27359DE4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A82386-17CC-46EC-B393-D12AC0B270A0}" type="datetimeFigureOut">
              <a:rPr lang="en-IN" smtClean="0"/>
              <a:t>20-11-2025</a:t>
            </a:fld>
            <a:endParaRPr lang="en-IN"/>
          </a:p>
        </p:txBody>
      </p:sp>
      <p:sp>
        <p:nvSpPr>
          <p:cNvPr id="5" name="Footer Placeholder 4">
            <a:extLst>
              <a:ext uri="{FF2B5EF4-FFF2-40B4-BE49-F238E27FC236}">
                <a16:creationId xmlns:a16="http://schemas.microsoft.com/office/drawing/2014/main" id="{B75F9DC1-DAE7-B75B-DF25-ED6ECB1BEE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3A3CA1F-0233-C403-E776-F22B88E1C9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ADDCA4-93C8-4452-9F06-BD0144263619}" type="slidenum">
              <a:rPr lang="en-IN" smtClean="0"/>
              <a:t>‹#›</a:t>
            </a:fld>
            <a:endParaRPr lang="en-IN"/>
          </a:p>
        </p:txBody>
      </p:sp>
    </p:spTree>
    <p:extLst>
      <p:ext uri="{BB962C8B-B14F-4D97-AF65-F5344CB8AC3E}">
        <p14:creationId xmlns:p14="http://schemas.microsoft.com/office/powerpoint/2010/main" val="3023611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B9D5D7-6363-2135-7C95-CED0653C472D}"/>
              </a:ext>
            </a:extLst>
          </p:cNvPr>
          <p:cNvSpPr txBox="1"/>
          <p:nvPr/>
        </p:nvSpPr>
        <p:spPr>
          <a:xfrm>
            <a:off x="181897" y="646837"/>
            <a:ext cx="11828206" cy="4524315"/>
          </a:xfrm>
          <a:prstGeom prst="rect">
            <a:avLst/>
          </a:prstGeom>
          <a:noFill/>
        </p:spPr>
        <p:txBody>
          <a:bodyPr wrap="square">
            <a:spAutoFit/>
          </a:bodyPr>
          <a:lstStyle/>
          <a:p>
            <a:pPr>
              <a:buNone/>
            </a:pPr>
            <a:r>
              <a:rPr lang="en-US" sz="3600" b="1" dirty="0"/>
              <a:t>What is a Programming Approach (or Paradigm)?</a:t>
            </a:r>
          </a:p>
          <a:p>
            <a:pPr>
              <a:buNone/>
            </a:pPr>
            <a:endParaRPr lang="en-US" sz="3600" b="1" dirty="0"/>
          </a:p>
          <a:p>
            <a:pPr>
              <a:buNone/>
            </a:pPr>
            <a:r>
              <a:rPr lang="en-US" sz="3600" dirty="0"/>
              <a:t>A </a:t>
            </a:r>
            <a:r>
              <a:rPr lang="en-US" sz="3600" b="1" dirty="0"/>
              <a:t>programming approach</a:t>
            </a:r>
            <a:r>
              <a:rPr lang="en-US" sz="3600" dirty="0"/>
              <a:t> means the </a:t>
            </a:r>
            <a:r>
              <a:rPr lang="en-US" sz="3600" b="1" dirty="0"/>
              <a:t>way we think and write code</a:t>
            </a:r>
            <a:r>
              <a:rPr lang="en-US" sz="3600" dirty="0"/>
              <a:t> to solve a problem.</a:t>
            </a:r>
          </a:p>
          <a:p>
            <a:pPr>
              <a:buNone/>
            </a:pPr>
            <a:endParaRPr lang="en-US" sz="3600" dirty="0"/>
          </a:p>
          <a:p>
            <a:pPr>
              <a:buNone/>
            </a:pPr>
            <a:r>
              <a:rPr lang="en-US" sz="3600" dirty="0"/>
              <a:t>Earlier, programmers used </a:t>
            </a:r>
            <a:r>
              <a:rPr lang="en-US" sz="3600" b="1" dirty="0"/>
              <a:t>procedural or functional</a:t>
            </a:r>
            <a:r>
              <a:rPr lang="en-US" sz="3600" dirty="0"/>
              <a:t> approaches, but later a new style came called the </a:t>
            </a:r>
            <a:r>
              <a:rPr lang="en-US" sz="3600" b="1" dirty="0"/>
              <a:t>Object-Oriented Approach</a:t>
            </a:r>
            <a:r>
              <a:rPr lang="en-US" sz="3600" dirty="0"/>
              <a:t> (OOP).</a:t>
            </a:r>
          </a:p>
        </p:txBody>
      </p:sp>
    </p:spTree>
    <p:extLst>
      <p:ext uri="{BB962C8B-B14F-4D97-AF65-F5344CB8AC3E}">
        <p14:creationId xmlns:p14="http://schemas.microsoft.com/office/powerpoint/2010/main" val="2860605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6F1BB-1B48-A29D-F57C-1B4CDC0E0CF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E255F2-933E-E2EE-593E-968636C6200D}"/>
              </a:ext>
            </a:extLst>
          </p:cNvPr>
          <p:cNvSpPr txBox="1"/>
          <p:nvPr/>
        </p:nvSpPr>
        <p:spPr>
          <a:xfrm>
            <a:off x="78658" y="115895"/>
            <a:ext cx="11931445" cy="6186309"/>
          </a:xfrm>
          <a:prstGeom prst="rect">
            <a:avLst/>
          </a:prstGeom>
          <a:noFill/>
        </p:spPr>
        <p:txBody>
          <a:bodyPr wrap="square">
            <a:spAutoFit/>
          </a:bodyPr>
          <a:lstStyle/>
          <a:p>
            <a:r>
              <a:rPr lang="en-US" sz="3600" b="1" dirty="0"/>
              <a:t>Why was Object-Oriented Approach introduced?</a:t>
            </a:r>
          </a:p>
          <a:p>
            <a:endParaRPr lang="en-US" sz="3600" b="1" dirty="0"/>
          </a:p>
          <a:p>
            <a:r>
              <a:rPr lang="en-US" sz="3600" dirty="0"/>
              <a:t>In old-style programming (like </a:t>
            </a:r>
            <a:r>
              <a:rPr lang="en-US" sz="3600" b="1" dirty="0"/>
              <a:t>C language</a:t>
            </a:r>
            <a:r>
              <a:rPr lang="en-US" sz="3600" dirty="0"/>
              <a:t>):</a:t>
            </a:r>
          </a:p>
          <a:p>
            <a:r>
              <a:rPr lang="en-US" sz="3600" dirty="0"/>
              <a:t>Programs were divided into </a:t>
            </a:r>
            <a:r>
              <a:rPr lang="en-US" sz="3600" b="1" dirty="0"/>
              <a:t>functions</a:t>
            </a:r>
            <a:r>
              <a:rPr lang="en-US" sz="3600" dirty="0"/>
              <a:t>.</a:t>
            </a:r>
          </a:p>
          <a:p>
            <a:endParaRPr lang="en-US" sz="3600" dirty="0"/>
          </a:p>
          <a:p>
            <a:r>
              <a:rPr lang="en-US" sz="3600" dirty="0"/>
              <a:t>Data was </a:t>
            </a:r>
            <a:r>
              <a:rPr lang="en-US" sz="3600" b="1" dirty="0"/>
              <a:t>global</a:t>
            </a:r>
            <a:r>
              <a:rPr lang="en-US" sz="3600" dirty="0"/>
              <a:t>, and every function could access it.</a:t>
            </a:r>
          </a:p>
          <a:p>
            <a:r>
              <a:rPr lang="en-US" sz="3600" dirty="0"/>
              <a:t>When projects became large, it became </a:t>
            </a:r>
            <a:r>
              <a:rPr lang="en-US" sz="3600" b="1" dirty="0"/>
              <a:t>difficult to manage</a:t>
            </a:r>
            <a:r>
              <a:rPr lang="en-US" sz="3600" dirty="0"/>
              <a:t> and </a:t>
            </a:r>
            <a:r>
              <a:rPr lang="en-US" sz="3600" b="1" dirty="0"/>
              <a:t>error-prone</a:t>
            </a:r>
            <a:r>
              <a:rPr lang="en-US" sz="3600" dirty="0"/>
              <a:t>.</a:t>
            </a:r>
          </a:p>
          <a:p>
            <a:endParaRPr lang="en-US" sz="3600" dirty="0"/>
          </a:p>
          <a:p>
            <a:r>
              <a:rPr lang="en-US" sz="3600" dirty="0"/>
              <a:t>So, to solve this problem, a new approach was introduced </a:t>
            </a:r>
            <a:br>
              <a:rPr lang="en-US" sz="3600" dirty="0"/>
            </a:br>
            <a:r>
              <a:rPr lang="en-US" sz="3600" b="1" dirty="0"/>
              <a:t>Object-Oriented Programming (OOP)</a:t>
            </a:r>
            <a:r>
              <a:rPr lang="en-US" sz="3600" dirty="0"/>
              <a:t> in </a:t>
            </a:r>
            <a:r>
              <a:rPr lang="en-US" sz="3600" b="1" dirty="0"/>
              <a:t>C++</a:t>
            </a:r>
            <a:r>
              <a:rPr lang="en-US" sz="3600" dirty="0"/>
              <a:t>.</a:t>
            </a:r>
          </a:p>
        </p:txBody>
      </p:sp>
    </p:spTree>
    <p:extLst>
      <p:ext uri="{BB962C8B-B14F-4D97-AF65-F5344CB8AC3E}">
        <p14:creationId xmlns:p14="http://schemas.microsoft.com/office/powerpoint/2010/main" val="2972217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C996E-610E-3F48-9F28-F961B84298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68099C-70AD-7045-35E2-EBE5612B33A7}"/>
              </a:ext>
            </a:extLst>
          </p:cNvPr>
          <p:cNvSpPr txBox="1"/>
          <p:nvPr/>
        </p:nvSpPr>
        <p:spPr>
          <a:xfrm>
            <a:off x="78658" y="115895"/>
            <a:ext cx="11931445" cy="6186309"/>
          </a:xfrm>
          <a:prstGeom prst="rect">
            <a:avLst/>
          </a:prstGeom>
          <a:noFill/>
        </p:spPr>
        <p:txBody>
          <a:bodyPr wrap="square">
            <a:spAutoFit/>
          </a:bodyPr>
          <a:lstStyle/>
          <a:p>
            <a:r>
              <a:rPr lang="en-US" sz="3600" b="1" dirty="0"/>
              <a:t>What is the Object-Oriented Approach?</a:t>
            </a:r>
          </a:p>
          <a:p>
            <a:endParaRPr lang="en-US" sz="3600" b="1" dirty="0"/>
          </a:p>
          <a:p>
            <a:r>
              <a:rPr lang="en-US" sz="3600" b="1" dirty="0"/>
              <a:t>Object-Oriented Approach</a:t>
            </a:r>
            <a:r>
              <a:rPr lang="en-US" sz="3600" dirty="0"/>
              <a:t> means writing programs using </a:t>
            </a:r>
            <a:r>
              <a:rPr lang="en-US" sz="3600" b="1" dirty="0"/>
              <a:t>objects and classes </a:t>
            </a:r>
            <a:r>
              <a:rPr lang="en-IN" sz="3600" dirty="0"/>
              <a:t>that model real-world entities.</a:t>
            </a:r>
            <a:endParaRPr lang="en-US" sz="3600" dirty="0"/>
          </a:p>
          <a:p>
            <a:endParaRPr lang="en-US" sz="3600" dirty="0"/>
          </a:p>
          <a:p>
            <a:r>
              <a:rPr lang="en-US" sz="3600" dirty="0"/>
              <a:t>A </a:t>
            </a:r>
            <a:r>
              <a:rPr lang="en-US" sz="3600" b="1" dirty="0"/>
              <a:t>Class</a:t>
            </a:r>
            <a:r>
              <a:rPr lang="en-US" sz="3600" dirty="0"/>
              <a:t> is something that has:</a:t>
            </a:r>
          </a:p>
          <a:p>
            <a:r>
              <a:rPr lang="en-US" sz="3600" b="1" dirty="0"/>
              <a:t>Data</a:t>
            </a:r>
            <a:r>
              <a:rPr lang="en-US" sz="3600" dirty="0"/>
              <a:t> (also called </a:t>
            </a:r>
            <a:r>
              <a:rPr lang="en-US" sz="3600" i="1" dirty="0"/>
              <a:t>attributes</a:t>
            </a:r>
            <a:r>
              <a:rPr lang="en-US" sz="3600" dirty="0"/>
              <a:t> or </a:t>
            </a:r>
            <a:r>
              <a:rPr lang="en-US" sz="3600" i="1" dirty="0"/>
              <a:t>properties</a:t>
            </a:r>
            <a:r>
              <a:rPr lang="en-US" sz="3600" dirty="0"/>
              <a:t>), and</a:t>
            </a:r>
          </a:p>
          <a:p>
            <a:r>
              <a:rPr lang="en-US" sz="3600" b="1" dirty="0"/>
              <a:t>Functions</a:t>
            </a:r>
            <a:r>
              <a:rPr lang="en-US" sz="3600" dirty="0"/>
              <a:t> (also called </a:t>
            </a:r>
            <a:r>
              <a:rPr lang="en-US" sz="3600" i="1" dirty="0"/>
              <a:t>methods</a:t>
            </a:r>
            <a:r>
              <a:rPr lang="en-US" sz="3600" dirty="0"/>
              <a:t> or </a:t>
            </a:r>
            <a:r>
              <a:rPr lang="en-US" sz="3600" i="1" dirty="0"/>
              <a:t>behaviors</a:t>
            </a:r>
            <a:r>
              <a:rPr lang="en-US" sz="3600" dirty="0"/>
              <a:t>).</a:t>
            </a:r>
          </a:p>
          <a:p>
            <a:endParaRPr lang="en-US" sz="3600" dirty="0"/>
          </a:p>
          <a:p>
            <a:r>
              <a:rPr lang="en-US" sz="3600" dirty="0"/>
              <a:t>Example:</a:t>
            </a:r>
            <a:br>
              <a:rPr lang="en-US" sz="3600" dirty="0"/>
            </a:br>
            <a:r>
              <a:rPr lang="en-US" sz="3600" dirty="0"/>
              <a:t>Think about a </a:t>
            </a:r>
            <a:r>
              <a:rPr lang="en-US" sz="3600" b="1" dirty="0"/>
              <a:t>Car</a:t>
            </a:r>
            <a:r>
              <a:rPr lang="en-US" sz="3600" dirty="0"/>
              <a:t>.</a:t>
            </a:r>
          </a:p>
        </p:txBody>
      </p:sp>
    </p:spTree>
    <p:extLst>
      <p:ext uri="{BB962C8B-B14F-4D97-AF65-F5344CB8AC3E}">
        <p14:creationId xmlns:p14="http://schemas.microsoft.com/office/powerpoint/2010/main" val="3477373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F19512A-565B-C9EE-81EE-274B4844D511}"/>
              </a:ext>
            </a:extLst>
          </p:cNvPr>
          <p:cNvGraphicFramePr>
            <a:graphicFrameLocks noGrp="1"/>
          </p:cNvGraphicFramePr>
          <p:nvPr>
            <p:extLst>
              <p:ext uri="{D42A27DB-BD31-4B8C-83A1-F6EECF244321}">
                <p14:modId xmlns:p14="http://schemas.microsoft.com/office/powerpoint/2010/main" val="2666007606"/>
              </p:ext>
            </p:extLst>
          </p:nvPr>
        </p:nvGraphicFramePr>
        <p:xfrm>
          <a:off x="186813" y="1342652"/>
          <a:ext cx="11808542" cy="2560320"/>
        </p:xfrm>
        <a:graphic>
          <a:graphicData uri="http://schemas.openxmlformats.org/drawingml/2006/table">
            <a:tbl>
              <a:tblPr/>
              <a:tblGrid>
                <a:gridCol w="5904271">
                  <a:extLst>
                    <a:ext uri="{9D8B030D-6E8A-4147-A177-3AD203B41FA5}">
                      <a16:colId xmlns:a16="http://schemas.microsoft.com/office/drawing/2014/main" val="3747571808"/>
                    </a:ext>
                  </a:extLst>
                </a:gridCol>
                <a:gridCol w="5904271">
                  <a:extLst>
                    <a:ext uri="{9D8B030D-6E8A-4147-A177-3AD203B41FA5}">
                      <a16:colId xmlns:a16="http://schemas.microsoft.com/office/drawing/2014/main" val="1958438903"/>
                    </a:ext>
                  </a:extLst>
                </a:gridCol>
              </a:tblGrid>
              <a:tr h="0">
                <a:tc>
                  <a:txBody>
                    <a:bodyPr/>
                    <a:lstStyle/>
                    <a:p>
                      <a:pPr>
                        <a:buNone/>
                      </a:pPr>
                      <a:r>
                        <a:rPr lang="en-IN" sz="3600"/>
                        <a:t>Concept</a:t>
                      </a:r>
                    </a:p>
                  </a:txBody>
                  <a:tcPr anchor="ctr">
                    <a:lnL>
                      <a:noFill/>
                    </a:lnL>
                    <a:lnR>
                      <a:noFill/>
                    </a:lnR>
                    <a:lnT>
                      <a:noFill/>
                    </a:lnT>
                    <a:lnB>
                      <a:noFill/>
                    </a:lnB>
                    <a:noFill/>
                  </a:tcPr>
                </a:tc>
                <a:tc>
                  <a:txBody>
                    <a:bodyPr/>
                    <a:lstStyle/>
                    <a:p>
                      <a:pPr>
                        <a:buNone/>
                      </a:pPr>
                      <a:r>
                        <a:rPr lang="en-IN" sz="3600"/>
                        <a:t>Example</a:t>
                      </a:r>
                    </a:p>
                  </a:txBody>
                  <a:tcPr anchor="ctr">
                    <a:lnL>
                      <a:noFill/>
                    </a:lnL>
                    <a:lnR>
                      <a:noFill/>
                    </a:lnR>
                    <a:lnT>
                      <a:noFill/>
                    </a:lnT>
                    <a:lnB>
                      <a:noFill/>
                    </a:lnB>
                    <a:noFill/>
                  </a:tcPr>
                </a:tc>
                <a:extLst>
                  <a:ext uri="{0D108BD9-81ED-4DB2-BD59-A6C34878D82A}">
                    <a16:rowId xmlns:a16="http://schemas.microsoft.com/office/drawing/2014/main" val="2299003982"/>
                  </a:ext>
                </a:extLst>
              </a:tr>
              <a:tr h="0">
                <a:tc>
                  <a:txBody>
                    <a:bodyPr/>
                    <a:lstStyle/>
                    <a:p>
                      <a:pPr>
                        <a:buNone/>
                      </a:pPr>
                      <a:r>
                        <a:rPr lang="en-IN" sz="3600" dirty="0"/>
                        <a:t>Class</a:t>
                      </a:r>
                    </a:p>
                  </a:txBody>
                  <a:tcPr anchor="ctr">
                    <a:lnL>
                      <a:noFill/>
                    </a:lnL>
                    <a:lnR>
                      <a:noFill/>
                    </a:lnR>
                    <a:lnT>
                      <a:noFill/>
                    </a:lnT>
                    <a:lnB>
                      <a:noFill/>
                    </a:lnB>
                    <a:noFill/>
                  </a:tcPr>
                </a:tc>
                <a:tc>
                  <a:txBody>
                    <a:bodyPr/>
                    <a:lstStyle/>
                    <a:p>
                      <a:pPr>
                        <a:buNone/>
                      </a:pPr>
                      <a:r>
                        <a:rPr lang="en-IN" sz="3600"/>
                        <a:t>Car</a:t>
                      </a:r>
                    </a:p>
                  </a:txBody>
                  <a:tcPr anchor="ctr">
                    <a:lnL>
                      <a:noFill/>
                    </a:lnL>
                    <a:lnR>
                      <a:noFill/>
                    </a:lnR>
                    <a:lnT>
                      <a:noFill/>
                    </a:lnT>
                    <a:lnB>
                      <a:noFill/>
                    </a:lnB>
                    <a:noFill/>
                  </a:tcPr>
                </a:tc>
                <a:extLst>
                  <a:ext uri="{0D108BD9-81ED-4DB2-BD59-A6C34878D82A}">
                    <a16:rowId xmlns:a16="http://schemas.microsoft.com/office/drawing/2014/main" val="104118484"/>
                  </a:ext>
                </a:extLst>
              </a:tr>
              <a:tr h="0">
                <a:tc>
                  <a:txBody>
                    <a:bodyPr/>
                    <a:lstStyle/>
                    <a:p>
                      <a:pPr>
                        <a:buNone/>
                      </a:pPr>
                      <a:r>
                        <a:rPr lang="en-IN" sz="3600"/>
                        <a:t>Attributes</a:t>
                      </a:r>
                    </a:p>
                  </a:txBody>
                  <a:tcPr anchor="ctr">
                    <a:lnL>
                      <a:noFill/>
                    </a:lnL>
                    <a:lnR>
                      <a:noFill/>
                    </a:lnR>
                    <a:lnT>
                      <a:noFill/>
                    </a:lnT>
                    <a:lnB>
                      <a:noFill/>
                    </a:lnB>
                    <a:noFill/>
                  </a:tcPr>
                </a:tc>
                <a:tc>
                  <a:txBody>
                    <a:bodyPr/>
                    <a:lstStyle/>
                    <a:p>
                      <a:pPr>
                        <a:buNone/>
                      </a:pPr>
                      <a:r>
                        <a:rPr lang="en-IN" sz="3600"/>
                        <a:t>color, brand, speed</a:t>
                      </a:r>
                    </a:p>
                  </a:txBody>
                  <a:tcPr anchor="ctr">
                    <a:lnL>
                      <a:noFill/>
                    </a:lnL>
                    <a:lnR>
                      <a:noFill/>
                    </a:lnR>
                    <a:lnT>
                      <a:noFill/>
                    </a:lnT>
                    <a:lnB>
                      <a:noFill/>
                    </a:lnB>
                    <a:noFill/>
                  </a:tcPr>
                </a:tc>
                <a:extLst>
                  <a:ext uri="{0D108BD9-81ED-4DB2-BD59-A6C34878D82A}">
                    <a16:rowId xmlns:a16="http://schemas.microsoft.com/office/drawing/2014/main" val="1506635141"/>
                  </a:ext>
                </a:extLst>
              </a:tr>
              <a:tr h="0">
                <a:tc>
                  <a:txBody>
                    <a:bodyPr/>
                    <a:lstStyle/>
                    <a:p>
                      <a:pPr>
                        <a:buNone/>
                      </a:pPr>
                      <a:r>
                        <a:rPr lang="en-IN" sz="3600"/>
                        <a:t>Methods</a:t>
                      </a:r>
                    </a:p>
                  </a:txBody>
                  <a:tcPr anchor="ctr">
                    <a:lnL>
                      <a:noFill/>
                    </a:lnL>
                    <a:lnR>
                      <a:noFill/>
                    </a:lnR>
                    <a:lnT>
                      <a:noFill/>
                    </a:lnT>
                    <a:lnB>
                      <a:noFill/>
                    </a:lnB>
                    <a:noFill/>
                  </a:tcPr>
                </a:tc>
                <a:tc>
                  <a:txBody>
                    <a:bodyPr/>
                    <a:lstStyle/>
                    <a:p>
                      <a:pPr>
                        <a:buNone/>
                      </a:pPr>
                      <a:r>
                        <a:rPr lang="en-IN" sz="3600" dirty="0"/>
                        <a:t>start(), stop(), accelerate()</a:t>
                      </a:r>
                    </a:p>
                  </a:txBody>
                  <a:tcPr anchor="ctr">
                    <a:lnL>
                      <a:noFill/>
                    </a:lnL>
                    <a:lnR>
                      <a:noFill/>
                    </a:lnR>
                    <a:lnT>
                      <a:noFill/>
                    </a:lnT>
                    <a:lnB>
                      <a:noFill/>
                    </a:lnB>
                    <a:noFill/>
                  </a:tcPr>
                </a:tc>
                <a:extLst>
                  <a:ext uri="{0D108BD9-81ED-4DB2-BD59-A6C34878D82A}">
                    <a16:rowId xmlns:a16="http://schemas.microsoft.com/office/drawing/2014/main" val="4164424768"/>
                  </a:ext>
                </a:extLst>
              </a:tr>
            </a:tbl>
          </a:graphicData>
        </a:graphic>
      </p:graphicFrame>
      <p:sp>
        <p:nvSpPr>
          <p:cNvPr id="4" name="TextBox 3">
            <a:extLst>
              <a:ext uri="{FF2B5EF4-FFF2-40B4-BE49-F238E27FC236}">
                <a16:creationId xmlns:a16="http://schemas.microsoft.com/office/drawing/2014/main" id="{640E68FD-9D31-8D12-AD7A-3FEF7890D72E}"/>
              </a:ext>
            </a:extLst>
          </p:cNvPr>
          <p:cNvSpPr txBox="1"/>
          <p:nvPr/>
        </p:nvSpPr>
        <p:spPr>
          <a:xfrm>
            <a:off x="186813" y="4425816"/>
            <a:ext cx="11808542" cy="1200329"/>
          </a:xfrm>
          <a:prstGeom prst="rect">
            <a:avLst/>
          </a:prstGeom>
          <a:noFill/>
        </p:spPr>
        <p:txBody>
          <a:bodyPr wrap="square">
            <a:spAutoFit/>
          </a:bodyPr>
          <a:lstStyle/>
          <a:p>
            <a:r>
              <a:rPr lang="en-US" sz="3600" dirty="0"/>
              <a:t>So, in OOP we combine </a:t>
            </a:r>
            <a:r>
              <a:rPr lang="en-US" sz="3600" b="1" dirty="0"/>
              <a:t>data + functions</a:t>
            </a:r>
            <a:r>
              <a:rPr lang="en-US" sz="3600" dirty="0"/>
              <a:t> inside one unit called a </a:t>
            </a:r>
            <a:r>
              <a:rPr lang="en-US" sz="3600" b="1" dirty="0"/>
              <a:t>Class</a:t>
            </a:r>
            <a:r>
              <a:rPr lang="en-US" sz="3600" dirty="0"/>
              <a:t>.</a:t>
            </a:r>
            <a:endParaRPr lang="en-IN" sz="3600" dirty="0"/>
          </a:p>
        </p:txBody>
      </p:sp>
    </p:spTree>
    <p:extLst>
      <p:ext uri="{BB962C8B-B14F-4D97-AF65-F5344CB8AC3E}">
        <p14:creationId xmlns:p14="http://schemas.microsoft.com/office/powerpoint/2010/main" val="3035395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6007B7-7A68-442F-ECF3-774A7F31A954}"/>
              </a:ext>
            </a:extLst>
          </p:cNvPr>
          <p:cNvSpPr txBox="1"/>
          <p:nvPr/>
        </p:nvSpPr>
        <p:spPr>
          <a:xfrm>
            <a:off x="78658" y="158616"/>
            <a:ext cx="11956026" cy="1200329"/>
          </a:xfrm>
          <a:prstGeom prst="rect">
            <a:avLst/>
          </a:prstGeom>
          <a:noFill/>
        </p:spPr>
        <p:txBody>
          <a:bodyPr wrap="square">
            <a:spAutoFit/>
          </a:bodyPr>
          <a:lstStyle/>
          <a:p>
            <a:pPr>
              <a:buNone/>
            </a:pPr>
            <a:r>
              <a:rPr lang="en-US" sz="3600" b="1" dirty="0"/>
              <a:t>Real-Life Example</a:t>
            </a:r>
          </a:p>
          <a:p>
            <a:pPr>
              <a:buNone/>
            </a:pPr>
            <a:r>
              <a:rPr lang="en-US" sz="3600" dirty="0"/>
              <a:t>Imagine you have a </a:t>
            </a:r>
            <a:r>
              <a:rPr lang="en-US" sz="3600" b="1" dirty="0"/>
              <a:t>Mobile Phone</a:t>
            </a:r>
            <a:r>
              <a:rPr lang="en-US" sz="3600" dirty="0"/>
              <a:t>.</a:t>
            </a:r>
          </a:p>
        </p:txBody>
      </p:sp>
      <p:graphicFrame>
        <p:nvGraphicFramePr>
          <p:cNvPr id="4" name="Table 3">
            <a:extLst>
              <a:ext uri="{FF2B5EF4-FFF2-40B4-BE49-F238E27FC236}">
                <a16:creationId xmlns:a16="http://schemas.microsoft.com/office/drawing/2014/main" id="{4991B151-C62A-F837-D7F3-9E8965BC1D78}"/>
              </a:ext>
            </a:extLst>
          </p:cNvPr>
          <p:cNvGraphicFramePr>
            <a:graphicFrameLocks noGrp="1"/>
          </p:cNvGraphicFramePr>
          <p:nvPr>
            <p:extLst>
              <p:ext uri="{D42A27DB-BD31-4B8C-83A1-F6EECF244321}">
                <p14:modId xmlns:p14="http://schemas.microsoft.com/office/powerpoint/2010/main" val="3775303072"/>
              </p:ext>
            </p:extLst>
          </p:nvPr>
        </p:nvGraphicFramePr>
        <p:xfrm>
          <a:off x="179438" y="1525531"/>
          <a:ext cx="11855246" cy="2468880"/>
        </p:xfrm>
        <a:graphic>
          <a:graphicData uri="http://schemas.openxmlformats.org/drawingml/2006/table">
            <a:tbl>
              <a:tblPr/>
              <a:tblGrid>
                <a:gridCol w="5927623">
                  <a:extLst>
                    <a:ext uri="{9D8B030D-6E8A-4147-A177-3AD203B41FA5}">
                      <a16:colId xmlns:a16="http://schemas.microsoft.com/office/drawing/2014/main" val="2343827620"/>
                    </a:ext>
                  </a:extLst>
                </a:gridCol>
                <a:gridCol w="5927623">
                  <a:extLst>
                    <a:ext uri="{9D8B030D-6E8A-4147-A177-3AD203B41FA5}">
                      <a16:colId xmlns:a16="http://schemas.microsoft.com/office/drawing/2014/main" val="1937053438"/>
                    </a:ext>
                  </a:extLst>
                </a:gridCol>
              </a:tblGrid>
              <a:tr h="0">
                <a:tc>
                  <a:txBody>
                    <a:bodyPr/>
                    <a:lstStyle/>
                    <a:p>
                      <a:pPr>
                        <a:buNone/>
                      </a:pPr>
                      <a:r>
                        <a:rPr lang="en-IN" sz="3600"/>
                        <a:t>Feature</a:t>
                      </a:r>
                    </a:p>
                  </a:txBody>
                  <a:tcPr anchor="ctr">
                    <a:lnL>
                      <a:noFill/>
                    </a:lnL>
                    <a:lnR>
                      <a:noFill/>
                    </a:lnR>
                    <a:lnT>
                      <a:noFill/>
                    </a:lnT>
                    <a:lnB>
                      <a:noFill/>
                    </a:lnB>
                    <a:noFill/>
                  </a:tcPr>
                </a:tc>
                <a:tc>
                  <a:txBody>
                    <a:bodyPr/>
                    <a:lstStyle/>
                    <a:p>
                      <a:pPr>
                        <a:buNone/>
                      </a:pPr>
                      <a:r>
                        <a:rPr lang="en-IN" sz="3600"/>
                        <a:t>Example</a:t>
                      </a:r>
                    </a:p>
                  </a:txBody>
                  <a:tcPr anchor="ctr">
                    <a:lnL>
                      <a:noFill/>
                    </a:lnL>
                    <a:lnR>
                      <a:noFill/>
                    </a:lnR>
                    <a:lnT>
                      <a:noFill/>
                    </a:lnT>
                    <a:lnB>
                      <a:noFill/>
                    </a:lnB>
                    <a:noFill/>
                  </a:tcPr>
                </a:tc>
                <a:extLst>
                  <a:ext uri="{0D108BD9-81ED-4DB2-BD59-A6C34878D82A}">
                    <a16:rowId xmlns:a16="http://schemas.microsoft.com/office/drawing/2014/main" val="4184013327"/>
                  </a:ext>
                </a:extLst>
              </a:tr>
              <a:tr h="0">
                <a:tc>
                  <a:txBody>
                    <a:bodyPr/>
                    <a:lstStyle/>
                    <a:p>
                      <a:pPr>
                        <a:buNone/>
                      </a:pPr>
                      <a:r>
                        <a:rPr lang="en-IN" sz="3600" dirty="0"/>
                        <a:t>Data (attributes)</a:t>
                      </a:r>
                    </a:p>
                  </a:txBody>
                  <a:tcPr anchor="ctr">
                    <a:lnL>
                      <a:noFill/>
                    </a:lnL>
                    <a:lnR>
                      <a:noFill/>
                    </a:lnR>
                    <a:lnT>
                      <a:noFill/>
                    </a:lnT>
                    <a:lnB>
                      <a:noFill/>
                    </a:lnB>
                    <a:noFill/>
                  </a:tcPr>
                </a:tc>
                <a:tc>
                  <a:txBody>
                    <a:bodyPr/>
                    <a:lstStyle/>
                    <a:p>
                      <a:pPr>
                        <a:buNone/>
                      </a:pPr>
                      <a:r>
                        <a:rPr lang="en-IN" sz="3600"/>
                        <a:t>model, brand, price</a:t>
                      </a:r>
                    </a:p>
                  </a:txBody>
                  <a:tcPr anchor="ctr">
                    <a:lnL>
                      <a:noFill/>
                    </a:lnL>
                    <a:lnR>
                      <a:noFill/>
                    </a:lnR>
                    <a:lnT>
                      <a:noFill/>
                    </a:lnT>
                    <a:lnB>
                      <a:noFill/>
                    </a:lnB>
                    <a:noFill/>
                  </a:tcPr>
                </a:tc>
                <a:extLst>
                  <a:ext uri="{0D108BD9-81ED-4DB2-BD59-A6C34878D82A}">
                    <a16:rowId xmlns:a16="http://schemas.microsoft.com/office/drawing/2014/main" val="3185758258"/>
                  </a:ext>
                </a:extLst>
              </a:tr>
              <a:tr h="0">
                <a:tc>
                  <a:txBody>
                    <a:bodyPr/>
                    <a:lstStyle/>
                    <a:p>
                      <a:pPr>
                        <a:buNone/>
                      </a:pPr>
                      <a:r>
                        <a:rPr lang="en-IN" sz="3600"/>
                        <a:t>Functions (methods)</a:t>
                      </a:r>
                    </a:p>
                  </a:txBody>
                  <a:tcPr anchor="ctr">
                    <a:lnL>
                      <a:noFill/>
                    </a:lnL>
                    <a:lnR>
                      <a:noFill/>
                    </a:lnR>
                    <a:lnT>
                      <a:noFill/>
                    </a:lnT>
                    <a:lnB>
                      <a:noFill/>
                    </a:lnB>
                    <a:noFill/>
                  </a:tcPr>
                </a:tc>
                <a:tc>
                  <a:txBody>
                    <a:bodyPr/>
                    <a:lstStyle/>
                    <a:p>
                      <a:pPr>
                        <a:buNone/>
                      </a:pPr>
                      <a:r>
                        <a:rPr lang="en-IN" sz="3600" dirty="0"/>
                        <a:t>call(), message(), </a:t>
                      </a:r>
                      <a:r>
                        <a:rPr lang="en-IN" sz="3600" dirty="0" err="1"/>
                        <a:t>takePhoto</a:t>
                      </a:r>
                      <a:r>
                        <a:rPr lang="en-IN" sz="3600" dirty="0"/>
                        <a:t>()</a:t>
                      </a:r>
                    </a:p>
                  </a:txBody>
                  <a:tcPr anchor="ctr">
                    <a:lnL>
                      <a:noFill/>
                    </a:lnL>
                    <a:lnR>
                      <a:noFill/>
                    </a:lnR>
                    <a:lnT>
                      <a:noFill/>
                    </a:lnT>
                    <a:lnB>
                      <a:noFill/>
                    </a:lnB>
                    <a:noFill/>
                  </a:tcPr>
                </a:tc>
                <a:extLst>
                  <a:ext uri="{0D108BD9-81ED-4DB2-BD59-A6C34878D82A}">
                    <a16:rowId xmlns:a16="http://schemas.microsoft.com/office/drawing/2014/main" val="1158670950"/>
                  </a:ext>
                </a:extLst>
              </a:tr>
            </a:tbl>
          </a:graphicData>
        </a:graphic>
      </p:graphicFrame>
      <p:sp>
        <p:nvSpPr>
          <p:cNvPr id="6" name="TextBox 5">
            <a:extLst>
              <a:ext uri="{FF2B5EF4-FFF2-40B4-BE49-F238E27FC236}">
                <a16:creationId xmlns:a16="http://schemas.microsoft.com/office/drawing/2014/main" id="{B931211F-014F-B396-C8E1-F9FFBB7BB4FD}"/>
              </a:ext>
            </a:extLst>
          </p:cNvPr>
          <p:cNvSpPr txBox="1"/>
          <p:nvPr/>
        </p:nvSpPr>
        <p:spPr>
          <a:xfrm>
            <a:off x="179438" y="4160997"/>
            <a:ext cx="11933904" cy="2554545"/>
          </a:xfrm>
          <a:prstGeom prst="rect">
            <a:avLst/>
          </a:prstGeom>
          <a:noFill/>
        </p:spPr>
        <p:txBody>
          <a:bodyPr wrap="square">
            <a:spAutoFit/>
          </a:bodyPr>
          <a:lstStyle/>
          <a:p>
            <a:pPr>
              <a:buNone/>
            </a:pPr>
            <a:r>
              <a:rPr lang="en-US" sz="3200" dirty="0"/>
              <a:t>Here, the mobile phone is a </a:t>
            </a:r>
            <a:r>
              <a:rPr lang="en-US" sz="3200" b="1" dirty="0"/>
              <a:t>Class</a:t>
            </a:r>
            <a:r>
              <a:rPr lang="en-US" sz="3200" dirty="0"/>
              <a:t>.</a:t>
            </a:r>
            <a:br>
              <a:rPr lang="en-US" sz="3200" dirty="0"/>
            </a:br>
            <a:r>
              <a:rPr lang="en-US" sz="3200" dirty="0"/>
              <a:t>You can create many objects like </a:t>
            </a:r>
            <a:r>
              <a:rPr lang="en-US" sz="3200" i="1" dirty="0"/>
              <a:t>Redmi, Samsung, iPhone</a:t>
            </a:r>
            <a:r>
              <a:rPr lang="en-US" sz="3200" dirty="0"/>
              <a:t>, etc.</a:t>
            </a:r>
            <a:br>
              <a:rPr lang="en-US" sz="3200" dirty="0"/>
            </a:br>
            <a:r>
              <a:rPr lang="en-US" sz="3200" dirty="0"/>
              <a:t>Each has its own data but performs similar functions.</a:t>
            </a:r>
          </a:p>
          <a:p>
            <a:pPr>
              <a:buNone/>
            </a:pPr>
            <a:r>
              <a:rPr lang="en-US" sz="3200" dirty="0"/>
              <a:t>That’s how OOP works — </a:t>
            </a:r>
            <a:r>
              <a:rPr lang="en-US" sz="3200" b="1" dirty="0"/>
              <a:t>we think in terms of objects</a:t>
            </a:r>
            <a:r>
              <a:rPr lang="en-US" sz="3200" dirty="0"/>
              <a:t> instead of just functions.</a:t>
            </a:r>
          </a:p>
        </p:txBody>
      </p:sp>
    </p:spTree>
    <p:extLst>
      <p:ext uri="{BB962C8B-B14F-4D97-AF65-F5344CB8AC3E}">
        <p14:creationId xmlns:p14="http://schemas.microsoft.com/office/powerpoint/2010/main" val="3056687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2D961FA-808B-BD2F-DB1F-53F8577F19F8}"/>
              </a:ext>
            </a:extLst>
          </p:cNvPr>
          <p:cNvGraphicFramePr>
            <a:graphicFrameLocks noGrp="1"/>
          </p:cNvGraphicFramePr>
          <p:nvPr>
            <p:extLst>
              <p:ext uri="{D42A27DB-BD31-4B8C-83A1-F6EECF244321}">
                <p14:modId xmlns:p14="http://schemas.microsoft.com/office/powerpoint/2010/main" val="2695874201"/>
              </p:ext>
            </p:extLst>
          </p:nvPr>
        </p:nvGraphicFramePr>
        <p:xfrm>
          <a:off x="157316" y="235974"/>
          <a:ext cx="11965857" cy="6548283"/>
        </p:xfrm>
        <a:graphic>
          <a:graphicData uri="http://schemas.openxmlformats.org/drawingml/2006/table">
            <a:tbl>
              <a:tblPr/>
              <a:tblGrid>
                <a:gridCol w="2631666">
                  <a:extLst>
                    <a:ext uri="{9D8B030D-6E8A-4147-A177-3AD203B41FA5}">
                      <a16:colId xmlns:a16="http://schemas.microsoft.com/office/drawing/2014/main" val="1764454093"/>
                    </a:ext>
                  </a:extLst>
                </a:gridCol>
                <a:gridCol w="5345572">
                  <a:extLst>
                    <a:ext uri="{9D8B030D-6E8A-4147-A177-3AD203B41FA5}">
                      <a16:colId xmlns:a16="http://schemas.microsoft.com/office/drawing/2014/main" val="3975454348"/>
                    </a:ext>
                  </a:extLst>
                </a:gridCol>
                <a:gridCol w="3988619">
                  <a:extLst>
                    <a:ext uri="{9D8B030D-6E8A-4147-A177-3AD203B41FA5}">
                      <a16:colId xmlns:a16="http://schemas.microsoft.com/office/drawing/2014/main" val="267087407"/>
                    </a:ext>
                  </a:extLst>
                </a:gridCol>
              </a:tblGrid>
              <a:tr h="588999">
                <a:tc>
                  <a:txBody>
                    <a:bodyPr/>
                    <a:lstStyle/>
                    <a:p>
                      <a:pPr algn="ctr">
                        <a:buNone/>
                      </a:pPr>
                      <a:r>
                        <a:rPr lang="en-IN" sz="2800" b="1" dirty="0"/>
                        <a:t>Concept</a:t>
                      </a:r>
                    </a:p>
                  </a:txBody>
                  <a:tcPr anchor="ctr">
                    <a:lnL>
                      <a:noFill/>
                    </a:lnL>
                    <a:lnR>
                      <a:noFill/>
                    </a:lnR>
                    <a:lnT>
                      <a:noFill/>
                    </a:lnT>
                    <a:lnB>
                      <a:noFill/>
                    </a:lnB>
                    <a:noFill/>
                  </a:tcPr>
                </a:tc>
                <a:tc>
                  <a:txBody>
                    <a:bodyPr/>
                    <a:lstStyle/>
                    <a:p>
                      <a:pPr algn="ctr">
                        <a:buNone/>
                      </a:pPr>
                      <a:r>
                        <a:rPr lang="en-IN" sz="2800" b="1" dirty="0"/>
                        <a:t>Meaning</a:t>
                      </a:r>
                    </a:p>
                  </a:txBody>
                  <a:tcPr anchor="ctr">
                    <a:lnL>
                      <a:noFill/>
                    </a:lnL>
                    <a:lnR>
                      <a:noFill/>
                    </a:lnR>
                    <a:lnT>
                      <a:noFill/>
                    </a:lnT>
                    <a:lnB>
                      <a:noFill/>
                    </a:lnB>
                    <a:noFill/>
                  </a:tcPr>
                </a:tc>
                <a:tc>
                  <a:txBody>
                    <a:bodyPr/>
                    <a:lstStyle/>
                    <a:p>
                      <a:pPr algn="ctr">
                        <a:buNone/>
                      </a:pPr>
                      <a:r>
                        <a:rPr lang="en-IN" sz="2800" b="1" dirty="0"/>
                        <a:t>Example</a:t>
                      </a:r>
                    </a:p>
                  </a:txBody>
                  <a:tcPr anchor="ctr">
                    <a:lnL>
                      <a:noFill/>
                    </a:lnL>
                    <a:lnR>
                      <a:noFill/>
                    </a:lnR>
                    <a:lnT>
                      <a:noFill/>
                    </a:lnT>
                    <a:lnB>
                      <a:noFill/>
                    </a:lnB>
                    <a:noFill/>
                  </a:tcPr>
                </a:tc>
                <a:extLst>
                  <a:ext uri="{0D108BD9-81ED-4DB2-BD59-A6C34878D82A}">
                    <a16:rowId xmlns:a16="http://schemas.microsoft.com/office/drawing/2014/main" val="1142651187"/>
                  </a:ext>
                </a:extLst>
              </a:tr>
              <a:tr h="588999">
                <a:tc>
                  <a:txBody>
                    <a:bodyPr/>
                    <a:lstStyle/>
                    <a:p>
                      <a:pPr>
                        <a:buNone/>
                      </a:pPr>
                      <a:r>
                        <a:rPr lang="en-IN" sz="2800" b="1"/>
                        <a:t>Class</a:t>
                      </a:r>
                      <a:endParaRPr lang="en-IN" sz="2800"/>
                    </a:p>
                  </a:txBody>
                  <a:tcPr anchor="ctr">
                    <a:lnL>
                      <a:noFill/>
                    </a:lnL>
                    <a:lnR>
                      <a:noFill/>
                    </a:lnR>
                    <a:lnT>
                      <a:noFill/>
                    </a:lnT>
                    <a:lnB>
                      <a:noFill/>
                    </a:lnB>
                    <a:noFill/>
                  </a:tcPr>
                </a:tc>
                <a:tc>
                  <a:txBody>
                    <a:bodyPr/>
                    <a:lstStyle/>
                    <a:p>
                      <a:pPr>
                        <a:buNone/>
                      </a:pPr>
                      <a:r>
                        <a:rPr lang="en-US" sz="2800" dirty="0"/>
                        <a:t>Blueprint or template of objects</a:t>
                      </a:r>
                    </a:p>
                  </a:txBody>
                  <a:tcPr anchor="ctr">
                    <a:lnL>
                      <a:noFill/>
                    </a:lnL>
                    <a:lnR>
                      <a:noFill/>
                    </a:lnR>
                    <a:lnT>
                      <a:noFill/>
                    </a:lnT>
                    <a:lnB>
                      <a:noFill/>
                    </a:lnB>
                    <a:noFill/>
                  </a:tcPr>
                </a:tc>
                <a:tc>
                  <a:txBody>
                    <a:bodyPr/>
                    <a:lstStyle/>
                    <a:p>
                      <a:pPr>
                        <a:buNone/>
                      </a:pPr>
                      <a:r>
                        <a:rPr lang="en-IN" sz="2800"/>
                        <a:t>“Car” class</a:t>
                      </a:r>
                    </a:p>
                  </a:txBody>
                  <a:tcPr anchor="ctr">
                    <a:lnL>
                      <a:noFill/>
                    </a:lnL>
                    <a:lnR>
                      <a:noFill/>
                    </a:lnR>
                    <a:lnT>
                      <a:noFill/>
                    </a:lnT>
                    <a:lnB>
                      <a:noFill/>
                    </a:lnB>
                    <a:noFill/>
                  </a:tcPr>
                </a:tc>
                <a:extLst>
                  <a:ext uri="{0D108BD9-81ED-4DB2-BD59-A6C34878D82A}">
                    <a16:rowId xmlns:a16="http://schemas.microsoft.com/office/drawing/2014/main" val="2877812240"/>
                  </a:ext>
                </a:extLst>
              </a:tr>
              <a:tr h="588999">
                <a:tc>
                  <a:txBody>
                    <a:bodyPr/>
                    <a:lstStyle/>
                    <a:p>
                      <a:pPr>
                        <a:buNone/>
                      </a:pPr>
                      <a:r>
                        <a:rPr lang="en-IN" sz="2800" b="1"/>
                        <a:t>Object</a:t>
                      </a:r>
                      <a:endParaRPr lang="en-IN" sz="2800"/>
                    </a:p>
                  </a:txBody>
                  <a:tcPr anchor="ctr">
                    <a:lnL>
                      <a:noFill/>
                    </a:lnL>
                    <a:lnR>
                      <a:noFill/>
                    </a:lnR>
                    <a:lnT>
                      <a:noFill/>
                    </a:lnT>
                    <a:lnB>
                      <a:noFill/>
                    </a:lnB>
                    <a:noFill/>
                  </a:tcPr>
                </a:tc>
                <a:tc>
                  <a:txBody>
                    <a:bodyPr/>
                    <a:lstStyle/>
                    <a:p>
                      <a:pPr>
                        <a:buNone/>
                      </a:pPr>
                      <a:r>
                        <a:rPr lang="en-IN" sz="2800"/>
                        <a:t>Instance of class</a:t>
                      </a:r>
                    </a:p>
                  </a:txBody>
                  <a:tcPr anchor="ctr">
                    <a:lnL>
                      <a:noFill/>
                    </a:lnL>
                    <a:lnR>
                      <a:noFill/>
                    </a:lnR>
                    <a:lnT>
                      <a:noFill/>
                    </a:lnT>
                    <a:lnB>
                      <a:noFill/>
                    </a:lnB>
                    <a:noFill/>
                  </a:tcPr>
                </a:tc>
                <a:tc>
                  <a:txBody>
                    <a:bodyPr/>
                    <a:lstStyle/>
                    <a:p>
                      <a:pPr>
                        <a:buNone/>
                      </a:pPr>
                      <a:r>
                        <a:rPr lang="en-IN" sz="2800"/>
                        <a:t>“MyCar”</a:t>
                      </a:r>
                    </a:p>
                  </a:txBody>
                  <a:tcPr anchor="ctr">
                    <a:lnL>
                      <a:noFill/>
                    </a:lnL>
                    <a:lnR>
                      <a:noFill/>
                    </a:lnR>
                    <a:lnT>
                      <a:noFill/>
                    </a:lnT>
                    <a:lnB>
                      <a:noFill/>
                    </a:lnB>
                    <a:noFill/>
                  </a:tcPr>
                </a:tc>
                <a:extLst>
                  <a:ext uri="{0D108BD9-81ED-4DB2-BD59-A6C34878D82A}">
                    <a16:rowId xmlns:a16="http://schemas.microsoft.com/office/drawing/2014/main" val="3317242393"/>
                  </a:ext>
                </a:extLst>
              </a:tr>
              <a:tr h="1074057">
                <a:tc>
                  <a:txBody>
                    <a:bodyPr/>
                    <a:lstStyle/>
                    <a:p>
                      <a:pPr>
                        <a:buNone/>
                      </a:pPr>
                      <a:r>
                        <a:rPr lang="en-IN" sz="2800" b="1"/>
                        <a:t>Encapsulation</a:t>
                      </a:r>
                      <a:endParaRPr lang="en-IN" sz="2800"/>
                    </a:p>
                  </a:txBody>
                  <a:tcPr anchor="ctr">
                    <a:lnL>
                      <a:noFill/>
                    </a:lnL>
                    <a:lnR>
                      <a:noFill/>
                    </a:lnR>
                    <a:lnT>
                      <a:noFill/>
                    </a:lnT>
                    <a:lnB>
                      <a:noFill/>
                    </a:lnB>
                    <a:noFill/>
                  </a:tcPr>
                </a:tc>
                <a:tc>
                  <a:txBody>
                    <a:bodyPr/>
                    <a:lstStyle/>
                    <a:p>
                      <a:pPr>
                        <a:buNone/>
                      </a:pPr>
                      <a:r>
                        <a:rPr lang="en-US" sz="2800"/>
                        <a:t>Binding data and functions together</a:t>
                      </a:r>
                    </a:p>
                  </a:txBody>
                  <a:tcPr anchor="ctr">
                    <a:lnL>
                      <a:noFill/>
                    </a:lnL>
                    <a:lnR>
                      <a:noFill/>
                    </a:lnR>
                    <a:lnT>
                      <a:noFill/>
                    </a:lnT>
                    <a:lnB>
                      <a:noFill/>
                    </a:lnB>
                    <a:noFill/>
                  </a:tcPr>
                </a:tc>
                <a:tc>
                  <a:txBody>
                    <a:bodyPr/>
                    <a:lstStyle/>
                    <a:p>
                      <a:pPr>
                        <a:buNone/>
                      </a:pPr>
                      <a:r>
                        <a:rPr lang="en-IN" sz="2800"/>
                        <a:t>Data + functions inside class</a:t>
                      </a:r>
                    </a:p>
                  </a:txBody>
                  <a:tcPr anchor="ctr">
                    <a:lnL>
                      <a:noFill/>
                    </a:lnL>
                    <a:lnR>
                      <a:noFill/>
                    </a:lnR>
                    <a:lnT>
                      <a:noFill/>
                    </a:lnT>
                    <a:lnB>
                      <a:noFill/>
                    </a:lnB>
                    <a:noFill/>
                  </a:tcPr>
                </a:tc>
                <a:extLst>
                  <a:ext uri="{0D108BD9-81ED-4DB2-BD59-A6C34878D82A}">
                    <a16:rowId xmlns:a16="http://schemas.microsoft.com/office/drawing/2014/main" val="1219618231"/>
                  </a:ext>
                </a:extLst>
              </a:tr>
              <a:tr h="1074057">
                <a:tc>
                  <a:txBody>
                    <a:bodyPr/>
                    <a:lstStyle/>
                    <a:p>
                      <a:pPr>
                        <a:buNone/>
                      </a:pPr>
                      <a:r>
                        <a:rPr lang="en-IN" sz="2800" b="1"/>
                        <a:t>Abstraction</a:t>
                      </a:r>
                      <a:endParaRPr lang="en-IN" sz="2800"/>
                    </a:p>
                  </a:txBody>
                  <a:tcPr anchor="ctr">
                    <a:lnL>
                      <a:noFill/>
                    </a:lnL>
                    <a:lnR>
                      <a:noFill/>
                    </a:lnR>
                    <a:lnT>
                      <a:noFill/>
                    </a:lnT>
                    <a:lnB>
                      <a:noFill/>
                    </a:lnB>
                    <a:noFill/>
                  </a:tcPr>
                </a:tc>
                <a:tc>
                  <a:txBody>
                    <a:bodyPr/>
                    <a:lstStyle/>
                    <a:p>
                      <a:pPr>
                        <a:buNone/>
                      </a:pPr>
                      <a:r>
                        <a:rPr lang="en-IN" sz="2800"/>
                        <a:t>Showing only necessary details</a:t>
                      </a:r>
                    </a:p>
                  </a:txBody>
                  <a:tcPr anchor="ctr">
                    <a:lnL>
                      <a:noFill/>
                    </a:lnL>
                    <a:lnR>
                      <a:noFill/>
                    </a:lnR>
                    <a:lnT>
                      <a:noFill/>
                    </a:lnT>
                    <a:lnB>
                      <a:noFill/>
                    </a:lnB>
                    <a:noFill/>
                  </a:tcPr>
                </a:tc>
                <a:tc>
                  <a:txBody>
                    <a:bodyPr/>
                    <a:lstStyle/>
                    <a:p>
                      <a:pPr>
                        <a:buNone/>
                      </a:pPr>
                      <a:r>
                        <a:rPr lang="en-US" sz="2800"/>
                        <a:t>Start button hides engine complexity</a:t>
                      </a:r>
                    </a:p>
                  </a:txBody>
                  <a:tcPr anchor="ctr">
                    <a:lnL>
                      <a:noFill/>
                    </a:lnL>
                    <a:lnR>
                      <a:noFill/>
                    </a:lnR>
                    <a:lnT>
                      <a:noFill/>
                    </a:lnT>
                    <a:lnB>
                      <a:noFill/>
                    </a:lnB>
                    <a:noFill/>
                  </a:tcPr>
                </a:tc>
                <a:extLst>
                  <a:ext uri="{0D108BD9-81ED-4DB2-BD59-A6C34878D82A}">
                    <a16:rowId xmlns:a16="http://schemas.microsoft.com/office/drawing/2014/main" val="4138727307"/>
                  </a:ext>
                </a:extLst>
              </a:tr>
              <a:tr h="1074057">
                <a:tc>
                  <a:txBody>
                    <a:bodyPr/>
                    <a:lstStyle/>
                    <a:p>
                      <a:pPr>
                        <a:buNone/>
                      </a:pPr>
                      <a:r>
                        <a:rPr lang="en-IN" sz="2800" b="1" dirty="0"/>
                        <a:t>Inheritance</a:t>
                      </a:r>
                      <a:endParaRPr lang="en-IN" sz="2800" dirty="0"/>
                    </a:p>
                  </a:txBody>
                  <a:tcPr anchor="ctr">
                    <a:lnL>
                      <a:noFill/>
                    </a:lnL>
                    <a:lnR>
                      <a:noFill/>
                    </a:lnR>
                    <a:lnT>
                      <a:noFill/>
                    </a:lnT>
                    <a:lnB>
                      <a:noFill/>
                    </a:lnB>
                    <a:noFill/>
                  </a:tcPr>
                </a:tc>
                <a:tc>
                  <a:txBody>
                    <a:bodyPr/>
                    <a:lstStyle/>
                    <a:p>
                      <a:pPr>
                        <a:buNone/>
                      </a:pPr>
                      <a:r>
                        <a:rPr lang="en-US" sz="2800"/>
                        <a:t>One class can use features of another</a:t>
                      </a:r>
                    </a:p>
                  </a:txBody>
                  <a:tcPr anchor="ctr">
                    <a:lnL>
                      <a:noFill/>
                    </a:lnL>
                    <a:lnR>
                      <a:noFill/>
                    </a:lnR>
                    <a:lnT>
                      <a:noFill/>
                    </a:lnT>
                    <a:lnB>
                      <a:noFill/>
                    </a:lnB>
                    <a:noFill/>
                  </a:tcPr>
                </a:tc>
                <a:tc>
                  <a:txBody>
                    <a:bodyPr/>
                    <a:lstStyle/>
                    <a:p>
                      <a:pPr>
                        <a:buNone/>
                      </a:pPr>
                      <a:r>
                        <a:rPr lang="en-IN" sz="2800"/>
                        <a:t>ElectricCar inherits Car</a:t>
                      </a:r>
                    </a:p>
                  </a:txBody>
                  <a:tcPr anchor="ctr">
                    <a:lnL>
                      <a:noFill/>
                    </a:lnL>
                    <a:lnR>
                      <a:noFill/>
                    </a:lnR>
                    <a:lnT>
                      <a:noFill/>
                    </a:lnT>
                    <a:lnB>
                      <a:noFill/>
                    </a:lnB>
                    <a:noFill/>
                  </a:tcPr>
                </a:tc>
                <a:extLst>
                  <a:ext uri="{0D108BD9-81ED-4DB2-BD59-A6C34878D82A}">
                    <a16:rowId xmlns:a16="http://schemas.microsoft.com/office/drawing/2014/main" val="384109243"/>
                  </a:ext>
                </a:extLst>
              </a:tr>
              <a:tr h="1559115">
                <a:tc>
                  <a:txBody>
                    <a:bodyPr/>
                    <a:lstStyle/>
                    <a:p>
                      <a:pPr>
                        <a:buNone/>
                      </a:pPr>
                      <a:r>
                        <a:rPr lang="en-IN" sz="2800" b="1"/>
                        <a:t>Polymorphism</a:t>
                      </a:r>
                      <a:endParaRPr lang="en-IN" sz="2800"/>
                    </a:p>
                  </a:txBody>
                  <a:tcPr anchor="ctr">
                    <a:lnL>
                      <a:noFill/>
                    </a:lnL>
                    <a:lnR>
                      <a:noFill/>
                    </a:lnR>
                    <a:lnT>
                      <a:noFill/>
                    </a:lnT>
                    <a:lnB>
                      <a:noFill/>
                    </a:lnB>
                    <a:noFill/>
                  </a:tcPr>
                </a:tc>
                <a:tc>
                  <a:txBody>
                    <a:bodyPr/>
                    <a:lstStyle/>
                    <a:p>
                      <a:pPr>
                        <a:buNone/>
                      </a:pPr>
                      <a:r>
                        <a:rPr lang="en-IN" sz="2800" dirty="0"/>
                        <a:t>One name, many forms</a:t>
                      </a:r>
                    </a:p>
                  </a:txBody>
                  <a:tcPr anchor="ctr">
                    <a:lnL>
                      <a:noFill/>
                    </a:lnL>
                    <a:lnR>
                      <a:noFill/>
                    </a:lnR>
                    <a:lnT>
                      <a:noFill/>
                    </a:lnT>
                    <a:lnB>
                      <a:noFill/>
                    </a:lnB>
                    <a:noFill/>
                  </a:tcPr>
                </a:tc>
                <a:tc>
                  <a:txBody>
                    <a:bodyPr/>
                    <a:lstStyle/>
                    <a:p>
                      <a:pPr>
                        <a:buNone/>
                      </a:pPr>
                      <a:r>
                        <a:rPr lang="en-US" sz="2800" dirty="0"/>
                        <a:t>start() behaves differently for Bike and Car</a:t>
                      </a:r>
                    </a:p>
                  </a:txBody>
                  <a:tcPr anchor="ctr">
                    <a:lnL>
                      <a:noFill/>
                    </a:lnL>
                    <a:lnR>
                      <a:noFill/>
                    </a:lnR>
                    <a:lnT>
                      <a:noFill/>
                    </a:lnT>
                    <a:lnB>
                      <a:noFill/>
                    </a:lnB>
                    <a:noFill/>
                  </a:tcPr>
                </a:tc>
                <a:extLst>
                  <a:ext uri="{0D108BD9-81ED-4DB2-BD59-A6C34878D82A}">
                    <a16:rowId xmlns:a16="http://schemas.microsoft.com/office/drawing/2014/main" val="1553577370"/>
                  </a:ext>
                </a:extLst>
              </a:tr>
            </a:tbl>
          </a:graphicData>
        </a:graphic>
      </p:graphicFrame>
    </p:spTree>
    <p:extLst>
      <p:ext uri="{BB962C8B-B14F-4D97-AF65-F5344CB8AC3E}">
        <p14:creationId xmlns:p14="http://schemas.microsoft.com/office/powerpoint/2010/main" val="120385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F5352201-55C3-A855-0E92-6008C58030CB}"/>
                  </a:ext>
                </a:extLst>
              </p:cNvPr>
              <p:cNvGraphicFramePr>
                <a:graphicFrameLocks noChangeAspect="1"/>
              </p:cNvGraphicFramePr>
              <p:nvPr>
                <p:extLst>
                  <p:ext uri="{D42A27DB-BD31-4B8C-83A1-F6EECF244321}">
                    <p14:modId xmlns:p14="http://schemas.microsoft.com/office/powerpoint/2010/main" val="3238858076"/>
                  </p:ext>
                </p:extLst>
              </p:nvPr>
            </p:nvGraphicFramePr>
            <p:xfrm>
              <a:off x="816077" y="2915633"/>
              <a:ext cx="3048000" cy="1714500"/>
            </p:xfrm>
            <a:graphic>
              <a:graphicData uri="http://schemas.microsoft.com/office/powerpoint/2016/slidezoom">
                <pslz:sldZm>
                  <pslz:sldZmObj sldId="270" cId="2262551788">
                    <pslz:zmPr id="{CA8B1BF9-5643-48E3-8003-188D859A7C01}" returnToParent="0"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3" name="Slide Zoom 2">
                <a:hlinkClick r:id="rId3" action="ppaction://hlinksldjump"/>
                <a:extLst>
                  <a:ext uri="{FF2B5EF4-FFF2-40B4-BE49-F238E27FC236}">
                    <a16:creationId xmlns:a16="http://schemas.microsoft.com/office/drawing/2014/main" id="{F5352201-55C3-A855-0E92-6008C58030CB}"/>
                  </a:ext>
                </a:extLst>
              </p:cNvPr>
              <p:cNvPicPr>
                <a:picLocks noGrp="1" noRot="1" noChangeAspect="1" noMove="1" noResize="1" noEditPoints="1" noAdjustHandles="1" noChangeArrowheads="1" noChangeShapeType="1"/>
              </p:cNvPicPr>
              <p:nvPr/>
            </p:nvPicPr>
            <p:blipFill>
              <a:blip r:embed="rId4"/>
              <a:stretch>
                <a:fillRect/>
              </a:stretch>
            </p:blipFill>
            <p:spPr>
              <a:xfrm>
                <a:off x="816077" y="2915633"/>
                <a:ext cx="3048000" cy="1714500"/>
              </a:xfrm>
              <a:prstGeom prst="rect">
                <a:avLst/>
              </a:prstGeom>
              <a:ln w="3175">
                <a:solidFill>
                  <a:prstClr val="ltGray"/>
                </a:solidFill>
              </a:ln>
            </p:spPr>
          </p:pic>
        </mc:Fallback>
      </mc:AlternateContent>
      <p:pic>
        <p:nvPicPr>
          <p:cNvPr id="4" name="Picture 3">
            <a:extLst>
              <a:ext uri="{FF2B5EF4-FFF2-40B4-BE49-F238E27FC236}">
                <a16:creationId xmlns:a16="http://schemas.microsoft.com/office/drawing/2014/main" id="{5E8C141A-6DA6-CB04-4930-32A5FD7279D4}"/>
              </a:ext>
            </a:extLst>
          </p:cNvPr>
          <p:cNvPicPr>
            <a:picLocks noChangeAspect="1"/>
          </p:cNvPicPr>
          <p:nvPr/>
        </p:nvPicPr>
        <p:blipFill>
          <a:blip r:embed="rId5"/>
          <a:stretch>
            <a:fillRect/>
          </a:stretch>
        </p:blipFill>
        <p:spPr>
          <a:xfrm>
            <a:off x="0" y="91441"/>
            <a:ext cx="12192000" cy="6654800"/>
          </a:xfrm>
          <a:prstGeom prst="rect">
            <a:avLst/>
          </a:prstGeom>
        </p:spPr>
      </p:pic>
    </p:spTree>
    <p:extLst>
      <p:ext uri="{BB962C8B-B14F-4D97-AF65-F5344CB8AC3E}">
        <p14:creationId xmlns:p14="http://schemas.microsoft.com/office/powerpoint/2010/main" val="2262551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EE37BA-078E-C415-C1F7-4048135D5B16}"/>
              </a:ext>
            </a:extLst>
          </p:cNvPr>
          <p:cNvSpPr txBox="1"/>
          <p:nvPr/>
        </p:nvSpPr>
        <p:spPr>
          <a:xfrm>
            <a:off x="108155" y="550606"/>
            <a:ext cx="11897032" cy="3416320"/>
          </a:xfrm>
          <a:prstGeom prst="rect">
            <a:avLst/>
          </a:prstGeom>
          <a:noFill/>
        </p:spPr>
        <p:txBody>
          <a:bodyPr wrap="square">
            <a:spAutoFit/>
          </a:bodyPr>
          <a:lstStyle/>
          <a:p>
            <a:pPr>
              <a:buNone/>
            </a:pPr>
            <a:r>
              <a:rPr lang="en-US" sz="3600" b="1" dirty="0"/>
              <a:t>Advantages of Object-Oriented Approach</a:t>
            </a:r>
          </a:p>
          <a:p>
            <a:pPr>
              <a:buFont typeface="+mj-lt"/>
              <a:buAutoNum type="arabicPeriod"/>
            </a:pPr>
            <a:r>
              <a:rPr lang="en-US" sz="3600" b="1" dirty="0"/>
              <a:t>Reusability</a:t>
            </a:r>
            <a:r>
              <a:rPr lang="en-US" sz="3600" dirty="0"/>
              <a:t> – Use existing classes again and again.</a:t>
            </a:r>
          </a:p>
          <a:p>
            <a:pPr>
              <a:buFont typeface="+mj-lt"/>
              <a:buAutoNum type="arabicPeriod"/>
            </a:pPr>
            <a:r>
              <a:rPr lang="en-US" sz="3600" b="1" dirty="0"/>
              <a:t>Security</a:t>
            </a:r>
            <a:r>
              <a:rPr lang="en-US" sz="3600" dirty="0"/>
              <a:t> – Data is hidden inside objects.</a:t>
            </a:r>
          </a:p>
          <a:p>
            <a:pPr>
              <a:buFont typeface="+mj-lt"/>
              <a:buAutoNum type="arabicPeriod"/>
            </a:pPr>
            <a:r>
              <a:rPr lang="en-US" sz="3600" b="1" dirty="0"/>
              <a:t>Flexibility</a:t>
            </a:r>
            <a:r>
              <a:rPr lang="en-US" sz="3600" dirty="0"/>
              <a:t> – Easy to update or modify programs.</a:t>
            </a:r>
          </a:p>
          <a:p>
            <a:pPr>
              <a:buFont typeface="+mj-lt"/>
              <a:buAutoNum type="arabicPeriod"/>
            </a:pPr>
            <a:r>
              <a:rPr lang="en-US" sz="3600" b="1" dirty="0"/>
              <a:t>Better organization</a:t>
            </a:r>
            <a:r>
              <a:rPr lang="en-US" sz="3600" dirty="0"/>
              <a:t> – Large projects become easier to manage.</a:t>
            </a:r>
          </a:p>
        </p:txBody>
      </p:sp>
    </p:spTree>
    <p:extLst>
      <p:ext uri="{BB962C8B-B14F-4D97-AF65-F5344CB8AC3E}">
        <p14:creationId xmlns:p14="http://schemas.microsoft.com/office/powerpoint/2010/main" val="2210885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D3D592-2845-8104-16D6-1FEE387DAF4D}"/>
              </a:ext>
            </a:extLst>
          </p:cNvPr>
          <p:cNvSpPr txBox="1"/>
          <p:nvPr/>
        </p:nvSpPr>
        <p:spPr>
          <a:xfrm>
            <a:off x="147484" y="290333"/>
            <a:ext cx="11897032" cy="4524315"/>
          </a:xfrm>
          <a:prstGeom prst="rect">
            <a:avLst/>
          </a:prstGeom>
          <a:noFill/>
        </p:spPr>
        <p:txBody>
          <a:bodyPr wrap="square">
            <a:spAutoFit/>
          </a:bodyPr>
          <a:lstStyle/>
          <a:p>
            <a:pPr>
              <a:buNone/>
            </a:pPr>
            <a:r>
              <a:rPr lang="en-US" sz="3200" b="1" dirty="0"/>
              <a:t>What is a Programming Paradigm?</a:t>
            </a:r>
          </a:p>
          <a:p>
            <a:pPr>
              <a:buNone/>
            </a:pPr>
            <a:r>
              <a:rPr lang="en-US" sz="3200" dirty="0"/>
              <a:t>A </a:t>
            </a:r>
            <a:r>
              <a:rPr lang="en-US" sz="3200" b="1" dirty="0"/>
              <a:t>programming paradigm</a:t>
            </a:r>
            <a:r>
              <a:rPr lang="en-US" sz="3200" dirty="0"/>
              <a:t> means a </a:t>
            </a:r>
            <a:r>
              <a:rPr lang="en-US" sz="3200" b="1" dirty="0"/>
              <a:t>style or way of writing programs</a:t>
            </a:r>
            <a:r>
              <a:rPr lang="en-US" sz="3200" dirty="0"/>
              <a:t> — the way we think, structure, and solve problems in programming.</a:t>
            </a:r>
          </a:p>
          <a:p>
            <a:pPr>
              <a:buNone/>
            </a:pPr>
            <a:r>
              <a:rPr lang="en-US" sz="3200" dirty="0"/>
              <a:t>There are mainly </a:t>
            </a:r>
            <a:r>
              <a:rPr lang="en-US" sz="3200" b="1" dirty="0"/>
              <a:t>three important paradigms</a:t>
            </a:r>
            <a:r>
              <a:rPr lang="en-US" sz="3200" dirty="0"/>
              <a:t> that we compare here:</a:t>
            </a:r>
          </a:p>
          <a:p>
            <a:pPr>
              <a:buFont typeface="+mj-lt"/>
              <a:buAutoNum type="arabicPeriod"/>
            </a:pPr>
            <a:r>
              <a:rPr lang="en-US" sz="3200" b="1" dirty="0"/>
              <a:t>Functional Programming</a:t>
            </a:r>
            <a:endParaRPr lang="en-US" sz="3200" dirty="0"/>
          </a:p>
          <a:p>
            <a:pPr>
              <a:buFont typeface="+mj-lt"/>
              <a:buAutoNum type="arabicPeriod"/>
            </a:pPr>
            <a:r>
              <a:rPr lang="en-US" sz="3200" b="1" dirty="0"/>
              <a:t>Procedural (Data Decomposition) Programming</a:t>
            </a:r>
            <a:endParaRPr lang="en-US" sz="3200" dirty="0"/>
          </a:p>
          <a:p>
            <a:pPr>
              <a:buFont typeface="+mj-lt"/>
              <a:buAutoNum type="arabicPeriod"/>
            </a:pPr>
            <a:r>
              <a:rPr lang="en-US" sz="3200" b="1" dirty="0"/>
              <a:t>Object-Oriented Programming (OOP)</a:t>
            </a:r>
            <a:endParaRPr lang="en-US" sz="3200" dirty="0"/>
          </a:p>
        </p:txBody>
      </p:sp>
    </p:spTree>
    <p:extLst>
      <p:ext uri="{BB962C8B-B14F-4D97-AF65-F5344CB8AC3E}">
        <p14:creationId xmlns:p14="http://schemas.microsoft.com/office/powerpoint/2010/main" val="895092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DB7C8A-4D8F-B9C6-3641-A1E776461839}"/>
              </a:ext>
            </a:extLst>
          </p:cNvPr>
          <p:cNvSpPr txBox="1"/>
          <p:nvPr/>
        </p:nvSpPr>
        <p:spPr>
          <a:xfrm>
            <a:off x="108154" y="0"/>
            <a:ext cx="12083845" cy="6986528"/>
          </a:xfrm>
          <a:prstGeom prst="rect">
            <a:avLst/>
          </a:prstGeom>
          <a:noFill/>
        </p:spPr>
        <p:txBody>
          <a:bodyPr wrap="square">
            <a:spAutoFit/>
          </a:bodyPr>
          <a:lstStyle/>
          <a:p>
            <a:pPr>
              <a:buNone/>
            </a:pPr>
            <a:r>
              <a:rPr lang="en-US" sz="2800" b="1" dirty="0"/>
              <a:t>Functional Programming</a:t>
            </a:r>
          </a:p>
          <a:p>
            <a:pPr>
              <a:buNone/>
            </a:pPr>
            <a:r>
              <a:rPr lang="en-US" sz="2800" b="1" dirty="0"/>
              <a:t>	Concept:</a:t>
            </a:r>
          </a:p>
          <a:p>
            <a:pPr>
              <a:buFont typeface="Arial" panose="020B0604020202020204" pitchFamily="34" charset="0"/>
              <a:buChar char="•"/>
            </a:pPr>
            <a:r>
              <a:rPr lang="en-US" sz="2800" dirty="0"/>
              <a:t>Focuses mainly on </a:t>
            </a:r>
            <a:r>
              <a:rPr lang="en-US" sz="2800" b="1" dirty="0"/>
              <a:t>functions</a:t>
            </a:r>
            <a:r>
              <a:rPr lang="en-US" sz="2800" dirty="0"/>
              <a:t> — what they do and how they transform inputs to outputs.</a:t>
            </a:r>
          </a:p>
          <a:p>
            <a:pPr>
              <a:buFont typeface="Arial" panose="020B0604020202020204" pitchFamily="34" charset="0"/>
              <a:buChar char="•"/>
            </a:pPr>
            <a:r>
              <a:rPr lang="en-US" sz="2800" dirty="0"/>
              <a:t>Functions are treated as the </a:t>
            </a:r>
            <a:r>
              <a:rPr lang="en-US" sz="2800" b="1" dirty="0"/>
              <a:t>main building blocks</a:t>
            </a:r>
            <a:r>
              <a:rPr lang="en-US" sz="2800" dirty="0"/>
              <a:t> of the program.</a:t>
            </a:r>
          </a:p>
          <a:p>
            <a:pPr>
              <a:buFont typeface="Arial" panose="020B0604020202020204" pitchFamily="34" charset="0"/>
              <a:buChar char="•"/>
            </a:pPr>
            <a:r>
              <a:rPr lang="en-US" sz="2800" dirty="0"/>
              <a:t>Data is usually </a:t>
            </a:r>
            <a:r>
              <a:rPr lang="en-US" sz="2800" b="1" dirty="0"/>
              <a:t>immutable</a:t>
            </a:r>
            <a:r>
              <a:rPr lang="en-US" sz="2800" dirty="0"/>
              <a:t> (not changed directly).</a:t>
            </a:r>
          </a:p>
          <a:p>
            <a:pPr>
              <a:buFont typeface="Arial" panose="020B0604020202020204" pitchFamily="34" charset="0"/>
              <a:buChar char="•"/>
            </a:pPr>
            <a:r>
              <a:rPr lang="en-US" sz="2800" dirty="0"/>
              <a:t>No global data or state; the same function always gives the same result for the same input.</a:t>
            </a:r>
          </a:p>
          <a:p>
            <a:pPr>
              <a:buNone/>
            </a:pPr>
            <a:r>
              <a:rPr lang="en-US" sz="2800" b="1" dirty="0"/>
              <a:t>	Example (in pseudo-code):</a:t>
            </a:r>
          </a:p>
          <a:p>
            <a:pPr rtl="0">
              <a:buNone/>
            </a:pPr>
            <a:r>
              <a:rPr lang="en-US" sz="2800" dirty="0">
                <a:latin typeface="Courier New" panose="02070309020205020404" pitchFamily="49" charset="0"/>
              </a:rPr>
              <a:t>sum(x, y) = x + y</a:t>
            </a:r>
          </a:p>
          <a:p>
            <a:pPr rtl="0">
              <a:buNone/>
            </a:pPr>
            <a:r>
              <a:rPr lang="en-US" sz="2800" dirty="0">
                <a:latin typeface="Courier New" panose="02070309020205020404" pitchFamily="49" charset="0"/>
              </a:rPr>
              <a:t>print(sum(5,10))</a:t>
            </a:r>
          </a:p>
          <a:p>
            <a:pPr>
              <a:buNone/>
            </a:pPr>
            <a:r>
              <a:rPr lang="en-US" sz="2800" dirty="0"/>
              <a:t>Here, the program is just </a:t>
            </a:r>
            <a:r>
              <a:rPr lang="en-US" sz="2800" b="1" dirty="0"/>
              <a:t>function definitions</a:t>
            </a:r>
            <a:r>
              <a:rPr lang="en-US" sz="2800" dirty="0"/>
              <a:t> and </a:t>
            </a:r>
            <a:r>
              <a:rPr lang="en-US" sz="2800" b="1" dirty="0"/>
              <a:t>function calls</a:t>
            </a:r>
            <a:r>
              <a:rPr lang="en-US" sz="2800" dirty="0"/>
              <a:t>.</a:t>
            </a:r>
            <a:br>
              <a:rPr lang="en-US" sz="2800" dirty="0"/>
            </a:br>
            <a:r>
              <a:rPr lang="en-US" sz="2800" dirty="0"/>
              <a:t>There are no objects or shared data.</a:t>
            </a:r>
          </a:p>
          <a:p>
            <a:pPr>
              <a:buNone/>
            </a:pPr>
            <a:r>
              <a:rPr lang="en-US" sz="2800" b="1" dirty="0"/>
              <a:t>	Example in real life:</a:t>
            </a:r>
          </a:p>
          <a:p>
            <a:pPr>
              <a:buNone/>
            </a:pPr>
            <a:r>
              <a:rPr lang="en-US" sz="2800" dirty="0"/>
              <a:t>Think of a </a:t>
            </a:r>
            <a:r>
              <a:rPr lang="en-US" sz="2800" b="1" dirty="0"/>
              <a:t>calculator</a:t>
            </a:r>
            <a:r>
              <a:rPr lang="en-US" sz="2800" dirty="0"/>
              <a:t> — you press buttons (functions), and it gives results.</a:t>
            </a:r>
            <a:br>
              <a:rPr lang="en-US" sz="2800" dirty="0"/>
            </a:br>
            <a:r>
              <a:rPr lang="en-US" sz="2800" dirty="0"/>
              <a:t>It doesn’t remember anything from before — just performs calculations.</a:t>
            </a:r>
          </a:p>
        </p:txBody>
      </p:sp>
    </p:spTree>
    <p:extLst>
      <p:ext uri="{BB962C8B-B14F-4D97-AF65-F5344CB8AC3E}">
        <p14:creationId xmlns:p14="http://schemas.microsoft.com/office/powerpoint/2010/main" val="2956049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FEB1E3-14F4-04A3-8224-2EE735501DD2}"/>
              </a:ext>
            </a:extLst>
          </p:cNvPr>
          <p:cNvSpPr txBox="1"/>
          <p:nvPr/>
        </p:nvSpPr>
        <p:spPr>
          <a:xfrm>
            <a:off x="0" y="85550"/>
            <a:ext cx="11444749" cy="2308324"/>
          </a:xfrm>
          <a:prstGeom prst="rect">
            <a:avLst/>
          </a:prstGeom>
          <a:noFill/>
        </p:spPr>
        <p:txBody>
          <a:bodyPr wrap="square">
            <a:spAutoFit/>
          </a:bodyPr>
          <a:lstStyle/>
          <a:p>
            <a:pPr>
              <a:buNone/>
            </a:pPr>
            <a:r>
              <a:rPr lang="en-US" sz="2400" b="1" dirty="0"/>
              <a:t>Procedural Programming (Data Decomposition)</a:t>
            </a:r>
          </a:p>
          <a:p>
            <a:pPr>
              <a:buNone/>
            </a:pPr>
            <a:r>
              <a:rPr lang="en-US" sz="2400" b="1" dirty="0"/>
              <a:t>Concept:</a:t>
            </a:r>
          </a:p>
          <a:p>
            <a:pPr>
              <a:buFont typeface="Arial" panose="020B0604020202020204" pitchFamily="34" charset="0"/>
              <a:buChar char="•"/>
            </a:pPr>
            <a:r>
              <a:rPr lang="en-US" sz="2400" dirty="0"/>
              <a:t>Programs are divided into </a:t>
            </a:r>
            <a:r>
              <a:rPr lang="en-US" sz="2400" b="1" dirty="0"/>
              <a:t>procedures or functions</a:t>
            </a:r>
            <a:r>
              <a:rPr lang="en-US" sz="2400" dirty="0"/>
              <a:t>.</a:t>
            </a:r>
          </a:p>
          <a:p>
            <a:pPr>
              <a:buFont typeface="Arial" panose="020B0604020202020204" pitchFamily="34" charset="0"/>
              <a:buChar char="•"/>
            </a:pPr>
            <a:r>
              <a:rPr lang="en-US" sz="2400" dirty="0"/>
              <a:t>Data is stored in </a:t>
            </a:r>
            <a:r>
              <a:rPr lang="en-US" sz="2400" b="1" dirty="0"/>
              <a:t>global variables</a:t>
            </a:r>
            <a:r>
              <a:rPr lang="en-US" sz="2400" dirty="0"/>
              <a:t>.</a:t>
            </a:r>
          </a:p>
          <a:p>
            <a:pPr>
              <a:buFont typeface="Arial" panose="020B0604020202020204" pitchFamily="34" charset="0"/>
              <a:buChar char="•"/>
            </a:pPr>
            <a:r>
              <a:rPr lang="en-US" sz="2400" dirty="0"/>
              <a:t>Functions can </a:t>
            </a:r>
            <a:r>
              <a:rPr lang="en-US" sz="2400" b="1" dirty="0"/>
              <a:t>access and modify</a:t>
            </a:r>
            <a:r>
              <a:rPr lang="en-US" sz="2400" dirty="0"/>
              <a:t> this global data.</a:t>
            </a:r>
          </a:p>
          <a:p>
            <a:pPr>
              <a:buFont typeface="Arial" panose="020B0604020202020204" pitchFamily="34" charset="0"/>
              <a:buChar char="•"/>
            </a:pPr>
            <a:r>
              <a:rPr lang="en-US" sz="2400" dirty="0"/>
              <a:t>It focuses on </a:t>
            </a:r>
            <a:r>
              <a:rPr lang="en-US" sz="2400" b="1" dirty="0"/>
              <a:t>steps or procedures</a:t>
            </a:r>
            <a:r>
              <a:rPr lang="en-US" sz="2400" dirty="0"/>
              <a:t> to solve a problem (the “how”).</a:t>
            </a:r>
          </a:p>
        </p:txBody>
      </p:sp>
      <p:sp>
        <p:nvSpPr>
          <p:cNvPr id="5" name="TextBox 4">
            <a:extLst>
              <a:ext uri="{FF2B5EF4-FFF2-40B4-BE49-F238E27FC236}">
                <a16:creationId xmlns:a16="http://schemas.microsoft.com/office/drawing/2014/main" id="{E780DF31-91E1-C660-F850-C479BA778B9F}"/>
              </a:ext>
            </a:extLst>
          </p:cNvPr>
          <p:cNvSpPr txBox="1"/>
          <p:nvPr/>
        </p:nvSpPr>
        <p:spPr>
          <a:xfrm>
            <a:off x="157317" y="2393874"/>
            <a:ext cx="8731044" cy="4401205"/>
          </a:xfrm>
          <a:prstGeom prst="rect">
            <a:avLst/>
          </a:prstGeom>
          <a:noFill/>
        </p:spPr>
        <p:txBody>
          <a:bodyPr wrap="square">
            <a:spAutoFit/>
          </a:bodyPr>
          <a:lstStyle/>
          <a:p>
            <a:r>
              <a:rPr lang="en-IN" sz="2800" dirty="0"/>
              <a:t>int balance = 1000;</a:t>
            </a:r>
          </a:p>
          <a:p>
            <a:endParaRPr lang="en-IN" sz="2800" dirty="0"/>
          </a:p>
          <a:p>
            <a:r>
              <a:rPr lang="en-IN" sz="2800" dirty="0"/>
              <a:t>void deposit(int amount) {</a:t>
            </a:r>
          </a:p>
          <a:p>
            <a:r>
              <a:rPr lang="en-IN" sz="2800" dirty="0"/>
              <a:t>    balance = balance + amount;</a:t>
            </a:r>
          </a:p>
          <a:p>
            <a:r>
              <a:rPr lang="en-IN" sz="2800" dirty="0"/>
              <a:t>}</a:t>
            </a:r>
          </a:p>
          <a:p>
            <a:endParaRPr lang="en-IN" sz="2800" dirty="0"/>
          </a:p>
          <a:p>
            <a:r>
              <a:rPr lang="en-IN" sz="2800" dirty="0"/>
              <a:t>int main() {</a:t>
            </a:r>
          </a:p>
          <a:p>
            <a:r>
              <a:rPr lang="en-IN" sz="2800" dirty="0"/>
              <a:t>    deposit(500);</a:t>
            </a:r>
          </a:p>
          <a:p>
            <a:r>
              <a:rPr lang="en-IN" sz="2800" dirty="0"/>
              <a:t>    </a:t>
            </a:r>
            <a:r>
              <a:rPr lang="en-IN" sz="2800" dirty="0" err="1"/>
              <a:t>printf</a:t>
            </a:r>
            <a:r>
              <a:rPr lang="en-IN" sz="2800" dirty="0"/>
              <a:t>("%d", balance);</a:t>
            </a:r>
          </a:p>
          <a:p>
            <a:r>
              <a:rPr lang="en-IN" sz="2800" dirty="0"/>
              <a:t>}</a:t>
            </a:r>
          </a:p>
        </p:txBody>
      </p:sp>
    </p:spTree>
    <p:extLst>
      <p:ext uri="{BB962C8B-B14F-4D97-AF65-F5344CB8AC3E}">
        <p14:creationId xmlns:p14="http://schemas.microsoft.com/office/powerpoint/2010/main" val="103376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182C3C7-5933-1A19-3DF7-3A79A7262DD2}"/>
              </a:ext>
            </a:extLst>
          </p:cNvPr>
          <p:cNvGraphicFramePr>
            <a:graphicFrameLocks noGrp="1"/>
          </p:cNvGraphicFramePr>
          <p:nvPr>
            <p:extLst>
              <p:ext uri="{D42A27DB-BD31-4B8C-83A1-F6EECF244321}">
                <p14:modId xmlns:p14="http://schemas.microsoft.com/office/powerpoint/2010/main" val="3380393207"/>
              </p:ext>
            </p:extLst>
          </p:nvPr>
        </p:nvGraphicFramePr>
        <p:xfrm>
          <a:off x="235973" y="78658"/>
          <a:ext cx="11690556" cy="6632156"/>
        </p:xfrm>
        <a:graphic>
          <a:graphicData uri="http://schemas.openxmlformats.org/drawingml/2006/table">
            <a:tbl>
              <a:tblPr/>
              <a:tblGrid>
                <a:gridCol w="2922639">
                  <a:extLst>
                    <a:ext uri="{9D8B030D-6E8A-4147-A177-3AD203B41FA5}">
                      <a16:colId xmlns:a16="http://schemas.microsoft.com/office/drawing/2014/main" val="432978117"/>
                    </a:ext>
                  </a:extLst>
                </a:gridCol>
                <a:gridCol w="2922639">
                  <a:extLst>
                    <a:ext uri="{9D8B030D-6E8A-4147-A177-3AD203B41FA5}">
                      <a16:colId xmlns:a16="http://schemas.microsoft.com/office/drawing/2014/main" val="3725671012"/>
                    </a:ext>
                  </a:extLst>
                </a:gridCol>
                <a:gridCol w="2922639">
                  <a:extLst>
                    <a:ext uri="{9D8B030D-6E8A-4147-A177-3AD203B41FA5}">
                      <a16:colId xmlns:a16="http://schemas.microsoft.com/office/drawing/2014/main" val="2629669215"/>
                    </a:ext>
                  </a:extLst>
                </a:gridCol>
                <a:gridCol w="2922639">
                  <a:extLst>
                    <a:ext uri="{9D8B030D-6E8A-4147-A177-3AD203B41FA5}">
                      <a16:colId xmlns:a16="http://schemas.microsoft.com/office/drawing/2014/main" val="2728415500"/>
                    </a:ext>
                  </a:extLst>
                </a:gridCol>
              </a:tblGrid>
              <a:tr h="977027">
                <a:tc>
                  <a:txBody>
                    <a:bodyPr/>
                    <a:lstStyle/>
                    <a:p>
                      <a:pPr>
                        <a:buNone/>
                      </a:pPr>
                      <a:r>
                        <a:rPr lang="en-IN" sz="2400"/>
                        <a:t>Feature</a:t>
                      </a:r>
                    </a:p>
                  </a:txBody>
                  <a:tcPr anchor="ctr">
                    <a:lnL>
                      <a:noFill/>
                    </a:lnL>
                    <a:lnR>
                      <a:noFill/>
                    </a:lnR>
                    <a:lnT>
                      <a:noFill/>
                    </a:lnT>
                    <a:lnB>
                      <a:noFill/>
                    </a:lnB>
                    <a:noFill/>
                  </a:tcPr>
                </a:tc>
                <a:tc>
                  <a:txBody>
                    <a:bodyPr/>
                    <a:lstStyle/>
                    <a:p>
                      <a:pPr>
                        <a:buNone/>
                      </a:pPr>
                      <a:r>
                        <a:rPr lang="en-IN" sz="2400"/>
                        <a:t>Functional Programming</a:t>
                      </a:r>
                    </a:p>
                  </a:txBody>
                  <a:tcPr anchor="ctr">
                    <a:lnL>
                      <a:noFill/>
                    </a:lnL>
                    <a:lnR>
                      <a:noFill/>
                    </a:lnR>
                    <a:lnT>
                      <a:noFill/>
                    </a:lnT>
                    <a:lnB>
                      <a:noFill/>
                    </a:lnB>
                    <a:noFill/>
                  </a:tcPr>
                </a:tc>
                <a:tc>
                  <a:txBody>
                    <a:bodyPr/>
                    <a:lstStyle/>
                    <a:p>
                      <a:pPr>
                        <a:buNone/>
                      </a:pPr>
                      <a:r>
                        <a:rPr lang="en-IN" sz="2400"/>
                        <a:t>Procedural Programming</a:t>
                      </a:r>
                    </a:p>
                  </a:txBody>
                  <a:tcPr anchor="ctr">
                    <a:lnL>
                      <a:noFill/>
                    </a:lnL>
                    <a:lnR>
                      <a:noFill/>
                    </a:lnR>
                    <a:lnT>
                      <a:noFill/>
                    </a:lnT>
                    <a:lnB>
                      <a:noFill/>
                    </a:lnB>
                    <a:noFill/>
                  </a:tcPr>
                </a:tc>
                <a:tc>
                  <a:txBody>
                    <a:bodyPr/>
                    <a:lstStyle/>
                    <a:p>
                      <a:pPr>
                        <a:buNone/>
                      </a:pPr>
                      <a:r>
                        <a:rPr lang="en-IN" sz="2400"/>
                        <a:t>Object-Oriented Programming</a:t>
                      </a:r>
                    </a:p>
                  </a:txBody>
                  <a:tcPr anchor="ctr">
                    <a:lnL>
                      <a:noFill/>
                    </a:lnL>
                    <a:lnR>
                      <a:noFill/>
                    </a:lnR>
                    <a:lnT>
                      <a:noFill/>
                    </a:lnT>
                    <a:lnB>
                      <a:noFill/>
                    </a:lnB>
                    <a:noFill/>
                  </a:tcPr>
                </a:tc>
                <a:extLst>
                  <a:ext uri="{0D108BD9-81ED-4DB2-BD59-A6C34878D82A}">
                    <a16:rowId xmlns:a16="http://schemas.microsoft.com/office/drawing/2014/main" val="289467428"/>
                  </a:ext>
                </a:extLst>
              </a:tr>
              <a:tr h="1395753">
                <a:tc>
                  <a:txBody>
                    <a:bodyPr/>
                    <a:lstStyle/>
                    <a:p>
                      <a:pPr>
                        <a:buNone/>
                      </a:pPr>
                      <a:r>
                        <a:rPr lang="en-IN" sz="2400"/>
                        <a:t>Focus</a:t>
                      </a:r>
                    </a:p>
                  </a:txBody>
                  <a:tcPr anchor="ctr">
                    <a:lnL>
                      <a:noFill/>
                    </a:lnL>
                    <a:lnR>
                      <a:noFill/>
                    </a:lnR>
                    <a:lnT>
                      <a:noFill/>
                    </a:lnT>
                    <a:lnB>
                      <a:noFill/>
                    </a:lnB>
                    <a:noFill/>
                  </a:tcPr>
                </a:tc>
                <a:tc>
                  <a:txBody>
                    <a:bodyPr/>
                    <a:lstStyle/>
                    <a:p>
                      <a:pPr>
                        <a:buNone/>
                      </a:pPr>
                      <a:r>
                        <a:rPr lang="en-IN" sz="2400"/>
                        <a:t>On </a:t>
                      </a:r>
                      <a:r>
                        <a:rPr lang="en-IN" sz="2400" b="1"/>
                        <a:t>functions</a:t>
                      </a:r>
                      <a:r>
                        <a:rPr lang="en-IN" sz="2400"/>
                        <a:t> (mathematical operations)</a:t>
                      </a:r>
                    </a:p>
                  </a:txBody>
                  <a:tcPr anchor="ctr">
                    <a:lnL>
                      <a:noFill/>
                    </a:lnL>
                    <a:lnR>
                      <a:noFill/>
                    </a:lnR>
                    <a:lnT>
                      <a:noFill/>
                    </a:lnT>
                    <a:lnB>
                      <a:noFill/>
                    </a:lnB>
                    <a:noFill/>
                  </a:tcPr>
                </a:tc>
                <a:tc>
                  <a:txBody>
                    <a:bodyPr/>
                    <a:lstStyle/>
                    <a:p>
                      <a:pPr>
                        <a:buNone/>
                      </a:pPr>
                      <a:r>
                        <a:rPr lang="en-IN" sz="2400"/>
                        <a:t>On </a:t>
                      </a:r>
                      <a:r>
                        <a:rPr lang="en-IN" sz="2400" b="1"/>
                        <a:t>procedures/steps</a:t>
                      </a:r>
                      <a:endParaRPr lang="en-IN" sz="2400"/>
                    </a:p>
                  </a:txBody>
                  <a:tcPr anchor="ctr">
                    <a:lnL>
                      <a:noFill/>
                    </a:lnL>
                    <a:lnR>
                      <a:noFill/>
                    </a:lnR>
                    <a:lnT>
                      <a:noFill/>
                    </a:lnT>
                    <a:lnB>
                      <a:noFill/>
                    </a:lnB>
                    <a:noFill/>
                  </a:tcPr>
                </a:tc>
                <a:tc>
                  <a:txBody>
                    <a:bodyPr/>
                    <a:lstStyle/>
                    <a:p>
                      <a:pPr>
                        <a:buNone/>
                      </a:pPr>
                      <a:r>
                        <a:rPr lang="en-US" sz="2400"/>
                        <a:t>On </a:t>
                      </a:r>
                      <a:r>
                        <a:rPr lang="en-US" sz="2400" b="1"/>
                        <a:t>objects</a:t>
                      </a:r>
                      <a:r>
                        <a:rPr lang="en-US" sz="2400"/>
                        <a:t> (data + functions together)</a:t>
                      </a:r>
                    </a:p>
                  </a:txBody>
                  <a:tcPr anchor="ctr">
                    <a:lnL>
                      <a:noFill/>
                    </a:lnL>
                    <a:lnR>
                      <a:noFill/>
                    </a:lnR>
                    <a:lnT>
                      <a:noFill/>
                    </a:lnT>
                    <a:lnB>
                      <a:noFill/>
                    </a:lnB>
                    <a:noFill/>
                  </a:tcPr>
                </a:tc>
                <a:extLst>
                  <a:ext uri="{0D108BD9-81ED-4DB2-BD59-A6C34878D82A}">
                    <a16:rowId xmlns:a16="http://schemas.microsoft.com/office/drawing/2014/main" val="747774591"/>
                  </a:ext>
                </a:extLst>
              </a:tr>
              <a:tr h="977027">
                <a:tc>
                  <a:txBody>
                    <a:bodyPr/>
                    <a:lstStyle/>
                    <a:p>
                      <a:pPr>
                        <a:buNone/>
                      </a:pPr>
                      <a:r>
                        <a:rPr lang="en-IN" sz="2400"/>
                        <a:t>Data</a:t>
                      </a:r>
                    </a:p>
                  </a:txBody>
                  <a:tcPr anchor="ctr">
                    <a:lnL>
                      <a:noFill/>
                    </a:lnL>
                    <a:lnR>
                      <a:noFill/>
                    </a:lnR>
                    <a:lnT>
                      <a:noFill/>
                    </a:lnT>
                    <a:lnB>
                      <a:noFill/>
                    </a:lnB>
                    <a:noFill/>
                  </a:tcPr>
                </a:tc>
                <a:tc>
                  <a:txBody>
                    <a:bodyPr/>
                    <a:lstStyle/>
                    <a:p>
                      <a:pPr>
                        <a:buNone/>
                      </a:pPr>
                      <a:r>
                        <a:rPr lang="en-IN" sz="2400"/>
                        <a:t>Immutable (not changed)</a:t>
                      </a:r>
                    </a:p>
                  </a:txBody>
                  <a:tcPr anchor="ctr">
                    <a:lnL>
                      <a:noFill/>
                    </a:lnL>
                    <a:lnR>
                      <a:noFill/>
                    </a:lnR>
                    <a:lnT>
                      <a:noFill/>
                    </a:lnT>
                    <a:lnB>
                      <a:noFill/>
                    </a:lnB>
                    <a:noFill/>
                  </a:tcPr>
                </a:tc>
                <a:tc>
                  <a:txBody>
                    <a:bodyPr/>
                    <a:lstStyle/>
                    <a:p>
                      <a:pPr>
                        <a:buNone/>
                      </a:pPr>
                      <a:r>
                        <a:rPr lang="en-IN" sz="2400" dirty="0"/>
                        <a:t>Shared globally</a:t>
                      </a:r>
                    </a:p>
                  </a:txBody>
                  <a:tcPr anchor="ctr">
                    <a:lnL>
                      <a:noFill/>
                    </a:lnL>
                    <a:lnR>
                      <a:noFill/>
                    </a:lnR>
                    <a:lnT>
                      <a:noFill/>
                    </a:lnT>
                    <a:lnB>
                      <a:noFill/>
                    </a:lnB>
                    <a:noFill/>
                  </a:tcPr>
                </a:tc>
                <a:tc>
                  <a:txBody>
                    <a:bodyPr/>
                    <a:lstStyle/>
                    <a:p>
                      <a:pPr>
                        <a:buNone/>
                      </a:pPr>
                      <a:r>
                        <a:rPr lang="en-IN" sz="2400"/>
                        <a:t>Hidden inside objects</a:t>
                      </a:r>
                    </a:p>
                  </a:txBody>
                  <a:tcPr anchor="ctr">
                    <a:lnL>
                      <a:noFill/>
                    </a:lnL>
                    <a:lnR>
                      <a:noFill/>
                    </a:lnR>
                    <a:lnT>
                      <a:noFill/>
                    </a:lnT>
                    <a:lnB>
                      <a:noFill/>
                    </a:lnB>
                    <a:noFill/>
                  </a:tcPr>
                </a:tc>
                <a:extLst>
                  <a:ext uri="{0D108BD9-81ED-4DB2-BD59-A6C34878D82A}">
                    <a16:rowId xmlns:a16="http://schemas.microsoft.com/office/drawing/2014/main" val="3940310152"/>
                  </a:ext>
                </a:extLst>
              </a:tr>
              <a:tr h="977027">
                <a:tc>
                  <a:txBody>
                    <a:bodyPr/>
                    <a:lstStyle/>
                    <a:p>
                      <a:pPr>
                        <a:buNone/>
                      </a:pPr>
                      <a:r>
                        <a:rPr lang="en-IN" sz="2400" dirty="0"/>
                        <a:t>Reusability</a:t>
                      </a:r>
                    </a:p>
                  </a:txBody>
                  <a:tcPr anchor="ctr">
                    <a:lnL>
                      <a:noFill/>
                    </a:lnL>
                    <a:lnR>
                      <a:noFill/>
                    </a:lnR>
                    <a:lnT>
                      <a:noFill/>
                    </a:lnT>
                    <a:lnB>
                      <a:noFill/>
                    </a:lnB>
                    <a:noFill/>
                  </a:tcPr>
                </a:tc>
                <a:tc>
                  <a:txBody>
                    <a:bodyPr/>
                    <a:lstStyle/>
                    <a:p>
                      <a:pPr>
                        <a:buNone/>
                      </a:pPr>
                      <a:r>
                        <a:rPr lang="en-IN" sz="2400"/>
                        <a:t>Limited</a:t>
                      </a:r>
                    </a:p>
                  </a:txBody>
                  <a:tcPr anchor="ctr">
                    <a:lnL>
                      <a:noFill/>
                    </a:lnL>
                    <a:lnR>
                      <a:noFill/>
                    </a:lnR>
                    <a:lnT>
                      <a:noFill/>
                    </a:lnT>
                    <a:lnB>
                      <a:noFill/>
                    </a:lnB>
                    <a:noFill/>
                  </a:tcPr>
                </a:tc>
                <a:tc>
                  <a:txBody>
                    <a:bodyPr/>
                    <a:lstStyle/>
                    <a:p>
                      <a:pPr>
                        <a:buNone/>
                      </a:pPr>
                      <a:r>
                        <a:rPr lang="en-IN" sz="2400"/>
                        <a:t>Through functions</a:t>
                      </a:r>
                    </a:p>
                  </a:txBody>
                  <a:tcPr anchor="ctr">
                    <a:lnL>
                      <a:noFill/>
                    </a:lnL>
                    <a:lnR>
                      <a:noFill/>
                    </a:lnR>
                    <a:lnT>
                      <a:noFill/>
                    </a:lnT>
                    <a:lnB>
                      <a:noFill/>
                    </a:lnB>
                    <a:noFill/>
                  </a:tcPr>
                </a:tc>
                <a:tc>
                  <a:txBody>
                    <a:bodyPr/>
                    <a:lstStyle/>
                    <a:p>
                      <a:pPr>
                        <a:buNone/>
                      </a:pPr>
                      <a:r>
                        <a:rPr lang="en-IN" sz="2400"/>
                        <a:t>Through classes and inheritance</a:t>
                      </a:r>
                    </a:p>
                  </a:txBody>
                  <a:tcPr anchor="ctr">
                    <a:lnL>
                      <a:noFill/>
                    </a:lnL>
                    <a:lnR>
                      <a:noFill/>
                    </a:lnR>
                    <a:lnT>
                      <a:noFill/>
                    </a:lnT>
                    <a:lnB>
                      <a:noFill/>
                    </a:lnB>
                    <a:noFill/>
                  </a:tcPr>
                </a:tc>
                <a:extLst>
                  <a:ext uri="{0D108BD9-81ED-4DB2-BD59-A6C34878D82A}">
                    <a16:rowId xmlns:a16="http://schemas.microsoft.com/office/drawing/2014/main" val="2502910266"/>
                  </a:ext>
                </a:extLst>
              </a:tr>
              <a:tr h="558301">
                <a:tc>
                  <a:txBody>
                    <a:bodyPr/>
                    <a:lstStyle/>
                    <a:p>
                      <a:pPr>
                        <a:buNone/>
                      </a:pPr>
                      <a:r>
                        <a:rPr lang="en-IN" sz="2400"/>
                        <a:t>Example Language</a:t>
                      </a:r>
                    </a:p>
                  </a:txBody>
                  <a:tcPr anchor="ctr">
                    <a:lnL>
                      <a:noFill/>
                    </a:lnL>
                    <a:lnR>
                      <a:noFill/>
                    </a:lnR>
                    <a:lnT>
                      <a:noFill/>
                    </a:lnT>
                    <a:lnB>
                      <a:noFill/>
                    </a:lnB>
                    <a:noFill/>
                  </a:tcPr>
                </a:tc>
                <a:tc>
                  <a:txBody>
                    <a:bodyPr/>
                    <a:lstStyle/>
                    <a:p>
                      <a:pPr>
                        <a:buNone/>
                      </a:pPr>
                      <a:r>
                        <a:rPr lang="en-IN" sz="2400"/>
                        <a:t>Haskell, Lisp</a:t>
                      </a:r>
                    </a:p>
                  </a:txBody>
                  <a:tcPr anchor="ctr">
                    <a:lnL>
                      <a:noFill/>
                    </a:lnL>
                    <a:lnR>
                      <a:noFill/>
                    </a:lnR>
                    <a:lnT>
                      <a:noFill/>
                    </a:lnT>
                    <a:lnB>
                      <a:noFill/>
                    </a:lnB>
                    <a:noFill/>
                  </a:tcPr>
                </a:tc>
                <a:tc>
                  <a:txBody>
                    <a:bodyPr/>
                    <a:lstStyle/>
                    <a:p>
                      <a:pPr>
                        <a:buNone/>
                      </a:pPr>
                      <a:r>
                        <a:rPr lang="en-IN" sz="2400"/>
                        <a:t>C, Pascal</a:t>
                      </a:r>
                    </a:p>
                  </a:txBody>
                  <a:tcPr anchor="ctr">
                    <a:lnL>
                      <a:noFill/>
                    </a:lnL>
                    <a:lnR>
                      <a:noFill/>
                    </a:lnR>
                    <a:lnT>
                      <a:noFill/>
                    </a:lnT>
                    <a:lnB>
                      <a:noFill/>
                    </a:lnB>
                    <a:noFill/>
                  </a:tcPr>
                </a:tc>
                <a:tc>
                  <a:txBody>
                    <a:bodyPr/>
                    <a:lstStyle/>
                    <a:p>
                      <a:pPr>
                        <a:buNone/>
                      </a:pPr>
                      <a:r>
                        <a:rPr lang="en-IN" sz="2400"/>
                        <a:t>C++, Java</a:t>
                      </a:r>
                    </a:p>
                  </a:txBody>
                  <a:tcPr anchor="ctr">
                    <a:lnL>
                      <a:noFill/>
                    </a:lnL>
                    <a:lnR>
                      <a:noFill/>
                    </a:lnR>
                    <a:lnT>
                      <a:noFill/>
                    </a:lnT>
                    <a:lnB>
                      <a:noFill/>
                    </a:lnB>
                    <a:noFill/>
                  </a:tcPr>
                </a:tc>
                <a:extLst>
                  <a:ext uri="{0D108BD9-81ED-4DB2-BD59-A6C34878D82A}">
                    <a16:rowId xmlns:a16="http://schemas.microsoft.com/office/drawing/2014/main" val="668375422"/>
                  </a:ext>
                </a:extLst>
              </a:tr>
              <a:tr h="558301">
                <a:tc>
                  <a:txBody>
                    <a:bodyPr/>
                    <a:lstStyle/>
                    <a:p>
                      <a:pPr>
                        <a:buNone/>
                      </a:pPr>
                      <a:r>
                        <a:rPr lang="en-IN" sz="2400"/>
                        <a:t>Example Unit</a:t>
                      </a:r>
                    </a:p>
                  </a:txBody>
                  <a:tcPr anchor="ctr">
                    <a:lnL>
                      <a:noFill/>
                    </a:lnL>
                    <a:lnR>
                      <a:noFill/>
                    </a:lnR>
                    <a:lnT>
                      <a:noFill/>
                    </a:lnT>
                    <a:lnB>
                      <a:noFill/>
                    </a:lnB>
                    <a:noFill/>
                  </a:tcPr>
                </a:tc>
                <a:tc>
                  <a:txBody>
                    <a:bodyPr/>
                    <a:lstStyle/>
                    <a:p>
                      <a:pPr>
                        <a:buNone/>
                      </a:pPr>
                      <a:r>
                        <a:rPr lang="en-IN" sz="2400"/>
                        <a:t>Function</a:t>
                      </a:r>
                    </a:p>
                  </a:txBody>
                  <a:tcPr anchor="ctr">
                    <a:lnL>
                      <a:noFill/>
                    </a:lnL>
                    <a:lnR>
                      <a:noFill/>
                    </a:lnR>
                    <a:lnT>
                      <a:noFill/>
                    </a:lnT>
                    <a:lnB>
                      <a:noFill/>
                    </a:lnB>
                    <a:noFill/>
                  </a:tcPr>
                </a:tc>
                <a:tc>
                  <a:txBody>
                    <a:bodyPr/>
                    <a:lstStyle/>
                    <a:p>
                      <a:pPr>
                        <a:buNone/>
                      </a:pPr>
                      <a:r>
                        <a:rPr lang="en-IN" sz="2400"/>
                        <a:t>Function</a:t>
                      </a:r>
                    </a:p>
                  </a:txBody>
                  <a:tcPr anchor="ctr">
                    <a:lnL>
                      <a:noFill/>
                    </a:lnL>
                    <a:lnR>
                      <a:noFill/>
                    </a:lnR>
                    <a:lnT>
                      <a:noFill/>
                    </a:lnT>
                    <a:lnB>
                      <a:noFill/>
                    </a:lnB>
                    <a:noFill/>
                  </a:tcPr>
                </a:tc>
                <a:tc>
                  <a:txBody>
                    <a:bodyPr/>
                    <a:lstStyle/>
                    <a:p>
                      <a:pPr>
                        <a:buNone/>
                      </a:pPr>
                      <a:r>
                        <a:rPr lang="en-IN" sz="2400"/>
                        <a:t>Object</a:t>
                      </a:r>
                    </a:p>
                  </a:txBody>
                  <a:tcPr anchor="ctr">
                    <a:lnL>
                      <a:noFill/>
                    </a:lnL>
                    <a:lnR>
                      <a:noFill/>
                    </a:lnR>
                    <a:lnT>
                      <a:noFill/>
                    </a:lnT>
                    <a:lnB>
                      <a:noFill/>
                    </a:lnB>
                    <a:noFill/>
                  </a:tcPr>
                </a:tc>
                <a:extLst>
                  <a:ext uri="{0D108BD9-81ED-4DB2-BD59-A6C34878D82A}">
                    <a16:rowId xmlns:a16="http://schemas.microsoft.com/office/drawing/2014/main" val="2607426002"/>
                  </a:ext>
                </a:extLst>
              </a:tr>
              <a:tr h="977027">
                <a:tc>
                  <a:txBody>
                    <a:bodyPr/>
                    <a:lstStyle/>
                    <a:p>
                      <a:pPr>
                        <a:buNone/>
                      </a:pPr>
                      <a:r>
                        <a:rPr lang="en-IN" sz="2400"/>
                        <a:t>Real-life analogy</a:t>
                      </a:r>
                    </a:p>
                  </a:txBody>
                  <a:tcPr anchor="ctr">
                    <a:lnL>
                      <a:noFill/>
                    </a:lnL>
                    <a:lnR>
                      <a:noFill/>
                    </a:lnR>
                    <a:lnT>
                      <a:noFill/>
                    </a:lnT>
                    <a:lnB>
                      <a:noFill/>
                    </a:lnB>
                    <a:noFill/>
                  </a:tcPr>
                </a:tc>
                <a:tc>
                  <a:txBody>
                    <a:bodyPr/>
                    <a:lstStyle/>
                    <a:p>
                      <a:pPr>
                        <a:buNone/>
                      </a:pPr>
                      <a:r>
                        <a:rPr lang="en-IN" sz="2400"/>
                        <a:t>Calculator</a:t>
                      </a:r>
                    </a:p>
                  </a:txBody>
                  <a:tcPr anchor="ctr">
                    <a:lnL>
                      <a:noFill/>
                    </a:lnL>
                    <a:lnR>
                      <a:noFill/>
                    </a:lnR>
                    <a:lnT>
                      <a:noFill/>
                    </a:lnT>
                    <a:lnB>
                      <a:noFill/>
                    </a:lnB>
                    <a:noFill/>
                  </a:tcPr>
                </a:tc>
                <a:tc>
                  <a:txBody>
                    <a:bodyPr/>
                    <a:lstStyle/>
                    <a:p>
                      <a:pPr>
                        <a:buNone/>
                      </a:pPr>
                      <a:r>
                        <a:rPr lang="en-IN" sz="2400"/>
                        <a:t>Recipe</a:t>
                      </a:r>
                    </a:p>
                  </a:txBody>
                  <a:tcPr anchor="ctr">
                    <a:lnL>
                      <a:noFill/>
                    </a:lnL>
                    <a:lnR>
                      <a:noFill/>
                    </a:lnR>
                    <a:lnT>
                      <a:noFill/>
                    </a:lnT>
                    <a:lnB>
                      <a:noFill/>
                    </a:lnB>
                    <a:noFill/>
                  </a:tcPr>
                </a:tc>
                <a:tc>
                  <a:txBody>
                    <a:bodyPr/>
                    <a:lstStyle/>
                    <a:p>
                      <a:pPr>
                        <a:buNone/>
                      </a:pPr>
                      <a:r>
                        <a:rPr lang="en-US" sz="2400" dirty="0"/>
                        <a:t>Real-world object (Car, Student, Account)</a:t>
                      </a:r>
                    </a:p>
                  </a:txBody>
                  <a:tcPr anchor="ctr">
                    <a:lnL>
                      <a:noFill/>
                    </a:lnL>
                    <a:lnR>
                      <a:noFill/>
                    </a:lnR>
                    <a:lnT>
                      <a:noFill/>
                    </a:lnT>
                    <a:lnB>
                      <a:noFill/>
                    </a:lnB>
                    <a:noFill/>
                  </a:tcPr>
                </a:tc>
                <a:extLst>
                  <a:ext uri="{0D108BD9-81ED-4DB2-BD59-A6C34878D82A}">
                    <a16:rowId xmlns:a16="http://schemas.microsoft.com/office/drawing/2014/main" val="2388418141"/>
                  </a:ext>
                </a:extLst>
              </a:tr>
            </a:tbl>
          </a:graphicData>
        </a:graphic>
      </p:graphicFrame>
    </p:spTree>
    <p:extLst>
      <p:ext uri="{BB962C8B-B14F-4D97-AF65-F5344CB8AC3E}">
        <p14:creationId xmlns:p14="http://schemas.microsoft.com/office/powerpoint/2010/main" val="356122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A345C9D-4B4F-C502-804F-909E88C84380}"/>
              </a:ext>
            </a:extLst>
          </p:cNvPr>
          <p:cNvGraphicFramePr>
            <a:graphicFrameLocks noGrp="1"/>
          </p:cNvGraphicFramePr>
          <p:nvPr>
            <p:extLst>
              <p:ext uri="{D42A27DB-BD31-4B8C-83A1-F6EECF244321}">
                <p14:modId xmlns:p14="http://schemas.microsoft.com/office/powerpoint/2010/main" val="404115768"/>
              </p:ext>
            </p:extLst>
          </p:nvPr>
        </p:nvGraphicFramePr>
        <p:xfrm>
          <a:off x="176980" y="806246"/>
          <a:ext cx="11838039" cy="5850196"/>
        </p:xfrm>
        <a:graphic>
          <a:graphicData uri="http://schemas.openxmlformats.org/drawingml/2006/table">
            <a:tbl>
              <a:tblPr/>
              <a:tblGrid>
                <a:gridCol w="3946013">
                  <a:extLst>
                    <a:ext uri="{9D8B030D-6E8A-4147-A177-3AD203B41FA5}">
                      <a16:colId xmlns:a16="http://schemas.microsoft.com/office/drawing/2014/main" val="3440960272"/>
                    </a:ext>
                  </a:extLst>
                </a:gridCol>
                <a:gridCol w="3946013">
                  <a:extLst>
                    <a:ext uri="{9D8B030D-6E8A-4147-A177-3AD203B41FA5}">
                      <a16:colId xmlns:a16="http://schemas.microsoft.com/office/drawing/2014/main" val="4115203337"/>
                    </a:ext>
                  </a:extLst>
                </a:gridCol>
                <a:gridCol w="3946013">
                  <a:extLst>
                    <a:ext uri="{9D8B030D-6E8A-4147-A177-3AD203B41FA5}">
                      <a16:colId xmlns:a16="http://schemas.microsoft.com/office/drawing/2014/main" val="3419352395"/>
                    </a:ext>
                  </a:extLst>
                </a:gridCol>
              </a:tblGrid>
              <a:tr h="531836">
                <a:tc>
                  <a:txBody>
                    <a:bodyPr/>
                    <a:lstStyle/>
                    <a:p>
                      <a:pPr>
                        <a:buNone/>
                      </a:pPr>
                      <a:r>
                        <a:rPr lang="en-IN" sz="2000"/>
                        <a:t>Concept</a:t>
                      </a:r>
                    </a:p>
                  </a:txBody>
                  <a:tcPr anchor="ctr">
                    <a:lnL>
                      <a:noFill/>
                    </a:lnL>
                    <a:lnR>
                      <a:noFill/>
                    </a:lnR>
                    <a:lnT>
                      <a:noFill/>
                    </a:lnT>
                    <a:lnB>
                      <a:noFill/>
                    </a:lnB>
                    <a:noFill/>
                  </a:tcPr>
                </a:tc>
                <a:tc>
                  <a:txBody>
                    <a:bodyPr/>
                    <a:lstStyle/>
                    <a:p>
                      <a:pPr>
                        <a:buNone/>
                      </a:pPr>
                      <a:r>
                        <a:rPr lang="en-IN" sz="2000"/>
                        <a:t>What to Revise</a:t>
                      </a:r>
                    </a:p>
                  </a:txBody>
                  <a:tcPr anchor="ctr">
                    <a:lnL>
                      <a:noFill/>
                    </a:lnL>
                    <a:lnR>
                      <a:noFill/>
                    </a:lnR>
                    <a:lnT>
                      <a:noFill/>
                    </a:lnT>
                    <a:lnB>
                      <a:noFill/>
                    </a:lnB>
                    <a:noFill/>
                  </a:tcPr>
                </a:tc>
                <a:tc>
                  <a:txBody>
                    <a:bodyPr/>
                    <a:lstStyle/>
                    <a:p>
                      <a:pPr>
                        <a:buNone/>
                      </a:pPr>
                      <a:r>
                        <a:rPr lang="en-IN" sz="2000"/>
                        <a:t>Example/Focus</a:t>
                      </a:r>
                    </a:p>
                  </a:txBody>
                  <a:tcPr anchor="ctr">
                    <a:lnL>
                      <a:noFill/>
                    </a:lnL>
                    <a:lnR>
                      <a:noFill/>
                    </a:lnR>
                    <a:lnT>
                      <a:noFill/>
                    </a:lnT>
                    <a:lnB>
                      <a:noFill/>
                    </a:lnB>
                    <a:noFill/>
                  </a:tcPr>
                </a:tc>
                <a:extLst>
                  <a:ext uri="{0D108BD9-81ED-4DB2-BD59-A6C34878D82A}">
                    <a16:rowId xmlns:a16="http://schemas.microsoft.com/office/drawing/2014/main" val="2325998214"/>
                  </a:ext>
                </a:extLst>
              </a:tr>
              <a:tr h="531836">
                <a:tc>
                  <a:txBody>
                    <a:bodyPr/>
                    <a:lstStyle/>
                    <a:p>
                      <a:pPr>
                        <a:buNone/>
                      </a:pPr>
                      <a:r>
                        <a:rPr lang="en-IN" sz="2000" b="1"/>
                        <a:t>Data Types</a:t>
                      </a:r>
                      <a:endParaRPr lang="en-IN" sz="2000"/>
                    </a:p>
                  </a:txBody>
                  <a:tcPr anchor="ctr">
                    <a:lnL>
                      <a:noFill/>
                    </a:lnL>
                    <a:lnR>
                      <a:noFill/>
                    </a:lnR>
                    <a:lnT>
                      <a:noFill/>
                    </a:lnT>
                    <a:lnB>
                      <a:noFill/>
                    </a:lnB>
                    <a:noFill/>
                  </a:tcPr>
                </a:tc>
                <a:tc>
                  <a:txBody>
                    <a:bodyPr/>
                    <a:lstStyle/>
                    <a:p>
                      <a:pPr>
                        <a:buNone/>
                      </a:pPr>
                      <a:r>
                        <a:rPr lang="en-IN" sz="2000"/>
                        <a:t>int, float, char, double</a:t>
                      </a:r>
                    </a:p>
                  </a:txBody>
                  <a:tcPr anchor="ctr">
                    <a:lnL>
                      <a:noFill/>
                    </a:lnL>
                    <a:lnR>
                      <a:noFill/>
                    </a:lnR>
                    <a:lnT>
                      <a:noFill/>
                    </a:lnT>
                    <a:lnB>
                      <a:noFill/>
                    </a:lnB>
                    <a:noFill/>
                  </a:tcPr>
                </a:tc>
                <a:tc>
                  <a:txBody>
                    <a:bodyPr/>
                    <a:lstStyle/>
                    <a:p>
                      <a:pPr>
                        <a:buNone/>
                      </a:pPr>
                      <a:r>
                        <a:rPr lang="en-IN" sz="2000"/>
                        <a:t>Syntax and declaration</a:t>
                      </a:r>
                    </a:p>
                  </a:txBody>
                  <a:tcPr anchor="ctr">
                    <a:lnL>
                      <a:noFill/>
                    </a:lnL>
                    <a:lnR>
                      <a:noFill/>
                    </a:lnR>
                    <a:lnT>
                      <a:noFill/>
                    </a:lnT>
                    <a:lnB>
                      <a:noFill/>
                    </a:lnB>
                    <a:noFill/>
                  </a:tcPr>
                </a:tc>
                <a:extLst>
                  <a:ext uri="{0D108BD9-81ED-4DB2-BD59-A6C34878D82A}">
                    <a16:rowId xmlns:a16="http://schemas.microsoft.com/office/drawing/2014/main" val="548980903"/>
                  </a:ext>
                </a:extLst>
              </a:tr>
              <a:tr h="531836">
                <a:tc>
                  <a:txBody>
                    <a:bodyPr/>
                    <a:lstStyle/>
                    <a:p>
                      <a:pPr>
                        <a:buNone/>
                      </a:pPr>
                      <a:r>
                        <a:rPr lang="en-IN" sz="2000" b="1"/>
                        <a:t>Operators</a:t>
                      </a:r>
                      <a:endParaRPr lang="en-IN" sz="2000"/>
                    </a:p>
                  </a:txBody>
                  <a:tcPr anchor="ctr">
                    <a:lnL>
                      <a:noFill/>
                    </a:lnL>
                    <a:lnR>
                      <a:noFill/>
                    </a:lnR>
                    <a:lnT>
                      <a:noFill/>
                    </a:lnT>
                    <a:lnB>
                      <a:noFill/>
                    </a:lnB>
                    <a:noFill/>
                  </a:tcPr>
                </a:tc>
                <a:tc>
                  <a:txBody>
                    <a:bodyPr/>
                    <a:lstStyle/>
                    <a:p>
                      <a:pPr>
                        <a:buNone/>
                      </a:pPr>
                      <a:r>
                        <a:rPr lang="en-IN" sz="2000"/>
                        <a:t>+, -, *, /, %, ++, --, ==, etc.</a:t>
                      </a:r>
                    </a:p>
                  </a:txBody>
                  <a:tcPr anchor="ctr">
                    <a:lnL>
                      <a:noFill/>
                    </a:lnL>
                    <a:lnR>
                      <a:noFill/>
                    </a:lnR>
                    <a:lnT>
                      <a:noFill/>
                    </a:lnT>
                    <a:lnB>
                      <a:noFill/>
                    </a:lnB>
                    <a:noFill/>
                  </a:tcPr>
                </a:tc>
                <a:tc>
                  <a:txBody>
                    <a:bodyPr/>
                    <a:lstStyle/>
                    <a:p>
                      <a:pPr>
                        <a:buNone/>
                      </a:pPr>
                      <a:r>
                        <a:rPr lang="en-US" sz="2000"/>
                        <a:t>Used same way in C++</a:t>
                      </a:r>
                    </a:p>
                  </a:txBody>
                  <a:tcPr anchor="ctr">
                    <a:lnL>
                      <a:noFill/>
                    </a:lnL>
                    <a:lnR>
                      <a:noFill/>
                    </a:lnR>
                    <a:lnT>
                      <a:noFill/>
                    </a:lnT>
                    <a:lnB>
                      <a:noFill/>
                    </a:lnB>
                    <a:noFill/>
                  </a:tcPr>
                </a:tc>
                <a:extLst>
                  <a:ext uri="{0D108BD9-81ED-4DB2-BD59-A6C34878D82A}">
                    <a16:rowId xmlns:a16="http://schemas.microsoft.com/office/drawing/2014/main" val="2081755182"/>
                  </a:ext>
                </a:extLst>
              </a:tr>
              <a:tr h="930713">
                <a:tc>
                  <a:txBody>
                    <a:bodyPr/>
                    <a:lstStyle/>
                    <a:p>
                      <a:pPr>
                        <a:buNone/>
                      </a:pPr>
                      <a:r>
                        <a:rPr lang="en-IN" sz="2000" b="1"/>
                        <a:t>Control Statements</a:t>
                      </a:r>
                      <a:endParaRPr lang="en-IN" sz="2000"/>
                    </a:p>
                  </a:txBody>
                  <a:tcPr anchor="ctr">
                    <a:lnL>
                      <a:noFill/>
                    </a:lnL>
                    <a:lnR>
                      <a:noFill/>
                    </a:lnR>
                    <a:lnT>
                      <a:noFill/>
                    </a:lnT>
                    <a:lnB>
                      <a:noFill/>
                    </a:lnB>
                    <a:noFill/>
                  </a:tcPr>
                </a:tc>
                <a:tc>
                  <a:txBody>
                    <a:bodyPr/>
                    <a:lstStyle/>
                    <a:p>
                      <a:pPr>
                        <a:buNone/>
                      </a:pPr>
                      <a:r>
                        <a:rPr lang="en-US" sz="2000" dirty="0"/>
                        <a:t>if, else, switch, loops (for, while, do-while)</a:t>
                      </a:r>
                    </a:p>
                  </a:txBody>
                  <a:tcPr anchor="ctr">
                    <a:lnL>
                      <a:noFill/>
                    </a:lnL>
                    <a:lnR>
                      <a:noFill/>
                    </a:lnR>
                    <a:lnT>
                      <a:noFill/>
                    </a:lnT>
                    <a:lnB>
                      <a:noFill/>
                    </a:lnB>
                    <a:noFill/>
                  </a:tcPr>
                </a:tc>
                <a:tc>
                  <a:txBody>
                    <a:bodyPr/>
                    <a:lstStyle/>
                    <a:p>
                      <a:pPr>
                        <a:buNone/>
                      </a:pPr>
                      <a:r>
                        <a:rPr lang="en-IN" sz="2000"/>
                        <a:t>Same in C++</a:t>
                      </a:r>
                    </a:p>
                  </a:txBody>
                  <a:tcPr anchor="ctr">
                    <a:lnL>
                      <a:noFill/>
                    </a:lnL>
                    <a:lnR>
                      <a:noFill/>
                    </a:lnR>
                    <a:lnT>
                      <a:noFill/>
                    </a:lnT>
                    <a:lnB>
                      <a:noFill/>
                    </a:lnB>
                    <a:noFill/>
                  </a:tcPr>
                </a:tc>
                <a:extLst>
                  <a:ext uri="{0D108BD9-81ED-4DB2-BD59-A6C34878D82A}">
                    <a16:rowId xmlns:a16="http://schemas.microsoft.com/office/drawing/2014/main" val="2150688534"/>
                  </a:ext>
                </a:extLst>
              </a:tr>
              <a:tr h="930713">
                <a:tc>
                  <a:txBody>
                    <a:bodyPr/>
                    <a:lstStyle/>
                    <a:p>
                      <a:pPr>
                        <a:buNone/>
                      </a:pPr>
                      <a:r>
                        <a:rPr lang="en-IN" sz="2000" b="1"/>
                        <a:t>Functions</a:t>
                      </a:r>
                      <a:endParaRPr lang="en-IN" sz="2000"/>
                    </a:p>
                  </a:txBody>
                  <a:tcPr anchor="ctr">
                    <a:lnL>
                      <a:noFill/>
                    </a:lnL>
                    <a:lnR>
                      <a:noFill/>
                    </a:lnR>
                    <a:lnT>
                      <a:noFill/>
                    </a:lnT>
                    <a:lnB>
                      <a:noFill/>
                    </a:lnB>
                    <a:noFill/>
                  </a:tcPr>
                </a:tc>
                <a:tc>
                  <a:txBody>
                    <a:bodyPr/>
                    <a:lstStyle/>
                    <a:p>
                      <a:pPr>
                        <a:buNone/>
                      </a:pPr>
                      <a:r>
                        <a:rPr lang="en-IN" sz="2000"/>
                        <a:t>Function declaration, definition, call</a:t>
                      </a:r>
                    </a:p>
                  </a:txBody>
                  <a:tcPr anchor="ctr">
                    <a:lnL>
                      <a:noFill/>
                    </a:lnL>
                    <a:lnR>
                      <a:noFill/>
                    </a:lnR>
                    <a:lnT>
                      <a:noFill/>
                    </a:lnT>
                    <a:lnB>
                      <a:noFill/>
                    </a:lnB>
                    <a:noFill/>
                  </a:tcPr>
                </a:tc>
                <a:tc>
                  <a:txBody>
                    <a:bodyPr/>
                    <a:lstStyle/>
                    <a:p>
                      <a:pPr>
                        <a:buNone/>
                      </a:pPr>
                      <a:r>
                        <a:rPr lang="en-US" sz="2000"/>
                        <a:t>Explain that C++ supports functions inside classes too</a:t>
                      </a:r>
                    </a:p>
                  </a:txBody>
                  <a:tcPr anchor="ctr">
                    <a:lnL>
                      <a:noFill/>
                    </a:lnL>
                    <a:lnR>
                      <a:noFill/>
                    </a:lnR>
                    <a:lnT>
                      <a:noFill/>
                    </a:lnT>
                    <a:lnB>
                      <a:noFill/>
                    </a:lnB>
                    <a:noFill/>
                  </a:tcPr>
                </a:tc>
                <a:extLst>
                  <a:ext uri="{0D108BD9-81ED-4DB2-BD59-A6C34878D82A}">
                    <a16:rowId xmlns:a16="http://schemas.microsoft.com/office/drawing/2014/main" val="3115008344"/>
                  </a:ext>
                </a:extLst>
              </a:tr>
              <a:tr h="930713">
                <a:tc>
                  <a:txBody>
                    <a:bodyPr/>
                    <a:lstStyle/>
                    <a:p>
                      <a:pPr>
                        <a:buNone/>
                      </a:pPr>
                      <a:r>
                        <a:rPr lang="en-IN" sz="2000" b="1"/>
                        <a:t>Arrays and Strings</a:t>
                      </a:r>
                      <a:endParaRPr lang="en-IN" sz="2000"/>
                    </a:p>
                  </a:txBody>
                  <a:tcPr anchor="ctr">
                    <a:lnL>
                      <a:noFill/>
                    </a:lnL>
                    <a:lnR>
                      <a:noFill/>
                    </a:lnR>
                    <a:lnT>
                      <a:noFill/>
                    </a:lnT>
                    <a:lnB>
                      <a:noFill/>
                    </a:lnB>
                    <a:noFill/>
                  </a:tcPr>
                </a:tc>
                <a:tc>
                  <a:txBody>
                    <a:bodyPr/>
                    <a:lstStyle/>
                    <a:p>
                      <a:pPr>
                        <a:buNone/>
                      </a:pPr>
                      <a:r>
                        <a:rPr lang="en-US" sz="2000" dirty="0"/>
                        <a:t>1D and 2D arrays, char arrays</a:t>
                      </a:r>
                    </a:p>
                  </a:txBody>
                  <a:tcPr anchor="ctr">
                    <a:lnL>
                      <a:noFill/>
                    </a:lnL>
                    <a:lnR>
                      <a:noFill/>
                    </a:lnR>
                    <a:lnT>
                      <a:noFill/>
                    </a:lnT>
                    <a:lnB>
                      <a:noFill/>
                    </a:lnB>
                    <a:noFill/>
                  </a:tcPr>
                </a:tc>
                <a:tc>
                  <a:txBody>
                    <a:bodyPr/>
                    <a:lstStyle/>
                    <a:p>
                      <a:pPr>
                        <a:buNone/>
                      </a:pPr>
                      <a:r>
                        <a:rPr lang="en-US" sz="2000"/>
                        <a:t>Compare later with C++ </a:t>
                      </a:r>
                      <a:r>
                        <a:rPr lang="en-US" sz="2000">
                          <a:latin typeface="Courier New" panose="02070309020205020404" pitchFamily="49" charset="0"/>
                        </a:rPr>
                        <a:t>string</a:t>
                      </a:r>
                      <a:r>
                        <a:rPr lang="en-US" sz="2000"/>
                        <a:t> class</a:t>
                      </a:r>
                    </a:p>
                  </a:txBody>
                  <a:tcPr anchor="ctr">
                    <a:lnL>
                      <a:noFill/>
                    </a:lnL>
                    <a:lnR>
                      <a:noFill/>
                    </a:lnR>
                    <a:lnT>
                      <a:noFill/>
                    </a:lnT>
                    <a:lnB>
                      <a:noFill/>
                    </a:lnB>
                    <a:noFill/>
                  </a:tcPr>
                </a:tc>
                <a:extLst>
                  <a:ext uri="{0D108BD9-81ED-4DB2-BD59-A6C34878D82A}">
                    <a16:rowId xmlns:a16="http://schemas.microsoft.com/office/drawing/2014/main" val="2756146989"/>
                  </a:ext>
                </a:extLst>
              </a:tr>
              <a:tr h="930713">
                <a:tc>
                  <a:txBody>
                    <a:bodyPr/>
                    <a:lstStyle/>
                    <a:p>
                      <a:pPr>
                        <a:buNone/>
                      </a:pPr>
                      <a:r>
                        <a:rPr lang="en-IN" sz="2000" b="1"/>
                        <a:t>Pointers</a:t>
                      </a:r>
                      <a:endParaRPr lang="en-IN" sz="2000"/>
                    </a:p>
                  </a:txBody>
                  <a:tcPr anchor="ctr">
                    <a:lnL>
                      <a:noFill/>
                    </a:lnL>
                    <a:lnR>
                      <a:noFill/>
                    </a:lnR>
                    <a:lnT>
                      <a:noFill/>
                    </a:lnT>
                    <a:lnB>
                      <a:noFill/>
                    </a:lnB>
                    <a:noFill/>
                  </a:tcPr>
                </a:tc>
                <a:tc>
                  <a:txBody>
                    <a:bodyPr/>
                    <a:lstStyle/>
                    <a:p>
                      <a:pPr>
                        <a:buNone/>
                      </a:pPr>
                      <a:r>
                        <a:rPr lang="en-IN" sz="2000"/>
                        <a:t>Declaration and dereferencing</a:t>
                      </a:r>
                    </a:p>
                  </a:txBody>
                  <a:tcPr anchor="ctr">
                    <a:lnL>
                      <a:noFill/>
                    </a:lnL>
                    <a:lnR>
                      <a:noFill/>
                    </a:lnR>
                    <a:lnT>
                      <a:noFill/>
                    </a:lnT>
                    <a:lnB>
                      <a:noFill/>
                    </a:lnB>
                    <a:noFill/>
                  </a:tcPr>
                </a:tc>
                <a:tc>
                  <a:txBody>
                    <a:bodyPr/>
                    <a:lstStyle/>
                    <a:p>
                      <a:pPr>
                        <a:buNone/>
                      </a:pPr>
                      <a:r>
                        <a:rPr lang="en-US" sz="2000"/>
                        <a:t>Needed to understand </a:t>
                      </a:r>
                      <a:r>
                        <a:rPr lang="en-US" sz="2000">
                          <a:latin typeface="Courier New" panose="02070309020205020404" pitchFamily="49" charset="0"/>
                        </a:rPr>
                        <a:t>new</a:t>
                      </a:r>
                      <a:r>
                        <a:rPr lang="en-US" sz="2000"/>
                        <a:t> and </a:t>
                      </a:r>
                      <a:r>
                        <a:rPr lang="en-US" sz="2000">
                          <a:latin typeface="Courier New" panose="02070309020205020404" pitchFamily="49" charset="0"/>
                        </a:rPr>
                        <a:t>delete</a:t>
                      </a:r>
                      <a:r>
                        <a:rPr lang="en-US" sz="2000"/>
                        <a:t> in C++</a:t>
                      </a:r>
                    </a:p>
                  </a:txBody>
                  <a:tcPr anchor="ctr">
                    <a:lnL>
                      <a:noFill/>
                    </a:lnL>
                    <a:lnR>
                      <a:noFill/>
                    </a:lnR>
                    <a:lnT>
                      <a:noFill/>
                    </a:lnT>
                    <a:lnB>
                      <a:noFill/>
                    </a:lnB>
                    <a:noFill/>
                  </a:tcPr>
                </a:tc>
                <a:extLst>
                  <a:ext uri="{0D108BD9-81ED-4DB2-BD59-A6C34878D82A}">
                    <a16:rowId xmlns:a16="http://schemas.microsoft.com/office/drawing/2014/main" val="3494277650"/>
                  </a:ext>
                </a:extLst>
              </a:tr>
              <a:tr h="531836">
                <a:tc>
                  <a:txBody>
                    <a:bodyPr/>
                    <a:lstStyle/>
                    <a:p>
                      <a:pPr>
                        <a:buNone/>
                      </a:pPr>
                      <a:r>
                        <a:rPr lang="en-IN" sz="2000" b="1"/>
                        <a:t>Structures</a:t>
                      </a:r>
                      <a:endParaRPr lang="en-IN" sz="2000"/>
                    </a:p>
                  </a:txBody>
                  <a:tcPr anchor="ctr">
                    <a:lnL>
                      <a:noFill/>
                    </a:lnL>
                    <a:lnR>
                      <a:noFill/>
                    </a:lnR>
                    <a:lnT>
                      <a:noFill/>
                    </a:lnT>
                    <a:lnB>
                      <a:noFill/>
                    </a:lnB>
                    <a:noFill/>
                  </a:tcPr>
                </a:tc>
                <a:tc>
                  <a:txBody>
                    <a:bodyPr/>
                    <a:lstStyle/>
                    <a:p>
                      <a:pPr>
                        <a:buNone/>
                      </a:pPr>
                      <a:r>
                        <a:rPr lang="en-IN" sz="2000"/>
                        <a:t>Grouping of variables</a:t>
                      </a:r>
                    </a:p>
                  </a:txBody>
                  <a:tcPr anchor="ctr">
                    <a:lnL>
                      <a:noFill/>
                    </a:lnL>
                    <a:lnR>
                      <a:noFill/>
                    </a:lnR>
                    <a:lnT>
                      <a:noFill/>
                    </a:lnT>
                    <a:lnB>
                      <a:noFill/>
                    </a:lnB>
                    <a:noFill/>
                  </a:tcPr>
                </a:tc>
                <a:tc>
                  <a:txBody>
                    <a:bodyPr/>
                    <a:lstStyle/>
                    <a:p>
                      <a:pPr>
                        <a:buNone/>
                      </a:pPr>
                      <a:r>
                        <a:rPr lang="en-US" sz="2000" dirty="0"/>
                        <a:t>Link this with C++ </a:t>
                      </a:r>
                      <a:r>
                        <a:rPr lang="en-US" sz="2000" b="1" dirty="0"/>
                        <a:t>class</a:t>
                      </a:r>
                      <a:r>
                        <a:rPr lang="en-US" sz="2000" dirty="0"/>
                        <a:t> concept</a:t>
                      </a:r>
                    </a:p>
                  </a:txBody>
                  <a:tcPr anchor="ctr">
                    <a:lnL>
                      <a:noFill/>
                    </a:lnL>
                    <a:lnR>
                      <a:noFill/>
                    </a:lnR>
                    <a:lnT>
                      <a:noFill/>
                    </a:lnT>
                    <a:lnB>
                      <a:noFill/>
                    </a:lnB>
                    <a:noFill/>
                  </a:tcPr>
                </a:tc>
                <a:extLst>
                  <a:ext uri="{0D108BD9-81ED-4DB2-BD59-A6C34878D82A}">
                    <a16:rowId xmlns:a16="http://schemas.microsoft.com/office/drawing/2014/main" val="2362463633"/>
                  </a:ext>
                </a:extLst>
              </a:tr>
            </a:tbl>
          </a:graphicData>
        </a:graphic>
      </p:graphicFrame>
      <p:sp>
        <p:nvSpPr>
          <p:cNvPr id="4" name="TextBox 3">
            <a:extLst>
              <a:ext uri="{FF2B5EF4-FFF2-40B4-BE49-F238E27FC236}">
                <a16:creationId xmlns:a16="http://schemas.microsoft.com/office/drawing/2014/main" id="{C63536D4-1ECF-F151-22BD-91937B9BC935}"/>
              </a:ext>
            </a:extLst>
          </p:cNvPr>
          <p:cNvSpPr txBox="1"/>
          <p:nvPr/>
        </p:nvSpPr>
        <p:spPr>
          <a:xfrm>
            <a:off x="78657" y="149632"/>
            <a:ext cx="11838038" cy="830997"/>
          </a:xfrm>
          <a:prstGeom prst="rect">
            <a:avLst/>
          </a:prstGeom>
          <a:noFill/>
        </p:spPr>
        <p:txBody>
          <a:bodyPr wrap="square">
            <a:spAutoFit/>
          </a:bodyPr>
          <a:lstStyle/>
          <a:p>
            <a:r>
              <a:rPr lang="en-IN" sz="4800" b="1" dirty="0"/>
              <a:t>Review of C</a:t>
            </a:r>
          </a:p>
        </p:txBody>
      </p:sp>
    </p:spTree>
    <p:extLst>
      <p:ext uri="{BB962C8B-B14F-4D97-AF65-F5344CB8AC3E}">
        <p14:creationId xmlns:p14="http://schemas.microsoft.com/office/powerpoint/2010/main" val="1183928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135144-6A55-F059-DD88-A246F6B10040}"/>
              </a:ext>
            </a:extLst>
          </p:cNvPr>
          <p:cNvSpPr txBox="1"/>
          <p:nvPr/>
        </p:nvSpPr>
        <p:spPr>
          <a:xfrm>
            <a:off x="0" y="0"/>
            <a:ext cx="12192000" cy="830997"/>
          </a:xfrm>
          <a:prstGeom prst="rect">
            <a:avLst/>
          </a:prstGeom>
          <a:noFill/>
        </p:spPr>
        <p:txBody>
          <a:bodyPr wrap="square">
            <a:spAutoFit/>
          </a:bodyPr>
          <a:lstStyle/>
          <a:p>
            <a:pPr>
              <a:buNone/>
            </a:pPr>
            <a:r>
              <a:rPr lang="en-US" sz="2400" b="1" dirty="0"/>
              <a:t>Difference Between C and C++</a:t>
            </a:r>
          </a:p>
          <a:p>
            <a:pPr>
              <a:buNone/>
            </a:pPr>
            <a:r>
              <a:rPr lang="en-US" sz="2400" dirty="0"/>
              <a:t>Now, explain how </a:t>
            </a:r>
            <a:r>
              <a:rPr lang="en-US" sz="2400" b="1" dirty="0"/>
              <a:t>C++ improves and extends C</a:t>
            </a:r>
            <a:r>
              <a:rPr lang="en-US" sz="2400" dirty="0"/>
              <a:t> by adding </a:t>
            </a:r>
            <a:r>
              <a:rPr lang="en-US" sz="2400" b="1" dirty="0"/>
              <a:t>Object-Oriented</a:t>
            </a:r>
            <a:r>
              <a:rPr lang="en-US" sz="2400" dirty="0"/>
              <a:t> features.</a:t>
            </a:r>
          </a:p>
        </p:txBody>
      </p:sp>
      <p:graphicFrame>
        <p:nvGraphicFramePr>
          <p:cNvPr id="4" name="Table 3">
            <a:extLst>
              <a:ext uri="{FF2B5EF4-FFF2-40B4-BE49-F238E27FC236}">
                <a16:creationId xmlns:a16="http://schemas.microsoft.com/office/drawing/2014/main" id="{D58BBE37-656B-45C3-D480-1135A49AB3BD}"/>
              </a:ext>
            </a:extLst>
          </p:cNvPr>
          <p:cNvGraphicFramePr>
            <a:graphicFrameLocks noGrp="1"/>
          </p:cNvGraphicFramePr>
          <p:nvPr>
            <p:extLst>
              <p:ext uri="{D42A27DB-BD31-4B8C-83A1-F6EECF244321}">
                <p14:modId xmlns:p14="http://schemas.microsoft.com/office/powerpoint/2010/main" val="2113554713"/>
              </p:ext>
            </p:extLst>
          </p:nvPr>
        </p:nvGraphicFramePr>
        <p:xfrm>
          <a:off x="108154" y="830997"/>
          <a:ext cx="11995356" cy="5943432"/>
        </p:xfrm>
        <a:graphic>
          <a:graphicData uri="http://schemas.openxmlformats.org/drawingml/2006/table">
            <a:tbl>
              <a:tblPr/>
              <a:tblGrid>
                <a:gridCol w="3998452">
                  <a:extLst>
                    <a:ext uri="{9D8B030D-6E8A-4147-A177-3AD203B41FA5}">
                      <a16:colId xmlns:a16="http://schemas.microsoft.com/office/drawing/2014/main" val="223599016"/>
                    </a:ext>
                  </a:extLst>
                </a:gridCol>
                <a:gridCol w="3998452">
                  <a:extLst>
                    <a:ext uri="{9D8B030D-6E8A-4147-A177-3AD203B41FA5}">
                      <a16:colId xmlns:a16="http://schemas.microsoft.com/office/drawing/2014/main" val="1860588416"/>
                    </a:ext>
                  </a:extLst>
                </a:gridCol>
                <a:gridCol w="3998452">
                  <a:extLst>
                    <a:ext uri="{9D8B030D-6E8A-4147-A177-3AD203B41FA5}">
                      <a16:colId xmlns:a16="http://schemas.microsoft.com/office/drawing/2014/main" val="3505239732"/>
                    </a:ext>
                  </a:extLst>
                </a:gridCol>
              </a:tblGrid>
              <a:tr h="417083">
                <a:tc>
                  <a:txBody>
                    <a:bodyPr/>
                    <a:lstStyle/>
                    <a:p>
                      <a:pPr>
                        <a:buNone/>
                      </a:pPr>
                      <a:r>
                        <a:rPr lang="en-IN" sz="2000"/>
                        <a:t>Feature</a:t>
                      </a:r>
                    </a:p>
                  </a:txBody>
                  <a:tcPr marL="76339" marR="76339" marT="38170" marB="38170" anchor="ctr">
                    <a:lnL>
                      <a:noFill/>
                    </a:lnL>
                    <a:lnR>
                      <a:noFill/>
                    </a:lnR>
                    <a:lnT>
                      <a:noFill/>
                    </a:lnT>
                    <a:lnB>
                      <a:noFill/>
                    </a:lnB>
                    <a:noFill/>
                  </a:tcPr>
                </a:tc>
                <a:tc>
                  <a:txBody>
                    <a:bodyPr/>
                    <a:lstStyle/>
                    <a:p>
                      <a:pPr>
                        <a:buNone/>
                      </a:pPr>
                      <a:r>
                        <a:rPr lang="en-IN" sz="2000"/>
                        <a:t>C</a:t>
                      </a:r>
                    </a:p>
                  </a:txBody>
                  <a:tcPr marL="76339" marR="76339" marT="38170" marB="38170" anchor="ctr">
                    <a:lnL>
                      <a:noFill/>
                    </a:lnL>
                    <a:lnR>
                      <a:noFill/>
                    </a:lnR>
                    <a:lnT>
                      <a:noFill/>
                    </a:lnT>
                    <a:lnB>
                      <a:noFill/>
                    </a:lnB>
                    <a:noFill/>
                  </a:tcPr>
                </a:tc>
                <a:tc>
                  <a:txBody>
                    <a:bodyPr/>
                    <a:lstStyle/>
                    <a:p>
                      <a:pPr>
                        <a:buNone/>
                      </a:pPr>
                      <a:r>
                        <a:rPr lang="en-IN" sz="2000"/>
                        <a:t>C++</a:t>
                      </a:r>
                    </a:p>
                  </a:txBody>
                  <a:tcPr marL="76339" marR="76339" marT="38170" marB="38170" anchor="ctr">
                    <a:lnL>
                      <a:noFill/>
                    </a:lnL>
                    <a:lnR>
                      <a:noFill/>
                    </a:lnR>
                    <a:lnT>
                      <a:noFill/>
                    </a:lnT>
                    <a:lnB>
                      <a:noFill/>
                    </a:lnB>
                    <a:noFill/>
                  </a:tcPr>
                </a:tc>
                <a:extLst>
                  <a:ext uri="{0D108BD9-81ED-4DB2-BD59-A6C34878D82A}">
                    <a16:rowId xmlns:a16="http://schemas.microsoft.com/office/drawing/2014/main" val="1369072438"/>
                  </a:ext>
                </a:extLst>
              </a:tr>
              <a:tr h="417083">
                <a:tc>
                  <a:txBody>
                    <a:bodyPr/>
                    <a:lstStyle/>
                    <a:p>
                      <a:pPr>
                        <a:buNone/>
                      </a:pPr>
                      <a:r>
                        <a:rPr lang="en-IN" sz="2000" b="1"/>
                        <a:t>Programming Type</a:t>
                      </a:r>
                      <a:endParaRPr lang="en-IN" sz="2000"/>
                    </a:p>
                  </a:txBody>
                  <a:tcPr marL="76339" marR="76339" marT="38170" marB="38170" anchor="ctr">
                    <a:lnL>
                      <a:noFill/>
                    </a:lnL>
                    <a:lnR>
                      <a:noFill/>
                    </a:lnR>
                    <a:lnT>
                      <a:noFill/>
                    </a:lnT>
                    <a:lnB>
                      <a:noFill/>
                    </a:lnB>
                    <a:noFill/>
                  </a:tcPr>
                </a:tc>
                <a:tc>
                  <a:txBody>
                    <a:bodyPr/>
                    <a:lstStyle/>
                    <a:p>
                      <a:pPr>
                        <a:buNone/>
                      </a:pPr>
                      <a:r>
                        <a:rPr lang="en-IN" sz="2000"/>
                        <a:t>Procedural (function-based)</a:t>
                      </a:r>
                    </a:p>
                  </a:txBody>
                  <a:tcPr marL="76339" marR="76339" marT="38170" marB="38170" anchor="ctr">
                    <a:lnL>
                      <a:noFill/>
                    </a:lnL>
                    <a:lnR>
                      <a:noFill/>
                    </a:lnR>
                    <a:lnT>
                      <a:noFill/>
                    </a:lnT>
                    <a:lnB>
                      <a:noFill/>
                    </a:lnB>
                    <a:noFill/>
                  </a:tcPr>
                </a:tc>
                <a:tc>
                  <a:txBody>
                    <a:bodyPr/>
                    <a:lstStyle/>
                    <a:p>
                      <a:pPr>
                        <a:buNone/>
                      </a:pPr>
                      <a:r>
                        <a:rPr lang="en-IN" sz="2000"/>
                        <a:t>Object-Oriented (object-based)</a:t>
                      </a:r>
                    </a:p>
                  </a:txBody>
                  <a:tcPr marL="76339" marR="76339" marT="38170" marB="38170" anchor="ctr">
                    <a:lnL>
                      <a:noFill/>
                    </a:lnL>
                    <a:lnR>
                      <a:noFill/>
                    </a:lnR>
                    <a:lnT>
                      <a:noFill/>
                    </a:lnT>
                    <a:lnB>
                      <a:noFill/>
                    </a:lnB>
                    <a:noFill/>
                  </a:tcPr>
                </a:tc>
                <a:extLst>
                  <a:ext uri="{0D108BD9-81ED-4DB2-BD59-A6C34878D82A}">
                    <a16:rowId xmlns:a16="http://schemas.microsoft.com/office/drawing/2014/main" val="3138623364"/>
                  </a:ext>
                </a:extLst>
              </a:tr>
              <a:tr h="417083">
                <a:tc>
                  <a:txBody>
                    <a:bodyPr/>
                    <a:lstStyle/>
                    <a:p>
                      <a:pPr>
                        <a:buNone/>
                      </a:pPr>
                      <a:r>
                        <a:rPr lang="en-IN" sz="2000" b="1"/>
                        <a:t>Approach</a:t>
                      </a:r>
                      <a:endParaRPr lang="en-IN" sz="2000"/>
                    </a:p>
                  </a:txBody>
                  <a:tcPr marL="76339" marR="76339" marT="38170" marB="38170" anchor="ctr">
                    <a:lnL>
                      <a:noFill/>
                    </a:lnL>
                    <a:lnR>
                      <a:noFill/>
                    </a:lnR>
                    <a:lnT>
                      <a:noFill/>
                    </a:lnT>
                    <a:lnB>
                      <a:noFill/>
                    </a:lnB>
                    <a:noFill/>
                  </a:tcPr>
                </a:tc>
                <a:tc>
                  <a:txBody>
                    <a:bodyPr/>
                    <a:lstStyle/>
                    <a:p>
                      <a:pPr>
                        <a:buNone/>
                      </a:pPr>
                      <a:r>
                        <a:rPr lang="en-IN" sz="2000"/>
                        <a:t>Top-down approach</a:t>
                      </a:r>
                    </a:p>
                  </a:txBody>
                  <a:tcPr marL="76339" marR="76339" marT="38170" marB="38170" anchor="ctr">
                    <a:lnL>
                      <a:noFill/>
                    </a:lnL>
                    <a:lnR>
                      <a:noFill/>
                    </a:lnR>
                    <a:lnT>
                      <a:noFill/>
                    </a:lnT>
                    <a:lnB>
                      <a:noFill/>
                    </a:lnB>
                    <a:noFill/>
                  </a:tcPr>
                </a:tc>
                <a:tc>
                  <a:txBody>
                    <a:bodyPr/>
                    <a:lstStyle/>
                    <a:p>
                      <a:pPr>
                        <a:buNone/>
                      </a:pPr>
                      <a:r>
                        <a:rPr lang="en-IN" sz="2000"/>
                        <a:t>Bottom-up approach</a:t>
                      </a:r>
                    </a:p>
                  </a:txBody>
                  <a:tcPr marL="76339" marR="76339" marT="38170" marB="38170" anchor="ctr">
                    <a:lnL>
                      <a:noFill/>
                    </a:lnL>
                    <a:lnR>
                      <a:noFill/>
                    </a:lnR>
                    <a:lnT>
                      <a:noFill/>
                    </a:lnT>
                    <a:lnB>
                      <a:noFill/>
                    </a:lnB>
                    <a:noFill/>
                  </a:tcPr>
                </a:tc>
                <a:extLst>
                  <a:ext uri="{0D108BD9-81ED-4DB2-BD59-A6C34878D82A}">
                    <a16:rowId xmlns:a16="http://schemas.microsoft.com/office/drawing/2014/main" val="1635663447"/>
                  </a:ext>
                </a:extLst>
              </a:tr>
              <a:tr h="729895">
                <a:tc>
                  <a:txBody>
                    <a:bodyPr/>
                    <a:lstStyle/>
                    <a:p>
                      <a:pPr>
                        <a:buNone/>
                      </a:pPr>
                      <a:r>
                        <a:rPr lang="en-IN" sz="2000" b="1" dirty="0"/>
                        <a:t>Data</a:t>
                      </a:r>
                      <a:endParaRPr lang="en-IN" sz="2000" dirty="0"/>
                    </a:p>
                  </a:txBody>
                  <a:tcPr marL="76339" marR="76339" marT="38170" marB="38170" anchor="ctr">
                    <a:lnL>
                      <a:noFill/>
                    </a:lnL>
                    <a:lnR>
                      <a:noFill/>
                    </a:lnR>
                    <a:lnT>
                      <a:noFill/>
                    </a:lnT>
                    <a:lnB>
                      <a:noFill/>
                    </a:lnB>
                    <a:noFill/>
                  </a:tcPr>
                </a:tc>
                <a:tc>
                  <a:txBody>
                    <a:bodyPr/>
                    <a:lstStyle/>
                    <a:p>
                      <a:pPr>
                        <a:buNone/>
                      </a:pPr>
                      <a:r>
                        <a:rPr lang="en-IN" sz="2000"/>
                        <a:t>Global data, not secure</a:t>
                      </a:r>
                    </a:p>
                  </a:txBody>
                  <a:tcPr marL="76339" marR="76339" marT="38170" marB="38170" anchor="ctr">
                    <a:lnL>
                      <a:noFill/>
                    </a:lnL>
                    <a:lnR>
                      <a:noFill/>
                    </a:lnR>
                    <a:lnT>
                      <a:noFill/>
                    </a:lnT>
                    <a:lnB>
                      <a:noFill/>
                    </a:lnB>
                    <a:noFill/>
                  </a:tcPr>
                </a:tc>
                <a:tc>
                  <a:txBody>
                    <a:bodyPr/>
                    <a:lstStyle/>
                    <a:p>
                      <a:pPr>
                        <a:buNone/>
                      </a:pPr>
                      <a:r>
                        <a:rPr lang="en-US" sz="2000"/>
                        <a:t>Data hidden in classes (Encapsulation)</a:t>
                      </a:r>
                    </a:p>
                  </a:txBody>
                  <a:tcPr marL="76339" marR="76339" marT="38170" marB="38170" anchor="ctr">
                    <a:lnL>
                      <a:noFill/>
                    </a:lnL>
                    <a:lnR>
                      <a:noFill/>
                    </a:lnR>
                    <a:lnT>
                      <a:noFill/>
                    </a:lnT>
                    <a:lnB>
                      <a:noFill/>
                    </a:lnB>
                    <a:noFill/>
                  </a:tcPr>
                </a:tc>
                <a:extLst>
                  <a:ext uri="{0D108BD9-81ED-4DB2-BD59-A6C34878D82A}">
                    <a16:rowId xmlns:a16="http://schemas.microsoft.com/office/drawing/2014/main" val="367721702"/>
                  </a:ext>
                </a:extLst>
              </a:tr>
              <a:tr h="729895">
                <a:tc>
                  <a:txBody>
                    <a:bodyPr/>
                    <a:lstStyle/>
                    <a:p>
                      <a:pPr>
                        <a:buNone/>
                      </a:pPr>
                      <a:r>
                        <a:rPr lang="en-IN" sz="2000" b="1"/>
                        <a:t>Functions</a:t>
                      </a:r>
                      <a:endParaRPr lang="en-IN" sz="2000"/>
                    </a:p>
                  </a:txBody>
                  <a:tcPr marL="76339" marR="76339" marT="38170" marB="38170" anchor="ctr">
                    <a:lnL>
                      <a:noFill/>
                    </a:lnL>
                    <a:lnR>
                      <a:noFill/>
                    </a:lnR>
                    <a:lnT>
                      <a:noFill/>
                    </a:lnT>
                    <a:lnB>
                      <a:noFill/>
                    </a:lnB>
                    <a:noFill/>
                  </a:tcPr>
                </a:tc>
                <a:tc>
                  <a:txBody>
                    <a:bodyPr/>
                    <a:lstStyle/>
                    <a:p>
                      <a:pPr>
                        <a:buNone/>
                      </a:pPr>
                      <a:r>
                        <a:rPr lang="en-IN" sz="2000"/>
                        <a:t>Standalone</a:t>
                      </a:r>
                    </a:p>
                  </a:txBody>
                  <a:tcPr marL="76339" marR="76339" marT="38170" marB="38170" anchor="ctr">
                    <a:lnL>
                      <a:noFill/>
                    </a:lnL>
                    <a:lnR>
                      <a:noFill/>
                    </a:lnR>
                    <a:lnT>
                      <a:noFill/>
                    </a:lnT>
                    <a:lnB>
                      <a:noFill/>
                    </a:lnB>
                    <a:noFill/>
                  </a:tcPr>
                </a:tc>
                <a:tc>
                  <a:txBody>
                    <a:bodyPr/>
                    <a:lstStyle/>
                    <a:p>
                      <a:pPr>
                        <a:buNone/>
                      </a:pPr>
                      <a:r>
                        <a:rPr lang="en-IN" sz="2000"/>
                        <a:t>Functions inside classes (methods)</a:t>
                      </a:r>
                    </a:p>
                  </a:txBody>
                  <a:tcPr marL="76339" marR="76339" marT="38170" marB="38170" anchor="ctr">
                    <a:lnL>
                      <a:noFill/>
                    </a:lnL>
                    <a:lnR>
                      <a:noFill/>
                    </a:lnR>
                    <a:lnT>
                      <a:noFill/>
                    </a:lnT>
                    <a:lnB>
                      <a:noFill/>
                    </a:lnB>
                    <a:noFill/>
                  </a:tcPr>
                </a:tc>
                <a:extLst>
                  <a:ext uri="{0D108BD9-81ED-4DB2-BD59-A6C34878D82A}">
                    <a16:rowId xmlns:a16="http://schemas.microsoft.com/office/drawing/2014/main" val="2090230380"/>
                  </a:ext>
                </a:extLst>
              </a:tr>
              <a:tr h="417083">
                <a:tc>
                  <a:txBody>
                    <a:bodyPr/>
                    <a:lstStyle/>
                    <a:p>
                      <a:pPr>
                        <a:buNone/>
                      </a:pPr>
                      <a:r>
                        <a:rPr lang="en-IN" sz="2000" b="1"/>
                        <a:t>I/O Operations</a:t>
                      </a:r>
                      <a:endParaRPr lang="en-IN" sz="2000"/>
                    </a:p>
                  </a:txBody>
                  <a:tcPr marL="76339" marR="76339" marT="38170" marB="38170" anchor="ctr">
                    <a:lnL>
                      <a:noFill/>
                    </a:lnL>
                    <a:lnR>
                      <a:noFill/>
                    </a:lnR>
                    <a:lnT>
                      <a:noFill/>
                    </a:lnT>
                    <a:lnB>
                      <a:noFill/>
                    </a:lnB>
                    <a:noFill/>
                  </a:tcPr>
                </a:tc>
                <a:tc>
                  <a:txBody>
                    <a:bodyPr/>
                    <a:lstStyle/>
                    <a:p>
                      <a:pPr>
                        <a:buNone/>
                      </a:pPr>
                      <a:r>
                        <a:rPr lang="en-IN" sz="2000">
                          <a:latin typeface="Courier New" panose="02070309020205020404" pitchFamily="49" charset="0"/>
                        </a:rPr>
                        <a:t>printf()</a:t>
                      </a:r>
                      <a:r>
                        <a:rPr lang="en-IN" sz="2000"/>
                        <a:t> and </a:t>
                      </a:r>
                      <a:r>
                        <a:rPr lang="en-IN" sz="2000">
                          <a:latin typeface="Courier New" panose="02070309020205020404" pitchFamily="49" charset="0"/>
                        </a:rPr>
                        <a:t>scanf()</a:t>
                      </a:r>
                      <a:endParaRPr lang="en-IN" sz="2000"/>
                    </a:p>
                  </a:txBody>
                  <a:tcPr marL="76339" marR="76339" marT="38170" marB="38170" anchor="ctr">
                    <a:lnL>
                      <a:noFill/>
                    </a:lnL>
                    <a:lnR>
                      <a:noFill/>
                    </a:lnR>
                    <a:lnT>
                      <a:noFill/>
                    </a:lnT>
                    <a:lnB>
                      <a:noFill/>
                    </a:lnB>
                    <a:noFill/>
                  </a:tcPr>
                </a:tc>
                <a:tc>
                  <a:txBody>
                    <a:bodyPr/>
                    <a:lstStyle/>
                    <a:p>
                      <a:pPr>
                        <a:buNone/>
                      </a:pPr>
                      <a:r>
                        <a:rPr lang="en-IN" sz="2000">
                          <a:latin typeface="Courier New" panose="02070309020205020404" pitchFamily="49" charset="0"/>
                        </a:rPr>
                        <a:t>cout</a:t>
                      </a:r>
                      <a:r>
                        <a:rPr lang="en-IN" sz="2000"/>
                        <a:t> and </a:t>
                      </a:r>
                      <a:r>
                        <a:rPr lang="en-IN" sz="2000">
                          <a:latin typeface="Courier New" panose="02070309020205020404" pitchFamily="49" charset="0"/>
                        </a:rPr>
                        <a:t>cin</a:t>
                      </a:r>
                      <a:endParaRPr lang="en-IN" sz="2000"/>
                    </a:p>
                  </a:txBody>
                  <a:tcPr marL="76339" marR="76339" marT="38170" marB="38170" anchor="ctr">
                    <a:lnL>
                      <a:noFill/>
                    </a:lnL>
                    <a:lnR>
                      <a:noFill/>
                    </a:lnR>
                    <a:lnT>
                      <a:noFill/>
                    </a:lnT>
                    <a:lnB>
                      <a:noFill/>
                    </a:lnB>
                    <a:noFill/>
                  </a:tcPr>
                </a:tc>
                <a:extLst>
                  <a:ext uri="{0D108BD9-81ED-4DB2-BD59-A6C34878D82A}">
                    <a16:rowId xmlns:a16="http://schemas.microsoft.com/office/drawing/2014/main" val="931710979"/>
                  </a:ext>
                </a:extLst>
              </a:tr>
              <a:tr h="417083">
                <a:tc>
                  <a:txBody>
                    <a:bodyPr/>
                    <a:lstStyle/>
                    <a:p>
                      <a:pPr>
                        <a:buNone/>
                      </a:pPr>
                      <a:r>
                        <a:rPr lang="en-IN" sz="2000" b="1"/>
                        <a:t>Memory Allocation</a:t>
                      </a:r>
                      <a:endParaRPr lang="en-IN" sz="2000"/>
                    </a:p>
                  </a:txBody>
                  <a:tcPr marL="76339" marR="76339" marT="38170" marB="38170" anchor="ctr">
                    <a:lnL>
                      <a:noFill/>
                    </a:lnL>
                    <a:lnR>
                      <a:noFill/>
                    </a:lnR>
                    <a:lnT>
                      <a:noFill/>
                    </a:lnT>
                    <a:lnB>
                      <a:noFill/>
                    </a:lnB>
                    <a:noFill/>
                  </a:tcPr>
                </a:tc>
                <a:tc>
                  <a:txBody>
                    <a:bodyPr/>
                    <a:lstStyle/>
                    <a:p>
                      <a:pPr>
                        <a:buNone/>
                      </a:pPr>
                      <a:r>
                        <a:rPr lang="en-IN" sz="2000">
                          <a:latin typeface="Courier New" panose="02070309020205020404" pitchFamily="49" charset="0"/>
                        </a:rPr>
                        <a:t>malloc()</a:t>
                      </a:r>
                      <a:r>
                        <a:rPr lang="en-IN" sz="2000"/>
                        <a:t>, </a:t>
                      </a:r>
                      <a:r>
                        <a:rPr lang="en-IN" sz="2000">
                          <a:latin typeface="Courier New" panose="02070309020205020404" pitchFamily="49" charset="0"/>
                        </a:rPr>
                        <a:t>free()</a:t>
                      </a:r>
                      <a:endParaRPr lang="en-IN" sz="2000"/>
                    </a:p>
                  </a:txBody>
                  <a:tcPr marL="76339" marR="76339" marT="38170" marB="38170" anchor="ctr">
                    <a:lnL>
                      <a:noFill/>
                    </a:lnL>
                    <a:lnR>
                      <a:noFill/>
                    </a:lnR>
                    <a:lnT>
                      <a:noFill/>
                    </a:lnT>
                    <a:lnB>
                      <a:noFill/>
                    </a:lnB>
                    <a:noFill/>
                  </a:tcPr>
                </a:tc>
                <a:tc>
                  <a:txBody>
                    <a:bodyPr/>
                    <a:lstStyle/>
                    <a:p>
                      <a:pPr>
                        <a:buNone/>
                      </a:pPr>
                      <a:r>
                        <a:rPr lang="en-IN" sz="2000">
                          <a:latin typeface="Courier New" panose="02070309020205020404" pitchFamily="49" charset="0"/>
                        </a:rPr>
                        <a:t>new</a:t>
                      </a:r>
                      <a:r>
                        <a:rPr lang="en-IN" sz="2000"/>
                        <a:t>, </a:t>
                      </a:r>
                      <a:r>
                        <a:rPr lang="en-IN" sz="2000">
                          <a:latin typeface="Courier New" panose="02070309020205020404" pitchFamily="49" charset="0"/>
                        </a:rPr>
                        <a:t>delete</a:t>
                      </a:r>
                      <a:endParaRPr lang="en-IN" sz="2000"/>
                    </a:p>
                  </a:txBody>
                  <a:tcPr marL="76339" marR="76339" marT="38170" marB="38170" anchor="ctr">
                    <a:lnL>
                      <a:noFill/>
                    </a:lnL>
                    <a:lnR>
                      <a:noFill/>
                    </a:lnR>
                    <a:lnT>
                      <a:noFill/>
                    </a:lnT>
                    <a:lnB>
                      <a:noFill/>
                    </a:lnB>
                    <a:noFill/>
                  </a:tcPr>
                </a:tc>
                <a:extLst>
                  <a:ext uri="{0D108BD9-81ED-4DB2-BD59-A6C34878D82A}">
                    <a16:rowId xmlns:a16="http://schemas.microsoft.com/office/drawing/2014/main" val="4194460892"/>
                  </a:ext>
                </a:extLst>
              </a:tr>
              <a:tr h="417083">
                <a:tc>
                  <a:txBody>
                    <a:bodyPr/>
                    <a:lstStyle/>
                    <a:p>
                      <a:pPr>
                        <a:buNone/>
                      </a:pPr>
                      <a:r>
                        <a:rPr lang="en-IN" sz="2000" b="1"/>
                        <a:t>File Extension</a:t>
                      </a:r>
                      <a:endParaRPr lang="en-IN" sz="2000"/>
                    </a:p>
                  </a:txBody>
                  <a:tcPr marL="76339" marR="76339" marT="38170" marB="38170" anchor="ctr">
                    <a:lnL>
                      <a:noFill/>
                    </a:lnL>
                    <a:lnR>
                      <a:noFill/>
                    </a:lnR>
                    <a:lnT>
                      <a:noFill/>
                    </a:lnT>
                    <a:lnB>
                      <a:noFill/>
                    </a:lnB>
                    <a:noFill/>
                  </a:tcPr>
                </a:tc>
                <a:tc>
                  <a:txBody>
                    <a:bodyPr/>
                    <a:lstStyle/>
                    <a:p>
                      <a:pPr>
                        <a:buNone/>
                      </a:pPr>
                      <a:r>
                        <a:rPr lang="en-IN" sz="2000">
                          <a:latin typeface="Courier New" panose="02070309020205020404" pitchFamily="49" charset="0"/>
                        </a:rPr>
                        <a:t>.c</a:t>
                      </a:r>
                      <a:endParaRPr lang="en-IN" sz="2000"/>
                    </a:p>
                  </a:txBody>
                  <a:tcPr marL="76339" marR="76339" marT="38170" marB="38170" anchor="ctr">
                    <a:lnL>
                      <a:noFill/>
                    </a:lnL>
                    <a:lnR>
                      <a:noFill/>
                    </a:lnR>
                    <a:lnT>
                      <a:noFill/>
                    </a:lnT>
                    <a:lnB>
                      <a:noFill/>
                    </a:lnB>
                    <a:noFill/>
                  </a:tcPr>
                </a:tc>
                <a:tc>
                  <a:txBody>
                    <a:bodyPr/>
                    <a:lstStyle/>
                    <a:p>
                      <a:pPr>
                        <a:buNone/>
                      </a:pPr>
                      <a:r>
                        <a:rPr lang="en-IN" sz="2000">
                          <a:latin typeface="Courier New" panose="02070309020205020404" pitchFamily="49" charset="0"/>
                        </a:rPr>
                        <a:t>.cpp</a:t>
                      </a:r>
                      <a:endParaRPr lang="en-IN" sz="2000"/>
                    </a:p>
                  </a:txBody>
                  <a:tcPr marL="76339" marR="76339" marT="38170" marB="38170" anchor="ctr">
                    <a:lnL>
                      <a:noFill/>
                    </a:lnL>
                    <a:lnR>
                      <a:noFill/>
                    </a:lnR>
                    <a:lnT>
                      <a:noFill/>
                    </a:lnT>
                    <a:lnB>
                      <a:noFill/>
                    </a:lnB>
                    <a:noFill/>
                  </a:tcPr>
                </a:tc>
                <a:extLst>
                  <a:ext uri="{0D108BD9-81ED-4DB2-BD59-A6C34878D82A}">
                    <a16:rowId xmlns:a16="http://schemas.microsoft.com/office/drawing/2014/main" val="1497664491"/>
                  </a:ext>
                </a:extLst>
              </a:tr>
              <a:tr h="417083">
                <a:tc>
                  <a:txBody>
                    <a:bodyPr/>
                    <a:lstStyle/>
                    <a:p>
                      <a:pPr>
                        <a:buNone/>
                      </a:pPr>
                      <a:r>
                        <a:rPr lang="en-IN" sz="2000" b="1"/>
                        <a:t>Header Files</a:t>
                      </a:r>
                      <a:endParaRPr lang="en-IN" sz="2000"/>
                    </a:p>
                  </a:txBody>
                  <a:tcPr marL="76339" marR="76339" marT="38170" marB="38170" anchor="ctr">
                    <a:lnL>
                      <a:noFill/>
                    </a:lnL>
                    <a:lnR>
                      <a:noFill/>
                    </a:lnR>
                    <a:lnT>
                      <a:noFill/>
                    </a:lnT>
                    <a:lnB>
                      <a:noFill/>
                    </a:lnB>
                    <a:noFill/>
                  </a:tcPr>
                </a:tc>
                <a:tc>
                  <a:txBody>
                    <a:bodyPr/>
                    <a:lstStyle/>
                    <a:p>
                      <a:pPr>
                        <a:buNone/>
                      </a:pPr>
                      <a:r>
                        <a:rPr lang="en-IN" sz="2000">
                          <a:latin typeface="Courier New" panose="02070309020205020404" pitchFamily="49" charset="0"/>
                        </a:rPr>
                        <a:t>#include &lt;stdio.h&gt;</a:t>
                      </a:r>
                      <a:endParaRPr lang="en-IN" sz="2000"/>
                    </a:p>
                  </a:txBody>
                  <a:tcPr marL="76339" marR="76339" marT="38170" marB="38170" anchor="ctr">
                    <a:lnL>
                      <a:noFill/>
                    </a:lnL>
                    <a:lnR>
                      <a:noFill/>
                    </a:lnR>
                    <a:lnT>
                      <a:noFill/>
                    </a:lnT>
                    <a:lnB>
                      <a:noFill/>
                    </a:lnB>
                    <a:noFill/>
                  </a:tcPr>
                </a:tc>
                <a:tc>
                  <a:txBody>
                    <a:bodyPr/>
                    <a:lstStyle/>
                    <a:p>
                      <a:pPr>
                        <a:buNone/>
                      </a:pPr>
                      <a:r>
                        <a:rPr lang="en-IN" sz="2000">
                          <a:latin typeface="Courier New" panose="02070309020205020404" pitchFamily="49" charset="0"/>
                        </a:rPr>
                        <a:t>#include &lt;iostream&gt;</a:t>
                      </a:r>
                      <a:endParaRPr lang="en-IN" sz="2000"/>
                    </a:p>
                  </a:txBody>
                  <a:tcPr marL="76339" marR="76339" marT="38170" marB="38170" anchor="ctr">
                    <a:lnL>
                      <a:noFill/>
                    </a:lnL>
                    <a:lnR>
                      <a:noFill/>
                    </a:lnR>
                    <a:lnT>
                      <a:noFill/>
                    </a:lnT>
                    <a:lnB>
                      <a:noFill/>
                    </a:lnB>
                    <a:noFill/>
                  </a:tcPr>
                </a:tc>
                <a:extLst>
                  <a:ext uri="{0D108BD9-81ED-4DB2-BD59-A6C34878D82A}">
                    <a16:rowId xmlns:a16="http://schemas.microsoft.com/office/drawing/2014/main" val="3776029394"/>
                  </a:ext>
                </a:extLst>
              </a:tr>
              <a:tr h="729895">
                <a:tc>
                  <a:txBody>
                    <a:bodyPr/>
                    <a:lstStyle/>
                    <a:p>
                      <a:pPr>
                        <a:buNone/>
                      </a:pPr>
                      <a:r>
                        <a:rPr lang="en-IN" sz="2000" b="1"/>
                        <a:t>Type Safety</a:t>
                      </a:r>
                      <a:endParaRPr lang="en-IN" sz="2000"/>
                    </a:p>
                  </a:txBody>
                  <a:tcPr marL="76339" marR="76339" marT="38170" marB="38170" anchor="ctr">
                    <a:lnL>
                      <a:noFill/>
                    </a:lnL>
                    <a:lnR>
                      <a:noFill/>
                    </a:lnR>
                    <a:lnT>
                      <a:noFill/>
                    </a:lnT>
                    <a:lnB>
                      <a:noFill/>
                    </a:lnB>
                    <a:noFill/>
                  </a:tcPr>
                </a:tc>
                <a:tc>
                  <a:txBody>
                    <a:bodyPr/>
                    <a:lstStyle/>
                    <a:p>
                      <a:pPr>
                        <a:buNone/>
                      </a:pPr>
                      <a:r>
                        <a:rPr lang="en-US" sz="2000"/>
                        <a:t>Less (no function overloading, strict types)</a:t>
                      </a:r>
                    </a:p>
                  </a:txBody>
                  <a:tcPr marL="76339" marR="76339" marT="38170" marB="38170" anchor="ctr">
                    <a:lnL>
                      <a:noFill/>
                    </a:lnL>
                    <a:lnR>
                      <a:noFill/>
                    </a:lnR>
                    <a:lnT>
                      <a:noFill/>
                    </a:lnT>
                    <a:lnB>
                      <a:noFill/>
                    </a:lnB>
                    <a:noFill/>
                  </a:tcPr>
                </a:tc>
                <a:tc>
                  <a:txBody>
                    <a:bodyPr/>
                    <a:lstStyle/>
                    <a:p>
                      <a:pPr>
                        <a:buNone/>
                      </a:pPr>
                      <a:r>
                        <a:rPr lang="en-IN" sz="2000"/>
                        <a:t>More type-safe</a:t>
                      </a:r>
                    </a:p>
                  </a:txBody>
                  <a:tcPr marL="76339" marR="76339" marT="38170" marB="38170" anchor="ctr">
                    <a:lnL>
                      <a:noFill/>
                    </a:lnL>
                    <a:lnR>
                      <a:noFill/>
                    </a:lnR>
                    <a:lnT>
                      <a:noFill/>
                    </a:lnT>
                    <a:lnB>
                      <a:noFill/>
                    </a:lnB>
                    <a:noFill/>
                  </a:tcPr>
                </a:tc>
                <a:extLst>
                  <a:ext uri="{0D108BD9-81ED-4DB2-BD59-A6C34878D82A}">
                    <a16:rowId xmlns:a16="http://schemas.microsoft.com/office/drawing/2014/main" val="3022393772"/>
                  </a:ext>
                </a:extLst>
              </a:tr>
              <a:tr h="417083">
                <a:tc>
                  <a:txBody>
                    <a:bodyPr/>
                    <a:lstStyle/>
                    <a:p>
                      <a:pPr>
                        <a:buNone/>
                      </a:pPr>
                      <a:r>
                        <a:rPr lang="en-IN" sz="2000" b="1"/>
                        <a:t>Inheritance, Polymorphism</a:t>
                      </a:r>
                      <a:endParaRPr lang="en-IN" sz="2000"/>
                    </a:p>
                  </a:txBody>
                  <a:tcPr marL="76339" marR="76339" marT="38170" marB="38170" anchor="ctr">
                    <a:lnL>
                      <a:noFill/>
                    </a:lnL>
                    <a:lnR>
                      <a:noFill/>
                    </a:lnR>
                    <a:lnT>
                      <a:noFill/>
                    </a:lnT>
                    <a:lnB>
                      <a:noFill/>
                    </a:lnB>
                    <a:noFill/>
                  </a:tcPr>
                </a:tc>
                <a:tc>
                  <a:txBody>
                    <a:bodyPr/>
                    <a:lstStyle/>
                    <a:p>
                      <a:pPr>
                        <a:buNone/>
                      </a:pPr>
                      <a:r>
                        <a:rPr lang="en-IN" sz="2000"/>
                        <a:t>Not supported</a:t>
                      </a:r>
                    </a:p>
                  </a:txBody>
                  <a:tcPr marL="76339" marR="76339" marT="38170" marB="38170" anchor="ctr">
                    <a:lnL>
                      <a:noFill/>
                    </a:lnL>
                    <a:lnR>
                      <a:noFill/>
                    </a:lnR>
                    <a:lnT>
                      <a:noFill/>
                    </a:lnT>
                    <a:lnB>
                      <a:noFill/>
                    </a:lnB>
                    <a:noFill/>
                  </a:tcPr>
                </a:tc>
                <a:tc>
                  <a:txBody>
                    <a:bodyPr/>
                    <a:lstStyle/>
                    <a:p>
                      <a:pPr>
                        <a:buNone/>
                      </a:pPr>
                      <a:r>
                        <a:rPr lang="en-IN" sz="2000"/>
                        <a:t>Supported</a:t>
                      </a:r>
                    </a:p>
                  </a:txBody>
                  <a:tcPr marL="76339" marR="76339" marT="38170" marB="38170" anchor="ctr">
                    <a:lnL>
                      <a:noFill/>
                    </a:lnL>
                    <a:lnR>
                      <a:noFill/>
                    </a:lnR>
                    <a:lnT>
                      <a:noFill/>
                    </a:lnT>
                    <a:lnB>
                      <a:noFill/>
                    </a:lnB>
                    <a:noFill/>
                  </a:tcPr>
                </a:tc>
                <a:extLst>
                  <a:ext uri="{0D108BD9-81ED-4DB2-BD59-A6C34878D82A}">
                    <a16:rowId xmlns:a16="http://schemas.microsoft.com/office/drawing/2014/main" val="1858496196"/>
                  </a:ext>
                </a:extLst>
              </a:tr>
              <a:tr h="417083">
                <a:tc>
                  <a:txBody>
                    <a:bodyPr/>
                    <a:lstStyle/>
                    <a:p>
                      <a:pPr>
                        <a:buNone/>
                      </a:pPr>
                      <a:r>
                        <a:rPr lang="en-IN" sz="2000" b="1"/>
                        <a:t>Namespace</a:t>
                      </a:r>
                      <a:endParaRPr lang="en-IN" sz="2000"/>
                    </a:p>
                  </a:txBody>
                  <a:tcPr marL="76339" marR="76339" marT="38170" marB="38170" anchor="ctr">
                    <a:lnL>
                      <a:noFill/>
                    </a:lnL>
                    <a:lnR>
                      <a:noFill/>
                    </a:lnR>
                    <a:lnT>
                      <a:noFill/>
                    </a:lnT>
                    <a:lnB>
                      <a:noFill/>
                    </a:lnB>
                    <a:noFill/>
                  </a:tcPr>
                </a:tc>
                <a:tc>
                  <a:txBody>
                    <a:bodyPr/>
                    <a:lstStyle/>
                    <a:p>
                      <a:pPr>
                        <a:buNone/>
                      </a:pPr>
                      <a:r>
                        <a:rPr lang="en-IN" sz="2000"/>
                        <a:t>Not available</a:t>
                      </a:r>
                    </a:p>
                  </a:txBody>
                  <a:tcPr marL="76339" marR="76339" marT="38170" marB="38170" anchor="ctr">
                    <a:lnL>
                      <a:noFill/>
                    </a:lnL>
                    <a:lnR>
                      <a:noFill/>
                    </a:lnR>
                    <a:lnT>
                      <a:noFill/>
                    </a:lnT>
                    <a:lnB>
                      <a:noFill/>
                    </a:lnB>
                    <a:noFill/>
                  </a:tcPr>
                </a:tc>
                <a:tc>
                  <a:txBody>
                    <a:bodyPr/>
                    <a:lstStyle/>
                    <a:p>
                      <a:pPr>
                        <a:buNone/>
                      </a:pPr>
                      <a:r>
                        <a:rPr lang="en-US" sz="2000" dirty="0">
                          <a:latin typeface="Courier New" panose="02070309020205020404" pitchFamily="49" charset="0"/>
                        </a:rPr>
                        <a:t>namespace std</a:t>
                      </a:r>
                      <a:r>
                        <a:rPr lang="en-US" sz="2000" dirty="0"/>
                        <a:t> used in C++</a:t>
                      </a:r>
                    </a:p>
                  </a:txBody>
                  <a:tcPr marL="76339" marR="76339" marT="38170" marB="38170" anchor="ctr">
                    <a:lnL>
                      <a:noFill/>
                    </a:lnL>
                    <a:lnR>
                      <a:noFill/>
                    </a:lnR>
                    <a:lnT>
                      <a:noFill/>
                    </a:lnT>
                    <a:lnB>
                      <a:noFill/>
                    </a:lnB>
                    <a:noFill/>
                  </a:tcPr>
                </a:tc>
                <a:extLst>
                  <a:ext uri="{0D108BD9-81ED-4DB2-BD59-A6C34878D82A}">
                    <a16:rowId xmlns:a16="http://schemas.microsoft.com/office/drawing/2014/main" val="2792205568"/>
                  </a:ext>
                </a:extLst>
              </a:tr>
            </a:tbl>
          </a:graphicData>
        </a:graphic>
      </p:graphicFrame>
    </p:spTree>
    <p:extLst>
      <p:ext uri="{BB962C8B-B14F-4D97-AF65-F5344CB8AC3E}">
        <p14:creationId xmlns:p14="http://schemas.microsoft.com/office/powerpoint/2010/main" val="1975304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C80020-E77C-753D-6CA4-98D8305CB1BC}"/>
              </a:ext>
            </a:extLst>
          </p:cNvPr>
          <p:cNvSpPr txBox="1"/>
          <p:nvPr/>
        </p:nvSpPr>
        <p:spPr>
          <a:xfrm>
            <a:off x="127818" y="218457"/>
            <a:ext cx="11975691" cy="923330"/>
          </a:xfrm>
          <a:prstGeom prst="rect">
            <a:avLst/>
          </a:prstGeom>
          <a:noFill/>
        </p:spPr>
        <p:txBody>
          <a:bodyPr wrap="square">
            <a:spAutoFit/>
          </a:bodyPr>
          <a:lstStyle/>
          <a:p>
            <a:r>
              <a:rPr lang="en-US" sz="5400" b="1" dirty="0" err="1"/>
              <a:t>cin</a:t>
            </a:r>
            <a:r>
              <a:rPr lang="en-US" sz="5400" b="1" dirty="0"/>
              <a:t> and </a:t>
            </a:r>
            <a:r>
              <a:rPr lang="en-US" sz="5400" b="1" dirty="0" err="1"/>
              <a:t>cout</a:t>
            </a:r>
            <a:r>
              <a:rPr lang="en-US" sz="5400" b="1" dirty="0"/>
              <a:t> — C++ Input and Output</a:t>
            </a:r>
            <a:endParaRPr lang="en-IN" sz="5400" b="1" dirty="0"/>
          </a:p>
        </p:txBody>
      </p:sp>
      <p:sp>
        <p:nvSpPr>
          <p:cNvPr id="5" name="TextBox 4">
            <a:extLst>
              <a:ext uri="{FF2B5EF4-FFF2-40B4-BE49-F238E27FC236}">
                <a16:creationId xmlns:a16="http://schemas.microsoft.com/office/drawing/2014/main" id="{33B0C813-73B2-4EFA-352D-E003228702FF}"/>
              </a:ext>
            </a:extLst>
          </p:cNvPr>
          <p:cNvSpPr txBox="1"/>
          <p:nvPr/>
        </p:nvSpPr>
        <p:spPr>
          <a:xfrm>
            <a:off x="196645" y="1277797"/>
            <a:ext cx="11906864" cy="1815882"/>
          </a:xfrm>
          <a:prstGeom prst="rect">
            <a:avLst/>
          </a:prstGeom>
          <a:noFill/>
        </p:spPr>
        <p:txBody>
          <a:bodyPr wrap="square">
            <a:spAutoFit/>
          </a:bodyPr>
          <a:lstStyle/>
          <a:p>
            <a:pPr>
              <a:buNone/>
            </a:pPr>
            <a:r>
              <a:rPr lang="en-US" sz="2800" dirty="0"/>
              <a:t>In C++, instead of </a:t>
            </a:r>
            <a:r>
              <a:rPr lang="en-US" sz="2800" dirty="0" err="1">
                <a:latin typeface="Courier New" panose="02070309020205020404" pitchFamily="49" charset="0"/>
              </a:rPr>
              <a:t>scanf</a:t>
            </a:r>
            <a:r>
              <a:rPr lang="en-US" sz="2800" dirty="0">
                <a:latin typeface="Courier New" panose="02070309020205020404" pitchFamily="49" charset="0"/>
              </a:rPr>
              <a:t>()</a:t>
            </a:r>
            <a:r>
              <a:rPr lang="en-US" sz="2800" dirty="0"/>
              <a:t> and </a:t>
            </a:r>
            <a:r>
              <a:rPr lang="en-US" sz="2800" dirty="0" err="1">
                <a:latin typeface="Courier New" panose="02070309020205020404" pitchFamily="49" charset="0"/>
              </a:rPr>
              <a:t>printf</a:t>
            </a:r>
            <a:r>
              <a:rPr lang="en-US" sz="2800" dirty="0">
                <a:latin typeface="Courier New" panose="02070309020205020404" pitchFamily="49" charset="0"/>
              </a:rPr>
              <a:t>()</a:t>
            </a:r>
            <a:r>
              <a:rPr lang="en-US" sz="2800" dirty="0"/>
              <a:t>, we use:</a:t>
            </a:r>
          </a:p>
          <a:p>
            <a:pPr>
              <a:buFont typeface="Arial" panose="020B0604020202020204" pitchFamily="34" charset="0"/>
              <a:buChar char="•"/>
            </a:pPr>
            <a:r>
              <a:rPr lang="en-US" sz="2800" dirty="0" err="1">
                <a:latin typeface="Courier New" panose="02070309020205020404" pitchFamily="49" charset="0"/>
              </a:rPr>
              <a:t>cin</a:t>
            </a:r>
            <a:r>
              <a:rPr lang="en-US" sz="2800" dirty="0"/>
              <a:t> → for input</a:t>
            </a:r>
          </a:p>
          <a:p>
            <a:pPr>
              <a:buFont typeface="Arial" panose="020B0604020202020204" pitchFamily="34" charset="0"/>
              <a:buChar char="•"/>
            </a:pPr>
            <a:r>
              <a:rPr lang="en-US" sz="2800" dirty="0" err="1">
                <a:latin typeface="Courier New" panose="02070309020205020404" pitchFamily="49" charset="0"/>
              </a:rPr>
              <a:t>cout</a:t>
            </a:r>
            <a:r>
              <a:rPr lang="en-US" sz="2800" dirty="0"/>
              <a:t> → for output</a:t>
            </a:r>
            <a:br>
              <a:rPr lang="en-US" sz="2800" dirty="0"/>
            </a:br>
            <a:r>
              <a:rPr lang="en-US" sz="2800" dirty="0"/>
              <a:t>Both are part of the </a:t>
            </a:r>
            <a:r>
              <a:rPr lang="en-US" sz="2800" b="1" dirty="0"/>
              <a:t>iostream</a:t>
            </a:r>
            <a:r>
              <a:rPr lang="en-US" sz="2800" dirty="0"/>
              <a:t> library.</a:t>
            </a:r>
          </a:p>
        </p:txBody>
      </p:sp>
      <p:sp>
        <p:nvSpPr>
          <p:cNvPr id="7" name="TextBox 6">
            <a:extLst>
              <a:ext uri="{FF2B5EF4-FFF2-40B4-BE49-F238E27FC236}">
                <a16:creationId xmlns:a16="http://schemas.microsoft.com/office/drawing/2014/main" id="{DCD1C42E-4571-5FF1-C8B7-9AC6A9C9C10D}"/>
              </a:ext>
            </a:extLst>
          </p:cNvPr>
          <p:cNvSpPr txBox="1"/>
          <p:nvPr/>
        </p:nvSpPr>
        <p:spPr>
          <a:xfrm>
            <a:off x="127817" y="2994880"/>
            <a:ext cx="11975691" cy="3416320"/>
          </a:xfrm>
          <a:prstGeom prst="rect">
            <a:avLst/>
          </a:prstGeom>
          <a:noFill/>
        </p:spPr>
        <p:txBody>
          <a:bodyPr wrap="square">
            <a:spAutoFit/>
          </a:bodyPr>
          <a:lstStyle/>
          <a:p>
            <a:r>
              <a:rPr lang="en-US" sz="2400" dirty="0"/>
              <a:t>#include &lt;iostream&gt;</a:t>
            </a:r>
          </a:p>
          <a:p>
            <a:r>
              <a:rPr lang="en-US" sz="2400" dirty="0"/>
              <a:t>using namespace std;</a:t>
            </a:r>
          </a:p>
          <a:p>
            <a:endParaRPr lang="en-US" sz="2400" dirty="0"/>
          </a:p>
          <a:p>
            <a:r>
              <a:rPr lang="en-US" sz="2400" dirty="0"/>
              <a:t>int main() {</a:t>
            </a:r>
          </a:p>
          <a:p>
            <a:r>
              <a:rPr lang="en-US" sz="2400" dirty="0"/>
              <a:t>    int age;</a:t>
            </a:r>
          </a:p>
          <a:p>
            <a:r>
              <a:rPr lang="en-US" sz="2400" dirty="0"/>
              <a:t>    </a:t>
            </a:r>
            <a:r>
              <a:rPr lang="en-US" sz="2400" dirty="0" err="1"/>
              <a:t>cout</a:t>
            </a:r>
            <a:r>
              <a:rPr lang="en-US" sz="2400" dirty="0"/>
              <a:t> &lt;&lt; "Enter your age: ";</a:t>
            </a:r>
          </a:p>
          <a:p>
            <a:r>
              <a:rPr lang="en-US" sz="2400" dirty="0"/>
              <a:t>    </a:t>
            </a:r>
            <a:r>
              <a:rPr lang="en-US" sz="2400" dirty="0" err="1"/>
              <a:t>cin</a:t>
            </a:r>
            <a:r>
              <a:rPr lang="en-US" sz="2400" dirty="0"/>
              <a:t> &gt;&gt; age;</a:t>
            </a:r>
          </a:p>
          <a:p>
            <a:r>
              <a:rPr lang="en-US" sz="2400" dirty="0"/>
              <a:t>    </a:t>
            </a:r>
            <a:r>
              <a:rPr lang="en-US" sz="2400" dirty="0" err="1"/>
              <a:t>cout</a:t>
            </a:r>
            <a:r>
              <a:rPr lang="en-US" sz="2400" dirty="0"/>
              <a:t> &lt;&lt; "You entered: " &lt;&lt; age;</a:t>
            </a:r>
          </a:p>
          <a:p>
            <a:r>
              <a:rPr lang="en-US" sz="2400" dirty="0"/>
              <a:t>}</a:t>
            </a:r>
          </a:p>
        </p:txBody>
      </p:sp>
    </p:spTree>
    <p:extLst>
      <p:ext uri="{BB962C8B-B14F-4D97-AF65-F5344CB8AC3E}">
        <p14:creationId xmlns:p14="http://schemas.microsoft.com/office/powerpoint/2010/main" val="2130158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5FDCD-B1AB-FD36-243B-918F161B7A9B}"/>
              </a:ext>
            </a:extLst>
          </p:cNvPr>
          <p:cNvSpPr txBox="1"/>
          <p:nvPr/>
        </p:nvSpPr>
        <p:spPr>
          <a:xfrm>
            <a:off x="442451" y="441207"/>
            <a:ext cx="11395587" cy="2554545"/>
          </a:xfrm>
          <a:prstGeom prst="rect">
            <a:avLst/>
          </a:prstGeom>
          <a:noFill/>
        </p:spPr>
        <p:txBody>
          <a:bodyPr wrap="square">
            <a:spAutoFit/>
          </a:bodyPr>
          <a:lstStyle/>
          <a:p>
            <a:pPr>
              <a:buFont typeface="Arial" panose="020B0604020202020204" pitchFamily="34" charset="0"/>
              <a:buChar char="•"/>
            </a:pPr>
            <a:r>
              <a:rPr lang="en-US" sz="3200" dirty="0" err="1">
                <a:latin typeface="Courier New" panose="02070309020205020404" pitchFamily="49" charset="0"/>
              </a:rPr>
              <a:t>cout</a:t>
            </a:r>
            <a:r>
              <a:rPr lang="en-US" sz="3200" dirty="0"/>
              <a:t> uses </a:t>
            </a:r>
            <a:r>
              <a:rPr lang="en-US" sz="3200" dirty="0">
                <a:latin typeface="Courier New" panose="02070309020205020404" pitchFamily="49" charset="0"/>
              </a:rPr>
              <a:t>&lt;&lt;</a:t>
            </a:r>
            <a:r>
              <a:rPr lang="en-US" sz="3200" dirty="0"/>
              <a:t> (insertion operator)</a:t>
            </a:r>
          </a:p>
          <a:p>
            <a:pPr>
              <a:buFont typeface="Arial" panose="020B0604020202020204" pitchFamily="34" charset="0"/>
              <a:buChar char="•"/>
            </a:pPr>
            <a:r>
              <a:rPr lang="en-US" sz="3200" dirty="0" err="1">
                <a:latin typeface="Courier New" panose="02070309020205020404" pitchFamily="49" charset="0"/>
              </a:rPr>
              <a:t>cin</a:t>
            </a:r>
            <a:r>
              <a:rPr lang="en-US" sz="3200" dirty="0"/>
              <a:t> uses </a:t>
            </a:r>
            <a:r>
              <a:rPr lang="en-US" sz="3200" dirty="0">
                <a:latin typeface="Courier New" panose="02070309020205020404" pitchFamily="49" charset="0"/>
              </a:rPr>
              <a:t>&gt;&gt;</a:t>
            </a:r>
            <a:r>
              <a:rPr lang="en-US" sz="3200" dirty="0"/>
              <a:t> (extraction operator)</a:t>
            </a:r>
          </a:p>
          <a:p>
            <a:pPr>
              <a:buFont typeface="Arial" panose="020B0604020202020204" pitchFamily="34" charset="0"/>
              <a:buChar char="•"/>
            </a:pPr>
            <a:r>
              <a:rPr lang="en-US" sz="3200" dirty="0">
                <a:latin typeface="Courier New" panose="02070309020205020404" pitchFamily="49" charset="0"/>
              </a:rPr>
              <a:t>#include &lt;iostream&gt;</a:t>
            </a:r>
            <a:r>
              <a:rPr lang="en-US" sz="3200" dirty="0"/>
              <a:t> must be included</a:t>
            </a:r>
          </a:p>
          <a:p>
            <a:pPr>
              <a:buFont typeface="Arial" panose="020B0604020202020204" pitchFamily="34" charset="0"/>
              <a:buChar char="•"/>
            </a:pPr>
            <a:r>
              <a:rPr lang="en-US" sz="3200" dirty="0"/>
              <a:t>Usually, we write </a:t>
            </a:r>
            <a:r>
              <a:rPr lang="en-US" sz="3200" dirty="0">
                <a:latin typeface="Courier New" panose="02070309020205020404" pitchFamily="49" charset="0"/>
              </a:rPr>
              <a:t>using namespace std;</a:t>
            </a:r>
            <a:r>
              <a:rPr lang="en-US" sz="3200" dirty="0"/>
              <a:t> to avoid writing </a:t>
            </a:r>
            <a:r>
              <a:rPr lang="en-US" sz="3200" dirty="0">
                <a:latin typeface="Courier New" panose="02070309020205020404" pitchFamily="49" charset="0"/>
              </a:rPr>
              <a:t>std::</a:t>
            </a:r>
            <a:r>
              <a:rPr lang="en-US" sz="3200" dirty="0" err="1">
                <a:latin typeface="Courier New" panose="02070309020205020404" pitchFamily="49" charset="0"/>
              </a:rPr>
              <a:t>cout</a:t>
            </a:r>
            <a:r>
              <a:rPr lang="en-US" sz="3200" dirty="0"/>
              <a:t> and </a:t>
            </a:r>
            <a:r>
              <a:rPr lang="en-US" sz="3200" dirty="0">
                <a:latin typeface="Courier New" panose="02070309020205020404" pitchFamily="49" charset="0"/>
              </a:rPr>
              <a:t>std::</a:t>
            </a:r>
            <a:r>
              <a:rPr lang="en-US" sz="3200" dirty="0" err="1">
                <a:latin typeface="Courier New" panose="02070309020205020404" pitchFamily="49" charset="0"/>
              </a:rPr>
              <a:t>cin</a:t>
            </a:r>
            <a:endParaRPr lang="en-US" sz="3200" dirty="0"/>
          </a:p>
        </p:txBody>
      </p:sp>
    </p:spTree>
    <p:extLst>
      <p:ext uri="{BB962C8B-B14F-4D97-AF65-F5344CB8AC3E}">
        <p14:creationId xmlns:p14="http://schemas.microsoft.com/office/powerpoint/2010/main" val="2035412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BE4974-5917-354D-FB1A-13DBEB782431}"/>
              </a:ext>
            </a:extLst>
          </p:cNvPr>
          <p:cNvPicPr>
            <a:picLocks noChangeAspect="1"/>
          </p:cNvPicPr>
          <p:nvPr/>
        </p:nvPicPr>
        <p:blipFill>
          <a:blip r:embed="rId2"/>
          <a:stretch>
            <a:fillRect/>
          </a:stretch>
        </p:blipFill>
        <p:spPr>
          <a:xfrm>
            <a:off x="0" y="422787"/>
            <a:ext cx="12192000" cy="6046839"/>
          </a:xfrm>
          <a:prstGeom prst="rect">
            <a:avLst/>
          </a:prstGeom>
        </p:spPr>
      </p:pic>
    </p:spTree>
    <p:extLst>
      <p:ext uri="{BB962C8B-B14F-4D97-AF65-F5344CB8AC3E}">
        <p14:creationId xmlns:p14="http://schemas.microsoft.com/office/powerpoint/2010/main" val="1856851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D74EFA-CD53-C205-064B-E2186C12094F}"/>
              </a:ext>
            </a:extLst>
          </p:cNvPr>
          <p:cNvSpPr txBox="1"/>
          <p:nvPr/>
        </p:nvSpPr>
        <p:spPr>
          <a:xfrm>
            <a:off x="44245" y="811442"/>
            <a:ext cx="12103510" cy="3539430"/>
          </a:xfrm>
          <a:prstGeom prst="rect">
            <a:avLst/>
          </a:prstGeom>
          <a:noFill/>
        </p:spPr>
        <p:txBody>
          <a:bodyPr wrap="square">
            <a:spAutoFit/>
          </a:bodyPr>
          <a:lstStyle/>
          <a:p>
            <a:r>
              <a:rPr lang="en-IN" sz="3200" b="0" i="0" dirty="0">
                <a:solidFill>
                  <a:srgbClr val="005CC5"/>
                </a:solidFill>
                <a:effectLst/>
                <a:latin typeface="Consolas" panose="020B0609020204030204" pitchFamily="49" charset="0"/>
              </a:rPr>
              <a:t>int</a:t>
            </a:r>
            <a:r>
              <a:rPr lang="en-IN" sz="3200" b="0" i="0" dirty="0">
                <a:solidFill>
                  <a:srgbClr val="000000"/>
                </a:solidFill>
                <a:effectLst/>
                <a:latin typeface="Consolas" panose="020B0609020204030204" pitchFamily="49" charset="0"/>
              </a:rPr>
              <a:t> </a:t>
            </a:r>
            <a:r>
              <a:rPr lang="en-IN" sz="3200" b="0" i="0" dirty="0" err="1">
                <a:solidFill>
                  <a:srgbClr val="000000"/>
                </a:solidFill>
                <a:effectLst/>
                <a:latin typeface="Consolas" panose="020B0609020204030204" pitchFamily="49" charset="0"/>
              </a:rPr>
              <a:t>myNum</a:t>
            </a:r>
            <a:r>
              <a:rPr lang="en-IN" sz="3200" b="0" i="0" dirty="0">
                <a:solidFill>
                  <a:srgbClr val="000000"/>
                </a:solidFill>
                <a:effectLst/>
                <a:latin typeface="Consolas" panose="020B0609020204030204" pitchFamily="49" charset="0"/>
              </a:rPr>
              <a:t> = </a:t>
            </a:r>
            <a:r>
              <a:rPr lang="en-IN" sz="3200" b="0" i="0" dirty="0">
                <a:solidFill>
                  <a:srgbClr val="990055"/>
                </a:solidFill>
                <a:effectLst/>
                <a:latin typeface="Consolas" panose="020B0609020204030204" pitchFamily="49" charset="0"/>
              </a:rPr>
              <a:t>5</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Integer (whole number)</a:t>
            </a:r>
            <a:br>
              <a:rPr lang="en-IN" sz="3200" b="0" i="0" dirty="0">
                <a:solidFill>
                  <a:srgbClr val="708090"/>
                </a:solidFill>
                <a:effectLst/>
                <a:latin typeface="Consolas" panose="020B0609020204030204" pitchFamily="49" charset="0"/>
              </a:rPr>
            </a:br>
            <a:r>
              <a:rPr lang="en-IN" sz="3200" b="0" i="0" dirty="0">
                <a:solidFill>
                  <a:srgbClr val="005CC5"/>
                </a:solidFill>
                <a:effectLst/>
                <a:latin typeface="Consolas" panose="020B0609020204030204" pitchFamily="49" charset="0"/>
              </a:rPr>
              <a:t>float</a:t>
            </a:r>
            <a:r>
              <a:rPr lang="en-IN" sz="3200" b="0" i="0" dirty="0">
                <a:solidFill>
                  <a:srgbClr val="000000"/>
                </a:solidFill>
                <a:effectLst/>
                <a:latin typeface="Consolas" panose="020B0609020204030204" pitchFamily="49" charset="0"/>
              </a:rPr>
              <a:t> </a:t>
            </a:r>
            <a:r>
              <a:rPr lang="en-IN" sz="3200" b="0" i="0" dirty="0" err="1">
                <a:solidFill>
                  <a:srgbClr val="000000"/>
                </a:solidFill>
                <a:effectLst/>
                <a:latin typeface="Consolas" panose="020B0609020204030204" pitchFamily="49" charset="0"/>
              </a:rPr>
              <a:t>myFloatNum</a:t>
            </a:r>
            <a:r>
              <a:rPr lang="en-IN" sz="3200" b="0" i="0" dirty="0">
                <a:solidFill>
                  <a:srgbClr val="000000"/>
                </a:solidFill>
                <a:effectLst/>
                <a:latin typeface="Consolas" panose="020B0609020204030204" pitchFamily="49" charset="0"/>
              </a:rPr>
              <a:t> = </a:t>
            </a:r>
            <a:r>
              <a:rPr lang="en-IN" sz="3200" b="0" i="0" dirty="0">
                <a:solidFill>
                  <a:srgbClr val="990055"/>
                </a:solidFill>
                <a:effectLst/>
                <a:latin typeface="Consolas" panose="020B0609020204030204" pitchFamily="49" charset="0"/>
              </a:rPr>
              <a:t>5.99</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Floating point number</a:t>
            </a:r>
            <a:br>
              <a:rPr lang="en-IN" sz="3200" b="0" i="0" dirty="0">
                <a:solidFill>
                  <a:srgbClr val="708090"/>
                </a:solidFill>
                <a:effectLst/>
                <a:latin typeface="Consolas" panose="020B0609020204030204" pitchFamily="49" charset="0"/>
              </a:rPr>
            </a:br>
            <a:r>
              <a:rPr lang="en-IN" sz="3200" b="0" i="0" dirty="0">
                <a:solidFill>
                  <a:srgbClr val="005CC5"/>
                </a:solidFill>
                <a:effectLst/>
                <a:latin typeface="Consolas" panose="020B0609020204030204" pitchFamily="49" charset="0"/>
              </a:rPr>
              <a:t>double</a:t>
            </a:r>
            <a:r>
              <a:rPr lang="en-IN" sz="3200" b="0" i="0" dirty="0">
                <a:solidFill>
                  <a:srgbClr val="000000"/>
                </a:solidFill>
                <a:effectLst/>
                <a:latin typeface="Consolas" panose="020B0609020204030204" pitchFamily="49" charset="0"/>
              </a:rPr>
              <a:t> </a:t>
            </a:r>
            <a:r>
              <a:rPr lang="en-IN" sz="3200" b="0" i="0" dirty="0" err="1">
                <a:solidFill>
                  <a:srgbClr val="000000"/>
                </a:solidFill>
                <a:effectLst/>
                <a:latin typeface="Consolas" panose="020B0609020204030204" pitchFamily="49" charset="0"/>
              </a:rPr>
              <a:t>myDoubleNum</a:t>
            </a:r>
            <a:r>
              <a:rPr lang="en-IN" sz="3200" b="0" i="0" dirty="0">
                <a:solidFill>
                  <a:srgbClr val="000000"/>
                </a:solidFill>
                <a:effectLst/>
                <a:latin typeface="Consolas" panose="020B0609020204030204" pitchFamily="49" charset="0"/>
              </a:rPr>
              <a:t> = </a:t>
            </a:r>
            <a:r>
              <a:rPr lang="en-IN" sz="3200" b="0" i="0" dirty="0">
                <a:solidFill>
                  <a:srgbClr val="990055"/>
                </a:solidFill>
                <a:effectLst/>
                <a:latin typeface="Consolas" panose="020B0609020204030204" pitchFamily="49" charset="0"/>
              </a:rPr>
              <a:t>9.98</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Floating point number</a:t>
            </a:r>
            <a:br>
              <a:rPr lang="en-IN" sz="3200" b="0" i="0" dirty="0">
                <a:solidFill>
                  <a:srgbClr val="708090"/>
                </a:solidFill>
                <a:effectLst/>
                <a:latin typeface="Consolas" panose="020B0609020204030204" pitchFamily="49" charset="0"/>
              </a:rPr>
            </a:br>
            <a:r>
              <a:rPr lang="en-IN" sz="3200" b="0" i="0" dirty="0">
                <a:solidFill>
                  <a:srgbClr val="005CC5"/>
                </a:solidFill>
                <a:effectLst/>
                <a:latin typeface="Consolas" panose="020B0609020204030204" pitchFamily="49" charset="0"/>
              </a:rPr>
              <a:t>char</a:t>
            </a:r>
            <a:r>
              <a:rPr lang="en-IN" sz="3200" b="0" i="0" dirty="0">
                <a:solidFill>
                  <a:srgbClr val="000000"/>
                </a:solidFill>
                <a:effectLst/>
                <a:latin typeface="Consolas" panose="020B0609020204030204" pitchFamily="49" charset="0"/>
              </a:rPr>
              <a:t> </a:t>
            </a:r>
            <a:r>
              <a:rPr lang="en-IN" sz="3200" b="0" i="0" dirty="0" err="1">
                <a:solidFill>
                  <a:srgbClr val="000000"/>
                </a:solidFill>
                <a:effectLst/>
                <a:latin typeface="Consolas" panose="020B0609020204030204" pitchFamily="49" charset="0"/>
              </a:rPr>
              <a:t>myLetter</a:t>
            </a:r>
            <a:r>
              <a:rPr lang="en-IN" sz="3200" b="0" i="0" dirty="0">
                <a:solidFill>
                  <a:srgbClr val="000000"/>
                </a:solidFill>
                <a:effectLst/>
                <a:latin typeface="Consolas" panose="020B0609020204030204" pitchFamily="49" charset="0"/>
              </a:rPr>
              <a:t> = </a:t>
            </a:r>
            <a:r>
              <a:rPr lang="en-IN" sz="3200" b="0" i="0" dirty="0">
                <a:solidFill>
                  <a:srgbClr val="008000"/>
                </a:solidFill>
                <a:effectLst/>
                <a:latin typeface="Consolas" panose="020B0609020204030204" pitchFamily="49" charset="0"/>
              </a:rPr>
              <a:t>'D'</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Character</a:t>
            </a:r>
            <a:br>
              <a:rPr lang="en-IN" sz="3200" b="0" i="0" dirty="0">
                <a:solidFill>
                  <a:srgbClr val="708090"/>
                </a:solidFill>
                <a:effectLst/>
                <a:latin typeface="Consolas" panose="020B0609020204030204" pitchFamily="49" charset="0"/>
              </a:rPr>
            </a:br>
            <a:r>
              <a:rPr lang="en-IN" sz="3200" b="0" i="0" dirty="0">
                <a:solidFill>
                  <a:srgbClr val="000000"/>
                </a:solidFill>
                <a:effectLst/>
                <a:latin typeface="Consolas" panose="020B0609020204030204" pitchFamily="49" charset="0"/>
              </a:rPr>
              <a:t>bool </a:t>
            </a:r>
            <a:r>
              <a:rPr lang="en-IN" sz="3200" b="0" i="0" dirty="0" err="1">
                <a:solidFill>
                  <a:srgbClr val="000000"/>
                </a:solidFill>
                <a:effectLst/>
                <a:latin typeface="Consolas" panose="020B0609020204030204" pitchFamily="49" charset="0"/>
              </a:rPr>
              <a:t>myBoolean</a:t>
            </a:r>
            <a:r>
              <a:rPr lang="en-IN" sz="3200" b="0" i="0" dirty="0">
                <a:solidFill>
                  <a:srgbClr val="000000"/>
                </a:solidFill>
                <a:effectLst/>
                <a:latin typeface="Consolas" panose="020B0609020204030204" pitchFamily="49" charset="0"/>
              </a:rPr>
              <a:t> = </a:t>
            </a:r>
            <a:r>
              <a:rPr lang="en-IN" sz="3200" b="0" i="0" dirty="0">
                <a:solidFill>
                  <a:srgbClr val="005CC5"/>
                </a:solidFill>
                <a:effectLst/>
                <a:latin typeface="Consolas" panose="020B0609020204030204" pitchFamily="49" charset="0"/>
              </a:rPr>
              <a:t>true</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Boolean</a:t>
            </a:r>
            <a:br>
              <a:rPr lang="en-IN" sz="3200" b="0" i="0" dirty="0">
                <a:solidFill>
                  <a:srgbClr val="708090"/>
                </a:solidFill>
                <a:effectLst/>
                <a:latin typeface="Consolas" panose="020B0609020204030204" pitchFamily="49" charset="0"/>
              </a:rPr>
            </a:br>
            <a:r>
              <a:rPr lang="en-IN" sz="3200" b="0" i="0" dirty="0">
                <a:solidFill>
                  <a:srgbClr val="000000"/>
                </a:solidFill>
                <a:effectLst/>
                <a:latin typeface="Consolas" panose="020B0609020204030204" pitchFamily="49" charset="0"/>
              </a:rPr>
              <a:t>string </a:t>
            </a:r>
            <a:r>
              <a:rPr lang="en-IN" sz="3200" b="0" i="0" dirty="0" err="1">
                <a:solidFill>
                  <a:srgbClr val="000000"/>
                </a:solidFill>
                <a:effectLst/>
                <a:latin typeface="Consolas" panose="020B0609020204030204" pitchFamily="49" charset="0"/>
              </a:rPr>
              <a:t>myText</a:t>
            </a:r>
            <a:r>
              <a:rPr lang="en-IN" sz="3200" b="0" i="0" dirty="0">
                <a:solidFill>
                  <a:srgbClr val="000000"/>
                </a:solidFill>
                <a:effectLst/>
                <a:latin typeface="Consolas" panose="020B0609020204030204" pitchFamily="49" charset="0"/>
              </a:rPr>
              <a:t> = </a:t>
            </a:r>
            <a:r>
              <a:rPr lang="en-IN" sz="3200" b="0" i="0" dirty="0">
                <a:solidFill>
                  <a:srgbClr val="008000"/>
                </a:solidFill>
                <a:effectLst/>
                <a:latin typeface="Consolas" panose="020B0609020204030204" pitchFamily="49" charset="0"/>
              </a:rPr>
              <a:t>"Hello"</a:t>
            </a:r>
            <a:r>
              <a:rPr lang="en-IN" sz="3200" b="0" i="0" dirty="0">
                <a:solidFill>
                  <a:srgbClr val="000000"/>
                </a:solidFill>
                <a:effectLst/>
                <a:latin typeface="Consolas" panose="020B0609020204030204" pitchFamily="49" charset="0"/>
              </a:rPr>
              <a:t>;</a:t>
            </a:r>
            <a:endParaRPr lang="en-IN" sz="3200" dirty="0"/>
          </a:p>
        </p:txBody>
      </p:sp>
    </p:spTree>
    <p:extLst>
      <p:ext uri="{BB962C8B-B14F-4D97-AF65-F5344CB8AC3E}">
        <p14:creationId xmlns:p14="http://schemas.microsoft.com/office/powerpoint/2010/main" val="1269181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C66F44-228D-1D06-A7BE-FB82B9220CDB}"/>
              </a:ext>
            </a:extLst>
          </p:cNvPr>
          <p:cNvSpPr txBox="1"/>
          <p:nvPr/>
        </p:nvSpPr>
        <p:spPr>
          <a:xfrm>
            <a:off x="275303" y="169295"/>
            <a:ext cx="11513574" cy="707886"/>
          </a:xfrm>
          <a:prstGeom prst="rect">
            <a:avLst/>
          </a:prstGeom>
          <a:noFill/>
        </p:spPr>
        <p:txBody>
          <a:bodyPr wrap="square">
            <a:spAutoFit/>
          </a:bodyPr>
          <a:lstStyle/>
          <a:p>
            <a:pPr algn="l">
              <a:spcBef>
                <a:spcPts val="750"/>
              </a:spcBef>
              <a:spcAft>
                <a:spcPts val="750"/>
              </a:spcAft>
              <a:buNone/>
            </a:pPr>
            <a:r>
              <a:rPr lang="en-IN" sz="4000" b="0" i="0" dirty="0">
                <a:solidFill>
                  <a:srgbClr val="000000"/>
                </a:solidFill>
                <a:effectLst/>
                <a:latin typeface="Segoe UI" panose="020B0502040204020203" pitchFamily="34" charset="0"/>
              </a:rPr>
              <a:t>C++ Strings</a:t>
            </a:r>
          </a:p>
        </p:txBody>
      </p:sp>
      <p:sp>
        <p:nvSpPr>
          <p:cNvPr id="5" name="TextBox 4">
            <a:extLst>
              <a:ext uri="{FF2B5EF4-FFF2-40B4-BE49-F238E27FC236}">
                <a16:creationId xmlns:a16="http://schemas.microsoft.com/office/drawing/2014/main" id="{36957A5E-7DF4-BE04-3EEB-43DF7EFFF35E}"/>
              </a:ext>
            </a:extLst>
          </p:cNvPr>
          <p:cNvSpPr txBox="1"/>
          <p:nvPr/>
        </p:nvSpPr>
        <p:spPr>
          <a:xfrm>
            <a:off x="78658" y="1105287"/>
            <a:ext cx="12113342" cy="1815882"/>
          </a:xfrm>
          <a:prstGeom prst="rect">
            <a:avLst/>
          </a:prstGeom>
          <a:noFill/>
        </p:spPr>
        <p:txBody>
          <a:bodyPr wrap="square">
            <a:spAutoFit/>
          </a:bodyPr>
          <a:lstStyle/>
          <a:p>
            <a:pPr algn="l">
              <a:buNone/>
            </a:pPr>
            <a:r>
              <a:rPr lang="en-US" sz="2800" b="0" i="0" dirty="0">
                <a:solidFill>
                  <a:srgbClr val="000000"/>
                </a:solidFill>
                <a:effectLst/>
                <a:latin typeface="Segoe UI" panose="020B0502040204020203" pitchFamily="34" charset="0"/>
              </a:rPr>
              <a:t>Strings are used for storing text/characters.</a:t>
            </a:r>
          </a:p>
          <a:p>
            <a:pPr algn="l">
              <a:buNone/>
            </a:pPr>
            <a:r>
              <a:rPr lang="en-US" sz="2800" b="0" i="0" dirty="0">
                <a:solidFill>
                  <a:srgbClr val="000000"/>
                </a:solidFill>
                <a:effectLst/>
                <a:latin typeface="Segoe UI" panose="020B0502040204020203" pitchFamily="34" charset="0"/>
              </a:rPr>
              <a:t>For example, "Hello World" is a string.</a:t>
            </a:r>
          </a:p>
          <a:p>
            <a:pPr algn="l">
              <a:buNone/>
            </a:pPr>
            <a:r>
              <a:rPr lang="en-US" sz="2800" b="0" i="0" dirty="0">
                <a:solidFill>
                  <a:srgbClr val="000000"/>
                </a:solidFill>
                <a:effectLst/>
                <a:latin typeface="Segoe UI" panose="020B0502040204020203" pitchFamily="34" charset="0"/>
              </a:rPr>
              <a:t>A </a:t>
            </a:r>
            <a:r>
              <a:rPr lang="en-US" sz="2800" b="0" i="0" dirty="0">
                <a:effectLst/>
                <a:latin typeface="Consolas" panose="020B0609020204030204" pitchFamily="49" charset="0"/>
              </a:rPr>
              <a:t>string</a:t>
            </a:r>
            <a:r>
              <a:rPr lang="en-US" sz="2800" b="0" i="0" dirty="0">
                <a:solidFill>
                  <a:srgbClr val="000000"/>
                </a:solidFill>
                <a:effectLst/>
                <a:latin typeface="Segoe UI" panose="020B0502040204020203" pitchFamily="34" charset="0"/>
              </a:rPr>
              <a:t> variable contains a collection of characters surrounded by double quotes (</a:t>
            </a:r>
            <a:r>
              <a:rPr lang="en-US" sz="2800" b="0" i="0" dirty="0">
                <a:solidFill>
                  <a:srgbClr val="DC143C"/>
                </a:solidFill>
                <a:effectLst/>
                <a:latin typeface="Consolas" panose="020B0609020204030204" pitchFamily="49" charset="0"/>
              </a:rPr>
              <a:t>""</a:t>
            </a:r>
            <a:r>
              <a:rPr lang="en-US" sz="2800" b="0" i="0" dirty="0">
                <a:solidFill>
                  <a:srgbClr val="000000"/>
                </a:solidFill>
                <a:effectLst/>
                <a:latin typeface="Segoe UI" panose="020B0502040204020203" pitchFamily="34" charset="0"/>
              </a:rPr>
              <a:t>):</a:t>
            </a:r>
          </a:p>
        </p:txBody>
      </p:sp>
      <p:sp>
        <p:nvSpPr>
          <p:cNvPr id="7" name="TextBox 6">
            <a:extLst>
              <a:ext uri="{FF2B5EF4-FFF2-40B4-BE49-F238E27FC236}">
                <a16:creationId xmlns:a16="http://schemas.microsoft.com/office/drawing/2014/main" id="{3FE6F2E2-CCF3-A1D8-4C3F-CF310F680E38}"/>
              </a:ext>
            </a:extLst>
          </p:cNvPr>
          <p:cNvSpPr txBox="1"/>
          <p:nvPr/>
        </p:nvSpPr>
        <p:spPr>
          <a:xfrm>
            <a:off x="78658" y="3149275"/>
            <a:ext cx="11847871" cy="2677656"/>
          </a:xfrm>
          <a:prstGeom prst="rect">
            <a:avLst/>
          </a:prstGeom>
          <a:noFill/>
        </p:spPr>
        <p:txBody>
          <a:bodyPr wrap="square">
            <a:spAutoFit/>
          </a:bodyPr>
          <a:lstStyle/>
          <a:p>
            <a:r>
              <a:rPr lang="en-US" sz="2800" b="0" i="0" dirty="0">
                <a:solidFill>
                  <a:srgbClr val="708090"/>
                </a:solidFill>
                <a:effectLst/>
                <a:latin typeface="Consolas" panose="020B0609020204030204" pitchFamily="49" charset="0"/>
              </a:rPr>
              <a:t>// Include the string library</a:t>
            </a:r>
            <a:br>
              <a:rPr lang="en-US" sz="2800" b="0" i="0" dirty="0">
                <a:solidFill>
                  <a:srgbClr val="708090"/>
                </a:solidFill>
                <a:effectLst/>
                <a:latin typeface="Consolas" panose="020B0609020204030204" pitchFamily="49" charset="0"/>
              </a:rPr>
            </a:br>
            <a:r>
              <a:rPr lang="en-US" sz="2800" b="0" i="0" dirty="0">
                <a:solidFill>
                  <a:srgbClr val="000000"/>
                </a:solidFill>
                <a:effectLst/>
                <a:latin typeface="Consolas" panose="020B0609020204030204" pitchFamily="49" charset="0"/>
              </a:rPr>
              <a:t>#include &lt;string&gt;</a:t>
            </a:r>
            <a:br>
              <a:rPr lang="en-US" sz="2800" dirty="0"/>
            </a:br>
            <a:r>
              <a:rPr lang="en-US" sz="2800" b="0" i="0" dirty="0">
                <a:solidFill>
                  <a:srgbClr val="708090"/>
                </a:solidFill>
                <a:effectLst/>
                <a:latin typeface="Consolas" panose="020B0609020204030204" pitchFamily="49" charset="0"/>
              </a:rPr>
              <a:t>// Create a string variable</a:t>
            </a:r>
            <a:br>
              <a:rPr lang="en-US" sz="2800" b="0" i="0" dirty="0">
                <a:solidFill>
                  <a:srgbClr val="708090"/>
                </a:solidFill>
                <a:effectLst/>
                <a:latin typeface="Consolas" panose="020B0609020204030204" pitchFamily="49" charset="0"/>
              </a:rPr>
            </a:br>
            <a:r>
              <a:rPr lang="en-US" sz="2800" b="0" i="0" dirty="0">
                <a:solidFill>
                  <a:srgbClr val="000000"/>
                </a:solidFill>
                <a:effectLst/>
                <a:latin typeface="Consolas" panose="020B0609020204030204" pitchFamily="49" charset="0"/>
              </a:rPr>
              <a:t>string greeting = </a:t>
            </a:r>
            <a:r>
              <a:rPr lang="en-US" sz="2800" b="0" i="0" dirty="0">
                <a:solidFill>
                  <a:srgbClr val="008000"/>
                </a:solidFill>
                <a:effectLst/>
                <a:latin typeface="Consolas" panose="020B0609020204030204" pitchFamily="49" charset="0"/>
              </a:rPr>
              <a:t>"Hello"</a:t>
            </a:r>
            <a:r>
              <a:rPr lang="en-US" sz="2800" b="0" i="0" dirty="0">
                <a:solidFill>
                  <a:srgbClr val="000000"/>
                </a:solidFill>
                <a:effectLst/>
                <a:latin typeface="Consolas" panose="020B0609020204030204" pitchFamily="49" charset="0"/>
              </a:rPr>
              <a:t>;</a:t>
            </a:r>
            <a:br>
              <a:rPr lang="en-US" sz="2800" dirty="0"/>
            </a:br>
            <a:r>
              <a:rPr lang="en-US" sz="2800" b="0" i="0" dirty="0">
                <a:solidFill>
                  <a:srgbClr val="708090"/>
                </a:solidFill>
                <a:effectLst/>
                <a:latin typeface="Consolas" panose="020B0609020204030204" pitchFamily="49" charset="0"/>
              </a:rPr>
              <a:t>// Print the string</a:t>
            </a:r>
            <a:br>
              <a:rPr lang="en-US" sz="2800" b="0" i="0" dirty="0">
                <a:solidFill>
                  <a:srgbClr val="708090"/>
                </a:solidFill>
                <a:effectLst/>
                <a:latin typeface="Consolas" panose="020B0609020204030204" pitchFamily="49" charset="0"/>
              </a:rPr>
            </a:br>
            <a:r>
              <a:rPr lang="en-US" sz="2800" b="0" i="0" dirty="0" err="1">
                <a:solidFill>
                  <a:srgbClr val="000000"/>
                </a:solidFill>
                <a:effectLst/>
                <a:latin typeface="Consolas" panose="020B0609020204030204" pitchFamily="49" charset="0"/>
              </a:rPr>
              <a:t>cout</a:t>
            </a:r>
            <a:r>
              <a:rPr lang="en-US" sz="2800" b="0" i="0" dirty="0">
                <a:solidFill>
                  <a:srgbClr val="000000"/>
                </a:solidFill>
                <a:effectLst/>
                <a:latin typeface="Consolas" panose="020B0609020204030204" pitchFamily="49" charset="0"/>
              </a:rPr>
              <a:t> &lt;&lt; greeting;</a:t>
            </a:r>
            <a:endParaRPr lang="en-IN" sz="2800" dirty="0"/>
          </a:p>
        </p:txBody>
      </p:sp>
    </p:spTree>
    <p:extLst>
      <p:ext uri="{BB962C8B-B14F-4D97-AF65-F5344CB8AC3E}">
        <p14:creationId xmlns:p14="http://schemas.microsoft.com/office/powerpoint/2010/main" val="595407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892C82-E9DA-90FF-C318-8356070BC3F6}"/>
              </a:ext>
            </a:extLst>
          </p:cNvPr>
          <p:cNvSpPr txBox="1"/>
          <p:nvPr/>
        </p:nvSpPr>
        <p:spPr>
          <a:xfrm>
            <a:off x="206477" y="169295"/>
            <a:ext cx="11661058" cy="646331"/>
          </a:xfrm>
          <a:prstGeom prst="rect">
            <a:avLst/>
          </a:prstGeom>
          <a:noFill/>
        </p:spPr>
        <p:txBody>
          <a:bodyPr wrap="square">
            <a:spAutoFit/>
          </a:bodyPr>
          <a:lstStyle/>
          <a:p>
            <a:pPr algn="l">
              <a:spcBef>
                <a:spcPts val="750"/>
              </a:spcBef>
              <a:spcAft>
                <a:spcPts val="750"/>
              </a:spcAft>
              <a:buNone/>
            </a:pPr>
            <a:r>
              <a:rPr lang="en-IN" sz="3600" b="0" i="0" dirty="0">
                <a:solidFill>
                  <a:srgbClr val="000000"/>
                </a:solidFill>
                <a:effectLst/>
                <a:latin typeface="Segoe UI" panose="020B0502040204020203" pitchFamily="34" charset="0"/>
              </a:rPr>
              <a:t>String Concatenation</a:t>
            </a:r>
          </a:p>
        </p:txBody>
      </p:sp>
      <p:sp>
        <p:nvSpPr>
          <p:cNvPr id="5" name="TextBox 4">
            <a:extLst>
              <a:ext uri="{FF2B5EF4-FFF2-40B4-BE49-F238E27FC236}">
                <a16:creationId xmlns:a16="http://schemas.microsoft.com/office/drawing/2014/main" id="{FE8DDCFB-6BB6-7606-99C5-1199D52837B3}"/>
              </a:ext>
            </a:extLst>
          </p:cNvPr>
          <p:cNvSpPr txBox="1"/>
          <p:nvPr/>
        </p:nvSpPr>
        <p:spPr>
          <a:xfrm>
            <a:off x="275302" y="982830"/>
            <a:ext cx="10913807" cy="1569660"/>
          </a:xfrm>
          <a:prstGeom prst="rect">
            <a:avLst/>
          </a:prstGeom>
          <a:noFill/>
        </p:spPr>
        <p:txBody>
          <a:bodyPr wrap="square">
            <a:spAutoFit/>
          </a:bodyPr>
          <a:lstStyle/>
          <a:p>
            <a:r>
              <a:rPr lang="en-US" sz="2400" b="0" i="0" dirty="0">
                <a:solidFill>
                  <a:srgbClr val="000000"/>
                </a:solidFill>
                <a:effectLst/>
                <a:latin typeface="Consolas" panose="020B0609020204030204" pitchFamily="49" charset="0"/>
              </a:rPr>
              <a:t>string </a:t>
            </a:r>
            <a:r>
              <a:rPr lang="en-US" sz="2400" b="0" i="0" dirty="0" err="1">
                <a:solidFill>
                  <a:srgbClr val="000000"/>
                </a:solidFill>
                <a:effectLst/>
                <a:latin typeface="Consolas" panose="020B0609020204030204" pitchFamily="49" charset="0"/>
              </a:rPr>
              <a:t>firstName</a:t>
            </a:r>
            <a:r>
              <a:rPr lang="en-US" sz="2400" b="0" i="0" dirty="0">
                <a:solidFill>
                  <a:srgbClr val="000000"/>
                </a:solidFill>
                <a:effectLst/>
                <a:latin typeface="Consolas" panose="020B0609020204030204" pitchFamily="49" charset="0"/>
              </a:rPr>
              <a:t> = </a:t>
            </a:r>
            <a:r>
              <a:rPr lang="en-US" sz="2400" b="0" i="0" dirty="0">
                <a:solidFill>
                  <a:srgbClr val="008000"/>
                </a:solidFill>
                <a:effectLst/>
                <a:latin typeface="Consolas" panose="020B0609020204030204" pitchFamily="49" charset="0"/>
              </a:rPr>
              <a:t>"John "</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string </a:t>
            </a:r>
            <a:r>
              <a:rPr lang="en-US" sz="2400" b="0" i="0" dirty="0" err="1">
                <a:solidFill>
                  <a:srgbClr val="000000"/>
                </a:solidFill>
                <a:effectLst/>
                <a:latin typeface="Consolas" panose="020B0609020204030204" pitchFamily="49" charset="0"/>
              </a:rPr>
              <a:t>lastName</a:t>
            </a:r>
            <a:r>
              <a:rPr lang="en-US" sz="2400" b="0" i="0" dirty="0">
                <a:solidFill>
                  <a:srgbClr val="000000"/>
                </a:solidFill>
                <a:effectLst/>
                <a:latin typeface="Consolas" panose="020B0609020204030204" pitchFamily="49" charset="0"/>
              </a:rPr>
              <a:t> = </a:t>
            </a:r>
            <a:r>
              <a:rPr lang="en-US" sz="2400" b="0" i="0" dirty="0">
                <a:solidFill>
                  <a:srgbClr val="008000"/>
                </a:solidFill>
                <a:effectLst/>
                <a:latin typeface="Consolas" panose="020B0609020204030204" pitchFamily="49" charset="0"/>
              </a:rPr>
              <a:t>"Doe"</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string </a:t>
            </a:r>
            <a:r>
              <a:rPr lang="en-US" sz="2400" b="0" i="0" dirty="0" err="1">
                <a:solidFill>
                  <a:srgbClr val="000000"/>
                </a:solidFill>
                <a:effectLst/>
                <a:latin typeface="Consolas" panose="020B0609020204030204" pitchFamily="49" charset="0"/>
              </a:rPr>
              <a:t>fullName</a:t>
            </a:r>
            <a:r>
              <a:rPr lang="en-US" sz="2400" b="0" i="0" dirty="0">
                <a:solidFill>
                  <a:srgbClr val="000000"/>
                </a:solidFill>
                <a:effectLst/>
                <a:latin typeface="Consolas" panose="020B0609020204030204" pitchFamily="49" charset="0"/>
              </a:rPr>
              <a:t> = </a:t>
            </a:r>
            <a:r>
              <a:rPr lang="en-US" sz="2400" b="0" i="0" dirty="0" err="1">
                <a:solidFill>
                  <a:srgbClr val="000000"/>
                </a:solidFill>
                <a:effectLst/>
                <a:latin typeface="Consolas" panose="020B0609020204030204" pitchFamily="49" charset="0"/>
              </a:rPr>
              <a:t>firstName</a:t>
            </a:r>
            <a:r>
              <a:rPr lang="en-US" sz="2400" b="0" i="0" dirty="0">
                <a:solidFill>
                  <a:srgbClr val="000000"/>
                </a:solidFill>
                <a:effectLst/>
                <a:latin typeface="Consolas" panose="020B0609020204030204" pitchFamily="49" charset="0"/>
              </a:rPr>
              <a:t> + </a:t>
            </a:r>
            <a:r>
              <a:rPr lang="en-US" sz="2400" b="0" i="0" dirty="0" err="1">
                <a:solidFill>
                  <a:srgbClr val="000000"/>
                </a:solidFill>
                <a:effectLst/>
                <a:latin typeface="Consolas" panose="020B0609020204030204" pitchFamily="49" charset="0"/>
              </a:rPr>
              <a:t>lastName</a:t>
            </a:r>
            <a:r>
              <a:rPr lang="en-US" sz="2400" b="0" i="0" dirty="0">
                <a:solidFill>
                  <a:srgbClr val="000000"/>
                </a:solidFill>
                <a:effectLst/>
                <a:latin typeface="Consolas" panose="020B0609020204030204" pitchFamily="49" charset="0"/>
              </a:rPr>
              <a:t>;</a:t>
            </a:r>
            <a:br>
              <a:rPr lang="en-US" sz="2400" dirty="0"/>
            </a:b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err="1">
                <a:solidFill>
                  <a:srgbClr val="000000"/>
                </a:solidFill>
                <a:effectLst/>
                <a:latin typeface="Consolas" panose="020B0609020204030204" pitchFamily="49" charset="0"/>
              </a:rPr>
              <a:t>fullName</a:t>
            </a:r>
            <a:r>
              <a:rPr lang="en-US" sz="2400" b="0" i="0" dirty="0">
                <a:solidFill>
                  <a:srgbClr val="000000"/>
                </a:solidFill>
                <a:effectLst/>
                <a:latin typeface="Consolas" panose="020B0609020204030204" pitchFamily="49" charset="0"/>
              </a:rPr>
              <a:t>;</a:t>
            </a:r>
            <a:endParaRPr lang="en-IN" sz="2400" dirty="0"/>
          </a:p>
        </p:txBody>
      </p:sp>
      <p:sp>
        <p:nvSpPr>
          <p:cNvPr id="7" name="TextBox 6">
            <a:extLst>
              <a:ext uri="{FF2B5EF4-FFF2-40B4-BE49-F238E27FC236}">
                <a16:creationId xmlns:a16="http://schemas.microsoft.com/office/drawing/2014/main" id="{B7FA4769-68A7-1EC4-CEAC-262857B9AC5C}"/>
              </a:ext>
            </a:extLst>
          </p:cNvPr>
          <p:cNvSpPr txBox="1"/>
          <p:nvPr/>
        </p:nvSpPr>
        <p:spPr>
          <a:xfrm>
            <a:off x="127820" y="4043259"/>
            <a:ext cx="11454580" cy="1569660"/>
          </a:xfrm>
          <a:prstGeom prst="rect">
            <a:avLst/>
          </a:prstGeom>
          <a:noFill/>
        </p:spPr>
        <p:txBody>
          <a:bodyPr wrap="square">
            <a:spAutoFit/>
          </a:bodyPr>
          <a:lstStyle/>
          <a:p>
            <a:r>
              <a:rPr lang="en-US" sz="2400" b="0" i="0" dirty="0">
                <a:solidFill>
                  <a:srgbClr val="000000"/>
                </a:solidFill>
                <a:effectLst/>
                <a:latin typeface="Consolas" panose="020B0609020204030204" pitchFamily="49" charset="0"/>
              </a:rPr>
              <a:t>string </a:t>
            </a:r>
            <a:r>
              <a:rPr lang="en-US" sz="2400" b="0" i="0" dirty="0" err="1">
                <a:solidFill>
                  <a:srgbClr val="000000"/>
                </a:solidFill>
                <a:effectLst/>
                <a:latin typeface="Consolas" panose="020B0609020204030204" pitchFamily="49" charset="0"/>
              </a:rPr>
              <a:t>firstName</a:t>
            </a:r>
            <a:r>
              <a:rPr lang="en-US" sz="2400" b="0" i="0" dirty="0">
                <a:solidFill>
                  <a:srgbClr val="000000"/>
                </a:solidFill>
                <a:effectLst/>
                <a:latin typeface="Consolas" panose="020B0609020204030204" pitchFamily="49" charset="0"/>
              </a:rPr>
              <a:t> = </a:t>
            </a:r>
            <a:r>
              <a:rPr lang="en-US" sz="2400" b="0" i="0" dirty="0">
                <a:solidFill>
                  <a:srgbClr val="008000"/>
                </a:solidFill>
                <a:effectLst/>
                <a:latin typeface="Consolas" panose="020B0609020204030204" pitchFamily="49" charset="0"/>
              </a:rPr>
              <a:t>"John"</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string </a:t>
            </a:r>
            <a:r>
              <a:rPr lang="en-US" sz="2400" b="0" i="0" dirty="0" err="1">
                <a:solidFill>
                  <a:srgbClr val="000000"/>
                </a:solidFill>
                <a:effectLst/>
                <a:latin typeface="Consolas" panose="020B0609020204030204" pitchFamily="49" charset="0"/>
              </a:rPr>
              <a:t>lastName</a:t>
            </a:r>
            <a:r>
              <a:rPr lang="en-US" sz="2400" b="0" i="0" dirty="0">
                <a:solidFill>
                  <a:srgbClr val="000000"/>
                </a:solidFill>
                <a:effectLst/>
                <a:latin typeface="Consolas" panose="020B0609020204030204" pitchFamily="49" charset="0"/>
              </a:rPr>
              <a:t> = </a:t>
            </a:r>
            <a:r>
              <a:rPr lang="en-US" sz="2400" b="0" i="0" dirty="0">
                <a:solidFill>
                  <a:srgbClr val="008000"/>
                </a:solidFill>
                <a:effectLst/>
                <a:latin typeface="Consolas" panose="020B0609020204030204" pitchFamily="49" charset="0"/>
              </a:rPr>
              <a:t>"Doe"</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string </a:t>
            </a:r>
            <a:r>
              <a:rPr lang="en-US" sz="2400" b="0" i="0" dirty="0" err="1">
                <a:solidFill>
                  <a:srgbClr val="000000"/>
                </a:solidFill>
                <a:effectLst/>
                <a:latin typeface="Consolas" panose="020B0609020204030204" pitchFamily="49" charset="0"/>
              </a:rPr>
              <a:t>fullName</a:t>
            </a:r>
            <a:r>
              <a:rPr lang="en-US" sz="2400" b="0" i="0" dirty="0">
                <a:solidFill>
                  <a:srgbClr val="000000"/>
                </a:solidFill>
                <a:effectLst/>
                <a:latin typeface="Consolas" panose="020B0609020204030204" pitchFamily="49" charset="0"/>
              </a:rPr>
              <a:t> = </a:t>
            </a:r>
            <a:r>
              <a:rPr lang="en-US" sz="2400" b="0" i="0" dirty="0" err="1">
                <a:solidFill>
                  <a:srgbClr val="000000"/>
                </a:solidFill>
                <a:effectLst/>
                <a:latin typeface="Consolas" panose="020B0609020204030204" pitchFamily="49" charset="0"/>
              </a:rPr>
              <a:t>firstName</a:t>
            </a:r>
            <a:r>
              <a:rPr lang="en-US" sz="2400" b="0" i="0" dirty="0">
                <a:solidFill>
                  <a:srgbClr val="000000"/>
                </a:solidFill>
                <a:effectLst/>
                <a:latin typeface="Consolas" panose="020B0609020204030204" pitchFamily="49" charset="0"/>
              </a:rPr>
              <a:t> + </a:t>
            </a:r>
            <a:r>
              <a:rPr lang="en-US" sz="2400" b="0" i="0" dirty="0">
                <a:solidFill>
                  <a:srgbClr val="008000"/>
                </a:solidFill>
                <a:effectLst/>
                <a:latin typeface="Consolas" panose="020B0609020204030204" pitchFamily="49" charset="0"/>
              </a:rPr>
              <a:t>" "</a:t>
            </a:r>
            <a:r>
              <a:rPr lang="en-US" sz="2400" b="0" i="0" dirty="0">
                <a:solidFill>
                  <a:srgbClr val="000000"/>
                </a:solidFill>
                <a:effectLst/>
                <a:latin typeface="Consolas" panose="020B0609020204030204" pitchFamily="49" charset="0"/>
              </a:rPr>
              <a:t> + </a:t>
            </a:r>
            <a:r>
              <a:rPr lang="en-US" sz="2400" b="0" i="0" dirty="0" err="1">
                <a:solidFill>
                  <a:srgbClr val="000000"/>
                </a:solidFill>
                <a:effectLst/>
                <a:latin typeface="Consolas" panose="020B0609020204030204" pitchFamily="49" charset="0"/>
              </a:rPr>
              <a:t>lastName</a:t>
            </a:r>
            <a:r>
              <a:rPr lang="en-US" sz="2400" b="0" i="0" dirty="0">
                <a:solidFill>
                  <a:srgbClr val="000000"/>
                </a:solidFill>
                <a:effectLst/>
                <a:latin typeface="Consolas" panose="020B0609020204030204" pitchFamily="49" charset="0"/>
              </a:rPr>
              <a:t>;</a:t>
            </a:r>
            <a:br>
              <a:rPr lang="en-US" sz="2400" dirty="0"/>
            </a:b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err="1">
                <a:solidFill>
                  <a:srgbClr val="000000"/>
                </a:solidFill>
                <a:effectLst/>
                <a:latin typeface="Consolas" panose="020B0609020204030204" pitchFamily="49" charset="0"/>
              </a:rPr>
              <a:t>fullName</a:t>
            </a:r>
            <a:r>
              <a:rPr lang="en-US" sz="2400" b="0" i="0" dirty="0">
                <a:solidFill>
                  <a:srgbClr val="000000"/>
                </a:solidFill>
                <a:effectLst/>
                <a:latin typeface="Consolas" panose="020B0609020204030204" pitchFamily="49" charset="0"/>
              </a:rPr>
              <a:t>;</a:t>
            </a:r>
            <a:endParaRPr lang="en-IN" sz="2400" dirty="0"/>
          </a:p>
        </p:txBody>
      </p:sp>
      <p:sp>
        <p:nvSpPr>
          <p:cNvPr id="9" name="TextBox 8">
            <a:extLst>
              <a:ext uri="{FF2B5EF4-FFF2-40B4-BE49-F238E27FC236}">
                <a16:creationId xmlns:a16="http://schemas.microsoft.com/office/drawing/2014/main" id="{ED32EC81-8781-482C-F45D-B108FEEB4D65}"/>
              </a:ext>
            </a:extLst>
          </p:cNvPr>
          <p:cNvSpPr txBox="1"/>
          <p:nvPr/>
        </p:nvSpPr>
        <p:spPr>
          <a:xfrm>
            <a:off x="206477" y="2692794"/>
            <a:ext cx="11916698" cy="1200329"/>
          </a:xfrm>
          <a:prstGeom prst="rect">
            <a:avLst/>
          </a:prstGeom>
          <a:noFill/>
        </p:spPr>
        <p:txBody>
          <a:bodyPr wrap="square">
            <a:spAutoFit/>
          </a:bodyPr>
          <a:lstStyle/>
          <a:p>
            <a:r>
              <a:rPr lang="en-US" sz="2400" b="0" i="0" dirty="0">
                <a:solidFill>
                  <a:srgbClr val="000000"/>
                </a:solidFill>
                <a:effectLst/>
                <a:latin typeface="Segoe UI" panose="020B0502040204020203" pitchFamily="34" charset="0"/>
              </a:rPr>
              <a:t>In the example above, we added a space after </a:t>
            </a:r>
            <a:r>
              <a:rPr lang="en-US" sz="2400" b="0" i="0" dirty="0" err="1">
                <a:solidFill>
                  <a:srgbClr val="000000"/>
                </a:solidFill>
                <a:effectLst/>
                <a:latin typeface="Segoe UI" panose="020B0502040204020203" pitchFamily="34" charset="0"/>
              </a:rPr>
              <a:t>firstName</a:t>
            </a:r>
            <a:r>
              <a:rPr lang="en-US" sz="2400" b="0" i="0" dirty="0">
                <a:solidFill>
                  <a:srgbClr val="000000"/>
                </a:solidFill>
                <a:effectLst/>
                <a:latin typeface="Segoe UI" panose="020B0502040204020203" pitchFamily="34" charset="0"/>
              </a:rPr>
              <a:t> to create a space between John and Doe on output. However, you could also add a space with quotes (</a:t>
            </a:r>
            <a:r>
              <a:rPr lang="en-US" sz="2400" b="0" i="0" dirty="0">
                <a:solidFill>
                  <a:srgbClr val="DC143C"/>
                </a:solidFill>
                <a:effectLst/>
                <a:latin typeface="Consolas" panose="020B0609020204030204" pitchFamily="49" charset="0"/>
              </a:rPr>
              <a:t>" "</a:t>
            </a:r>
            <a:r>
              <a:rPr lang="en-US" sz="2400" b="0" i="0" dirty="0">
                <a:solidFill>
                  <a:srgbClr val="000000"/>
                </a:solidFill>
                <a:effectLst/>
                <a:latin typeface="Segoe UI" panose="020B0502040204020203" pitchFamily="34" charset="0"/>
              </a:rPr>
              <a:t> or </a:t>
            </a:r>
            <a:r>
              <a:rPr lang="en-US" sz="2400" b="0" i="0" dirty="0">
                <a:solidFill>
                  <a:srgbClr val="DC143C"/>
                </a:solidFill>
                <a:effectLst/>
                <a:latin typeface="Consolas" panose="020B0609020204030204" pitchFamily="49" charset="0"/>
              </a:rPr>
              <a:t>' '</a:t>
            </a:r>
            <a:r>
              <a:rPr lang="en-US" sz="2400" b="0" i="0" dirty="0">
                <a:solidFill>
                  <a:srgbClr val="000000"/>
                </a:solidFill>
                <a:effectLst/>
                <a:latin typeface="Segoe UI" panose="020B0502040204020203" pitchFamily="34" charset="0"/>
              </a:rPr>
              <a:t>):</a:t>
            </a:r>
            <a:endParaRPr lang="en-IN" sz="2400" dirty="0"/>
          </a:p>
        </p:txBody>
      </p:sp>
    </p:spTree>
    <p:extLst>
      <p:ext uri="{BB962C8B-B14F-4D97-AF65-F5344CB8AC3E}">
        <p14:creationId xmlns:p14="http://schemas.microsoft.com/office/powerpoint/2010/main" val="277748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401F5E-C165-CFDC-B26B-040A6E140BAF}"/>
              </a:ext>
            </a:extLst>
          </p:cNvPr>
          <p:cNvSpPr txBox="1"/>
          <p:nvPr/>
        </p:nvSpPr>
        <p:spPr>
          <a:xfrm>
            <a:off x="0" y="19665"/>
            <a:ext cx="12192000" cy="1918474"/>
          </a:xfrm>
          <a:prstGeom prst="rect">
            <a:avLst/>
          </a:prstGeom>
          <a:noFill/>
        </p:spPr>
        <p:txBody>
          <a:bodyPr wrap="square">
            <a:spAutoFit/>
          </a:bodyPr>
          <a:lstStyle/>
          <a:p>
            <a:pPr algn="l">
              <a:spcBef>
                <a:spcPts val="750"/>
              </a:spcBef>
              <a:spcAft>
                <a:spcPts val="750"/>
              </a:spcAft>
              <a:buNone/>
            </a:pPr>
            <a:r>
              <a:rPr lang="en-US" sz="2800" b="0" i="0" dirty="0">
                <a:solidFill>
                  <a:srgbClr val="000000"/>
                </a:solidFill>
                <a:effectLst/>
                <a:latin typeface="Segoe UI" panose="020B0502040204020203" pitchFamily="34" charset="0"/>
              </a:rPr>
              <a:t>Append</a:t>
            </a:r>
          </a:p>
          <a:p>
            <a:pPr algn="l">
              <a:buNone/>
            </a:pPr>
            <a:r>
              <a:rPr lang="en-US" sz="2800" b="0" i="0" dirty="0">
                <a:solidFill>
                  <a:srgbClr val="000000"/>
                </a:solidFill>
                <a:effectLst/>
                <a:latin typeface="Segoe UI" panose="020B0502040204020203" pitchFamily="34" charset="0"/>
              </a:rPr>
              <a:t>A string in C++ is actually an object, which contain functions that can perform certain operations on strings. For example, you can also concatenate strings with the </a:t>
            </a:r>
            <a:r>
              <a:rPr lang="en-US" sz="2800" b="0" i="0" dirty="0">
                <a:effectLst/>
                <a:latin typeface="Consolas" panose="020B0609020204030204" pitchFamily="49" charset="0"/>
              </a:rPr>
              <a:t>append()</a:t>
            </a:r>
            <a:r>
              <a:rPr lang="en-US" sz="2800" b="0" i="0" dirty="0">
                <a:solidFill>
                  <a:srgbClr val="000000"/>
                </a:solidFill>
                <a:effectLst/>
                <a:latin typeface="Segoe UI" panose="020B0502040204020203" pitchFamily="34" charset="0"/>
              </a:rPr>
              <a:t> function:</a:t>
            </a:r>
          </a:p>
        </p:txBody>
      </p:sp>
      <p:sp>
        <p:nvSpPr>
          <p:cNvPr id="5" name="TextBox 4">
            <a:extLst>
              <a:ext uri="{FF2B5EF4-FFF2-40B4-BE49-F238E27FC236}">
                <a16:creationId xmlns:a16="http://schemas.microsoft.com/office/drawing/2014/main" id="{18E9B299-25F4-28C4-C859-A45041C91B5D}"/>
              </a:ext>
            </a:extLst>
          </p:cNvPr>
          <p:cNvSpPr txBox="1"/>
          <p:nvPr/>
        </p:nvSpPr>
        <p:spPr>
          <a:xfrm>
            <a:off x="221226" y="2305268"/>
            <a:ext cx="11749548" cy="1815882"/>
          </a:xfrm>
          <a:prstGeom prst="rect">
            <a:avLst/>
          </a:prstGeom>
          <a:noFill/>
        </p:spPr>
        <p:txBody>
          <a:bodyPr wrap="square">
            <a:spAutoFit/>
          </a:bodyPr>
          <a:lstStyle/>
          <a:p>
            <a:r>
              <a:rPr lang="en-US" sz="2800" b="0" i="0" dirty="0">
                <a:solidFill>
                  <a:srgbClr val="000000"/>
                </a:solidFill>
                <a:effectLst/>
                <a:latin typeface="Consolas" panose="020B0609020204030204" pitchFamily="49" charset="0"/>
              </a:rPr>
              <a:t>string </a:t>
            </a:r>
            <a:r>
              <a:rPr lang="en-US" sz="2800" b="0" i="0" dirty="0" err="1">
                <a:solidFill>
                  <a:srgbClr val="000000"/>
                </a:solidFill>
                <a:effectLst/>
                <a:latin typeface="Consolas" panose="020B0609020204030204" pitchFamily="49" charset="0"/>
              </a:rPr>
              <a:t>firstName</a:t>
            </a:r>
            <a:r>
              <a:rPr lang="en-US" sz="2800" b="0" i="0" dirty="0">
                <a:solidFill>
                  <a:srgbClr val="000000"/>
                </a:solidFill>
                <a:effectLst/>
                <a:latin typeface="Consolas" panose="020B0609020204030204" pitchFamily="49" charset="0"/>
              </a:rPr>
              <a:t> = </a:t>
            </a:r>
            <a:r>
              <a:rPr lang="en-US" sz="2800" b="0" i="0" dirty="0">
                <a:solidFill>
                  <a:srgbClr val="008000"/>
                </a:solidFill>
                <a:effectLst/>
                <a:latin typeface="Consolas" panose="020B0609020204030204" pitchFamily="49" charset="0"/>
              </a:rPr>
              <a:t>"John "</a:t>
            </a:r>
            <a:r>
              <a:rPr lang="en-US" sz="2800" b="0" i="0" dirty="0">
                <a:solidFill>
                  <a:srgbClr val="000000"/>
                </a:solidFill>
                <a:effectLst/>
                <a:latin typeface="Consolas" panose="020B0609020204030204" pitchFamily="49" charset="0"/>
              </a:rPr>
              <a:t>;</a:t>
            </a:r>
            <a:br>
              <a:rPr lang="en-US" sz="2800" dirty="0"/>
            </a:br>
            <a:r>
              <a:rPr lang="en-US" sz="2800" b="0" i="0" dirty="0">
                <a:solidFill>
                  <a:srgbClr val="000000"/>
                </a:solidFill>
                <a:effectLst/>
                <a:latin typeface="Consolas" panose="020B0609020204030204" pitchFamily="49" charset="0"/>
              </a:rPr>
              <a:t>string </a:t>
            </a:r>
            <a:r>
              <a:rPr lang="en-US" sz="2800" b="0" i="0" dirty="0" err="1">
                <a:solidFill>
                  <a:srgbClr val="000000"/>
                </a:solidFill>
                <a:effectLst/>
                <a:latin typeface="Consolas" panose="020B0609020204030204" pitchFamily="49" charset="0"/>
              </a:rPr>
              <a:t>lastName</a:t>
            </a:r>
            <a:r>
              <a:rPr lang="en-US" sz="2800" b="0" i="0" dirty="0">
                <a:solidFill>
                  <a:srgbClr val="000000"/>
                </a:solidFill>
                <a:effectLst/>
                <a:latin typeface="Consolas" panose="020B0609020204030204" pitchFamily="49" charset="0"/>
              </a:rPr>
              <a:t> = </a:t>
            </a:r>
            <a:r>
              <a:rPr lang="en-US" sz="2800" b="0" i="0" dirty="0">
                <a:solidFill>
                  <a:srgbClr val="008000"/>
                </a:solidFill>
                <a:effectLst/>
                <a:latin typeface="Consolas" panose="020B0609020204030204" pitchFamily="49" charset="0"/>
              </a:rPr>
              <a:t>"Doe"</a:t>
            </a:r>
            <a:r>
              <a:rPr lang="en-US" sz="2800" b="0" i="0" dirty="0">
                <a:solidFill>
                  <a:srgbClr val="000000"/>
                </a:solidFill>
                <a:effectLst/>
                <a:latin typeface="Consolas" panose="020B0609020204030204" pitchFamily="49" charset="0"/>
              </a:rPr>
              <a:t>;</a:t>
            </a:r>
            <a:br>
              <a:rPr lang="en-US" sz="2800" dirty="0"/>
            </a:br>
            <a:r>
              <a:rPr lang="en-US" sz="2800" b="0" i="0" dirty="0">
                <a:solidFill>
                  <a:srgbClr val="000000"/>
                </a:solidFill>
                <a:effectLst/>
                <a:latin typeface="Consolas" panose="020B0609020204030204" pitchFamily="49" charset="0"/>
              </a:rPr>
              <a:t>string </a:t>
            </a:r>
            <a:r>
              <a:rPr lang="en-US" sz="2800" b="0" i="0" dirty="0" err="1">
                <a:solidFill>
                  <a:srgbClr val="000000"/>
                </a:solidFill>
                <a:effectLst/>
                <a:latin typeface="Consolas" panose="020B0609020204030204" pitchFamily="49" charset="0"/>
              </a:rPr>
              <a:t>fullName</a:t>
            </a:r>
            <a:r>
              <a:rPr lang="en-US" sz="2800" b="0" i="0" dirty="0">
                <a:solidFill>
                  <a:srgbClr val="000000"/>
                </a:solidFill>
                <a:effectLst/>
                <a:latin typeface="Consolas" panose="020B0609020204030204" pitchFamily="49" charset="0"/>
              </a:rPr>
              <a:t> = </a:t>
            </a:r>
            <a:r>
              <a:rPr lang="en-US" sz="2800" b="0" i="0" dirty="0" err="1">
                <a:solidFill>
                  <a:srgbClr val="000000"/>
                </a:solidFill>
                <a:effectLst/>
                <a:latin typeface="Consolas" panose="020B0609020204030204" pitchFamily="49" charset="0"/>
              </a:rPr>
              <a:t>firstName.append</a:t>
            </a:r>
            <a:r>
              <a:rPr lang="en-US" sz="2800" b="0" i="0" dirty="0">
                <a:solidFill>
                  <a:srgbClr val="000000"/>
                </a:solidFill>
                <a:effectLst/>
                <a:latin typeface="Consolas" panose="020B0609020204030204" pitchFamily="49" charset="0"/>
              </a:rPr>
              <a:t>(</a:t>
            </a:r>
            <a:r>
              <a:rPr lang="en-US" sz="2800" b="0" i="0" dirty="0" err="1">
                <a:solidFill>
                  <a:srgbClr val="000000"/>
                </a:solidFill>
                <a:effectLst/>
                <a:latin typeface="Consolas" panose="020B0609020204030204" pitchFamily="49" charset="0"/>
              </a:rPr>
              <a:t>lastName</a:t>
            </a:r>
            <a:r>
              <a:rPr lang="en-US" sz="2800" b="0" i="0" dirty="0">
                <a:solidFill>
                  <a:srgbClr val="000000"/>
                </a:solidFill>
                <a:effectLst/>
                <a:latin typeface="Consolas" panose="020B0609020204030204" pitchFamily="49" charset="0"/>
              </a:rPr>
              <a:t>);</a:t>
            </a:r>
            <a:br>
              <a:rPr lang="en-US" sz="2800" dirty="0"/>
            </a:br>
            <a:r>
              <a:rPr lang="en-US" sz="2800" b="0" i="0" dirty="0" err="1">
                <a:solidFill>
                  <a:srgbClr val="000000"/>
                </a:solidFill>
                <a:effectLst/>
                <a:latin typeface="Consolas" panose="020B0609020204030204" pitchFamily="49" charset="0"/>
              </a:rPr>
              <a:t>cout</a:t>
            </a:r>
            <a:r>
              <a:rPr lang="en-US" sz="2800" b="0" i="0" dirty="0">
                <a:solidFill>
                  <a:srgbClr val="000000"/>
                </a:solidFill>
                <a:effectLst/>
                <a:latin typeface="Consolas" panose="020B0609020204030204" pitchFamily="49" charset="0"/>
              </a:rPr>
              <a:t> &lt;&lt; </a:t>
            </a:r>
            <a:r>
              <a:rPr lang="en-US" sz="2800" b="0" i="0" dirty="0" err="1">
                <a:solidFill>
                  <a:srgbClr val="000000"/>
                </a:solidFill>
                <a:effectLst/>
                <a:latin typeface="Consolas" panose="020B0609020204030204" pitchFamily="49" charset="0"/>
              </a:rPr>
              <a:t>fullName</a:t>
            </a:r>
            <a:r>
              <a:rPr lang="en-US" sz="2800" b="0" i="0" dirty="0">
                <a:solidFill>
                  <a:srgbClr val="000000"/>
                </a:solidFill>
                <a:effectLst/>
                <a:latin typeface="Consolas" panose="020B0609020204030204" pitchFamily="49" charset="0"/>
              </a:rPr>
              <a:t>;</a:t>
            </a:r>
            <a:endParaRPr lang="en-IN" sz="2800" dirty="0"/>
          </a:p>
        </p:txBody>
      </p:sp>
    </p:spTree>
    <p:extLst>
      <p:ext uri="{BB962C8B-B14F-4D97-AF65-F5344CB8AC3E}">
        <p14:creationId xmlns:p14="http://schemas.microsoft.com/office/powerpoint/2010/main" val="3876995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246B5B-9BD0-DD34-CA17-C099123017D7}"/>
              </a:ext>
            </a:extLst>
          </p:cNvPr>
          <p:cNvSpPr txBox="1"/>
          <p:nvPr/>
        </p:nvSpPr>
        <p:spPr>
          <a:xfrm>
            <a:off x="127818" y="188960"/>
            <a:ext cx="6194324" cy="707886"/>
          </a:xfrm>
          <a:prstGeom prst="rect">
            <a:avLst/>
          </a:prstGeom>
          <a:noFill/>
        </p:spPr>
        <p:txBody>
          <a:bodyPr wrap="square">
            <a:spAutoFit/>
          </a:bodyPr>
          <a:lstStyle/>
          <a:p>
            <a:pPr algn="l">
              <a:spcBef>
                <a:spcPts val="750"/>
              </a:spcBef>
              <a:spcAft>
                <a:spcPts val="750"/>
              </a:spcAft>
              <a:buNone/>
            </a:pPr>
            <a:r>
              <a:rPr lang="en-IN" sz="4000" b="1" i="0" dirty="0">
                <a:solidFill>
                  <a:srgbClr val="000000"/>
                </a:solidFill>
                <a:effectLst/>
                <a:latin typeface="Segoe UI" panose="020B0502040204020203" pitchFamily="34" charset="0"/>
              </a:rPr>
              <a:t>String Length</a:t>
            </a:r>
          </a:p>
        </p:txBody>
      </p:sp>
      <p:sp>
        <p:nvSpPr>
          <p:cNvPr id="5" name="TextBox 4">
            <a:extLst>
              <a:ext uri="{FF2B5EF4-FFF2-40B4-BE49-F238E27FC236}">
                <a16:creationId xmlns:a16="http://schemas.microsoft.com/office/drawing/2014/main" id="{85EDEDBF-2A3D-62BB-6A07-2FFB59B2C660}"/>
              </a:ext>
            </a:extLst>
          </p:cNvPr>
          <p:cNvSpPr txBox="1"/>
          <p:nvPr/>
        </p:nvSpPr>
        <p:spPr>
          <a:xfrm>
            <a:off x="127817" y="1023006"/>
            <a:ext cx="11788879" cy="830997"/>
          </a:xfrm>
          <a:prstGeom prst="rect">
            <a:avLst/>
          </a:prstGeom>
          <a:noFill/>
        </p:spPr>
        <p:txBody>
          <a:bodyPr wrap="square">
            <a:spAutoFit/>
          </a:bodyPr>
          <a:lstStyle/>
          <a:p>
            <a:r>
              <a:rPr lang="en-US" sz="2400" b="0" i="0" dirty="0">
                <a:solidFill>
                  <a:srgbClr val="000000"/>
                </a:solidFill>
                <a:effectLst/>
                <a:latin typeface="Consolas" panose="020B0609020204030204" pitchFamily="49" charset="0"/>
              </a:rPr>
              <a:t>string txt = </a:t>
            </a:r>
            <a:r>
              <a:rPr lang="en-US" sz="2400" b="0" i="0" dirty="0">
                <a:solidFill>
                  <a:srgbClr val="008000"/>
                </a:solidFill>
                <a:effectLst/>
                <a:latin typeface="Consolas" panose="020B0609020204030204" pitchFamily="49" charset="0"/>
              </a:rPr>
              <a:t>"ABCDEFGHIJKLMNOPQRSTUVWXYZ"</a:t>
            </a:r>
            <a:r>
              <a:rPr lang="en-US" sz="2400" b="0" i="0" dirty="0">
                <a:solidFill>
                  <a:srgbClr val="000000"/>
                </a:solidFill>
                <a:effectLst/>
                <a:latin typeface="Consolas" panose="020B0609020204030204" pitchFamily="49" charset="0"/>
              </a:rPr>
              <a:t>;</a:t>
            </a:r>
            <a:br>
              <a:rPr lang="en-US" sz="2400" dirty="0"/>
            </a:b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"The length of the txt string is: "</a:t>
            </a:r>
            <a:r>
              <a:rPr lang="en-US" sz="2400" b="0" i="0" dirty="0">
                <a:solidFill>
                  <a:srgbClr val="000000"/>
                </a:solidFill>
                <a:effectLst/>
                <a:latin typeface="Consolas" panose="020B0609020204030204" pitchFamily="49" charset="0"/>
              </a:rPr>
              <a:t> &lt;&lt; </a:t>
            </a:r>
            <a:r>
              <a:rPr lang="en-US" sz="2400" b="0" i="0" dirty="0" err="1">
                <a:solidFill>
                  <a:srgbClr val="000000"/>
                </a:solidFill>
                <a:effectLst/>
                <a:latin typeface="Consolas" panose="020B0609020204030204" pitchFamily="49" charset="0"/>
              </a:rPr>
              <a:t>txt.length</a:t>
            </a:r>
            <a:r>
              <a:rPr lang="en-US" sz="2400" b="0" i="0" dirty="0">
                <a:solidFill>
                  <a:srgbClr val="000000"/>
                </a:solidFill>
                <a:effectLst/>
                <a:latin typeface="Consolas" panose="020B0609020204030204" pitchFamily="49" charset="0"/>
              </a:rPr>
              <a:t>();</a:t>
            </a:r>
            <a:endParaRPr lang="en-IN" sz="2400" dirty="0"/>
          </a:p>
        </p:txBody>
      </p:sp>
      <p:sp>
        <p:nvSpPr>
          <p:cNvPr id="7" name="TextBox 6">
            <a:extLst>
              <a:ext uri="{FF2B5EF4-FFF2-40B4-BE49-F238E27FC236}">
                <a16:creationId xmlns:a16="http://schemas.microsoft.com/office/drawing/2014/main" id="{DE6B6CA7-78CD-F5F5-ED1C-A5848C7FF51B}"/>
              </a:ext>
            </a:extLst>
          </p:cNvPr>
          <p:cNvSpPr txBox="1"/>
          <p:nvPr/>
        </p:nvSpPr>
        <p:spPr>
          <a:xfrm>
            <a:off x="127816" y="2969793"/>
            <a:ext cx="11788879" cy="830997"/>
          </a:xfrm>
          <a:prstGeom prst="rect">
            <a:avLst/>
          </a:prstGeom>
          <a:noFill/>
        </p:spPr>
        <p:txBody>
          <a:bodyPr wrap="square">
            <a:spAutoFit/>
          </a:bodyPr>
          <a:lstStyle/>
          <a:p>
            <a:r>
              <a:rPr lang="en-US" sz="2400" b="0" i="0" dirty="0">
                <a:solidFill>
                  <a:srgbClr val="000000"/>
                </a:solidFill>
                <a:effectLst/>
                <a:latin typeface="Consolas" panose="020B0609020204030204" pitchFamily="49" charset="0"/>
              </a:rPr>
              <a:t>string txt = </a:t>
            </a:r>
            <a:r>
              <a:rPr lang="en-US" sz="2400" b="0" i="0" dirty="0">
                <a:solidFill>
                  <a:srgbClr val="008000"/>
                </a:solidFill>
                <a:effectLst/>
                <a:latin typeface="Consolas" panose="020B0609020204030204" pitchFamily="49" charset="0"/>
              </a:rPr>
              <a:t>"ABCDEFGHIJKLMNOPQRSTUVWXYZ"</a:t>
            </a:r>
            <a:r>
              <a:rPr lang="en-US" sz="2400" b="0" i="0" dirty="0">
                <a:solidFill>
                  <a:srgbClr val="000000"/>
                </a:solidFill>
                <a:effectLst/>
                <a:latin typeface="Consolas" panose="020B0609020204030204" pitchFamily="49" charset="0"/>
              </a:rPr>
              <a:t>;</a:t>
            </a:r>
            <a:br>
              <a:rPr lang="en-US" sz="2400" dirty="0"/>
            </a:b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"The length of the txt string is: "</a:t>
            </a:r>
            <a:r>
              <a:rPr lang="en-US" sz="2400" b="0" i="0" dirty="0">
                <a:solidFill>
                  <a:srgbClr val="000000"/>
                </a:solidFill>
                <a:effectLst/>
                <a:latin typeface="Consolas" panose="020B0609020204030204" pitchFamily="49" charset="0"/>
              </a:rPr>
              <a:t> &lt;&lt; </a:t>
            </a:r>
            <a:r>
              <a:rPr lang="en-US" sz="2400" b="0" i="0" dirty="0" err="1">
                <a:solidFill>
                  <a:srgbClr val="000000"/>
                </a:solidFill>
                <a:effectLst/>
                <a:latin typeface="Consolas" panose="020B0609020204030204" pitchFamily="49" charset="0"/>
              </a:rPr>
              <a:t>txt.size</a:t>
            </a:r>
            <a:r>
              <a:rPr lang="en-US" sz="2400" b="0" i="0" dirty="0">
                <a:solidFill>
                  <a:srgbClr val="000000"/>
                </a:solidFill>
                <a:effectLst/>
                <a:latin typeface="Consolas" panose="020B0609020204030204" pitchFamily="49" charset="0"/>
              </a:rPr>
              <a:t>();</a:t>
            </a:r>
            <a:endParaRPr lang="en-IN" sz="2400" dirty="0"/>
          </a:p>
        </p:txBody>
      </p:sp>
    </p:spTree>
    <p:extLst>
      <p:ext uri="{BB962C8B-B14F-4D97-AF65-F5344CB8AC3E}">
        <p14:creationId xmlns:p14="http://schemas.microsoft.com/office/powerpoint/2010/main" val="2645258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2F053C-CFBB-4D03-2B0B-8EB2836AA798}"/>
              </a:ext>
            </a:extLst>
          </p:cNvPr>
          <p:cNvSpPr txBox="1"/>
          <p:nvPr/>
        </p:nvSpPr>
        <p:spPr>
          <a:xfrm>
            <a:off x="176979" y="503592"/>
            <a:ext cx="6096000" cy="646331"/>
          </a:xfrm>
          <a:prstGeom prst="rect">
            <a:avLst/>
          </a:prstGeom>
          <a:noFill/>
        </p:spPr>
        <p:txBody>
          <a:bodyPr wrap="square">
            <a:spAutoFit/>
          </a:bodyPr>
          <a:lstStyle/>
          <a:p>
            <a:pPr algn="l">
              <a:spcBef>
                <a:spcPts val="750"/>
              </a:spcBef>
              <a:spcAft>
                <a:spcPts val="750"/>
              </a:spcAft>
              <a:buNone/>
            </a:pPr>
            <a:r>
              <a:rPr lang="en-IN" sz="3600" b="1" i="0" dirty="0">
                <a:solidFill>
                  <a:srgbClr val="000000"/>
                </a:solidFill>
                <a:effectLst/>
                <a:latin typeface="Segoe UI" panose="020B0502040204020203" pitchFamily="34" charset="0"/>
              </a:rPr>
              <a:t>Access Strings</a:t>
            </a:r>
          </a:p>
        </p:txBody>
      </p:sp>
      <p:sp>
        <p:nvSpPr>
          <p:cNvPr id="5" name="TextBox 4">
            <a:extLst>
              <a:ext uri="{FF2B5EF4-FFF2-40B4-BE49-F238E27FC236}">
                <a16:creationId xmlns:a16="http://schemas.microsoft.com/office/drawing/2014/main" id="{3EAC97BE-7652-2B4C-15AE-F84247681E52}"/>
              </a:ext>
            </a:extLst>
          </p:cNvPr>
          <p:cNvSpPr txBox="1"/>
          <p:nvPr/>
        </p:nvSpPr>
        <p:spPr>
          <a:xfrm>
            <a:off x="176978" y="1088367"/>
            <a:ext cx="11906865" cy="954107"/>
          </a:xfrm>
          <a:prstGeom prst="rect">
            <a:avLst/>
          </a:prstGeom>
          <a:noFill/>
        </p:spPr>
        <p:txBody>
          <a:bodyPr wrap="square">
            <a:spAutoFit/>
          </a:bodyPr>
          <a:lstStyle/>
          <a:p>
            <a:r>
              <a:rPr lang="en-IN" sz="2800" b="0" i="0" dirty="0">
                <a:solidFill>
                  <a:srgbClr val="000000"/>
                </a:solidFill>
                <a:effectLst/>
                <a:latin typeface="Consolas" panose="020B0609020204030204" pitchFamily="49" charset="0"/>
              </a:rPr>
              <a:t>string </a:t>
            </a:r>
            <a:r>
              <a:rPr lang="en-IN" sz="2800" b="0" i="0" dirty="0" err="1">
                <a:solidFill>
                  <a:srgbClr val="000000"/>
                </a:solidFill>
                <a:effectLst/>
                <a:latin typeface="Consolas" panose="020B0609020204030204" pitchFamily="49" charset="0"/>
              </a:rPr>
              <a:t>myString</a:t>
            </a:r>
            <a:r>
              <a:rPr lang="en-IN" sz="2800" b="0" i="0" dirty="0">
                <a:solidFill>
                  <a:srgbClr val="000000"/>
                </a:solidFill>
                <a:effectLst/>
                <a:latin typeface="Consolas" panose="020B0609020204030204" pitchFamily="49" charset="0"/>
              </a:rPr>
              <a:t> = </a:t>
            </a:r>
            <a:r>
              <a:rPr lang="en-IN" sz="2800" b="0" i="0" dirty="0">
                <a:solidFill>
                  <a:srgbClr val="008000"/>
                </a:solidFill>
                <a:effectLst/>
                <a:latin typeface="Consolas" panose="020B0609020204030204" pitchFamily="49" charset="0"/>
              </a:rPr>
              <a:t>"Hello"</a:t>
            </a:r>
            <a:r>
              <a:rPr lang="en-IN" sz="2800" b="0" i="0" dirty="0">
                <a:solidFill>
                  <a:srgbClr val="000000"/>
                </a:solidFill>
                <a:effectLst/>
                <a:latin typeface="Consolas" panose="020B0609020204030204" pitchFamily="49" charset="0"/>
              </a:rPr>
              <a:t>;</a:t>
            </a:r>
            <a:br>
              <a:rPr lang="en-IN" sz="2800" dirty="0"/>
            </a:br>
            <a:r>
              <a:rPr lang="en-IN" sz="2800" b="0" i="0" dirty="0" err="1">
                <a:solidFill>
                  <a:srgbClr val="000000"/>
                </a:solidFill>
                <a:effectLst/>
                <a:latin typeface="Consolas" panose="020B0609020204030204" pitchFamily="49" charset="0"/>
              </a:rPr>
              <a:t>cout</a:t>
            </a:r>
            <a:r>
              <a:rPr lang="en-IN" sz="2800" b="0" i="0" dirty="0">
                <a:solidFill>
                  <a:srgbClr val="000000"/>
                </a:solidFill>
                <a:effectLst/>
                <a:latin typeface="Consolas" panose="020B0609020204030204" pitchFamily="49" charset="0"/>
              </a:rPr>
              <a:t> &lt;&lt; </a:t>
            </a:r>
            <a:r>
              <a:rPr lang="en-IN" sz="2800" b="0" i="0" dirty="0" err="1">
                <a:solidFill>
                  <a:srgbClr val="000000"/>
                </a:solidFill>
                <a:effectLst/>
                <a:latin typeface="Consolas" panose="020B0609020204030204" pitchFamily="49" charset="0"/>
              </a:rPr>
              <a:t>myString</a:t>
            </a:r>
            <a:r>
              <a:rPr lang="en-IN" sz="2800" b="0" i="0" dirty="0">
                <a:solidFill>
                  <a:srgbClr val="000000"/>
                </a:solidFill>
                <a:effectLst/>
                <a:latin typeface="Consolas" panose="020B0609020204030204" pitchFamily="49" charset="0"/>
              </a:rPr>
              <a:t>[</a:t>
            </a:r>
            <a:r>
              <a:rPr lang="en-IN" sz="2800" b="0" i="0" dirty="0">
                <a:solidFill>
                  <a:srgbClr val="990055"/>
                </a:solidFill>
                <a:effectLst/>
                <a:latin typeface="Consolas" panose="020B0609020204030204" pitchFamily="49" charset="0"/>
              </a:rPr>
              <a:t>0</a:t>
            </a:r>
            <a:r>
              <a:rPr lang="en-IN" sz="2800" b="0" i="0" dirty="0">
                <a:solidFill>
                  <a:srgbClr val="000000"/>
                </a:solidFill>
                <a:effectLst/>
                <a:latin typeface="Consolas" panose="020B0609020204030204" pitchFamily="49" charset="0"/>
              </a:rPr>
              <a:t>];</a:t>
            </a:r>
            <a:endParaRPr lang="en-IN" sz="2800" dirty="0"/>
          </a:p>
        </p:txBody>
      </p:sp>
      <p:sp>
        <p:nvSpPr>
          <p:cNvPr id="7" name="TextBox 6">
            <a:extLst>
              <a:ext uri="{FF2B5EF4-FFF2-40B4-BE49-F238E27FC236}">
                <a16:creationId xmlns:a16="http://schemas.microsoft.com/office/drawing/2014/main" id="{E962D6D1-A7BD-2ACE-BF1E-DE1F58591F5C}"/>
              </a:ext>
            </a:extLst>
          </p:cNvPr>
          <p:cNvSpPr txBox="1"/>
          <p:nvPr/>
        </p:nvSpPr>
        <p:spPr>
          <a:xfrm>
            <a:off x="176977" y="1919364"/>
            <a:ext cx="12015023" cy="523220"/>
          </a:xfrm>
          <a:prstGeom prst="rect">
            <a:avLst/>
          </a:prstGeom>
          <a:noFill/>
        </p:spPr>
        <p:txBody>
          <a:bodyPr wrap="square">
            <a:spAutoFit/>
          </a:bodyPr>
          <a:lstStyle/>
          <a:p>
            <a:r>
              <a:rPr lang="en-US" sz="2800" b="1" i="0" dirty="0">
                <a:solidFill>
                  <a:srgbClr val="000000"/>
                </a:solidFill>
                <a:effectLst/>
                <a:latin typeface="Segoe UI" panose="020B0502040204020203" pitchFamily="34" charset="0"/>
              </a:rPr>
              <a:t>To print the last character of a string, you can use the following code:</a:t>
            </a:r>
            <a:endParaRPr lang="en-IN" sz="2800" b="1" dirty="0"/>
          </a:p>
        </p:txBody>
      </p:sp>
      <p:sp>
        <p:nvSpPr>
          <p:cNvPr id="9" name="TextBox 8">
            <a:extLst>
              <a:ext uri="{FF2B5EF4-FFF2-40B4-BE49-F238E27FC236}">
                <a16:creationId xmlns:a16="http://schemas.microsoft.com/office/drawing/2014/main" id="{9A298DEC-1963-3800-8891-7FCF756BE802}"/>
              </a:ext>
            </a:extLst>
          </p:cNvPr>
          <p:cNvSpPr txBox="1"/>
          <p:nvPr/>
        </p:nvSpPr>
        <p:spPr>
          <a:xfrm>
            <a:off x="176977" y="2614008"/>
            <a:ext cx="11021965" cy="1077218"/>
          </a:xfrm>
          <a:prstGeom prst="rect">
            <a:avLst/>
          </a:prstGeom>
          <a:noFill/>
        </p:spPr>
        <p:txBody>
          <a:bodyPr wrap="square">
            <a:spAutoFit/>
          </a:bodyPr>
          <a:lstStyle/>
          <a:p>
            <a:r>
              <a:rPr lang="en-IN" sz="3200" b="0" i="0" dirty="0">
                <a:solidFill>
                  <a:srgbClr val="000000"/>
                </a:solidFill>
                <a:effectLst/>
                <a:latin typeface="Consolas" panose="020B0609020204030204" pitchFamily="49" charset="0"/>
              </a:rPr>
              <a:t>string </a:t>
            </a:r>
            <a:r>
              <a:rPr lang="en-IN" sz="3200" b="0" i="0" dirty="0" err="1">
                <a:solidFill>
                  <a:srgbClr val="000000"/>
                </a:solidFill>
                <a:effectLst/>
                <a:latin typeface="Consolas" panose="020B0609020204030204" pitchFamily="49" charset="0"/>
              </a:rPr>
              <a:t>myString</a:t>
            </a:r>
            <a:r>
              <a:rPr lang="en-IN" sz="3200" b="0" i="0" dirty="0">
                <a:solidFill>
                  <a:srgbClr val="000000"/>
                </a:solidFill>
                <a:effectLst/>
                <a:latin typeface="Consolas" panose="020B0609020204030204" pitchFamily="49" charset="0"/>
              </a:rPr>
              <a:t> = </a:t>
            </a:r>
            <a:r>
              <a:rPr lang="en-IN" sz="3200" b="0" i="0" dirty="0">
                <a:solidFill>
                  <a:srgbClr val="008000"/>
                </a:solidFill>
                <a:effectLst/>
                <a:latin typeface="Consolas" panose="020B0609020204030204" pitchFamily="49" charset="0"/>
              </a:rPr>
              <a:t>"Hello"</a:t>
            </a:r>
            <a:r>
              <a:rPr lang="en-IN" sz="3200" b="0" i="0" dirty="0">
                <a:solidFill>
                  <a:srgbClr val="000000"/>
                </a:solidFill>
                <a:effectLst/>
                <a:latin typeface="Consolas" panose="020B0609020204030204" pitchFamily="49" charset="0"/>
              </a:rPr>
              <a:t>;</a:t>
            </a:r>
            <a:br>
              <a:rPr lang="en-IN" sz="3200" dirty="0"/>
            </a:br>
            <a:r>
              <a:rPr lang="en-IN" sz="3200" b="0" i="0" dirty="0" err="1">
                <a:solidFill>
                  <a:srgbClr val="000000"/>
                </a:solidFill>
                <a:effectLst/>
                <a:latin typeface="Consolas" panose="020B0609020204030204" pitchFamily="49" charset="0"/>
              </a:rPr>
              <a:t>cout</a:t>
            </a:r>
            <a:r>
              <a:rPr lang="en-IN" sz="3200" b="0" i="0" dirty="0">
                <a:solidFill>
                  <a:srgbClr val="000000"/>
                </a:solidFill>
                <a:effectLst/>
                <a:latin typeface="Consolas" panose="020B0609020204030204" pitchFamily="49" charset="0"/>
              </a:rPr>
              <a:t> &lt;&lt; </a:t>
            </a:r>
            <a:r>
              <a:rPr lang="en-IN" sz="3200" b="0" i="0" dirty="0" err="1">
                <a:solidFill>
                  <a:srgbClr val="000000"/>
                </a:solidFill>
                <a:effectLst/>
                <a:latin typeface="Consolas" panose="020B0609020204030204" pitchFamily="49" charset="0"/>
              </a:rPr>
              <a:t>myString</a:t>
            </a:r>
            <a:r>
              <a:rPr lang="en-IN" sz="3200" b="0" i="0" dirty="0">
                <a:solidFill>
                  <a:srgbClr val="000000"/>
                </a:solidFill>
                <a:effectLst/>
                <a:latin typeface="Consolas" panose="020B0609020204030204" pitchFamily="49" charset="0"/>
              </a:rPr>
              <a:t>[</a:t>
            </a:r>
            <a:r>
              <a:rPr lang="en-IN" sz="3200" b="0" i="0" dirty="0" err="1">
                <a:solidFill>
                  <a:srgbClr val="000000"/>
                </a:solidFill>
                <a:effectLst/>
                <a:latin typeface="Consolas" panose="020B0609020204030204" pitchFamily="49" charset="0"/>
              </a:rPr>
              <a:t>myString.length</a:t>
            </a:r>
            <a:r>
              <a:rPr lang="en-IN" sz="3200" b="0" i="0" dirty="0">
                <a:solidFill>
                  <a:srgbClr val="000000"/>
                </a:solidFill>
                <a:effectLst/>
                <a:latin typeface="Consolas" panose="020B0609020204030204" pitchFamily="49" charset="0"/>
              </a:rPr>
              <a:t>() - </a:t>
            </a:r>
            <a:r>
              <a:rPr lang="en-IN" sz="3200" b="0" i="0" dirty="0">
                <a:solidFill>
                  <a:srgbClr val="990055"/>
                </a:solidFill>
                <a:effectLst/>
                <a:latin typeface="Consolas" panose="020B0609020204030204" pitchFamily="49" charset="0"/>
              </a:rPr>
              <a:t>1</a:t>
            </a:r>
            <a:r>
              <a:rPr lang="en-IN" sz="3200" b="0" i="0" dirty="0">
                <a:solidFill>
                  <a:srgbClr val="000000"/>
                </a:solidFill>
                <a:effectLst/>
                <a:latin typeface="Consolas" panose="020B0609020204030204" pitchFamily="49" charset="0"/>
              </a:rPr>
              <a:t>];</a:t>
            </a:r>
            <a:endParaRPr lang="en-IN" sz="3200" dirty="0"/>
          </a:p>
        </p:txBody>
      </p:sp>
      <p:sp>
        <p:nvSpPr>
          <p:cNvPr id="11" name="TextBox 10">
            <a:extLst>
              <a:ext uri="{FF2B5EF4-FFF2-40B4-BE49-F238E27FC236}">
                <a16:creationId xmlns:a16="http://schemas.microsoft.com/office/drawing/2014/main" id="{F0920B32-4715-3D9E-9531-454C74682FCD}"/>
              </a:ext>
            </a:extLst>
          </p:cNvPr>
          <p:cNvSpPr txBox="1"/>
          <p:nvPr/>
        </p:nvSpPr>
        <p:spPr>
          <a:xfrm>
            <a:off x="176976" y="3732805"/>
            <a:ext cx="5279927" cy="584775"/>
          </a:xfrm>
          <a:prstGeom prst="rect">
            <a:avLst/>
          </a:prstGeom>
          <a:noFill/>
        </p:spPr>
        <p:txBody>
          <a:bodyPr wrap="square">
            <a:spAutoFit/>
          </a:bodyPr>
          <a:lstStyle/>
          <a:p>
            <a:pPr algn="l">
              <a:spcBef>
                <a:spcPts val="750"/>
              </a:spcBef>
              <a:spcAft>
                <a:spcPts val="750"/>
              </a:spcAft>
              <a:buNone/>
            </a:pPr>
            <a:r>
              <a:rPr lang="en-IN" sz="3200" b="1" i="0" dirty="0">
                <a:solidFill>
                  <a:srgbClr val="000000"/>
                </a:solidFill>
                <a:effectLst/>
                <a:latin typeface="Segoe UI" panose="020B0502040204020203" pitchFamily="34" charset="0"/>
              </a:rPr>
              <a:t>Change String Characters</a:t>
            </a:r>
          </a:p>
        </p:txBody>
      </p:sp>
      <p:sp>
        <p:nvSpPr>
          <p:cNvPr id="13" name="TextBox 12">
            <a:extLst>
              <a:ext uri="{FF2B5EF4-FFF2-40B4-BE49-F238E27FC236}">
                <a16:creationId xmlns:a16="http://schemas.microsoft.com/office/drawing/2014/main" id="{CA9163EF-69EF-81D5-E704-02813B274C11}"/>
              </a:ext>
            </a:extLst>
          </p:cNvPr>
          <p:cNvSpPr txBox="1"/>
          <p:nvPr/>
        </p:nvSpPr>
        <p:spPr>
          <a:xfrm>
            <a:off x="331838" y="4420715"/>
            <a:ext cx="8458200" cy="1815882"/>
          </a:xfrm>
          <a:prstGeom prst="rect">
            <a:avLst/>
          </a:prstGeom>
          <a:noFill/>
        </p:spPr>
        <p:txBody>
          <a:bodyPr wrap="square">
            <a:spAutoFit/>
          </a:bodyPr>
          <a:lstStyle/>
          <a:p>
            <a:r>
              <a:rPr lang="en-US" sz="2800" b="0" i="0" dirty="0">
                <a:solidFill>
                  <a:srgbClr val="000000"/>
                </a:solidFill>
                <a:effectLst/>
                <a:latin typeface="Consolas" panose="020B0609020204030204" pitchFamily="49" charset="0"/>
              </a:rPr>
              <a:t>string </a:t>
            </a:r>
            <a:r>
              <a:rPr lang="en-US" sz="2800" b="0" i="0" dirty="0" err="1">
                <a:solidFill>
                  <a:srgbClr val="000000"/>
                </a:solidFill>
                <a:effectLst/>
                <a:latin typeface="Consolas" panose="020B0609020204030204" pitchFamily="49" charset="0"/>
              </a:rPr>
              <a:t>myString</a:t>
            </a:r>
            <a:r>
              <a:rPr lang="en-US" sz="2800" b="0" i="0" dirty="0">
                <a:solidFill>
                  <a:srgbClr val="000000"/>
                </a:solidFill>
                <a:effectLst/>
                <a:latin typeface="Consolas" panose="020B0609020204030204" pitchFamily="49" charset="0"/>
              </a:rPr>
              <a:t> = </a:t>
            </a:r>
            <a:r>
              <a:rPr lang="en-US" sz="2800" b="0" i="0" dirty="0">
                <a:solidFill>
                  <a:srgbClr val="008000"/>
                </a:solidFill>
                <a:effectLst/>
                <a:latin typeface="Consolas" panose="020B0609020204030204" pitchFamily="49" charset="0"/>
              </a:rPr>
              <a:t>"Hello"</a:t>
            </a:r>
            <a:r>
              <a:rPr lang="en-US" sz="2800" b="0" i="0" dirty="0">
                <a:solidFill>
                  <a:srgbClr val="000000"/>
                </a:solidFill>
                <a:effectLst/>
                <a:latin typeface="Consolas" panose="020B0609020204030204" pitchFamily="49" charset="0"/>
              </a:rPr>
              <a:t>;</a:t>
            </a:r>
            <a:br>
              <a:rPr lang="en-US" sz="2800" dirty="0"/>
            </a:br>
            <a:r>
              <a:rPr lang="en-US" sz="2800" b="0" i="0" dirty="0" err="1">
                <a:solidFill>
                  <a:srgbClr val="000000"/>
                </a:solidFill>
                <a:effectLst/>
                <a:latin typeface="Consolas" panose="020B0609020204030204" pitchFamily="49" charset="0"/>
              </a:rPr>
              <a:t>myString</a:t>
            </a:r>
            <a:r>
              <a:rPr lang="en-US" sz="2800" b="0" i="0" dirty="0">
                <a:solidFill>
                  <a:srgbClr val="000000"/>
                </a:solidFill>
                <a:effectLst/>
                <a:latin typeface="Consolas" panose="020B0609020204030204" pitchFamily="49" charset="0"/>
              </a:rPr>
              <a:t>[</a:t>
            </a:r>
            <a:r>
              <a:rPr lang="en-US" sz="2800" b="0" i="0" dirty="0">
                <a:solidFill>
                  <a:srgbClr val="990055"/>
                </a:solidFill>
                <a:effectLst/>
                <a:latin typeface="Consolas" panose="020B0609020204030204" pitchFamily="49" charset="0"/>
              </a:rPr>
              <a:t>0</a:t>
            </a:r>
            <a:r>
              <a:rPr lang="en-US" sz="2800" b="0" i="0" dirty="0">
                <a:solidFill>
                  <a:srgbClr val="000000"/>
                </a:solidFill>
                <a:effectLst/>
                <a:latin typeface="Consolas" panose="020B0609020204030204" pitchFamily="49" charset="0"/>
              </a:rPr>
              <a:t>] = </a:t>
            </a:r>
            <a:r>
              <a:rPr lang="en-US" sz="2800" b="0" i="0" dirty="0">
                <a:solidFill>
                  <a:srgbClr val="008000"/>
                </a:solidFill>
                <a:effectLst/>
                <a:latin typeface="Consolas" panose="020B0609020204030204" pitchFamily="49" charset="0"/>
              </a:rPr>
              <a:t>'J'</a:t>
            </a:r>
            <a:r>
              <a:rPr lang="en-US" sz="2800" b="0" i="0" dirty="0">
                <a:solidFill>
                  <a:srgbClr val="000000"/>
                </a:solidFill>
                <a:effectLst/>
                <a:latin typeface="Consolas" panose="020B0609020204030204" pitchFamily="49" charset="0"/>
              </a:rPr>
              <a:t>;</a:t>
            </a:r>
            <a:br>
              <a:rPr lang="en-US" sz="2800" dirty="0"/>
            </a:br>
            <a:r>
              <a:rPr lang="en-US" sz="2800" b="0" i="0" dirty="0" err="1">
                <a:solidFill>
                  <a:srgbClr val="000000"/>
                </a:solidFill>
                <a:effectLst/>
                <a:latin typeface="Consolas" panose="020B0609020204030204" pitchFamily="49" charset="0"/>
              </a:rPr>
              <a:t>cout</a:t>
            </a:r>
            <a:r>
              <a:rPr lang="en-US" sz="2800" b="0" i="0" dirty="0">
                <a:solidFill>
                  <a:srgbClr val="000000"/>
                </a:solidFill>
                <a:effectLst/>
                <a:latin typeface="Consolas" panose="020B0609020204030204" pitchFamily="49" charset="0"/>
              </a:rPr>
              <a:t> &lt;&lt; </a:t>
            </a:r>
            <a:r>
              <a:rPr lang="en-US" sz="2800" b="0" i="0" dirty="0" err="1">
                <a:solidFill>
                  <a:srgbClr val="000000"/>
                </a:solidFill>
                <a:effectLst/>
                <a:latin typeface="Consolas" panose="020B0609020204030204" pitchFamily="49" charset="0"/>
              </a:rPr>
              <a:t>myString</a:t>
            </a:r>
            <a:r>
              <a:rPr lang="en-US" sz="2800" b="0" i="0" dirty="0">
                <a:solidFill>
                  <a:srgbClr val="000000"/>
                </a:solidFill>
                <a:effectLst/>
                <a:latin typeface="Consolas" panose="020B0609020204030204" pitchFamily="49" charset="0"/>
              </a:rPr>
              <a:t>;</a:t>
            </a:r>
            <a:br>
              <a:rPr lang="en-US" sz="2800" dirty="0"/>
            </a:br>
            <a:r>
              <a:rPr lang="en-US" sz="2800" b="0" i="0" dirty="0">
                <a:solidFill>
                  <a:srgbClr val="708090"/>
                </a:solidFill>
                <a:effectLst/>
                <a:latin typeface="Consolas" panose="020B0609020204030204" pitchFamily="49" charset="0"/>
              </a:rPr>
              <a:t>// Outputs Jello instead of Hello</a:t>
            </a:r>
            <a:endParaRPr lang="en-IN" sz="2800" dirty="0"/>
          </a:p>
        </p:txBody>
      </p:sp>
    </p:spTree>
    <p:extLst>
      <p:ext uri="{BB962C8B-B14F-4D97-AF65-F5344CB8AC3E}">
        <p14:creationId xmlns:p14="http://schemas.microsoft.com/office/powerpoint/2010/main" val="3343064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1C4464-9675-2FCE-CB1E-4B2D701F529A}"/>
              </a:ext>
            </a:extLst>
          </p:cNvPr>
          <p:cNvSpPr txBox="1"/>
          <p:nvPr/>
        </p:nvSpPr>
        <p:spPr>
          <a:xfrm>
            <a:off x="0" y="0"/>
            <a:ext cx="12192000" cy="1056700"/>
          </a:xfrm>
          <a:prstGeom prst="rect">
            <a:avLst/>
          </a:prstGeom>
          <a:noFill/>
        </p:spPr>
        <p:txBody>
          <a:bodyPr wrap="square">
            <a:spAutoFit/>
          </a:bodyPr>
          <a:lstStyle/>
          <a:p>
            <a:pPr algn="l">
              <a:spcBef>
                <a:spcPts val="750"/>
              </a:spcBef>
              <a:spcAft>
                <a:spcPts val="750"/>
              </a:spcAft>
              <a:buNone/>
            </a:pPr>
            <a:r>
              <a:rPr lang="en-US" sz="3600" b="0" i="0" dirty="0">
                <a:solidFill>
                  <a:srgbClr val="000000"/>
                </a:solidFill>
                <a:effectLst/>
                <a:latin typeface="Segoe UI" panose="020B0502040204020203" pitchFamily="34" charset="0"/>
              </a:rPr>
              <a:t>The </a:t>
            </a:r>
            <a:r>
              <a:rPr lang="en-US" sz="3600" b="1" i="0" dirty="0">
                <a:solidFill>
                  <a:srgbClr val="000000"/>
                </a:solidFill>
                <a:effectLst/>
                <a:latin typeface="Segoe UI" panose="020B0502040204020203" pitchFamily="34" charset="0"/>
              </a:rPr>
              <a:t>at()</a:t>
            </a:r>
            <a:r>
              <a:rPr lang="en-US" sz="3600" b="0" i="0" dirty="0">
                <a:solidFill>
                  <a:srgbClr val="000000"/>
                </a:solidFill>
                <a:effectLst/>
                <a:latin typeface="Segoe UI" panose="020B0502040204020203" pitchFamily="34" charset="0"/>
              </a:rPr>
              <a:t> function</a:t>
            </a:r>
          </a:p>
          <a:p>
            <a:pPr algn="l">
              <a:buNone/>
            </a:pPr>
            <a:r>
              <a:rPr lang="en-US" sz="2000" b="0" i="0" dirty="0">
                <a:solidFill>
                  <a:srgbClr val="000000"/>
                </a:solidFill>
                <a:effectLst/>
                <a:latin typeface="Segoe UI" panose="020B0502040204020203" pitchFamily="34" charset="0"/>
              </a:rPr>
              <a:t>The </a:t>
            </a:r>
            <a:r>
              <a:rPr lang="en-US" sz="2000" b="0" i="0" dirty="0">
                <a:solidFill>
                  <a:srgbClr val="DC143C"/>
                </a:solidFill>
                <a:effectLst/>
                <a:latin typeface="Consolas" panose="020B0609020204030204" pitchFamily="49" charset="0"/>
              </a:rPr>
              <a:t>&lt;string&gt;</a:t>
            </a:r>
            <a:r>
              <a:rPr lang="en-US" sz="2000" b="0" i="0" dirty="0">
                <a:solidFill>
                  <a:srgbClr val="000000"/>
                </a:solidFill>
                <a:effectLst/>
                <a:latin typeface="Segoe UI" panose="020B0502040204020203" pitchFamily="34" charset="0"/>
              </a:rPr>
              <a:t> library also has an </a:t>
            </a:r>
            <a:r>
              <a:rPr lang="en-US" sz="2000" b="0" i="0" dirty="0">
                <a:solidFill>
                  <a:srgbClr val="DC143C"/>
                </a:solidFill>
                <a:effectLst/>
                <a:latin typeface="Consolas" panose="020B0609020204030204" pitchFamily="49" charset="0"/>
              </a:rPr>
              <a:t>at()</a:t>
            </a:r>
            <a:r>
              <a:rPr lang="en-US" sz="2000" b="0" i="0" dirty="0">
                <a:solidFill>
                  <a:srgbClr val="000000"/>
                </a:solidFill>
                <a:effectLst/>
                <a:latin typeface="Segoe UI" panose="020B0502040204020203" pitchFamily="34" charset="0"/>
              </a:rPr>
              <a:t> function that can be used to access characters in a string:</a:t>
            </a:r>
          </a:p>
        </p:txBody>
      </p:sp>
      <p:sp>
        <p:nvSpPr>
          <p:cNvPr id="5" name="TextBox 4">
            <a:extLst>
              <a:ext uri="{FF2B5EF4-FFF2-40B4-BE49-F238E27FC236}">
                <a16:creationId xmlns:a16="http://schemas.microsoft.com/office/drawing/2014/main" id="{D8831B1F-10F0-CD43-705F-D46E7B91037F}"/>
              </a:ext>
            </a:extLst>
          </p:cNvPr>
          <p:cNvSpPr txBox="1"/>
          <p:nvPr/>
        </p:nvSpPr>
        <p:spPr>
          <a:xfrm>
            <a:off x="0" y="1479187"/>
            <a:ext cx="11887200" cy="5016758"/>
          </a:xfrm>
          <a:prstGeom prst="rect">
            <a:avLst/>
          </a:prstGeom>
          <a:noFill/>
        </p:spPr>
        <p:txBody>
          <a:bodyPr wrap="square">
            <a:spAutoFit/>
          </a:bodyPr>
          <a:lstStyle/>
          <a:p>
            <a:r>
              <a:rPr lang="en-IN" sz="3200" b="0" i="0" dirty="0">
                <a:solidFill>
                  <a:srgbClr val="000000"/>
                </a:solidFill>
                <a:effectLst/>
                <a:latin typeface="Consolas" panose="020B0609020204030204" pitchFamily="49" charset="0"/>
              </a:rPr>
              <a:t>string </a:t>
            </a:r>
            <a:r>
              <a:rPr lang="en-IN" sz="3200" b="0" i="0" dirty="0" err="1">
                <a:solidFill>
                  <a:srgbClr val="000000"/>
                </a:solidFill>
                <a:effectLst/>
                <a:latin typeface="Consolas" panose="020B0609020204030204" pitchFamily="49" charset="0"/>
              </a:rPr>
              <a:t>myString</a:t>
            </a:r>
            <a:r>
              <a:rPr lang="en-IN" sz="3200" b="0" i="0" dirty="0">
                <a:solidFill>
                  <a:srgbClr val="000000"/>
                </a:solidFill>
                <a:effectLst/>
                <a:latin typeface="Consolas" panose="020B0609020204030204" pitchFamily="49" charset="0"/>
              </a:rPr>
              <a:t> = </a:t>
            </a:r>
            <a:r>
              <a:rPr lang="en-IN" sz="3200" b="0" i="0" dirty="0">
                <a:solidFill>
                  <a:srgbClr val="008000"/>
                </a:solidFill>
                <a:effectLst/>
                <a:latin typeface="Consolas" panose="020B0609020204030204" pitchFamily="49" charset="0"/>
              </a:rPr>
              <a:t>"Hello"</a:t>
            </a:r>
            <a:r>
              <a:rPr lang="en-IN" sz="3200" b="0" i="0" dirty="0">
                <a:solidFill>
                  <a:srgbClr val="000000"/>
                </a:solidFill>
                <a:effectLst/>
                <a:latin typeface="Consolas" panose="020B0609020204030204" pitchFamily="49" charset="0"/>
              </a:rPr>
              <a:t>;</a:t>
            </a:r>
            <a:br>
              <a:rPr lang="en-IN" sz="3200" dirty="0"/>
            </a:br>
            <a:r>
              <a:rPr lang="en-IN" sz="3200" b="0" i="0" dirty="0" err="1">
                <a:solidFill>
                  <a:srgbClr val="000000"/>
                </a:solidFill>
                <a:effectLst/>
                <a:latin typeface="Consolas" panose="020B0609020204030204" pitchFamily="49" charset="0"/>
              </a:rPr>
              <a:t>cout</a:t>
            </a:r>
            <a:r>
              <a:rPr lang="en-IN" sz="3200" b="0" i="0" dirty="0">
                <a:solidFill>
                  <a:srgbClr val="000000"/>
                </a:solidFill>
                <a:effectLst/>
                <a:latin typeface="Consolas" panose="020B0609020204030204" pitchFamily="49" charset="0"/>
              </a:rPr>
              <a:t> &lt;&lt; </a:t>
            </a:r>
            <a:r>
              <a:rPr lang="en-IN" sz="3200" b="0" i="0" dirty="0" err="1">
                <a:solidFill>
                  <a:srgbClr val="000000"/>
                </a:solidFill>
                <a:effectLst/>
                <a:latin typeface="Consolas" panose="020B0609020204030204" pitchFamily="49" charset="0"/>
              </a:rPr>
              <a:t>myString</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Outputs Hello</a:t>
            </a:r>
            <a:br>
              <a:rPr lang="en-IN" sz="3200" b="0" i="0" dirty="0">
                <a:solidFill>
                  <a:srgbClr val="708090"/>
                </a:solidFill>
                <a:effectLst/>
                <a:latin typeface="Consolas" panose="020B0609020204030204" pitchFamily="49" charset="0"/>
              </a:rPr>
            </a:br>
            <a:br>
              <a:rPr lang="en-IN" sz="3200" dirty="0"/>
            </a:br>
            <a:r>
              <a:rPr lang="en-IN" sz="3200" b="0" i="0" dirty="0" err="1">
                <a:solidFill>
                  <a:srgbClr val="000000"/>
                </a:solidFill>
                <a:effectLst/>
                <a:latin typeface="Consolas" panose="020B0609020204030204" pitchFamily="49" charset="0"/>
              </a:rPr>
              <a:t>cout</a:t>
            </a:r>
            <a:r>
              <a:rPr lang="en-IN" sz="3200" b="0" i="0" dirty="0">
                <a:solidFill>
                  <a:srgbClr val="000000"/>
                </a:solidFill>
                <a:effectLst/>
                <a:latin typeface="Consolas" panose="020B0609020204030204" pitchFamily="49" charset="0"/>
              </a:rPr>
              <a:t> &lt;&lt; myString.at(</a:t>
            </a:r>
            <a:r>
              <a:rPr lang="en-IN" sz="3200" b="0" i="0" dirty="0">
                <a:solidFill>
                  <a:srgbClr val="990055"/>
                </a:solidFill>
                <a:effectLst/>
                <a:latin typeface="Consolas" panose="020B0609020204030204" pitchFamily="49" charset="0"/>
              </a:rPr>
              <a:t>0</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First character</a:t>
            </a:r>
            <a:br>
              <a:rPr lang="en-IN" sz="3200" b="0" i="0" dirty="0">
                <a:solidFill>
                  <a:srgbClr val="708090"/>
                </a:solidFill>
                <a:effectLst/>
                <a:latin typeface="Consolas" panose="020B0609020204030204" pitchFamily="49" charset="0"/>
              </a:rPr>
            </a:br>
            <a:r>
              <a:rPr lang="en-IN" sz="3200" b="0" i="0" dirty="0" err="1">
                <a:solidFill>
                  <a:srgbClr val="000000"/>
                </a:solidFill>
                <a:effectLst/>
                <a:latin typeface="Consolas" panose="020B0609020204030204" pitchFamily="49" charset="0"/>
              </a:rPr>
              <a:t>cout</a:t>
            </a:r>
            <a:r>
              <a:rPr lang="en-IN" sz="3200" b="0" i="0" dirty="0">
                <a:solidFill>
                  <a:srgbClr val="000000"/>
                </a:solidFill>
                <a:effectLst/>
                <a:latin typeface="Consolas" panose="020B0609020204030204" pitchFamily="49" charset="0"/>
              </a:rPr>
              <a:t> &lt;&lt; myString.at(</a:t>
            </a:r>
            <a:r>
              <a:rPr lang="en-IN" sz="3200" b="0" i="0" dirty="0">
                <a:solidFill>
                  <a:srgbClr val="990055"/>
                </a:solidFill>
                <a:effectLst/>
                <a:latin typeface="Consolas" panose="020B0609020204030204" pitchFamily="49" charset="0"/>
              </a:rPr>
              <a:t>1</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Second character</a:t>
            </a:r>
            <a:br>
              <a:rPr lang="en-IN" sz="3200" b="0" i="0" dirty="0">
                <a:solidFill>
                  <a:srgbClr val="708090"/>
                </a:solidFill>
                <a:effectLst/>
                <a:latin typeface="Consolas" panose="020B0609020204030204" pitchFamily="49" charset="0"/>
              </a:rPr>
            </a:br>
            <a:r>
              <a:rPr lang="en-IN" sz="3200" b="0" i="0" dirty="0" err="1">
                <a:solidFill>
                  <a:srgbClr val="000000"/>
                </a:solidFill>
                <a:effectLst/>
                <a:latin typeface="Consolas" panose="020B0609020204030204" pitchFamily="49" charset="0"/>
              </a:rPr>
              <a:t>cout</a:t>
            </a:r>
            <a:r>
              <a:rPr lang="en-IN" sz="3200" b="0" i="0" dirty="0">
                <a:solidFill>
                  <a:srgbClr val="000000"/>
                </a:solidFill>
                <a:effectLst/>
                <a:latin typeface="Consolas" panose="020B0609020204030204" pitchFamily="49" charset="0"/>
              </a:rPr>
              <a:t> &lt;&lt; myString.at(</a:t>
            </a:r>
            <a:r>
              <a:rPr lang="en-IN" sz="3200" b="0" i="0" dirty="0" err="1">
                <a:solidFill>
                  <a:srgbClr val="000000"/>
                </a:solidFill>
                <a:effectLst/>
                <a:latin typeface="Consolas" panose="020B0609020204030204" pitchFamily="49" charset="0"/>
              </a:rPr>
              <a:t>myString.length</a:t>
            </a:r>
            <a:r>
              <a:rPr lang="en-IN" sz="3200" b="0" i="0" dirty="0">
                <a:solidFill>
                  <a:srgbClr val="000000"/>
                </a:solidFill>
                <a:effectLst/>
                <a:latin typeface="Consolas" panose="020B0609020204030204" pitchFamily="49" charset="0"/>
              </a:rPr>
              <a:t>() - </a:t>
            </a:r>
            <a:r>
              <a:rPr lang="en-IN" sz="3200" b="0" i="0" dirty="0">
                <a:solidFill>
                  <a:srgbClr val="990055"/>
                </a:solidFill>
                <a:effectLst/>
                <a:latin typeface="Consolas" panose="020B0609020204030204" pitchFamily="49" charset="0"/>
              </a:rPr>
              <a:t>1</a:t>
            </a:r>
            <a:r>
              <a:rPr lang="en-IN" sz="3200" b="0" i="0" dirty="0">
                <a:solidFill>
                  <a:srgbClr val="000000"/>
                </a:solidFill>
                <a:effectLst/>
                <a:latin typeface="Consolas" panose="020B0609020204030204" pitchFamily="49" charset="0"/>
              </a:rPr>
              <a:t>);  </a:t>
            </a:r>
            <a:r>
              <a:rPr lang="en-IN" sz="3200" b="0" i="0" dirty="0">
                <a:solidFill>
                  <a:srgbClr val="708090"/>
                </a:solidFill>
                <a:effectLst/>
                <a:latin typeface="Consolas" panose="020B0609020204030204" pitchFamily="49" charset="0"/>
              </a:rPr>
              <a:t>// Last character</a:t>
            </a:r>
            <a:br>
              <a:rPr lang="en-IN" sz="3200" b="0" i="0" dirty="0">
                <a:solidFill>
                  <a:srgbClr val="708090"/>
                </a:solidFill>
                <a:effectLst/>
                <a:latin typeface="Consolas" panose="020B0609020204030204" pitchFamily="49" charset="0"/>
              </a:rPr>
            </a:br>
            <a:br>
              <a:rPr lang="en-IN" sz="3200" dirty="0"/>
            </a:br>
            <a:r>
              <a:rPr lang="en-IN" sz="3200" b="0" i="0" dirty="0">
                <a:solidFill>
                  <a:srgbClr val="000000"/>
                </a:solidFill>
                <a:effectLst/>
                <a:latin typeface="Consolas" panose="020B0609020204030204" pitchFamily="49" charset="0"/>
              </a:rPr>
              <a:t>myString.at(</a:t>
            </a:r>
            <a:r>
              <a:rPr lang="en-IN" sz="3200" b="0" i="0" dirty="0">
                <a:solidFill>
                  <a:srgbClr val="990055"/>
                </a:solidFill>
                <a:effectLst/>
                <a:latin typeface="Consolas" panose="020B0609020204030204" pitchFamily="49" charset="0"/>
              </a:rPr>
              <a:t>0</a:t>
            </a:r>
            <a:r>
              <a:rPr lang="en-IN" sz="3200" b="0" i="0" dirty="0">
                <a:solidFill>
                  <a:srgbClr val="000000"/>
                </a:solidFill>
                <a:effectLst/>
                <a:latin typeface="Consolas" panose="020B0609020204030204" pitchFamily="49" charset="0"/>
              </a:rPr>
              <a:t>) = </a:t>
            </a:r>
            <a:r>
              <a:rPr lang="en-IN" sz="3200" b="0" i="0" dirty="0">
                <a:solidFill>
                  <a:srgbClr val="008000"/>
                </a:solidFill>
                <a:effectLst/>
                <a:latin typeface="Consolas" panose="020B0609020204030204" pitchFamily="49" charset="0"/>
              </a:rPr>
              <a:t>'J'</a:t>
            </a:r>
            <a:r>
              <a:rPr lang="en-IN" sz="3200" b="0" i="0" dirty="0">
                <a:solidFill>
                  <a:srgbClr val="000000"/>
                </a:solidFill>
                <a:effectLst/>
                <a:latin typeface="Consolas" panose="020B0609020204030204" pitchFamily="49" charset="0"/>
              </a:rPr>
              <a:t>;</a:t>
            </a:r>
            <a:br>
              <a:rPr lang="en-IN" sz="3200" dirty="0"/>
            </a:br>
            <a:r>
              <a:rPr lang="en-IN" sz="3200" b="0" i="0" dirty="0" err="1">
                <a:solidFill>
                  <a:srgbClr val="000000"/>
                </a:solidFill>
                <a:effectLst/>
                <a:latin typeface="Consolas" panose="020B0609020204030204" pitchFamily="49" charset="0"/>
              </a:rPr>
              <a:t>cout</a:t>
            </a:r>
            <a:r>
              <a:rPr lang="en-IN" sz="3200" b="0" i="0" dirty="0">
                <a:solidFill>
                  <a:srgbClr val="000000"/>
                </a:solidFill>
                <a:effectLst/>
                <a:latin typeface="Consolas" panose="020B0609020204030204" pitchFamily="49" charset="0"/>
              </a:rPr>
              <a:t> &lt;&lt; </a:t>
            </a:r>
            <a:r>
              <a:rPr lang="en-IN" sz="3200" b="0" i="0" dirty="0" err="1">
                <a:solidFill>
                  <a:srgbClr val="000000"/>
                </a:solidFill>
                <a:effectLst/>
                <a:latin typeface="Consolas" panose="020B0609020204030204" pitchFamily="49" charset="0"/>
              </a:rPr>
              <a:t>myString</a:t>
            </a:r>
            <a:r>
              <a:rPr lang="en-IN" sz="3200" b="0" i="0" dirty="0">
                <a:solidFill>
                  <a:srgbClr val="000000"/>
                </a:solidFill>
                <a:effectLst/>
                <a:latin typeface="Consolas" panose="020B0609020204030204" pitchFamily="49" charset="0"/>
              </a:rPr>
              <a:t>;</a:t>
            </a:r>
            <a:endParaRPr lang="en-IN" sz="3200" dirty="0"/>
          </a:p>
        </p:txBody>
      </p:sp>
    </p:spTree>
    <p:extLst>
      <p:ext uri="{BB962C8B-B14F-4D97-AF65-F5344CB8AC3E}">
        <p14:creationId xmlns:p14="http://schemas.microsoft.com/office/powerpoint/2010/main" val="1636943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498AE6-3C69-F636-62D2-BDED5C31A52F}"/>
              </a:ext>
            </a:extLst>
          </p:cNvPr>
          <p:cNvSpPr txBox="1"/>
          <p:nvPr/>
        </p:nvSpPr>
        <p:spPr>
          <a:xfrm>
            <a:off x="0" y="129966"/>
            <a:ext cx="11287432" cy="646331"/>
          </a:xfrm>
          <a:prstGeom prst="rect">
            <a:avLst/>
          </a:prstGeom>
          <a:noFill/>
        </p:spPr>
        <p:txBody>
          <a:bodyPr wrap="square">
            <a:spAutoFit/>
          </a:bodyPr>
          <a:lstStyle/>
          <a:p>
            <a:pPr algn="l">
              <a:spcBef>
                <a:spcPts val="750"/>
              </a:spcBef>
              <a:spcAft>
                <a:spcPts val="750"/>
              </a:spcAft>
              <a:buNone/>
            </a:pPr>
            <a:r>
              <a:rPr lang="en-IN" sz="3600" b="1" i="0" dirty="0">
                <a:solidFill>
                  <a:srgbClr val="000000"/>
                </a:solidFill>
                <a:effectLst/>
                <a:latin typeface="Segoe UI" panose="020B0502040204020203" pitchFamily="34" charset="0"/>
              </a:rPr>
              <a:t>Omitting Namespace</a:t>
            </a:r>
          </a:p>
        </p:txBody>
      </p:sp>
      <p:sp>
        <p:nvSpPr>
          <p:cNvPr id="5" name="TextBox 4">
            <a:extLst>
              <a:ext uri="{FF2B5EF4-FFF2-40B4-BE49-F238E27FC236}">
                <a16:creationId xmlns:a16="http://schemas.microsoft.com/office/drawing/2014/main" id="{24D0141B-2D00-9658-2CA5-4B9A2E08ACA0}"/>
              </a:ext>
            </a:extLst>
          </p:cNvPr>
          <p:cNvSpPr txBox="1"/>
          <p:nvPr/>
        </p:nvSpPr>
        <p:spPr>
          <a:xfrm>
            <a:off x="154858" y="776297"/>
            <a:ext cx="11879826" cy="5078313"/>
          </a:xfrm>
          <a:prstGeom prst="rect">
            <a:avLst/>
          </a:prstGeom>
          <a:noFill/>
        </p:spPr>
        <p:txBody>
          <a:bodyPr wrap="square">
            <a:spAutoFit/>
          </a:bodyPr>
          <a:lstStyle/>
          <a:p>
            <a:r>
              <a:rPr lang="en-US" sz="3600" b="0" i="0" dirty="0">
                <a:solidFill>
                  <a:srgbClr val="000000"/>
                </a:solidFill>
                <a:effectLst/>
                <a:latin typeface="Consolas" panose="020B0609020204030204" pitchFamily="49" charset="0"/>
              </a:rPr>
              <a:t>#include &lt;iostream&gt;</a:t>
            </a:r>
            <a:br>
              <a:rPr lang="en-US" sz="3600" dirty="0"/>
            </a:br>
            <a:r>
              <a:rPr lang="en-US" sz="3600" b="0" i="0" dirty="0">
                <a:solidFill>
                  <a:srgbClr val="000000"/>
                </a:solidFill>
                <a:effectLst/>
                <a:latin typeface="Consolas" panose="020B0609020204030204" pitchFamily="49" charset="0"/>
              </a:rPr>
              <a:t>#include &lt;string&gt;</a:t>
            </a:r>
            <a:br>
              <a:rPr lang="en-US" sz="3600" dirty="0"/>
            </a:br>
            <a:r>
              <a:rPr lang="en-US" sz="3600" b="0" i="0" dirty="0">
                <a:solidFill>
                  <a:srgbClr val="708090"/>
                </a:solidFill>
                <a:effectLst/>
                <a:latin typeface="Consolas" panose="020B0609020204030204" pitchFamily="49" charset="0"/>
              </a:rPr>
              <a:t>// using namespace std; - Remove this line</a:t>
            </a:r>
            <a:br>
              <a:rPr lang="en-US" sz="3600" b="0" i="0" dirty="0">
                <a:solidFill>
                  <a:srgbClr val="708090"/>
                </a:solidFill>
                <a:effectLst/>
                <a:latin typeface="Consolas" panose="020B0609020204030204" pitchFamily="49" charset="0"/>
              </a:rPr>
            </a:br>
            <a:br>
              <a:rPr lang="en-US" sz="3600" dirty="0"/>
            </a:br>
            <a:r>
              <a:rPr lang="en-US" sz="3600" b="0" i="0" dirty="0">
                <a:solidFill>
                  <a:srgbClr val="005CC5"/>
                </a:solidFill>
                <a:effectLst/>
                <a:latin typeface="Consolas" panose="020B0609020204030204" pitchFamily="49" charset="0"/>
              </a:rPr>
              <a:t>int</a:t>
            </a:r>
            <a:r>
              <a:rPr lang="en-US" sz="3600" b="0" i="0" dirty="0">
                <a:solidFill>
                  <a:srgbClr val="000000"/>
                </a:solidFill>
                <a:effectLst/>
                <a:latin typeface="Consolas" panose="020B0609020204030204" pitchFamily="49" charset="0"/>
              </a:rPr>
              <a:t> main() {</a:t>
            </a:r>
            <a:br>
              <a:rPr lang="en-US" sz="3600" dirty="0"/>
            </a:br>
            <a:r>
              <a:rPr lang="en-US" sz="3600" b="0" i="0" dirty="0">
                <a:solidFill>
                  <a:srgbClr val="000000"/>
                </a:solidFill>
                <a:effectLst/>
                <a:latin typeface="Consolas" panose="020B0609020204030204" pitchFamily="49" charset="0"/>
              </a:rPr>
              <a:t> </a:t>
            </a:r>
            <a:r>
              <a:rPr lang="en-US" sz="3600" b="0" i="0" dirty="0">
                <a:solidFill>
                  <a:srgbClr val="990055"/>
                </a:solidFill>
                <a:effectLst/>
                <a:latin typeface="Consolas" panose="020B0609020204030204" pitchFamily="49" charset="0"/>
              </a:rPr>
              <a:t> </a:t>
            </a:r>
            <a:r>
              <a:rPr lang="en-US" sz="3600" b="1" i="0" dirty="0">
                <a:solidFill>
                  <a:srgbClr val="000000"/>
                </a:solidFill>
                <a:effectLst/>
                <a:latin typeface="Consolas" panose="020B0609020204030204" pitchFamily="49" charset="0"/>
              </a:rPr>
              <a:t>std::</a:t>
            </a:r>
            <a:r>
              <a:rPr lang="en-US" sz="3600" b="0" i="0" dirty="0">
                <a:solidFill>
                  <a:srgbClr val="000000"/>
                </a:solidFill>
                <a:effectLst/>
                <a:latin typeface="Consolas" panose="020B0609020204030204" pitchFamily="49" charset="0"/>
              </a:rPr>
              <a:t>string greeting = </a:t>
            </a:r>
            <a:r>
              <a:rPr lang="en-US" sz="3600" b="0" i="0" dirty="0">
                <a:solidFill>
                  <a:srgbClr val="008000"/>
                </a:solidFill>
                <a:effectLst/>
                <a:latin typeface="Consolas" panose="020B0609020204030204" pitchFamily="49" charset="0"/>
              </a:rPr>
              <a:t>"Hello"</a:t>
            </a:r>
            <a:r>
              <a:rPr lang="en-US" sz="3600" b="0" i="0" dirty="0">
                <a:solidFill>
                  <a:srgbClr val="000000"/>
                </a:solidFill>
                <a:effectLst/>
                <a:latin typeface="Consolas" panose="020B0609020204030204" pitchFamily="49" charset="0"/>
              </a:rPr>
              <a:t>;</a:t>
            </a:r>
            <a:br>
              <a:rPr lang="en-US" sz="3600" dirty="0"/>
            </a:br>
            <a:r>
              <a:rPr lang="en-US" sz="3600" b="0" i="0" dirty="0">
                <a:solidFill>
                  <a:srgbClr val="000000"/>
                </a:solidFill>
                <a:effectLst/>
                <a:latin typeface="Consolas" panose="020B0609020204030204" pitchFamily="49" charset="0"/>
              </a:rPr>
              <a:t>  </a:t>
            </a:r>
            <a:r>
              <a:rPr lang="en-US" sz="3600" b="1" i="0" dirty="0">
                <a:solidFill>
                  <a:srgbClr val="000000"/>
                </a:solidFill>
                <a:effectLst/>
                <a:latin typeface="Consolas" panose="020B0609020204030204" pitchFamily="49" charset="0"/>
              </a:rPr>
              <a:t>std::</a:t>
            </a:r>
            <a:r>
              <a:rPr lang="en-US" sz="3600" b="0" i="0" dirty="0" err="1">
                <a:solidFill>
                  <a:srgbClr val="000000"/>
                </a:solidFill>
                <a:effectLst/>
                <a:latin typeface="Consolas" panose="020B0609020204030204" pitchFamily="49" charset="0"/>
              </a:rPr>
              <a:t>cout</a:t>
            </a:r>
            <a:r>
              <a:rPr lang="en-US" sz="3600" b="0" i="0" dirty="0">
                <a:solidFill>
                  <a:srgbClr val="000000"/>
                </a:solidFill>
                <a:effectLst/>
                <a:latin typeface="Consolas" panose="020B0609020204030204" pitchFamily="49" charset="0"/>
              </a:rPr>
              <a:t> &lt;&lt; greeting;</a:t>
            </a:r>
            <a:br>
              <a:rPr lang="en-US" sz="3600" dirty="0"/>
            </a:br>
            <a:r>
              <a:rPr lang="en-US" sz="3600" b="0" i="0" dirty="0">
                <a:solidFill>
                  <a:srgbClr val="000000"/>
                </a:solidFill>
                <a:effectLst/>
                <a:latin typeface="Consolas" panose="020B0609020204030204" pitchFamily="49" charset="0"/>
              </a:rPr>
              <a:t>  </a:t>
            </a:r>
            <a:r>
              <a:rPr lang="en-US" sz="3600" b="0" i="0" dirty="0">
                <a:solidFill>
                  <a:srgbClr val="005CC5"/>
                </a:solidFill>
                <a:effectLst/>
                <a:latin typeface="Consolas" panose="020B0609020204030204" pitchFamily="49" charset="0"/>
              </a:rPr>
              <a:t>return</a:t>
            </a:r>
            <a:r>
              <a:rPr lang="en-US" sz="3600" b="0" i="0" dirty="0">
                <a:solidFill>
                  <a:srgbClr val="000000"/>
                </a:solidFill>
                <a:effectLst/>
                <a:latin typeface="Consolas" panose="020B0609020204030204" pitchFamily="49" charset="0"/>
              </a:rPr>
              <a:t> </a:t>
            </a:r>
            <a:r>
              <a:rPr lang="en-US" sz="3600" b="0" i="0" dirty="0">
                <a:solidFill>
                  <a:srgbClr val="990055"/>
                </a:solidFill>
                <a:effectLst/>
                <a:latin typeface="Consolas" panose="020B0609020204030204" pitchFamily="49" charset="0"/>
              </a:rPr>
              <a:t>0</a:t>
            </a:r>
            <a:r>
              <a:rPr lang="en-US" sz="3600" b="0" i="0" dirty="0">
                <a:solidFill>
                  <a:srgbClr val="000000"/>
                </a:solidFill>
                <a:effectLst/>
                <a:latin typeface="Consolas" panose="020B0609020204030204" pitchFamily="49" charset="0"/>
              </a:rPr>
              <a:t>;</a:t>
            </a:r>
            <a:br>
              <a:rPr lang="en-US" sz="3600" dirty="0"/>
            </a:br>
            <a:r>
              <a:rPr lang="en-US" sz="3600" b="0" i="0" dirty="0">
                <a:solidFill>
                  <a:srgbClr val="000000"/>
                </a:solidFill>
                <a:effectLst/>
                <a:latin typeface="Consolas" panose="020B0609020204030204" pitchFamily="49" charset="0"/>
              </a:rPr>
              <a:t>}</a:t>
            </a:r>
            <a:endParaRPr lang="en-IN" sz="3600" dirty="0"/>
          </a:p>
        </p:txBody>
      </p:sp>
    </p:spTree>
    <p:extLst>
      <p:ext uri="{BB962C8B-B14F-4D97-AF65-F5344CB8AC3E}">
        <p14:creationId xmlns:p14="http://schemas.microsoft.com/office/powerpoint/2010/main" val="447113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F502C2-9CEA-0470-F917-3AC012B14725}"/>
              </a:ext>
            </a:extLst>
          </p:cNvPr>
          <p:cNvPicPr>
            <a:picLocks noChangeAspect="1"/>
          </p:cNvPicPr>
          <p:nvPr/>
        </p:nvPicPr>
        <p:blipFill>
          <a:blip r:embed="rId2"/>
          <a:stretch>
            <a:fillRect/>
          </a:stretch>
        </p:blipFill>
        <p:spPr>
          <a:xfrm>
            <a:off x="914400" y="1541211"/>
            <a:ext cx="10736826" cy="2794814"/>
          </a:xfrm>
          <a:prstGeom prst="rect">
            <a:avLst/>
          </a:prstGeom>
        </p:spPr>
      </p:pic>
      <p:sp>
        <p:nvSpPr>
          <p:cNvPr id="4" name="TextBox 3">
            <a:extLst>
              <a:ext uri="{FF2B5EF4-FFF2-40B4-BE49-F238E27FC236}">
                <a16:creationId xmlns:a16="http://schemas.microsoft.com/office/drawing/2014/main" id="{E84743EB-FE0A-F5B8-8203-F4296EA71474}"/>
              </a:ext>
            </a:extLst>
          </p:cNvPr>
          <p:cNvSpPr txBox="1"/>
          <p:nvPr/>
        </p:nvSpPr>
        <p:spPr>
          <a:xfrm>
            <a:off x="206753" y="306947"/>
            <a:ext cx="11336318" cy="769441"/>
          </a:xfrm>
          <a:prstGeom prst="rect">
            <a:avLst/>
          </a:prstGeom>
          <a:noFill/>
        </p:spPr>
        <p:txBody>
          <a:bodyPr wrap="square">
            <a:spAutoFit/>
          </a:bodyPr>
          <a:lstStyle/>
          <a:p>
            <a:pPr algn="l">
              <a:spcBef>
                <a:spcPts val="750"/>
              </a:spcBef>
              <a:spcAft>
                <a:spcPts val="750"/>
              </a:spcAft>
              <a:buNone/>
            </a:pPr>
            <a:r>
              <a:rPr lang="en-IN" sz="4400" b="1" i="0" dirty="0">
                <a:solidFill>
                  <a:srgbClr val="000000"/>
                </a:solidFill>
                <a:effectLst/>
                <a:latin typeface="Segoe UI" panose="020B0502040204020203" pitchFamily="34" charset="0"/>
              </a:rPr>
              <a:t>C++ Math</a:t>
            </a:r>
          </a:p>
        </p:txBody>
      </p:sp>
    </p:spTree>
    <p:extLst>
      <p:ext uri="{BB962C8B-B14F-4D97-AF65-F5344CB8AC3E}">
        <p14:creationId xmlns:p14="http://schemas.microsoft.com/office/powerpoint/2010/main" val="3585182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AFCE2E-1F80-6EA1-F525-742FD48EE82C}"/>
              </a:ext>
            </a:extLst>
          </p:cNvPr>
          <p:cNvSpPr txBox="1"/>
          <p:nvPr/>
        </p:nvSpPr>
        <p:spPr>
          <a:xfrm>
            <a:off x="176980" y="297115"/>
            <a:ext cx="8957188" cy="646331"/>
          </a:xfrm>
          <a:prstGeom prst="rect">
            <a:avLst/>
          </a:prstGeom>
          <a:noFill/>
        </p:spPr>
        <p:txBody>
          <a:bodyPr wrap="square">
            <a:spAutoFit/>
          </a:bodyPr>
          <a:lstStyle/>
          <a:p>
            <a:pPr algn="l">
              <a:spcBef>
                <a:spcPts val="750"/>
              </a:spcBef>
              <a:spcAft>
                <a:spcPts val="750"/>
              </a:spcAft>
              <a:buNone/>
            </a:pPr>
            <a:r>
              <a:rPr lang="en-IN" sz="3600" b="0" i="0" dirty="0">
                <a:solidFill>
                  <a:srgbClr val="000000"/>
                </a:solidFill>
                <a:effectLst/>
                <a:latin typeface="Segoe UI" panose="020B0502040204020203" pitchFamily="34" charset="0"/>
              </a:rPr>
              <a:t>C++ Booleans</a:t>
            </a:r>
          </a:p>
        </p:txBody>
      </p:sp>
      <p:sp>
        <p:nvSpPr>
          <p:cNvPr id="5" name="TextBox 4">
            <a:extLst>
              <a:ext uri="{FF2B5EF4-FFF2-40B4-BE49-F238E27FC236}">
                <a16:creationId xmlns:a16="http://schemas.microsoft.com/office/drawing/2014/main" id="{1E63858E-37DC-3701-8209-07C4903DFE72}"/>
              </a:ext>
            </a:extLst>
          </p:cNvPr>
          <p:cNvSpPr txBox="1"/>
          <p:nvPr/>
        </p:nvSpPr>
        <p:spPr>
          <a:xfrm>
            <a:off x="176979" y="1020872"/>
            <a:ext cx="11916697" cy="1302921"/>
          </a:xfrm>
          <a:prstGeom prst="rect">
            <a:avLst/>
          </a:prstGeom>
          <a:noFill/>
        </p:spPr>
        <p:txBody>
          <a:bodyPr wrap="square">
            <a:spAutoFit/>
          </a:bodyPr>
          <a:lstStyle/>
          <a:p>
            <a:pPr algn="l">
              <a:spcBef>
                <a:spcPts val="750"/>
              </a:spcBef>
              <a:spcAft>
                <a:spcPts val="750"/>
              </a:spcAft>
              <a:buNone/>
            </a:pPr>
            <a:r>
              <a:rPr lang="en-US" sz="2400" b="0" i="0" dirty="0">
                <a:solidFill>
                  <a:srgbClr val="000000"/>
                </a:solidFill>
                <a:effectLst/>
                <a:latin typeface="Segoe UI" panose="020B0502040204020203" pitchFamily="34" charset="0"/>
              </a:rPr>
              <a:t>Boolean Values</a:t>
            </a:r>
          </a:p>
          <a:p>
            <a:pPr algn="l">
              <a:buNone/>
            </a:pPr>
            <a:r>
              <a:rPr lang="en-US" sz="2400" b="0" i="0" dirty="0">
                <a:solidFill>
                  <a:srgbClr val="000000"/>
                </a:solidFill>
                <a:effectLst/>
                <a:latin typeface="Segoe UI" panose="020B0502040204020203" pitchFamily="34" charset="0"/>
              </a:rPr>
              <a:t>A Boolean variable is declared with the </a:t>
            </a:r>
            <a:r>
              <a:rPr lang="en-US" sz="2400" b="0" i="0" dirty="0">
                <a:solidFill>
                  <a:srgbClr val="DC143C"/>
                </a:solidFill>
                <a:effectLst/>
                <a:latin typeface="Consolas" panose="020B0609020204030204" pitchFamily="49" charset="0"/>
              </a:rPr>
              <a:t>bool</a:t>
            </a:r>
            <a:r>
              <a:rPr lang="en-US" sz="2400" b="0" i="0" dirty="0">
                <a:solidFill>
                  <a:srgbClr val="000000"/>
                </a:solidFill>
                <a:effectLst/>
                <a:latin typeface="Segoe UI" panose="020B0502040204020203" pitchFamily="34" charset="0"/>
              </a:rPr>
              <a:t> keyword and can take the values </a:t>
            </a:r>
            <a:r>
              <a:rPr lang="en-US" sz="2400" b="0" i="0" dirty="0">
                <a:solidFill>
                  <a:srgbClr val="DC143C"/>
                </a:solidFill>
                <a:effectLst/>
                <a:latin typeface="Consolas" panose="020B0609020204030204" pitchFamily="49" charset="0"/>
              </a:rPr>
              <a:t>true</a:t>
            </a:r>
            <a:r>
              <a:rPr lang="en-US" sz="2400" b="0" i="0" dirty="0">
                <a:solidFill>
                  <a:srgbClr val="000000"/>
                </a:solidFill>
                <a:effectLst/>
                <a:latin typeface="Segoe UI" panose="020B0502040204020203" pitchFamily="34" charset="0"/>
              </a:rPr>
              <a:t> or </a:t>
            </a:r>
            <a:r>
              <a:rPr lang="en-US" sz="2400" b="0" i="0" dirty="0">
                <a:solidFill>
                  <a:srgbClr val="DC143C"/>
                </a:solidFill>
                <a:effectLst/>
                <a:latin typeface="Consolas" panose="020B0609020204030204" pitchFamily="49" charset="0"/>
              </a:rPr>
              <a:t>false</a:t>
            </a:r>
            <a:endParaRPr lang="en-US" sz="2400" b="0" i="0" dirty="0">
              <a:solidFill>
                <a:srgbClr val="000000"/>
              </a:solidFill>
              <a:effectLst/>
              <a:latin typeface="Segoe UI" panose="020B0502040204020203" pitchFamily="34" charset="0"/>
            </a:endParaRPr>
          </a:p>
        </p:txBody>
      </p:sp>
      <p:sp>
        <p:nvSpPr>
          <p:cNvPr id="7" name="TextBox 6">
            <a:extLst>
              <a:ext uri="{FF2B5EF4-FFF2-40B4-BE49-F238E27FC236}">
                <a16:creationId xmlns:a16="http://schemas.microsoft.com/office/drawing/2014/main" id="{E6151326-2414-779E-5FA6-6B71B95E137F}"/>
              </a:ext>
            </a:extLst>
          </p:cNvPr>
          <p:cNvSpPr txBox="1"/>
          <p:nvPr/>
        </p:nvSpPr>
        <p:spPr>
          <a:xfrm>
            <a:off x="176979" y="2415796"/>
            <a:ext cx="12015021" cy="1938992"/>
          </a:xfrm>
          <a:prstGeom prst="rect">
            <a:avLst/>
          </a:prstGeom>
          <a:noFill/>
        </p:spPr>
        <p:txBody>
          <a:bodyPr wrap="square">
            <a:spAutoFit/>
          </a:bodyPr>
          <a:lstStyle/>
          <a:p>
            <a:pPr algn="l" latinLnBrk="0">
              <a:buNone/>
            </a:pPr>
            <a:r>
              <a:rPr lang="en-IN" sz="2400" b="0" i="0" dirty="0">
                <a:solidFill>
                  <a:srgbClr val="0077AA"/>
                </a:solidFill>
                <a:effectLst/>
                <a:latin typeface="Consolas" panose="020B0609020204030204" pitchFamily="49" charset="0"/>
              </a:rPr>
              <a:t>bool</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isCodingFun</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990055"/>
                </a:solidFill>
                <a:effectLst/>
                <a:latin typeface="Consolas" panose="020B0609020204030204" pitchFamily="49" charset="0"/>
              </a:rPr>
              <a:t>true</a:t>
            </a:r>
            <a:r>
              <a:rPr lang="en-IN" sz="2400" b="0" i="0" dirty="0">
                <a:solidFill>
                  <a:srgbClr val="999999"/>
                </a:solidFill>
                <a:effectLst/>
                <a:latin typeface="Consolas" panose="020B0609020204030204" pitchFamily="49" charset="0"/>
              </a:rPr>
              <a:t>;</a:t>
            </a:r>
            <a:endParaRPr lang="en-IN" sz="2400" b="0" i="0" dirty="0">
              <a:solidFill>
                <a:srgbClr val="000000"/>
              </a:solidFill>
              <a:effectLst/>
              <a:latin typeface="Consolas" panose="020B0609020204030204" pitchFamily="49" charset="0"/>
            </a:endParaRPr>
          </a:p>
          <a:p>
            <a:pPr algn="l" latinLnBrk="0">
              <a:buNone/>
            </a:pPr>
            <a:r>
              <a:rPr lang="en-IN" sz="2400" b="0" i="0" dirty="0">
                <a:solidFill>
                  <a:srgbClr val="0077AA"/>
                </a:solidFill>
                <a:effectLst/>
                <a:latin typeface="Consolas" panose="020B0609020204030204" pitchFamily="49" charset="0"/>
              </a:rPr>
              <a:t>bool</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isFishTasty</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990055"/>
                </a:solidFill>
                <a:effectLst/>
                <a:latin typeface="Consolas" panose="020B0609020204030204" pitchFamily="49" charset="0"/>
              </a:rPr>
              <a:t>false</a:t>
            </a:r>
            <a:r>
              <a:rPr lang="en-IN" sz="2400" b="0" i="0" dirty="0">
                <a:solidFill>
                  <a:srgbClr val="999999"/>
                </a:solidFill>
                <a:effectLst/>
                <a:latin typeface="Consolas" panose="020B0609020204030204" pitchFamily="49" charset="0"/>
              </a:rPr>
              <a:t>;</a:t>
            </a:r>
            <a:endParaRPr lang="en-IN" sz="2400" b="0" i="0" dirty="0">
              <a:solidFill>
                <a:srgbClr val="000000"/>
              </a:solidFill>
              <a:effectLst/>
              <a:latin typeface="Consolas" panose="020B0609020204030204" pitchFamily="49" charset="0"/>
            </a:endParaRPr>
          </a:p>
          <a:p>
            <a:pPr algn="l" latinLnBrk="0">
              <a:buNone/>
            </a:pP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isCodingFun</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a:solidFill>
                  <a:srgbClr val="669900"/>
                </a:solidFill>
                <a:effectLst/>
                <a:latin typeface="Consolas" panose="020B0609020204030204" pitchFamily="49" charset="0"/>
              </a:rPr>
              <a:t>"\n"</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Outputs 1 (true)</a:t>
            </a: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isFishTasty</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a:solidFill>
                  <a:srgbClr val="669900"/>
                </a:solidFill>
                <a:effectLst/>
                <a:latin typeface="Consolas" panose="020B0609020204030204" pitchFamily="49" charset="0"/>
              </a:rPr>
              <a:t>"\n"</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Outputs 0 (false)</a:t>
            </a:r>
            <a:endParaRPr lang="en-IN" sz="2400"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02269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DE9346-B3CC-A1EA-10CA-C1673AAF12C7}"/>
              </a:ext>
            </a:extLst>
          </p:cNvPr>
          <p:cNvSpPr txBox="1"/>
          <p:nvPr/>
        </p:nvSpPr>
        <p:spPr>
          <a:xfrm>
            <a:off x="-1" y="98774"/>
            <a:ext cx="12093677" cy="1938992"/>
          </a:xfrm>
          <a:prstGeom prst="rect">
            <a:avLst/>
          </a:prstGeom>
          <a:noFill/>
        </p:spPr>
        <p:txBody>
          <a:bodyPr wrap="square">
            <a:spAutoFit/>
          </a:bodyPr>
          <a:lstStyle/>
          <a:p>
            <a:r>
              <a:rPr lang="en-US" sz="3600" b="1" dirty="0"/>
              <a:t>Printing true/false With </a:t>
            </a:r>
            <a:r>
              <a:rPr lang="en-US" sz="3600" b="1" dirty="0" err="1"/>
              <a:t>boolalpha</a:t>
            </a:r>
            <a:endParaRPr lang="en-US" sz="3600" b="1" dirty="0"/>
          </a:p>
          <a:p>
            <a:endParaRPr lang="en-US" sz="3600" b="1" dirty="0"/>
          </a:p>
          <a:p>
            <a:r>
              <a:rPr lang="en-US" sz="2400" dirty="0"/>
              <a:t>If you prefer to print true and false as words instead of 1 and 0, you can use the </a:t>
            </a:r>
            <a:r>
              <a:rPr lang="en-US" sz="2400" dirty="0" err="1"/>
              <a:t>boolalpha</a:t>
            </a:r>
            <a:r>
              <a:rPr lang="en-US" sz="2400" dirty="0"/>
              <a:t> manipulator:</a:t>
            </a:r>
            <a:endParaRPr lang="en-IN" sz="2400" dirty="0"/>
          </a:p>
        </p:txBody>
      </p:sp>
      <p:sp>
        <p:nvSpPr>
          <p:cNvPr id="7" name="TextBox 6">
            <a:extLst>
              <a:ext uri="{FF2B5EF4-FFF2-40B4-BE49-F238E27FC236}">
                <a16:creationId xmlns:a16="http://schemas.microsoft.com/office/drawing/2014/main" id="{D6BB31CC-ACFB-623A-CE87-01AE8E4AB4A3}"/>
              </a:ext>
            </a:extLst>
          </p:cNvPr>
          <p:cNvSpPr txBox="1"/>
          <p:nvPr/>
        </p:nvSpPr>
        <p:spPr>
          <a:xfrm>
            <a:off x="108155" y="4145425"/>
            <a:ext cx="8935063" cy="2677656"/>
          </a:xfrm>
          <a:prstGeom prst="rect">
            <a:avLst/>
          </a:prstGeom>
          <a:noFill/>
        </p:spPr>
        <p:txBody>
          <a:bodyPr wrap="square">
            <a:spAutoFit/>
          </a:bodyPr>
          <a:lstStyle/>
          <a:p>
            <a:pPr algn="l" latinLnBrk="0">
              <a:buNone/>
            </a:pPr>
            <a:r>
              <a:rPr lang="en-IN" sz="2400" b="0" i="0" dirty="0">
                <a:solidFill>
                  <a:srgbClr val="0077AA"/>
                </a:solidFill>
                <a:effectLst/>
                <a:latin typeface="Consolas" panose="020B0609020204030204" pitchFamily="49" charset="0"/>
              </a:rPr>
              <a:t>bool</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isCodingFun</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990055"/>
                </a:solidFill>
                <a:effectLst/>
                <a:latin typeface="Consolas" panose="020B0609020204030204" pitchFamily="49" charset="0"/>
              </a:rPr>
              <a:t>true</a:t>
            </a:r>
            <a:r>
              <a:rPr lang="en-IN" sz="2400" b="0" i="0" dirty="0">
                <a:solidFill>
                  <a:srgbClr val="999999"/>
                </a:solidFill>
                <a:effectLst/>
                <a:latin typeface="Consolas" panose="020B0609020204030204" pitchFamily="49" charset="0"/>
              </a:rPr>
              <a:t>;</a:t>
            </a:r>
            <a:endParaRPr lang="en-IN" sz="2400" b="0" i="0" dirty="0">
              <a:solidFill>
                <a:srgbClr val="000000"/>
              </a:solidFill>
              <a:effectLst/>
              <a:latin typeface="Consolas" panose="020B0609020204030204" pitchFamily="49" charset="0"/>
            </a:endParaRPr>
          </a:p>
          <a:p>
            <a:pPr algn="l" latinLnBrk="0">
              <a:buNone/>
            </a:pPr>
            <a:r>
              <a:rPr lang="en-IN" sz="2400" b="0" i="0" dirty="0">
                <a:solidFill>
                  <a:srgbClr val="0077AA"/>
                </a:solidFill>
                <a:effectLst/>
                <a:latin typeface="Consolas" panose="020B0609020204030204" pitchFamily="49" charset="0"/>
              </a:rPr>
              <a:t>bool</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isFishTasty</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990055"/>
                </a:solidFill>
                <a:effectLst/>
                <a:latin typeface="Consolas" panose="020B0609020204030204" pitchFamily="49" charset="0"/>
              </a:rPr>
              <a:t>false</a:t>
            </a:r>
            <a:r>
              <a:rPr lang="en-IN" sz="2400" b="0" i="0" dirty="0">
                <a:solidFill>
                  <a:srgbClr val="999999"/>
                </a:solidFill>
                <a:effectLst/>
                <a:latin typeface="Consolas" panose="020B0609020204030204" pitchFamily="49" charset="0"/>
              </a:rPr>
              <a:t>;</a:t>
            </a:r>
            <a:endParaRPr lang="en-IN" sz="2400" b="0" i="0" dirty="0">
              <a:solidFill>
                <a:srgbClr val="000000"/>
              </a:solidFill>
              <a:effectLst/>
              <a:latin typeface="Consolas" panose="020B0609020204030204" pitchFamily="49" charset="0"/>
            </a:endParaRPr>
          </a:p>
          <a:p>
            <a:pPr algn="l" latinLnBrk="0">
              <a:buNone/>
            </a:pP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boolalpha</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enable printing "true"/"false"</a:t>
            </a:r>
            <a:endParaRPr lang="en-IN" sz="2400" b="0" i="0" dirty="0">
              <a:solidFill>
                <a:srgbClr val="000000"/>
              </a:solidFill>
              <a:effectLst/>
              <a:latin typeface="Consolas" panose="020B0609020204030204" pitchFamily="49" charset="0"/>
            </a:endParaRPr>
          </a:p>
          <a:p>
            <a:pPr algn="l" latinLnBrk="0">
              <a:buNone/>
            </a:pP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isCodingFun</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a:solidFill>
                  <a:srgbClr val="669900"/>
                </a:solidFill>
                <a:effectLst/>
                <a:latin typeface="Consolas" panose="020B0609020204030204" pitchFamily="49" charset="0"/>
              </a:rPr>
              <a:t>"\n"</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Outputs true</a:t>
            </a: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isFishTasty</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a:solidFill>
                  <a:srgbClr val="669900"/>
                </a:solidFill>
                <a:effectLst/>
                <a:latin typeface="Consolas" panose="020B0609020204030204" pitchFamily="49" charset="0"/>
              </a:rPr>
              <a:t>"\n"</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Outputs false</a:t>
            </a:r>
            <a:endParaRPr lang="en-IN" sz="2400" b="0" i="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C3F56A8E-201B-3AFD-0B3F-153553FCDE0F}"/>
              </a:ext>
            </a:extLst>
          </p:cNvPr>
          <p:cNvSpPr txBox="1"/>
          <p:nvPr/>
        </p:nvSpPr>
        <p:spPr>
          <a:xfrm>
            <a:off x="-1" y="2491431"/>
            <a:ext cx="12093676" cy="1200329"/>
          </a:xfrm>
          <a:prstGeom prst="rect">
            <a:avLst/>
          </a:prstGeom>
          <a:noFill/>
        </p:spPr>
        <p:txBody>
          <a:bodyPr wrap="square">
            <a:spAutoFit/>
          </a:bodyPr>
          <a:lstStyle/>
          <a:p>
            <a:r>
              <a:rPr lang="en-US" sz="2400" b="0" i="0" dirty="0" err="1">
                <a:solidFill>
                  <a:srgbClr val="DC143C"/>
                </a:solidFill>
                <a:effectLst/>
                <a:latin typeface="Consolas" panose="020B0609020204030204" pitchFamily="49" charset="0"/>
              </a:rPr>
              <a:t>boolalpha</a:t>
            </a:r>
            <a:r>
              <a:rPr lang="en-US" sz="2400" b="0" i="0" dirty="0">
                <a:solidFill>
                  <a:srgbClr val="000000"/>
                </a:solidFill>
                <a:effectLst/>
                <a:latin typeface="Segoe UI" panose="020B0502040204020203" pitchFamily="34" charset="0"/>
              </a:rPr>
              <a:t> is not a data type. It is an </a:t>
            </a:r>
            <a:r>
              <a:rPr lang="en-US" sz="2400" b="0" i="1" dirty="0">
                <a:solidFill>
                  <a:srgbClr val="000000"/>
                </a:solidFill>
                <a:effectLst/>
                <a:latin typeface="Segoe UI" panose="020B0502040204020203" pitchFamily="34" charset="0"/>
              </a:rPr>
              <a:t>I/O manipulator</a:t>
            </a:r>
            <a:r>
              <a:rPr lang="en-US" sz="2400" b="0" i="0" dirty="0">
                <a:solidFill>
                  <a:srgbClr val="000000"/>
                </a:solidFill>
                <a:effectLst/>
                <a:latin typeface="Segoe UI" panose="020B0502040204020203" pitchFamily="34" charset="0"/>
              </a:rPr>
              <a:t> - a setting that changes how </a:t>
            </a:r>
            <a:r>
              <a:rPr lang="en-US" sz="2400" b="0" i="0" dirty="0" err="1">
                <a:solidFill>
                  <a:srgbClr val="DC143C"/>
                </a:solidFill>
                <a:effectLst/>
                <a:latin typeface="Consolas" panose="020B0609020204030204" pitchFamily="49" charset="0"/>
              </a:rPr>
              <a:t>cout</a:t>
            </a:r>
            <a:r>
              <a:rPr lang="en-US" sz="2400" b="0" i="0" dirty="0">
                <a:solidFill>
                  <a:srgbClr val="000000"/>
                </a:solidFill>
                <a:effectLst/>
                <a:latin typeface="Segoe UI" panose="020B0502040204020203" pitchFamily="34" charset="0"/>
              </a:rPr>
              <a:t> displays </a:t>
            </a:r>
            <a:r>
              <a:rPr lang="en-US" sz="2400" b="0" i="0" dirty="0" err="1">
                <a:solidFill>
                  <a:srgbClr val="000000"/>
                </a:solidFill>
                <a:effectLst/>
                <a:latin typeface="Segoe UI" panose="020B0502040204020203" pitchFamily="34" charset="0"/>
              </a:rPr>
              <a:t>boolean</a:t>
            </a:r>
            <a:r>
              <a:rPr lang="en-US" sz="2400" b="0" i="0" dirty="0">
                <a:solidFill>
                  <a:srgbClr val="000000"/>
                </a:solidFill>
                <a:effectLst/>
                <a:latin typeface="Segoe UI" panose="020B0502040204020203" pitchFamily="34" charset="0"/>
              </a:rPr>
              <a:t> values. When you use it, you are telling </a:t>
            </a:r>
            <a:r>
              <a:rPr lang="en-US" sz="2400" b="0" i="0" dirty="0" err="1">
                <a:solidFill>
                  <a:srgbClr val="DC143C"/>
                </a:solidFill>
                <a:effectLst/>
                <a:latin typeface="Consolas" panose="020B0609020204030204" pitchFamily="49" charset="0"/>
              </a:rPr>
              <a:t>cout</a:t>
            </a:r>
            <a:r>
              <a:rPr lang="en-US" sz="2400" b="0" i="0" dirty="0">
                <a:solidFill>
                  <a:srgbClr val="000000"/>
                </a:solidFill>
                <a:effectLst/>
                <a:latin typeface="Segoe UI" panose="020B0502040204020203" pitchFamily="34" charset="0"/>
              </a:rPr>
              <a:t>: "From now on, print </a:t>
            </a:r>
            <a:r>
              <a:rPr lang="en-US" sz="2400" b="0" i="0" dirty="0" err="1">
                <a:solidFill>
                  <a:srgbClr val="000000"/>
                </a:solidFill>
                <a:effectLst/>
                <a:latin typeface="Segoe UI" panose="020B0502040204020203" pitchFamily="34" charset="0"/>
              </a:rPr>
              <a:t>booleans</a:t>
            </a:r>
            <a:r>
              <a:rPr lang="en-US" sz="2400" b="0" i="0" dirty="0">
                <a:solidFill>
                  <a:srgbClr val="000000"/>
                </a:solidFill>
                <a:effectLst/>
                <a:latin typeface="Segoe UI" panose="020B0502040204020203" pitchFamily="34" charset="0"/>
              </a:rPr>
              <a:t> as </a:t>
            </a:r>
            <a:r>
              <a:rPr lang="en-US" sz="2400" b="0" i="0" dirty="0">
                <a:solidFill>
                  <a:srgbClr val="DC143C"/>
                </a:solidFill>
                <a:effectLst/>
                <a:latin typeface="Consolas" panose="020B0609020204030204" pitchFamily="49" charset="0"/>
              </a:rPr>
              <a:t>true</a:t>
            </a:r>
            <a:r>
              <a:rPr lang="en-US" sz="2400" b="0" i="0" dirty="0">
                <a:solidFill>
                  <a:srgbClr val="000000"/>
                </a:solidFill>
                <a:effectLst/>
                <a:latin typeface="Segoe UI" panose="020B0502040204020203" pitchFamily="34" charset="0"/>
              </a:rPr>
              <a:t> and </a:t>
            </a:r>
            <a:r>
              <a:rPr lang="en-US" sz="2400" b="0" i="0" dirty="0">
                <a:solidFill>
                  <a:srgbClr val="DC143C"/>
                </a:solidFill>
                <a:effectLst/>
                <a:latin typeface="Consolas" panose="020B0609020204030204" pitchFamily="49" charset="0"/>
              </a:rPr>
              <a:t>false</a:t>
            </a:r>
            <a:r>
              <a:rPr lang="en-US" sz="2400" b="0" i="0" dirty="0">
                <a:solidFill>
                  <a:srgbClr val="000000"/>
                </a:solidFill>
                <a:effectLst/>
                <a:latin typeface="Segoe UI" panose="020B0502040204020203" pitchFamily="34" charset="0"/>
              </a:rPr>
              <a:t> instead of </a:t>
            </a:r>
            <a:r>
              <a:rPr lang="en-US" sz="2400" b="0" i="0" dirty="0">
                <a:solidFill>
                  <a:srgbClr val="DC143C"/>
                </a:solidFill>
                <a:effectLst/>
                <a:latin typeface="Consolas" panose="020B0609020204030204" pitchFamily="49" charset="0"/>
              </a:rPr>
              <a:t>1</a:t>
            </a:r>
            <a:r>
              <a:rPr lang="en-US" sz="2400" b="0" i="0" dirty="0">
                <a:solidFill>
                  <a:srgbClr val="000000"/>
                </a:solidFill>
                <a:effectLst/>
                <a:latin typeface="Segoe UI" panose="020B0502040204020203" pitchFamily="34" charset="0"/>
              </a:rPr>
              <a:t> and </a:t>
            </a:r>
            <a:r>
              <a:rPr lang="en-US" sz="2400" b="0" i="0" dirty="0">
                <a:solidFill>
                  <a:srgbClr val="DC143C"/>
                </a:solidFill>
                <a:effectLst/>
                <a:latin typeface="Consolas" panose="020B0609020204030204" pitchFamily="49" charset="0"/>
              </a:rPr>
              <a:t>0</a:t>
            </a:r>
            <a:r>
              <a:rPr lang="en-US" sz="2400" b="0" i="0" dirty="0">
                <a:solidFill>
                  <a:srgbClr val="000000"/>
                </a:solidFill>
                <a:effectLst/>
                <a:latin typeface="Segoe UI" panose="020B0502040204020203" pitchFamily="34" charset="0"/>
              </a:rPr>
              <a:t>.</a:t>
            </a:r>
            <a:endParaRPr lang="en-IN" sz="2400" dirty="0"/>
          </a:p>
        </p:txBody>
      </p:sp>
    </p:spTree>
    <p:extLst>
      <p:ext uri="{BB962C8B-B14F-4D97-AF65-F5344CB8AC3E}">
        <p14:creationId xmlns:p14="http://schemas.microsoft.com/office/powerpoint/2010/main" val="2011179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0382C3-F603-DFB7-9901-2FB1BEE60261}"/>
              </a:ext>
            </a:extLst>
          </p:cNvPr>
          <p:cNvSpPr txBox="1"/>
          <p:nvPr/>
        </p:nvSpPr>
        <p:spPr>
          <a:xfrm>
            <a:off x="-1" y="138103"/>
            <a:ext cx="12064181" cy="1384995"/>
          </a:xfrm>
          <a:prstGeom prst="rect">
            <a:avLst/>
          </a:prstGeom>
          <a:noFill/>
        </p:spPr>
        <p:txBody>
          <a:bodyPr wrap="square">
            <a:spAutoFit/>
          </a:bodyPr>
          <a:lstStyle/>
          <a:p>
            <a:r>
              <a:rPr lang="en-US" sz="2800" dirty="0"/>
              <a:t>Resetting Back With </a:t>
            </a:r>
            <a:r>
              <a:rPr lang="en-US" sz="2800" dirty="0" err="1"/>
              <a:t>noboolalpha</a:t>
            </a:r>
            <a:endParaRPr lang="en-US" sz="2800" dirty="0"/>
          </a:p>
          <a:p>
            <a:r>
              <a:rPr lang="en-US" sz="2800" dirty="0"/>
              <a:t>If you want to go back to the default behavior (printing 1 and 0), you can use </a:t>
            </a:r>
            <a:r>
              <a:rPr lang="en-US" sz="2800" dirty="0" err="1"/>
              <a:t>noboolalpha</a:t>
            </a:r>
            <a:endParaRPr lang="en-IN" sz="2800" dirty="0"/>
          </a:p>
        </p:txBody>
      </p:sp>
      <p:sp>
        <p:nvSpPr>
          <p:cNvPr id="7" name="TextBox 6">
            <a:extLst>
              <a:ext uri="{FF2B5EF4-FFF2-40B4-BE49-F238E27FC236}">
                <a16:creationId xmlns:a16="http://schemas.microsoft.com/office/drawing/2014/main" id="{7E2363A4-E964-8989-970A-5474FE3640E2}"/>
              </a:ext>
            </a:extLst>
          </p:cNvPr>
          <p:cNvSpPr txBox="1"/>
          <p:nvPr/>
        </p:nvSpPr>
        <p:spPr>
          <a:xfrm>
            <a:off x="120446" y="1609551"/>
            <a:ext cx="11314470" cy="2677656"/>
          </a:xfrm>
          <a:prstGeom prst="rect">
            <a:avLst/>
          </a:prstGeom>
          <a:noFill/>
        </p:spPr>
        <p:txBody>
          <a:bodyPr wrap="square">
            <a:spAutoFit/>
          </a:bodyPr>
          <a:lstStyle/>
          <a:p>
            <a:pPr algn="l" latinLnBrk="0">
              <a:buNone/>
            </a:pPr>
            <a:r>
              <a:rPr lang="en-IN" sz="2400" b="0" i="0" dirty="0">
                <a:solidFill>
                  <a:srgbClr val="0077AA"/>
                </a:solidFill>
                <a:effectLst/>
                <a:latin typeface="Consolas" panose="020B0609020204030204" pitchFamily="49" charset="0"/>
              </a:rPr>
              <a:t>bool</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isCodingFun</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990055"/>
                </a:solidFill>
                <a:effectLst/>
                <a:latin typeface="Consolas" panose="020B0609020204030204" pitchFamily="49" charset="0"/>
              </a:rPr>
              <a:t>true</a:t>
            </a:r>
            <a:r>
              <a:rPr lang="en-IN" sz="2400" b="0" i="0" dirty="0">
                <a:solidFill>
                  <a:srgbClr val="999999"/>
                </a:solidFill>
                <a:effectLst/>
                <a:latin typeface="Consolas" panose="020B0609020204030204" pitchFamily="49" charset="0"/>
              </a:rPr>
              <a:t>;</a:t>
            </a:r>
            <a:endParaRPr lang="en-IN" sz="2400" b="0" i="0" dirty="0">
              <a:solidFill>
                <a:srgbClr val="000000"/>
              </a:solidFill>
              <a:effectLst/>
              <a:latin typeface="Consolas" panose="020B0609020204030204" pitchFamily="49" charset="0"/>
            </a:endParaRPr>
          </a:p>
          <a:p>
            <a:pPr algn="l" latinLnBrk="0">
              <a:buNone/>
            </a:pP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boolalpha</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print as true/false</a:t>
            </a: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isCodingFun</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a:solidFill>
                  <a:srgbClr val="669900"/>
                </a:solidFill>
                <a:effectLst/>
                <a:latin typeface="Consolas" panose="020B0609020204030204" pitchFamily="49" charset="0"/>
              </a:rPr>
              <a:t>"\n"</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Outputs true</a:t>
            </a:r>
            <a:endParaRPr lang="en-IN" sz="2400" b="0" i="0" dirty="0">
              <a:solidFill>
                <a:srgbClr val="000000"/>
              </a:solidFill>
              <a:effectLst/>
              <a:latin typeface="Consolas" panose="020B0609020204030204" pitchFamily="49" charset="0"/>
            </a:endParaRPr>
          </a:p>
          <a:p>
            <a:pPr algn="l" latinLnBrk="0">
              <a:buNone/>
            </a:pP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noboolalpha</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reset to 1/0</a:t>
            </a:r>
            <a:endParaRPr lang="en-IN" sz="2400" b="0" i="0" dirty="0">
              <a:solidFill>
                <a:srgbClr val="000000"/>
              </a:solidFill>
              <a:effectLst/>
              <a:latin typeface="Consolas" panose="020B0609020204030204" pitchFamily="49" charset="0"/>
            </a:endParaRPr>
          </a:p>
          <a:p>
            <a:pPr algn="l" latinLnBrk="0">
              <a:buNone/>
            </a:pPr>
            <a:r>
              <a:rPr lang="en-IN" sz="2400" b="0" i="0" dirty="0" err="1">
                <a:solidFill>
                  <a:srgbClr val="000000"/>
                </a:solidFill>
                <a:effectLst/>
                <a:latin typeface="Consolas" panose="020B0609020204030204" pitchFamily="49" charset="0"/>
              </a:rPr>
              <a:t>cout</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err="1">
                <a:solidFill>
                  <a:srgbClr val="000000"/>
                </a:solidFill>
                <a:effectLst/>
                <a:latin typeface="Consolas" panose="020B0609020204030204" pitchFamily="49" charset="0"/>
              </a:rPr>
              <a:t>isCodingFun</a:t>
            </a:r>
            <a:r>
              <a:rPr lang="en-IN" sz="2400" b="0" i="0" dirty="0">
                <a:solidFill>
                  <a:srgbClr val="000000"/>
                </a:solidFill>
                <a:effectLst/>
                <a:latin typeface="Consolas" panose="020B0609020204030204" pitchFamily="49" charset="0"/>
              </a:rPr>
              <a:t> </a:t>
            </a:r>
            <a:r>
              <a:rPr lang="en-IN" sz="2400" b="0" i="0" dirty="0">
                <a:solidFill>
                  <a:srgbClr val="9A6E3A"/>
                </a:solidFill>
                <a:effectLst/>
                <a:latin typeface="Consolas" panose="020B0609020204030204" pitchFamily="49" charset="0"/>
              </a:rPr>
              <a:t>&lt;&lt;</a:t>
            </a:r>
            <a:r>
              <a:rPr lang="en-IN" sz="2400" b="0" i="0" dirty="0">
                <a:solidFill>
                  <a:srgbClr val="000000"/>
                </a:solidFill>
                <a:effectLst/>
                <a:latin typeface="Consolas" panose="020B0609020204030204" pitchFamily="49" charset="0"/>
              </a:rPr>
              <a:t> </a:t>
            </a:r>
            <a:r>
              <a:rPr lang="en-IN" sz="2400" b="0" i="0" dirty="0">
                <a:solidFill>
                  <a:srgbClr val="669900"/>
                </a:solidFill>
                <a:effectLst/>
                <a:latin typeface="Consolas" panose="020B0609020204030204" pitchFamily="49" charset="0"/>
              </a:rPr>
              <a:t>"\n"</a:t>
            </a:r>
            <a:r>
              <a:rPr lang="en-IN" sz="2400" b="0" i="0" dirty="0">
                <a:solidFill>
                  <a:srgbClr val="999999"/>
                </a:solidFill>
                <a:effectLst/>
                <a:latin typeface="Consolas" panose="020B0609020204030204" pitchFamily="49" charset="0"/>
              </a:rPr>
              <a:t>;</a:t>
            </a:r>
            <a:r>
              <a:rPr lang="en-IN" sz="2400" b="0" i="0" dirty="0">
                <a:solidFill>
                  <a:srgbClr val="000000"/>
                </a:solidFill>
                <a:effectLst/>
                <a:latin typeface="Consolas" panose="020B0609020204030204" pitchFamily="49" charset="0"/>
              </a:rPr>
              <a:t>  </a:t>
            </a:r>
            <a:r>
              <a:rPr lang="en-IN" sz="2400" b="0" i="0" dirty="0">
                <a:solidFill>
                  <a:srgbClr val="708090"/>
                </a:solidFill>
                <a:effectLst/>
                <a:latin typeface="Consolas" panose="020B0609020204030204" pitchFamily="49" charset="0"/>
              </a:rPr>
              <a:t>// Outputs 1</a:t>
            </a:r>
            <a:endParaRPr lang="en-IN" sz="2400"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694889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E9ADFA-B5FE-AA48-442C-9EBDE3FA3198}"/>
              </a:ext>
            </a:extLst>
          </p:cNvPr>
          <p:cNvSpPr txBox="1"/>
          <p:nvPr/>
        </p:nvSpPr>
        <p:spPr>
          <a:xfrm>
            <a:off x="176979" y="124880"/>
            <a:ext cx="11838039" cy="1692771"/>
          </a:xfrm>
          <a:prstGeom prst="rect">
            <a:avLst/>
          </a:prstGeom>
          <a:noFill/>
        </p:spPr>
        <p:txBody>
          <a:bodyPr wrap="square">
            <a:spAutoFit/>
          </a:bodyPr>
          <a:lstStyle/>
          <a:p>
            <a:r>
              <a:rPr lang="en-US" sz="3200" b="1" dirty="0"/>
              <a:t>C++ Arrays</a:t>
            </a:r>
          </a:p>
          <a:p>
            <a:r>
              <a:rPr lang="en-US" dirty="0"/>
              <a:t>Arrays are used to store multiple values in a single variable, instead of declaring separate variables for each value.</a:t>
            </a:r>
          </a:p>
          <a:p>
            <a:endParaRPr lang="en-US" dirty="0"/>
          </a:p>
          <a:p>
            <a:r>
              <a:rPr lang="en-US" dirty="0"/>
              <a:t>To declare an array, define the variable type, specify the name of the array followed by square brackets and specify the number of elements it should store:</a:t>
            </a:r>
            <a:endParaRPr lang="en-IN" dirty="0"/>
          </a:p>
        </p:txBody>
      </p:sp>
      <p:sp>
        <p:nvSpPr>
          <p:cNvPr id="5" name="TextBox 4">
            <a:extLst>
              <a:ext uri="{FF2B5EF4-FFF2-40B4-BE49-F238E27FC236}">
                <a16:creationId xmlns:a16="http://schemas.microsoft.com/office/drawing/2014/main" id="{1A91EB19-A98C-2CF4-FF4B-DF3E94AF771D}"/>
              </a:ext>
            </a:extLst>
          </p:cNvPr>
          <p:cNvSpPr txBox="1"/>
          <p:nvPr/>
        </p:nvSpPr>
        <p:spPr>
          <a:xfrm>
            <a:off x="176979" y="1958766"/>
            <a:ext cx="5908398" cy="461665"/>
          </a:xfrm>
          <a:prstGeom prst="rect">
            <a:avLst/>
          </a:prstGeom>
          <a:noFill/>
        </p:spPr>
        <p:txBody>
          <a:bodyPr wrap="square">
            <a:spAutoFit/>
          </a:bodyPr>
          <a:lstStyle/>
          <a:p>
            <a:r>
              <a:rPr lang="en-IN" sz="2400" dirty="0"/>
              <a:t>string cars[4];</a:t>
            </a:r>
          </a:p>
        </p:txBody>
      </p:sp>
      <p:sp>
        <p:nvSpPr>
          <p:cNvPr id="7" name="TextBox 6">
            <a:extLst>
              <a:ext uri="{FF2B5EF4-FFF2-40B4-BE49-F238E27FC236}">
                <a16:creationId xmlns:a16="http://schemas.microsoft.com/office/drawing/2014/main" id="{A607FAC1-0CF2-350E-C676-16D591D34B4A}"/>
              </a:ext>
            </a:extLst>
          </p:cNvPr>
          <p:cNvSpPr txBox="1"/>
          <p:nvPr/>
        </p:nvSpPr>
        <p:spPr>
          <a:xfrm>
            <a:off x="176979" y="2928863"/>
            <a:ext cx="7570840" cy="461665"/>
          </a:xfrm>
          <a:prstGeom prst="rect">
            <a:avLst/>
          </a:prstGeom>
          <a:noFill/>
        </p:spPr>
        <p:txBody>
          <a:bodyPr wrap="square">
            <a:spAutoFit/>
          </a:bodyPr>
          <a:lstStyle/>
          <a:p>
            <a:r>
              <a:rPr lang="en-US" sz="2400" dirty="0"/>
              <a:t>string cars[4] = {"Volvo", "BMW", "Ford", "Mazda"};</a:t>
            </a:r>
            <a:endParaRPr lang="en-IN" sz="2400" dirty="0"/>
          </a:p>
        </p:txBody>
      </p:sp>
      <p:sp>
        <p:nvSpPr>
          <p:cNvPr id="9" name="TextBox 8">
            <a:extLst>
              <a:ext uri="{FF2B5EF4-FFF2-40B4-BE49-F238E27FC236}">
                <a16:creationId xmlns:a16="http://schemas.microsoft.com/office/drawing/2014/main" id="{E7BA1F5F-443C-D7CD-2450-99E5298BF798}"/>
              </a:ext>
            </a:extLst>
          </p:cNvPr>
          <p:cNvSpPr txBox="1"/>
          <p:nvPr/>
        </p:nvSpPr>
        <p:spPr>
          <a:xfrm>
            <a:off x="176979" y="3584855"/>
            <a:ext cx="11559496" cy="1077218"/>
          </a:xfrm>
          <a:prstGeom prst="rect">
            <a:avLst/>
          </a:prstGeom>
          <a:noFill/>
        </p:spPr>
        <p:txBody>
          <a:bodyPr wrap="square">
            <a:spAutoFit/>
          </a:bodyPr>
          <a:lstStyle/>
          <a:p>
            <a:r>
              <a:rPr lang="en-US" sz="4000" b="1" dirty="0"/>
              <a:t>Access the Elements of an Array</a:t>
            </a:r>
          </a:p>
          <a:p>
            <a:r>
              <a:rPr lang="en-US" sz="2400" dirty="0"/>
              <a:t>You access an array element by referring to the index number inside square brackets []</a:t>
            </a:r>
            <a:endParaRPr lang="en-IN" sz="2400" dirty="0"/>
          </a:p>
        </p:txBody>
      </p:sp>
      <p:sp>
        <p:nvSpPr>
          <p:cNvPr id="11" name="TextBox 10">
            <a:extLst>
              <a:ext uri="{FF2B5EF4-FFF2-40B4-BE49-F238E27FC236}">
                <a16:creationId xmlns:a16="http://schemas.microsoft.com/office/drawing/2014/main" id="{2C8C16AE-820D-2E93-7D83-A4CEDCFB98ED}"/>
              </a:ext>
            </a:extLst>
          </p:cNvPr>
          <p:cNvSpPr txBox="1"/>
          <p:nvPr/>
        </p:nvSpPr>
        <p:spPr>
          <a:xfrm>
            <a:off x="176979" y="5093561"/>
            <a:ext cx="9910918" cy="1200329"/>
          </a:xfrm>
          <a:prstGeom prst="rect">
            <a:avLst/>
          </a:prstGeom>
          <a:noFill/>
        </p:spPr>
        <p:txBody>
          <a:bodyPr wrap="square">
            <a:spAutoFit/>
          </a:bodyPr>
          <a:lstStyle/>
          <a:p>
            <a:r>
              <a:rPr lang="en-US" sz="2400" dirty="0"/>
              <a:t>string cars[4] = {"Volvo", "BMW", "Ford", "Mazda"};</a:t>
            </a:r>
          </a:p>
          <a:p>
            <a:r>
              <a:rPr lang="en-US" sz="2400" dirty="0" err="1"/>
              <a:t>cout</a:t>
            </a:r>
            <a:r>
              <a:rPr lang="en-US" sz="2400" dirty="0"/>
              <a:t> &lt;&lt; cars[0];</a:t>
            </a:r>
          </a:p>
          <a:p>
            <a:r>
              <a:rPr lang="en-US" sz="2400" dirty="0"/>
              <a:t>// Outputs Volvo</a:t>
            </a:r>
            <a:endParaRPr lang="en-IN" sz="2400" dirty="0"/>
          </a:p>
        </p:txBody>
      </p:sp>
    </p:spTree>
    <p:extLst>
      <p:ext uri="{BB962C8B-B14F-4D97-AF65-F5344CB8AC3E}">
        <p14:creationId xmlns:p14="http://schemas.microsoft.com/office/powerpoint/2010/main" val="846441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41084F-1B5E-EC43-3B0D-7C6AD2DD5F8A}"/>
              </a:ext>
            </a:extLst>
          </p:cNvPr>
          <p:cNvSpPr txBox="1"/>
          <p:nvPr/>
        </p:nvSpPr>
        <p:spPr>
          <a:xfrm>
            <a:off x="137652" y="247953"/>
            <a:ext cx="6096000" cy="584775"/>
          </a:xfrm>
          <a:prstGeom prst="rect">
            <a:avLst/>
          </a:prstGeom>
          <a:noFill/>
        </p:spPr>
        <p:txBody>
          <a:bodyPr wrap="square">
            <a:spAutoFit/>
          </a:bodyPr>
          <a:lstStyle/>
          <a:p>
            <a:r>
              <a:rPr lang="en-IN" sz="3200" b="1" dirty="0"/>
              <a:t>The foreach Loop</a:t>
            </a:r>
          </a:p>
        </p:txBody>
      </p:sp>
      <p:sp>
        <p:nvSpPr>
          <p:cNvPr id="5" name="TextBox 4">
            <a:extLst>
              <a:ext uri="{FF2B5EF4-FFF2-40B4-BE49-F238E27FC236}">
                <a16:creationId xmlns:a16="http://schemas.microsoft.com/office/drawing/2014/main" id="{3150D31C-0D2B-E0B2-276C-765146485DCE}"/>
              </a:ext>
            </a:extLst>
          </p:cNvPr>
          <p:cNvSpPr txBox="1"/>
          <p:nvPr/>
        </p:nvSpPr>
        <p:spPr>
          <a:xfrm>
            <a:off x="250722" y="1504786"/>
            <a:ext cx="11479162" cy="1200329"/>
          </a:xfrm>
          <a:prstGeom prst="rect">
            <a:avLst/>
          </a:prstGeom>
          <a:noFill/>
        </p:spPr>
        <p:txBody>
          <a:bodyPr wrap="square">
            <a:spAutoFit/>
          </a:bodyPr>
          <a:lstStyle/>
          <a:p>
            <a:r>
              <a:rPr lang="en-US" sz="2400" dirty="0"/>
              <a:t>for (type </a:t>
            </a:r>
            <a:r>
              <a:rPr lang="en-US" sz="2400" dirty="0" err="1"/>
              <a:t>variableName</a:t>
            </a:r>
            <a:r>
              <a:rPr lang="en-US" sz="2400" dirty="0"/>
              <a:t> : </a:t>
            </a:r>
            <a:r>
              <a:rPr lang="en-US" sz="2400" dirty="0" err="1"/>
              <a:t>arrayName</a:t>
            </a:r>
            <a:r>
              <a:rPr lang="en-US" sz="2400" dirty="0"/>
              <a:t>) {</a:t>
            </a:r>
          </a:p>
          <a:p>
            <a:r>
              <a:rPr lang="en-US" sz="2400" dirty="0"/>
              <a:t>  // code block to be executed</a:t>
            </a:r>
          </a:p>
          <a:p>
            <a:r>
              <a:rPr lang="en-US" sz="2400" dirty="0"/>
              <a:t>}</a:t>
            </a:r>
            <a:endParaRPr lang="en-IN" sz="2400" dirty="0"/>
          </a:p>
        </p:txBody>
      </p:sp>
      <p:sp>
        <p:nvSpPr>
          <p:cNvPr id="7" name="TextBox 6">
            <a:extLst>
              <a:ext uri="{FF2B5EF4-FFF2-40B4-BE49-F238E27FC236}">
                <a16:creationId xmlns:a16="http://schemas.microsoft.com/office/drawing/2014/main" id="{9227356B-925E-4446-5D23-C39F570A56A9}"/>
              </a:ext>
            </a:extLst>
          </p:cNvPr>
          <p:cNvSpPr txBox="1"/>
          <p:nvPr/>
        </p:nvSpPr>
        <p:spPr>
          <a:xfrm>
            <a:off x="250722" y="3615332"/>
            <a:ext cx="10856397" cy="2677656"/>
          </a:xfrm>
          <a:prstGeom prst="rect">
            <a:avLst/>
          </a:prstGeom>
          <a:noFill/>
        </p:spPr>
        <p:txBody>
          <a:bodyPr wrap="square">
            <a:spAutoFit/>
          </a:bodyPr>
          <a:lstStyle/>
          <a:p>
            <a:r>
              <a:rPr lang="en-US" sz="2400" dirty="0"/>
              <a:t>// Create an array of integers</a:t>
            </a:r>
          </a:p>
          <a:p>
            <a:r>
              <a:rPr lang="en-US" sz="2400" dirty="0"/>
              <a:t>int </a:t>
            </a:r>
            <a:r>
              <a:rPr lang="en-US" sz="2400" dirty="0" err="1"/>
              <a:t>myNumbers</a:t>
            </a:r>
            <a:r>
              <a:rPr lang="en-US" sz="2400" dirty="0"/>
              <a:t>[5] = {10, 20, 30, 40, 50};</a:t>
            </a:r>
          </a:p>
          <a:p>
            <a:endParaRPr lang="en-US" sz="2400" dirty="0"/>
          </a:p>
          <a:p>
            <a:r>
              <a:rPr lang="en-US" sz="2400" dirty="0"/>
              <a:t>// Loop through integers</a:t>
            </a:r>
          </a:p>
          <a:p>
            <a:r>
              <a:rPr lang="en-US" sz="2400" dirty="0"/>
              <a:t>for (int num : </a:t>
            </a:r>
            <a:r>
              <a:rPr lang="en-US" sz="2400" dirty="0" err="1"/>
              <a:t>myNumbers</a:t>
            </a:r>
            <a:r>
              <a:rPr lang="en-US" sz="2400" dirty="0"/>
              <a:t>) {</a:t>
            </a:r>
          </a:p>
          <a:p>
            <a:r>
              <a:rPr lang="en-US" sz="2400" dirty="0"/>
              <a:t>  </a:t>
            </a:r>
            <a:r>
              <a:rPr lang="en-US" sz="2400" dirty="0" err="1"/>
              <a:t>cout</a:t>
            </a:r>
            <a:r>
              <a:rPr lang="en-US" sz="2400" dirty="0"/>
              <a:t> &lt;&lt; num &lt;&lt; "\n";</a:t>
            </a:r>
          </a:p>
          <a:p>
            <a:r>
              <a:rPr lang="en-US" sz="2400" dirty="0"/>
              <a:t>}</a:t>
            </a:r>
            <a:endParaRPr lang="en-IN" sz="2400" dirty="0"/>
          </a:p>
        </p:txBody>
      </p:sp>
    </p:spTree>
    <p:extLst>
      <p:ext uri="{BB962C8B-B14F-4D97-AF65-F5344CB8AC3E}">
        <p14:creationId xmlns:p14="http://schemas.microsoft.com/office/powerpoint/2010/main" val="17481737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C94946-EE5C-2DD4-AF4A-FF84E7E15957}"/>
              </a:ext>
            </a:extLst>
          </p:cNvPr>
          <p:cNvSpPr txBox="1"/>
          <p:nvPr/>
        </p:nvSpPr>
        <p:spPr>
          <a:xfrm>
            <a:off x="0" y="143696"/>
            <a:ext cx="12103510" cy="2800767"/>
          </a:xfrm>
          <a:prstGeom prst="rect">
            <a:avLst/>
          </a:prstGeom>
          <a:noFill/>
        </p:spPr>
        <p:txBody>
          <a:bodyPr wrap="square">
            <a:spAutoFit/>
          </a:bodyPr>
          <a:lstStyle/>
          <a:p>
            <a:r>
              <a:rPr lang="en-US" sz="3200" b="1" dirty="0"/>
              <a:t>Multi-Dimensional Arrays</a:t>
            </a:r>
          </a:p>
          <a:p>
            <a:r>
              <a:rPr lang="en-US" sz="2400" dirty="0"/>
              <a:t>A multi-dimensional array is an array of arrays.</a:t>
            </a:r>
          </a:p>
          <a:p>
            <a:endParaRPr lang="en-US" sz="2400" dirty="0"/>
          </a:p>
          <a:p>
            <a:r>
              <a:rPr lang="en-US" sz="2400" dirty="0"/>
              <a:t>To declare a multi-dimensional array, define the variable type, specify the name of the array followed by square brackets which specify how many elements the main array has, followed by another set of square brackets which indicates how many elements the sub-arrays have:</a:t>
            </a:r>
            <a:endParaRPr lang="en-IN" sz="2400" dirty="0"/>
          </a:p>
        </p:txBody>
      </p:sp>
      <p:sp>
        <p:nvSpPr>
          <p:cNvPr id="7" name="TextBox 6">
            <a:extLst>
              <a:ext uri="{FF2B5EF4-FFF2-40B4-BE49-F238E27FC236}">
                <a16:creationId xmlns:a16="http://schemas.microsoft.com/office/drawing/2014/main" id="{1956D5C5-76F9-6254-8BA5-C274BFF47FA2}"/>
              </a:ext>
            </a:extLst>
          </p:cNvPr>
          <p:cNvSpPr txBox="1"/>
          <p:nvPr/>
        </p:nvSpPr>
        <p:spPr>
          <a:xfrm>
            <a:off x="-1" y="3059668"/>
            <a:ext cx="8504903" cy="523220"/>
          </a:xfrm>
          <a:prstGeom prst="rect">
            <a:avLst/>
          </a:prstGeom>
          <a:noFill/>
        </p:spPr>
        <p:txBody>
          <a:bodyPr wrap="square">
            <a:spAutoFit/>
          </a:bodyPr>
          <a:lstStyle/>
          <a:p>
            <a:r>
              <a:rPr lang="en-IN" sz="2800" dirty="0"/>
              <a:t>string letters[2][4];</a:t>
            </a:r>
          </a:p>
        </p:txBody>
      </p:sp>
      <p:sp>
        <p:nvSpPr>
          <p:cNvPr id="9" name="TextBox 8">
            <a:extLst>
              <a:ext uri="{FF2B5EF4-FFF2-40B4-BE49-F238E27FC236}">
                <a16:creationId xmlns:a16="http://schemas.microsoft.com/office/drawing/2014/main" id="{CFF2951D-0B9A-2528-0228-C73CBD4C0BC1}"/>
              </a:ext>
            </a:extLst>
          </p:cNvPr>
          <p:cNvSpPr txBox="1"/>
          <p:nvPr/>
        </p:nvSpPr>
        <p:spPr>
          <a:xfrm>
            <a:off x="100781" y="3698093"/>
            <a:ext cx="9082548" cy="1815882"/>
          </a:xfrm>
          <a:prstGeom prst="rect">
            <a:avLst/>
          </a:prstGeom>
          <a:noFill/>
        </p:spPr>
        <p:txBody>
          <a:bodyPr wrap="square">
            <a:spAutoFit/>
          </a:bodyPr>
          <a:lstStyle/>
          <a:p>
            <a:r>
              <a:rPr lang="en-US" sz="2800" dirty="0"/>
              <a:t>string letters[2][4] = {</a:t>
            </a:r>
          </a:p>
          <a:p>
            <a:r>
              <a:rPr lang="en-US" sz="2800" dirty="0"/>
              <a:t>  { "A", "B", "C", "D" },</a:t>
            </a:r>
          </a:p>
          <a:p>
            <a:r>
              <a:rPr lang="en-US" sz="2800" dirty="0"/>
              <a:t>  { "E", "F", "G", "H" }</a:t>
            </a:r>
          </a:p>
          <a:p>
            <a:r>
              <a:rPr lang="en-US" sz="2800" dirty="0"/>
              <a:t>};</a:t>
            </a:r>
            <a:endParaRPr lang="en-IN" sz="2800" dirty="0"/>
          </a:p>
        </p:txBody>
      </p:sp>
    </p:spTree>
    <p:extLst>
      <p:ext uri="{BB962C8B-B14F-4D97-AF65-F5344CB8AC3E}">
        <p14:creationId xmlns:p14="http://schemas.microsoft.com/office/powerpoint/2010/main" val="13537289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552B94-8E40-326E-7D5D-2A6B8B2A7851}"/>
              </a:ext>
            </a:extLst>
          </p:cNvPr>
          <p:cNvSpPr txBox="1"/>
          <p:nvPr/>
        </p:nvSpPr>
        <p:spPr>
          <a:xfrm>
            <a:off x="0" y="285586"/>
            <a:ext cx="12024852" cy="830997"/>
          </a:xfrm>
          <a:prstGeom prst="rect">
            <a:avLst/>
          </a:prstGeom>
          <a:noFill/>
        </p:spPr>
        <p:txBody>
          <a:bodyPr wrap="square">
            <a:spAutoFit/>
          </a:bodyPr>
          <a:lstStyle/>
          <a:p>
            <a:r>
              <a:rPr lang="en-US" sz="2400" dirty="0"/>
              <a:t>Arrays can have any number of dimensions. The more dimensions an array has, the more complex the code becomes. The following array has three dimensions:</a:t>
            </a:r>
            <a:endParaRPr lang="en-IN" sz="2400" dirty="0"/>
          </a:p>
        </p:txBody>
      </p:sp>
      <p:sp>
        <p:nvSpPr>
          <p:cNvPr id="5" name="TextBox 4">
            <a:extLst>
              <a:ext uri="{FF2B5EF4-FFF2-40B4-BE49-F238E27FC236}">
                <a16:creationId xmlns:a16="http://schemas.microsoft.com/office/drawing/2014/main" id="{8AD6AC67-44DD-D0D0-27D4-0F09D6782311}"/>
              </a:ext>
            </a:extLst>
          </p:cNvPr>
          <p:cNvSpPr txBox="1"/>
          <p:nvPr/>
        </p:nvSpPr>
        <p:spPr>
          <a:xfrm>
            <a:off x="747251" y="1228397"/>
            <a:ext cx="4650659" cy="4401205"/>
          </a:xfrm>
          <a:prstGeom prst="rect">
            <a:avLst/>
          </a:prstGeom>
          <a:noFill/>
        </p:spPr>
        <p:txBody>
          <a:bodyPr wrap="square">
            <a:spAutoFit/>
          </a:bodyPr>
          <a:lstStyle/>
          <a:p>
            <a:r>
              <a:rPr lang="en-IN" sz="2800" dirty="0"/>
              <a:t>string letters[2][2][2] = {</a:t>
            </a:r>
          </a:p>
          <a:p>
            <a:r>
              <a:rPr lang="en-IN" sz="2800" dirty="0"/>
              <a:t>  {</a:t>
            </a:r>
          </a:p>
          <a:p>
            <a:r>
              <a:rPr lang="en-IN" sz="2800" dirty="0"/>
              <a:t>    { "A", "B" },</a:t>
            </a:r>
          </a:p>
          <a:p>
            <a:r>
              <a:rPr lang="en-IN" sz="2800" dirty="0"/>
              <a:t>    { "C", "D" }</a:t>
            </a:r>
          </a:p>
          <a:p>
            <a:r>
              <a:rPr lang="en-IN" sz="2800" dirty="0"/>
              <a:t>  },</a:t>
            </a:r>
          </a:p>
          <a:p>
            <a:r>
              <a:rPr lang="en-IN" sz="2800" dirty="0"/>
              <a:t>  {</a:t>
            </a:r>
          </a:p>
          <a:p>
            <a:r>
              <a:rPr lang="en-IN" sz="2800" dirty="0"/>
              <a:t>    { "E", "F" },</a:t>
            </a:r>
          </a:p>
          <a:p>
            <a:r>
              <a:rPr lang="en-IN" sz="2800" dirty="0"/>
              <a:t>    { "G", "H" }</a:t>
            </a:r>
          </a:p>
          <a:p>
            <a:r>
              <a:rPr lang="en-IN" sz="2800" dirty="0"/>
              <a:t>  }</a:t>
            </a:r>
          </a:p>
          <a:p>
            <a:r>
              <a:rPr lang="en-IN" sz="2800" dirty="0"/>
              <a:t>};</a:t>
            </a:r>
          </a:p>
        </p:txBody>
      </p:sp>
      <p:sp>
        <p:nvSpPr>
          <p:cNvPr id="4" name="TextBox 3">
            <a:extLst>
              <a:ext uri="{FF2B5EF4-FFF2-40B4-BE49-F238E27FC236}">
                <a16:creationId xmlns:a16="http://schemas.microsoft.com/office/drawing/2014/main" id="{70E3B8C7-B15B-97D4-27CA-A31848BE2382}"/>
              </a:ext>
            </a:extLst>
          </p:cNvPr>
          <p:cNvSpPr txBox="1"/>
          <p:nvPr/>
        </p:nvSpPr>
        <p:spPr>
          <a:xfrm>
            <a:off x="6454877" y="1957069"/>
            <a:ext cx="3829665" cy="1200329"/>
          </a:xfrm>
          <a:prstGeom prst="rect">
            <a:avLst/>
          </a:prstGeom>
          <a:noFill/>
        </p:spPr>
        <p:txBody>
          <a:bodyPr wrap="square">
            <a:spAutoFit/>
          </a:bodyPr>
          <a:lstStyle/>
          <a:p>
            <a:r>
              <a:rPr lang="en-US" sz="2400" dirty="0"/>
              <a:t>Block 0:                Block 1:</a:t>
            </a:r>
          </a:p>
          <a:p>
            <a:r>
              <a:rPr lang="en-US" sz="2400" dirty="0"/>
              <a:t> A   B                   		E   F</a:t>
            </a:r>
          </a:p>
          <a:p>
            <a:r>
              <a:rPr lang="en-US" sz="2400" dirty="0"/>
              <a:t>C   D                   		G   H</a:t>
            </a:r>
          </a:p>
        </p:txBody>
      </p:sp>
    </p:spTree>
    <p:extLst>
      <p:ext uri="{BB962C8B-B14F-4D97-AF65-F5344CB8AC3E}">
        <p14:creationId xmlns:p14="http://schemas.microsoft.com/office/powerpoint/2010/main" val="2038925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6F8C01-DE7F-31EE-F797-34D494DC15BD}"/>
              </a:ext>
            </a:extLst>
          </p:cNvPr>
          <p:cNvSpPr txBox="1"/>
          <p:nvPr/>
        </p:nvSpPr>
        <p:spPr>
          <a:xfrm>
            <a:off x="68826" y="83007"/>
            <a:ext cx="12054347" cy="2616101"/>
          </a:xfrm>
          <a:prstGeom prst="rect">
            <a:avLst/>
          </a:prstGeom>
          <a:noFill/>
        </p:spPr>
        <p:txBody>
          <a:bodyPr wrap="square">
            <a:spAutoFit/>
          </a:bodyPr>
          <a:lstStyle/>
          <a:p>
            <a:r>
              <a:rPr lang="en-US" sz="4400" b="1" dirty="0"/>
              <a:t>C++ Structures</a:t>
            </a:r>
          </a:p>
          <a:p>
            <a:r>
              <a:rPr lang="en-US" sz="2400" dirty="0"/>
              <a:t>Structures (also called structs) are a way to group several related variables into one place.</a:t>
            </a:r>
          </a:p>
          <a:p>
            <a:endParaRPr lang="en-US" sz="2400" dirty="0"/>
          </a:p>
          <a:p>
            <a:r>
              <a:rPr lang="en-US" sz="2400" dirty="0"/>
              <a:t>Each variable in the structure is known as a member of the structure.</a:t>
            </a:r>
          </a:p>
          <a:p>
            <a:endParaRPr lang="en-US" sz="2400" dirty="0"/>
          </a:p>
          <a:p>
            <a:r>
              <a:rPr lang="en-US" sz="2400" dirty="0"/>
              <a:t>Unlike an array, a structure can contain many different data types: int, string, bool, etc.</a:t>
            </a:r>
          </a:p>
        </p:txBody>
      </p:sp>
      <p:sp>
        <p:nvSpPr>
          <p:cNvPr id="5" name="TextBox 4">
            <a:extLst>
              <a:ext uri="{FF2B5EF4-FFF2-40B4-BE49-F238E27FC236}">
                <a16:creationId xmlns:a16="http://schemas.microsoft.com/office/drawing/2014/main" id="{D55CAC25-B2EC-56AC-EC6D-21FE0DD7FB97}"/>
              </a:ext>
            </a:extLst>
          </p:cNvPr>
          <p:cNvSpPr txBox="1"/>
          <p:nvPr/>
        </p:nvSpPr>
        <p:spPr>
          <a:xfrm>
            <a:off x="0" y="2772810"/>
            <a:ext cx="12123174" cy="1938992"/>
          </a:xfrm>
          <a:prstGeom prst="rect">
            <a:avLst/>
          </a:prstGeom>
          <a:noFill/>
        </p:spPr>
        <p:txBody>
          <a:bodyPr wrap="square">
            <a:spAutoFit/>
          </a:bodyPr>
          <a:lstStyle/>
          <a:p>
            <a:r>
              <a:rPr lang="en-US" sz="2400" b="1" dirty="0"/>
              <a:t>Create a Structure</a:t>
            </a:r>
          </a:p>
          <a:p>
            <a:r>
              <a:rPr lang="en-US" sz="2400" dirty="0"/>
              <a:t>To create a structure, use the struct keyword and declare each of its members inside curly braces.</a:t>
            </a:r>
          </a:p>
          <a:p>
            <a:r>
              <a:rPr lang="en-US" sz="2400" dirty="0"/>
              <a:t>After the declaration, specify the name of the structure variable (</a:t>
            </a:r>
            <a:r>
              <a:rPr lang="en-US" sz="2400" dirty="0" err="1"/>
              <a:t>myStructure</a:t>
            </a:r>
            <a:r>
              <a:rPr lang="en-US" sz="2400" dirty="0"/>
              <a:t> in the example below):</a:t>
            </a:r>
            <a:endParaRPr lang="en-IN" sz="2400" dirty="0"/>
          </a:p>
        </p:txBody>
      </p:sp>
      <p:sp>
        <p:nvSpPr>
          <p:cNvPr id="7" name="TextBox 6">
            <a:extLst>
              <a:ext uri="{FF2B5EF4-FFF2-40B4-BE49-F238E27FC236}">
                <a16:creationId xmlns:a16="http://schemas.microsoft.com/office/drawing/2014/main" id="{1AC65F88-DE41-8E68-B3B3-60A33BCE52A8}"/>
              </a:ext>
            </a:extLst>
          </p:cNvPr>
          <p:cNvSpPr txBox="1"/>
          <p:nvPr/>
        </p:nvSpPr>
        <p:spPr>
          <a:xfrm>
            <a:off x="216309" y="4785504"/>
            <a:ext cx="8445910" cy="1815882"/>
          </a:xfrm>
          <a:prstGeom prst="rect">
            <a:avLst/>
          </a:prstGeom>
          <a:noFill/>
        </p:spPr>
        <p:txBody>
          <a:bodyPr wrap="square">
            <a:spAutoFit/>
          </a:bodyPr>
          <a:lstStyle/>
          <a:p>
            <a:r>
              <a:rPr lang="en-IN" sz="2800" dirty="0"/>
              <a:t>struct {             // Structure declaration</a:t>
            </a:r>
          </a:p>
          <a:p>
            <a:r>
              <a:rPr lang="en-IN" sz="2800" dirty="0"/>
              <a:t>  int </a:t>
            </a:r>
            <a:r>
              <a:rPr lang="en-IN" sz="2800" dirty="0" err="1"/>
              <a:t>myNum</a:t>
            </a:r>
            <a:r>
              <a:rPr lang="en-IN" sz="2800" dirty="0"/>
              <a:t>;         // Member (int variable)</a:t>
            </a:r>
          </a:p>
          <a:p>
            <a:r>
              <a:rPr lang="en-IN" sz="2800" dirty="0"/>
              <a:t>  string </a:t>
            </a:r>
            <a:r>
              <a:rPr lang="en-IN" sz="2800" dirty="0" err="1"/>
              <a:t>myString</a:t>
            </a:r>
            <a:r>
              <a:rPr lang="en-IN" sz="2800" dirty="0"/>
              <a:t>;   // Member (string variable)</a:t>
            </a:r>
          </a:p>
          <a:p>
            <a:r>
              <a:rPr lang="en-IN" sz="2800" dirty="0"/>
              <a:t>} </a:t>
            </a:r>
            <a:r>
              <a:rPr lang="en-IN" sz="2800" dirty="0" err="1"/>
              <a:t>myStructure</a:t>
            </a:r>
            <a:r>
              <a:rPr lang="en-IN" sz="2800" dirty="0"/>
              <a:t>;</a:t>
            </a:r>
          </a:p>
        </p:txBody>
      </p:sp>
    </p:spTree>
    <p:extLst>
      <p:ext uri="{BB962C8B-B14F-4D97-AF65-F5344CB8AC3E}">
        <p14:creationId xmlns:p14="http://schemas.microsoft.com/office/powerpoint/2010/main" val="30476218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FCBA68-2C20-A15F-F2D8-50A1394D163B}"/>
              </a:ext>
            </a:extLst>
          </p:cNvPr>
          <p:cNvSpPr txBox="1"/>
          <p:nvPr/>
        </p:nvSpPr>
        <p:spPr>
          <a:xfrm>
            <a:off x="108155" y="228289"/>
            <a:ext cx="6096000" cy="646331"/>
          </a:xfrm>
          <a:prstGeom prst="rect">
            <a:avLst/>
          </a:prstGeom>
          <a:noFill/>
        </p:spPr>
        <p:txBody>
          <a:bodyPr wrap="square">
            <a:spAutoFit/>
          </a:bodyPr>
          <a:lstStyle/>
          <a:p>
            <a:r>
              <a:rPr lang="en-IN" sz="3600" b="1" dirty="0"/>
              <a:t>Access Structure Members</a:t>
            </a:r>
          </a:p>
        </p:txBody>
      </p:sp>
      <p:sp>
        <p:nvSpPr>
          <p:cNvPr id="5" name="TextBox 4">
            <a:extLst>
              <a:ext uri="{FF2B5EF4-FFF2-40B4-BE49-F238E27FC236}">
                <a16:creationId xmlns:a16="http://schemas.microsoft.com/office/drawing/2014/main" id="{8015DD5E-B821-0CCF-6DEE-01B4C044B26F}"/>
              </a:ext>
            </a:extLst>
          </p:cNvPr>
          <p:cNvSpPr txBox="1"/>
          <p:nvPr/>
        </p:nvSpPr>
        <p:spPr>
          <a:xfrm>
            <a:off x="88491" y="985373"/>
            <a:ext cx="11523406" cy="461665"/>
          </a:xfrm>
          <a:prstGeom prst="rect">
            <a:avLst/>
          </a:prstGeom>
          <a:noFill/>
        </p:spPr>
        <p:txBody>
          <a:bodyPr wrap="square">
            <a:spAutoFit/>
          </a:bodyPr>
          <a:lstStyle/>
          <a:p>
            <a:r>
              <a:rPr lang="en-US" sz="2400" dirty="0"/>
              <a:t>To access members of a structure, use the dot syntax (.):</a:t>
            </a:r>
            <a:endParaRPr lang="en-IN" sz="2400" dirty="0"/>
          </a:p>
        </p:txBody>
      </p:sp>
      <p:sp>
        <p:nvSpPr>
          <p:cNvPr id="7" name="TextBox 6">
            <a:extLst>
              <a:ext uri="{FF2B5EF4-FFF2-40B4-BE49-F238E27FC236}">
                <a16:creationId xmlns:a16="http://schemas.microsoft.com/office/drawing/2014/main" id="{CAF0DCCA-1E34-A6E4-19B6-4FCB13ED2228}"/>
              </a:ext>
            </a:extLst>
          </p:cNvPr>
          <p:cNvSpPr txBox="1"/>
          <p:nvPr/>
        </p:nvSpPr>
        <p:spPr>
          <a:xfrm>
            <a:off x="108154" y="1584799"/>
            <a:ext cx="11847871" cy="4893647"/>
          </a:xfrm>
          <a:prstGeom prst="rect">
            <a:avLst/>
          </a:prstGeom>
          <a:noFill/>
        </p:spPr>
        <p:txBody>
          <a:bodyPr wrap="square">
            <a:spAutoFit/>
          </a:bodyPr>
          <a:lstStyle/>
          <a:p>
            <a:r>
              <a:rPr lang="en-IN" sz="2400" dirty="0"/>
              <a:t>// Create a structure variable called </a:t>
            </a:r>
            <a:r>
              <a:rPr lang="en-IN" sz="2400" dirty="0" err="1"/>
              <a:t>myStructure</a:t>
            </a:r>
            <a:endParaRPr lang="en-IN" sz="2400" dirty="0"/>
          </a:p>
          <a:p>
            <a:r>
              <a:rPr lang="en-IN" sz="2400" dirty="0"/>
              <a:t>struct {</a:t>
            </a:r>
          </a:p>
          <a:p>
            <a:r>
              <a:rPr lang="en-IN" sz="2400" dirty="0"/>
              <a:t>  int </a:t>
            </a:r>
            <a:r>
              <a:rPr lang="en-IN" sz="2400" dirty="0" err="1"/>
              <a:t>myNum</a:t>
            </a:r>
            <a:r>
              <a:rPr lang="en-IN" sz="2400" dirty="0"/>
              <a:t>;</a:t>
            </a:r>
          </a:p>
          <a:p>
            <a:r>
              <a:rPr lang="en-IN" sz="2400" dirty="0"/>
              <a:t>  string </a:t>
            </a:r>
            <a:r>
              <a:rPr lang="en-IN" sz="2400" dirty="0" err="1"/>
              <a:t>myString</a:t>
            </a:r>
            <a:r>
              <a:rPr lang="en-IN" sz="2400" dirty="0"/>
              <a:t>;</a:t>
            </a:r>
          </a:p>
          <a:p>
            <a:r>
              <a:rPr lang="en-IN" sz="2400" dirty="0"/>
              <a:t>} </a:t>
            </a:r>
            <a:r>
              <a:rPr lang="en-IN" sz="2400" dirty="0" err="1"/>
              <a:t>myStructure</a:t>
            </a:r>
            <a:r>
              <a:rPr lang="en-IN" sz="2400" dirty="0"/>
              <a:t>;</a:t>
            </a:r>
          </a:p>
          <a:p>
            <a:endParaRPr lang="en-IN" sz="2400" dirty="0"/>
          </a:p>
          <a:p>
            <a:r>
              <a:rPr lang="en-IN" sz="2400" dirty="0"/>
              <a:t>// Assign values to members of </a:t>
            </a:r>
            <a:r>
              <a:rPr lang="en-IN" sz="2400" dirty="0" err="1"/>
              <a:t>myStructure</a:t>
            </a:r>
            <a:endParaRPr lang="en-IN" sz="2400" dirty="0"/>
          </a:p>
          <a:p>
            <a:r>
              <a:rPr lang="en-IN" sz="2400" dirty="0" err="1"/>
              <a:t>myStructure.myNum</a:t>
            </a:r>
            <a:r>
              <a:rPr lang="en-IN" sz="2400" dirty="0"/>
              <a:t> = 1;</a:t>
            </a:r>
          </a:p>
          <a:p>
            <a:r>
              <a:rPr lang="en-IN" sz="2400" dirty="0" err="1"/>
              <a:t>myStructure.myString</a:t>
            </a:r>
            <a:r>
              <a:rPr lang="en-IN" sz="2400" dirty="0"/>
              <a:t> = "Hello World!";</a:t>
            </a:r>
          </a:p>
          <a:p>
            <a:endParaRPr lang="en-IN" sz="2400" dirty="0"/>
          </a:p>
          <a:p>
            <a:r>
              <a:rPr lang="en-IN" sz="2400" dirty="0"/>
              <a:t>// Print members of </a:t>
            </a:r>
            <a:r>
              <a:rPr lang="en-IN" sz="2400" dirty="0" err="1"/>
              <a:t>myStructure</a:t>
            </a:r>
            <a:endParaRPr lang="en-IN" sz="2400" dirty="0"/>
          </a:p>
          <a:p>
            <a:r>
              <a:rPr lang="en-IN" sz="2400" dirty="0" err="1"/>
              <a:t>cout</a:t>
            </a:r>
            <a:r>
              <a:rPr lang="en-IN" sz="2400" dirty="0"/>
              <a:t> &lt;&lt; </a:t>
            </a:r>
            <a:r>
              <a:rPr lang="en-IN" sz="2400" dirty="0" err="1"/>
              <a:t>myStructure.myNum</a:t>
            </a:r>
            <a:r>
              <a:rPr lang="en-IN" sz="2400" dirty="0"/>
              <a:t> &lt;&lt; "\n";</a:t>
            </a:r>
          </a:p>
          <a:p>
            <a:r>
              <a:rPr lang="en-IN" sz="2400" dirty="0" err="1"/>
              <a:t>cout</a:t>
            </a:r>
            <a:r>
              <a:rPr lang="en-IN" sz="2400" dirty="0"/>
              <a:t> &lt;&lt; </a:t>
            </a:r>
            <a:r>
              <a:rPr lang="en-IN" sz="2400" dirty="0" err="1"/>
              <a:t>myStructure.myString</a:t>
            </a:r>
            <a:r>
              <a:rPr lang="en-IN" sz="2400" dirty="0"/>
              <a:t> &lt;&lt; "\n";</a:t>
            </a:r>
          </a:p>
        </p:txBody>
      </p:sp>
    </p:spTree>
    <p:extLst>
      <p:ext uri="{BB962C8B-B14F-4D97-AF65-F5344CB8AC3E}">
        <p14:creationId xmlns:p14="http://schemas.microsoft.com/office/powerpoint/2010/main" val="3519652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41C71-503F-33B1-2BA5-27EFA993882A}"/>
              </a:ext>
            </a:extLst>
          </p:cNvPr>
          <p:cNvSpPr txBox="1"/>
          <p:nvPr/>
        </p:nvSpPr>
        <p:spPr>
          <a:xfrm>
            <a:off x="127818" y="236425"/>
            <a:ext cx="11926529" cy="954107"/>
          </a:xfrm>
          <a:prstGeom prst="rect">
            <a:avLst/>
          </a:prstGeom>
          <a:noFill/>
        </p:spPr>
        <p:txBody>
          <a:bodyPr wrap="square">
            <a:spAutoFit/>
          </a:bodyPr>
          <a:lstStyle/>
          <a:p>
            <a:r>
              <a:rPr lang="en-US" sz="3200" b="1" dirty="0"/>
              <a:t>One Structure in Multiple Variables</a:t>
            </a:r>
          </a:p>
          <a:p>
            <a:r>
              <a:rPr lang="en-US" sz="2400" dirty="0"/>
              <a:t>You can use a comma (,) to use one structure in many variables:</a:t>
            </a:r>
            <a:endParaRPr lang="en-IN" sz="2400" dirty="0"/>
          </a:p>
        </p:txBody>
      </p:sp>
      <p:sp>
        <p:nvSpPr>
          <p:cNvPr id="5" name="TextBox 4">
            <a:extLst>
              <a:ext uri="{FF2B5EF4-FFF2-40B4-BE49-F238E27FC236}">
                <a16:creationId xmlns:a16="http://schemas.microsoft.com/office/drawing/2014/main" id="{B21C69BC-10BF-040E-0EC5-83B184E978C9}"/>
              </a:ext>
            </a:extLst>
          </p:cNvPr>
          <p:cNvSpPr txBox="1"/>
          <p:nvPr/>
        </p:nvSpPr>
        <p:spPr>
          <a:xfrm>
            <a:off x="137653" y="1190532"/>
            <a:ext cx="11916694" cy="5355312"/>
          </a:xfrm>
          <a:prstGeom prst="rect">
            <a:avLst/>
          </a:prstGeom>
          <a:noFill/>
        </p:spPr>
        <p:txBody>
          <a:bodyPr wrap="square">
            <a:spAutoFit/>
          </a:bodyPr>
          <a:lstStyle/>
          <a:p>
            <a:r>
              <a:rPr lang="en-IN" dirty="0"/>
              <a:t>struct {</a:t>
            </a:r>
          </a:p>
          <a:p>
            <a:r>
              <a:rPr lang="en-IN" dirty="0"/>
              <a:t>  string brand;</a:t>
            </a:r>
          </a:p>
          <a:p>
            <a:r>
              <a:rPr lang="en-IN" dirty="0"/>
              <a:t>  string model;</a:t>
            </a:r>
          </a:p>
          <a:p>
            <a:r>
              <a:rPr lang="en-IN" dirty="0"/>
              <a:t>  int year;</a:t>
            </a:r>
          </a:p>
          <a:p>
            <a:r>
              <a:rPr lang="en-IN" dirty="0"/>
              <a:t>} myCar1, myCar2; // We can add variables by separating them with a comma here</a:t>
            </a:r>
          </a:p>
          <a:p>
            <a:endParaRPr lang="en-IN" dirty="0"/>
          </a:p>
          <a:p>
            <a:r>
              <a:rPr lang="en-IN" dirty="0"/>
              <a:t>// Put data into the first structure</a:t>
            </a:r>
          </a:p>
          <a:p>
            <a:r>
              <a:rPr lang="en-IN" dirty="0"/>
              <a:t>myCar1.brand = "BMW";</a:t>
            </a:r>
          </a:p>
          <a:p>
            <a:r>
              <a:rPr lang="en-IN" dirty="0"/>
              <a:t>myCar1.model = "X5";</a:t>
            </a:r>
          </a:p>
          <a:p>
            <a:r>
              <a:rPr lang="en-IN" dirty="0"/>
              <a:t>myCar1.year = 1999;</a:t>
            </a:r>
          </a:p>
          <a:p>
            <a:endParaRPr lang="en-IN" dirty="0"/>
          </a:p>
          <a:p>
            <a:r>
              <a:rPr lang="en-IN" dirty="0"/>
              <a:t>// Put data into the second structure</a:t>
            </a:r>
          </a:p>
          <a:p>
            <a:r>
              <a:rPr lang="en-IN" dirty="0"/>
              <a:t>myCar2.brand = "Ford";</a:t>
            </a:r>
          </a:p>
          <a:p>
            <a:r>
              <a:rPr lang="en-IN" dirty="0"/>
              <a:t>myCar2.model = "Mustang";</a:t>
            </a:r>
          </a:p>
          <a:p>
            <a:r>
              <a:rPr lang="en-IN" dirty="0"/>
              <a:t>myCar2.year = 1969;</a:t>
            </a:r>
          </a:p>
          <a:p>
            <a:endParaRPr lang="en-IN" dirty="0"/>
          </a:p>
          <a:p>
            <a:r>
              <a:rPr lang="en-IN" dirty="0"/>
              <a:t>// Print the structure members</a:t>
            </a:r>
          </a:p>
          <a:p>
            <a:r>
              <a:rPr lang="en-IN" dirty="0" err="1"/>
              <a:t>cout</a:t>
            </a:r>
            <a:r>
              <a:rPr lang="en-IN" dirty="0"/>
              <a:t> &lt;&lt; myCar1.brand &lt;&lt; " " &lt;&lt; myCar1.model &lt;&lt; " " &lt;&lt; myCar1.year &lt;&lt; "\n";</a:t>
            </a:r>
          </a:p>
          <a:p>
            <a:r>
              <a:rPr lang="en-IN" dirty="0" err="1"/>
              <a:t>cout</a:t>
            </a:r>
            <a:r>
              <a:rPr lang="en-IN" dirty="0"/>
              <a:t> &lt;&lt; myCar2.brand &lt;&lt; " " &lt;&lt; myCar2.model &lt;&lt; " " &lt;&lt; myCar2.year &lt;&lt; "\n";</a:t>
            </a:r>
          </a:p>
        </p:txBody>
      </p:sp>
    </p:spTree>
    <p:extLst>
      <p:ext uri="{BB962C8B-B14F-4D97-AF65-F5344CB8AC3E}">
        <p14:creationId xmlns:p14="http://schemas.microsoft.com/office/powerpoint/2010/main" val="1724753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C7BFD9-98F2-AA32-9697-FE2D3D0A4FF9}"/>
              </a:ext>
            </a:extLst>
          </p:cNvPr>
          <p:cNvSpPr txBox="1"/>
          <p:nvPr/>
        </p:nvSpPr>
        <p:spPr>
          <a:xfrm>
            <a:off x="137651" y="115047"/>
            <a:ext cx="11946193" cy="2123658"/>
          </a:xfrm>
          <a:prstGeom prst="rect">
            <a:avLst/>
          </a:prstGeom>
          <a:noFill/>
        </p:spPr>
        <p:txBody>
          <a:bodyPr wrap="square">
            <a:spAutoFit/>
          </a:bodyPr>
          <a:lstStyle/>
          <a:p>
            <a:r>
              <a:rPr lang="en-US" sz="3600" b="1" dirty="0"/>
              <a:t>C++ Enums</a:t>
            </a:r>
          </a:p>
          <a:p>
            <a:r>
              <a:rPr lang="en-US" sz="2400" dirty="0"/>
              <a:t>An </a:t>
            </a:r>
            <a:r>
              <a:rPr lang="en-US" sz="2400" dirty="0" err="1"/>
              <a:t>enum</a:t>
            </a:r>
            <a:r>
              <a:rPr lang="en-US" sz="2400" dirty="0"/>
              <a:t> is a special type that represents a group of constants (unchangeable values).</a:t>
            </a:r>
          </a:p>
          <a:p>
            <a:endParaRPr lang="en-US" sz="2400" dirty="0"/>
          </a:p>
          <a:p>
            <a:r>
              <a:rPr lang="en-US" sz="2400" dirty="0"/>
              <a:t>To create an </a:t>
            </a:r>
            <a:r>
              <a:rPr lang="en-US" sz="2400" dirty="0" err="1"/>
              <a:t>enum</a:t>
            </a:r>
            <a:r>
              <a:rPr lang="en-US" sz="2400" dirty="0"/>
              <a:t>, use the </a:t>
            </a:r>
            <a:r>
              <a:rPr lang="en-US" sz="2400" dirty="0" err="1"/>
              <a:t>enum</a:t>
            </a:r>
            <a:r>
              <a:rPr lang="en-US" sz="2400" dirty="0"/>
              <a:t> keyword, followed by the name of the </a:t>
            </a:r>
            <a:r>
              <a:rPr lang="en-US" sz="2400" dirty="0" err="1"/>
              <a:t>enum</a:t>
            </a:r>
            <a:r>
              <a:rPr lang="en-US" sz="2400" dirty="0"/>
              <a:t>, and separate the </a:t>
            </a:r>
            <a:r>
              <a:rPr lang="en-US" sz="2400" dirty="0" err="1"/>
              <a:t>enum</a:t>
            </a:r>
            <a:r>
              <a:rPr lang="en-US" sz="2400" dirty="0"/>
              <a:t> items with a comma:</a:t>
            </a:r>
            <a:endParaRPr lang="en-IN" sz="2400" dirty="0"/>
          </a:p>
        </p:txBody>
      </p:sp>
      <p:sp>
        <p:nvSpPr>
          <p:cNvPr id="5" name="TextBox 4">
            <a:extLst>
              <a:ext uri="{FF2B5EF4-FFF2-40B4-BE49-F238E27FC236}">
                <a16:creationId xmlns:a16="http://schemas.microsoft.com/office/drawing/2014/main" id="{734CA693-F0E2-00A5-5413-D08260B37EF0}"/>
              </a:ext>
            </a:extLst>
          </p:cNvPr>
          <p:cNvSpPr txBox="1"/>
          <p:nvPr/>
        </p:nvSpPr>
        <p:spPr>
          <a:xfrm>
            <a:off x="216309" y="2238705"/>
            <a:ext cx="8994058" cy="1477328"/>
          </a:xfrm>
          <a:prstGeom prst="rect">
            <a:avLst/>
          </a:prstGeom>
          <a:noFill/>
        </p:spPr>
        <p:txBody>
          <a:bodyPr wrap="square">
            <a:spAutoFit/>
          </a:bodyPr>
          <a:lstStyle/>
          <a:p>
            <a:r>
              <a:rPr lang="en-US" dirty="0" err="1"/>
              <a:t>enum</a:t>
            </a:r>
            <a:r>
              <a:rPr lang="en-US" dirty="0"/>
              <a:t> Level {</a:t>
            </a:r>
          </a:p>
          <a:p>
            <a:r>
              <a:rPr lang="en-US" dirty="0"/>
              <a:t>  LOW,</a:t>
            </a:r>
          </a:p>
          <a:p>
            <a:r>
              <a:rPr lang="en-US" dirty="0"/>
              <a:t>  MEDIUM,</a:t>
            </a:r>
          </a:p>
          <a:p>
            <a:r>
              <a:rPr lang="en-US" dirty="0"/>
              <a:t>  HIGH</a:t>
            </a:r>
          </a:p>
          <a:p>
            <a:r>
              <a:rPr lang="en-US" dirty="0"/>
              <a:t>};</a:t>
            </a:r>
            <a:endParaRPr lang="en-IN" dirty="0"/>
          </a:p>
        </p:txBody>
      </p:sp>
      <p:sp>
        <p:nvSpPr>
          <p:cNvPr id="7" name="TextBox 6">
            <a:extLst>
              <a:ext uri="{FF2B5EF4-FFF2-40B4-BE49-F238E27FC236}">
                <a16:creationId xmlns:a16="http://schemas.microsoft.com/office/drawing/2014/main" id="{34E57B97-E73B-FEBF-5E7C-D960E765DCEE}"/>
              </a:ext>
            </a:extLst>
          </p:cNvPr>
          <p:cNvSpPr txBox="1"/>
          <p:nvPr/>
        </p:nvSpPr>
        <p:spPr>
          <a:xfrm>
            <a:off x="122903" y="4000819"/>
            <a:ext cx="11946193" cy="2031325"/>
          </a:xfrm>
          <a:prstGeom prst="rect">
            <a:avLst/>
          </a:prstGeom>
          <a:noFill/>
        </p:spPr>
        <p:txBody>
          <a:bodyPr wrap="square">
            <a:spAutoFit/>
          </a:bodyPr>
          <a:lstStyle/>
          <a:p>
            <a:r>
              <a:rPr lang="en-US" dirty="0"/>
              <a:t>the last item does not need a comma.</a:t>
            </a:r>
          </a:p>
          <a:p>
            <a:endParaRPr lang="en-US" dirty="0"/>
          </a:p>
          <a:p>
            <a:r>
              <a:rPr lang="en-US" dirty="0"/>
              <a:t>It is not required to use uppercase but often considered as good practice.</a:t>
            </a:r>
          </a:p>
          <a:p>
            <a:endParaRPr lang="en-US" dirty="0"/>
          </a:p>
          <a:p>
            <a:r>
              <a:rPr lang="en-US" dirty="0"/>
              <a:t>Enum is short for "enumerations", which means "specifically listed".</a:t>
            </a:r>
          </a:p>
          <a:p>
            <a:endParaRPr lang="en-US" dirty="0"/>
          </a:p>
          <a:p>
            <a:r>
              <a:rPr lang="en-US" dirty="0"/>
              <a:t>To access the </a:t>
            </a:r>
            <a:r>
              <a:rPr lang="en-US" dirty="0" err="1"/>
              <a:t>enum</a:t>
            </a:r>
            <a:r>
              <a:rPr lang="en-US" dirty="0"/>
              <a:t>, you must create a variable of it.</a:t>
            </a:r>
          </a:p>
        </p:txBody>
      </p:sp>
    </p:spTree>
    <p:extLst>
      <p:ext uri="{BB962C8B-B14F-4D97-AF65-F5344CB8AC3E}">
        <p14:creationId xmlns:p14="http://schemas.microsoft.com/office/powerpoint/2010/main" val="1278130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525E95-EAC5-D169-5E2C-1DBA71785C38}"/>
              </a:ext>
            </a:extLst>
          </p:cNvPr>
          <p:cNvSpPr txBox="1"/>
          <p:nvPr/>
        </p:nvSpPr>
        <p:spPr>
          <a:xfrm>
            <a:off x="68826" y="228795"/>
            <a:ext cx="11867536" cy="2585323"/>
          </a:xfrm>
          <a:prstGeom prst="rect">
            <a:avLst/>
          </a:prstGeom>
          <a:noFill/>
        </p:spPr>
        <p:txBody>
          <a:bodyPr wrap="square">
            <a:spAutoFit/>
          </a:bodyPr>
          <a:lstStyle/>
          <a:p>
            <a:r>
              <a:rPr lang="en-US" dirty="0"/>
              <a:t>Inside the main() method, specify the </a:t>
            </a:r>
            <a:r>
              <a:rPr lang="en-US" dirty="0" err="1"/>
              <a:t>enum</a:t>
            </a:r>
            <a:r>
              <a:rPr lang="en-US" dirty="0"/>
              <a:t> keyword, followed by the name of the </a:t>
            </a:r>
            <a:r>
              <a:rPr lang="en-US" dirty="0" err="1"/>
              <a:t>enum</a:t>
            </a:r>
            <a:r>
              <a:rPr lang="en-US" dirty="0"/>
              <a:t> (Level) and then the name of the </a:t>
            </a:r>
            <a:r>
              <a:rPr lang="en-US" dirty="0" err="1"/>
              <a:t>enum</a:t>
            </a:r>
            <a:r>
              <a:rPr lang="en-US" dirty="0"/>
              <a:t> variable (</a:t>
            </a:r>
            <a:r>
              <a:rPr lang="en-US" dirty="0" err="1"/>
              <a:t>myVar</a:t>
            </a:r>
            <a:r>
              <a:rPr lang="en-US" dirty="0"/>
              <a:t> in this example):</a:t>
            </a:r>
          </a:p>
          <a:p>
            <a:endParaRPr lang="en-US" dirty="0"/>
          </a:p>
          <a:p>
            <a:r>
              <a:rPr lang="en-US" dirty="0" err="1"/>
              <a:t>enum</a:t>
            </a:r>
            <a:r>
              <a:rPr lang="en-US" dirty="0"/>
              <a:t> Level </a:t>
            </a:r>
            <a:r>
              <a:rPr lang="en-US" dirty="0" err="1"/>
              <a:t>myVar</a:t>
            </a:r>
            <a:r>
              <a:rPr lang="en-US" dirty="0"/>
              <a:t>;</a:t>
            </a:r>
          </a:p>
          <a:p>
            <a:r>
              <a:rPr lang="en-US" dirty="0"/>
              <a:t>Now that you have created an </a:t>
            </a:r>
            <a:r>
              <a:rPr lang="en-US" dirty="0" err="1"/>
              <a:t>enum</a:t>
            </a:r>
            <a:r>
              <a:rPr lang="en-US" dirty="0"/>
              <a:t> variable (</a:t>
            </a:r>
            <a:r>
              <a:rPr lang="en-US" dirty="0" err="1"/>
              <a:t>myVar</a:t>
            </a:r>
            <a:r>
              <a:rPr lang="en-US" dirty="0"/>
              <a:t>), you can assign a value to it.</a:t>
            </a:r>
          </a:p>
          <a:p>
            <a:endParaRPr lang="en-US" dirty="0"/>
          </a:p>
          <a:p>
            <a:r>
              <a:rPr lang="en-US" dirty="0"/>
              <a:t>The assigned value must be one of the items inside the </a:t>
            </a:r>
            <a:r>
              <a:rPr lang="en-US" dirty="0" err="1"/>
              <a:t>enum</a:t>
            </a:r>
            <a:r>
              <a:rPr lang="en-US" dirty="0"/>
              <a:t> (LOW, MEDIUM or HIGH):</a:t>
            </a:r>
          </a:p>
          <a:p>
            <a:endParaRPr lang="en-US" dirty="0"/>
          </a:p>
          <a:p>
            <a:r>
              <a:rPr lang="en-US" dirty="0" err="1"/>
              <a:t>enum</a:t>
            </a:r>
            <a:r>
              <a:rPr lang="en-US" dirty="0"/>
              <a:t> Level </a:t>
            </a:r>
            <a:r>
              <a:rPr lang="en-US" dirty="0" err="1"/>
              <a:t>myVar</a:t>
            </a:r>
            <a:r>
              <a:rPr lang="en-US" dirty="0"/>
              <a:t> = MEDIUM;</a:t>
            </a:r>
          </a:p>
        </p:txBody>
      </p:sp>
      <p:sp>
        <p:nvSpPr>
          <p:cNvPr id="5" name="TextBox 4">
            <a:extLst>
              <a:ext uri="{FF2B5EF4-FFF2-40B4-BE49-F238E27FC236}">
                <a16:creationId xmlns:a16="http://schemas.microsoft.com/office/drawing/2014/main" id="{F62A2134-8136-264F-6A45-D3BB2753EB32}"/>
              </a:ext>
            </a:extLst>
          </p:cNvPr>
          <p:cNvSpPr txBox="1"/>
          <p:nvPr/>
        </p:nvSpPr>
        <p:spPr>
          <a:xfrm>
            <a:off x="68826" y="2814118"/>
            <a:ext cx="12054347" cy="3693319"/>
          </a:xfrm>
          <a:prstGeom prst="rect">
            <a:avLst/>
          </a:prstGeom>
          <a:noFill/>
        </p:spPr>
        <p:txBody>
          <a:bodyPr wrap="square">
            <a:spAutoFit/>
          </a:bodyPr>
          <a:lstStyle/>
          <a:p>
            <a:r>
              <a:rPr lang="en-US" dirty="0"/>
              <a:t>By default, the first item (LOW) has the value 0, the second (MEDIUM) has the value 1, etc.</a:t>
            </a:r>
          </a:p>
          <a:p>
            <a:endParaRPr lang="en-US" dirty="0"/>
          </a:p>
          <a:p>
            <a:r>
              <a:rPr lang="en-US" dirty="0"/>
              <a:t>If you now try to print </a:t>
            </a:r>
            <a:r>
              <a:rPr lang="en-US" dirty="0" err="1"/>
              <a:t>myVar</a:t>
            </a:r>
            <a:r>
              <a:rPr lang="en-US" dirty="0"/>
              <a:t>, it will output 1, which represents MEDIUM:</a:t>
            </a:r>
          </a:p>
          <a:p>
            <a:endParaRPr lang="en-US" dirty="0"/>
          </a:p>
          <a:p>
            <a:r>
              <a:rPr lang="en-US" dirty="0"/>
              <a:t>int main() {</a:t>
            </a:r>
          </a:p>
          <a:p>
            <a:r>
              <a:rPr lang="en-US" dirty="0"/>
              <a:t>  // Create an </a:t>
            </a:r>
            <a:r>
              <a:rPr lang="en-US" dirty="0" err="1"/>
              <a:t>enum</a:t>
            </a:r>
            <a:r>
              <a:rPr lang="en-US" dirty="0"/>
              <a:t> variable and assign a value to it</a:t>
            </a:r>
          </a:p>
          <a:p>
            <a:r>
              <a:rPr lang="en-US" dirty="0"/>
              <a:t>  </a:t>
            </a:r>
            <a:r>
              <a:rPr lang="en-US" dirty="0" err="1"/>
              <a:t>enum</a:t>
            </a:r>
            <a:r>
              <a:rPr lang="en-US" dirty="0"/>
              <a:t> Level </a:t>
            </a:r>
            <a:r>
              <a:rPr lang="en-US" dirty="0" err="1"/>
              <a:t>myVar</a:t>
            </a:r>
            <a:r>
              <a:rPr lang="en-US" dirty="0"/>
              <a:t> = MEDIUM;</a:t>
            </a:r>
          </a:p>
          <a:p>
            <a:endParaRPr lang="en-US" dirty="0"/>
          </a:p>
          <a:p>
            <a:r>
              <a:rPr lang="en-US" dirty="0"/>
              <a:t>  // Print the </a:t>
            </a:r>
            <a:r>
              <a:rPr lang="en-US" dirty="0" err="1"/>
              <a:t>enum</a:t>
            </a:r>
            <a:r>
              <a:rPr lang="en-US" dirty="0"/>
              <a:t> variable</a:t>
            </a:r>
          </a:p>
          <a:p>
            <a:r>
              <a:rPr lang="en-US" dirty="0"/>
              <a:t>  </a:t>
            </a:r>
            <a:r>
              <a:rPr lang="en-US" dirty="0" err="1"/>
              <a:t>cout</a:t>
            </a:r>
            <a:r>
              <a:rPr lang="en-US" dirty="0"/>
              <a:t> &lt;&lt; </a:t>
            </a:r>
            <a:r>
              <a:rPr lang="en-US" dirty="0" err="1"/>
              <a:t>myVar</a:t>
            </a:r>
            <a:r>
              <a:rPr lang="en-US" dirty="0"/>
              <a:t>;</a:t>
            </a:r>
          </a:p>
          <a:p>
            <a:endParaRPr lang="en-US" dirty="0"/>
          </a:p>
          <a:p>
            <a:r>
              <a:rPr lang="en-US" dirty="0"/>
              <a:t>  return 0;</a:t>
            </a:r>
          </a:p>
          <a:p>
            <a:r>
              <a:rPr lang="en-US" dirty="0"/>
              <a:t>}</a:t>
            </a:r>
            <a:endParaRPr lang="en-IN" dirty="0"/>
          </a:p>
        </p:txBody>
      </p:sp>
    </p:spTree>
    <p:extLst>
      <p:ext uri="{BB962C8B-B14F-4D97-AF65-F5344CB8AC3E}">
        <p14:creationId xmlns:p14="http://schemas.microsoft.com/office/powerpoint/2010/main" val="2437761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7E7A9A-4790-6C77-8470-F25D70F61E2E}"/>
              </a:ext>
            </a:extLst>
          </p:cNvPr>
          <p:cNvSpPr txBox="1"/>
          <p:nvPr/>
        </p:nvSpPr>
        <p:spPr>
          <a:xfrm>
            <a:off x="216309" y="169296"/>
            <a:ext cx="6096000" cy="584775"/>
          </a:xfrm>
          <a:prstGeom prst="rect">
            <a:avLst/>
          </a:prstGeom>
          <a:noFill/>
        </p:spPr>
        <p:txBody>
          <a:bodyPr wrap="square">
            <a:spAutoFit/>
          </a:bodyPr>
          <a:lstStyle/>
          <a:p>
            <a:r>
              <a:rPr lang="en-IN" sz="3200" b="1" dirty="0"/>
              <a:t>Change Values</a:t>
            </a:r>
          </a:p>
        </p:txBody>
      </p:sp>
      <p:sp>
        <p:nvSpPr>
          <p:cNvPr id="5" name="TextBox 4">
            <a:extLst>
              <a:ext uri="{FF2B5EF4-FFF2-40B4-BE49-F238E27FC236}">
                <a16:creationId xmlns:a16="http://schemas.microsoft.com/office/drawing/2014/main" id="{E471C9BC-5B0F-4987-4461-776CB5E74D1A}"/>
              </a:ext>
            </a:extLst>
          </p:cNvPr>
          <p:cNvSpPr txBox="1"/>
          <p:nvPr/>
        </p:nvSpPr>
        <p:spPr>
          <a:xfrm>
            <a:off x="363794" y="754071"/>
            <a:ext cx="5574890" cy="1938992"/>
          </a:xfrm>
          <a:prstGeom prst="rect">
            <a:avLst/>
          </a:prstGeom>
          <a:noFill/>
        </p:spPr>
        <p:txBody>
          <a:bodyPr wrap="square">
            <a:spAutoFit/>
          </a:bodyPr>
          <a:lstStyle/>
          <a:p>
            <a:r>
              <a:rPr lang="en-US" sz="2400" dirty="0" err="1"/>
              <a:t>enum</a:t>
            </a:r>
            <a:r>
              <a:rPr lang="en-US" sz="2400" dirty="0"/>
              <a:t> Level {</a:t>
            </a:r>
          </a:p>
          <a:p>
            <a:r>
              <a:rPr lang="en-US" sz="2400" dirty="0"/>
              <a:t>  LOW = 25,</a:t>
            </a:r>
          </a:p>
          <a:p>
            <a:r>
              <a:rPr lang="en-US" sz="2400" dirty="0"/>
              <a:t>  MEDIUM = 50,</a:t>
            </a:r>
          </a:p>
          <a:p>
            <a:r>
              <a:rPr lang="en-US" sz="2400" dirty="0"/>
              <a:t>  HIGH = 75</a:t>
            </a:r>
          </a:p>
          <a:p>
            <a:r>
              <a:rPr lang="en-US" sz="2400" dirty="0"/>
              <a:t>};</a:t>
            </a:r>
            <a:endParaRPr lang="en-IN" sz="2400" dirty="0"/>
          </a:p>
        </p:txBody>
      </p:sp>
      <p:sp>
        <p:nvSpPr>
          <p:cNvPr id="7" name="TextBox 6">
            <a:extLst>
              <a:ext uri="{FF2B5EF4-FFF2-40B4-BE49-F238E27FC236}">
                <a16:creationId xmlns:a16="http://schemas.microsoft.com/office/drawing/2014/main" id="{54C20CB2-49FF-4C0F-FCB0-751CA540E8E7}"/>
              </a:ext>
            </a:extLst>
          </p:cNvPr>
          <p:cNvSpPr txBox="1"/>
          <p:nvPr/>
        </p:nvSpPr>
        <p:spPr>
          <a:xfrm>
            <a:off x="363794" y="2987762"/>
            <a:ext cx="4572000" cy="1938992"/>
          </a:xfrm>
          <a:prstGeom prst="rect">
            <a:avLst/>
          </a:prstGeom>
          <a:noFill/>
        </p:spPr>
        <p:txBody>
          <a:bodyPr wrap="square">
            <a:spAutoFit/>
          </a:bodyPr>
          <a:lstStyle/>
          <a:p>
            <a:r>
              <a:rPr lang="en-US" sz="2400" dirty="0" err="1"/>
              <a:t>enum</a:t>
            </a:r>
            <a:r>
              <a:rPr lang="en-US" sz="2400" dirty="0"/>
              <a:t> Level {</a:t>
            </a:r>
          </a:p>
          <a:p>
            <a:r>
              <a:rPr lang="en-US" sz="2400" dirty="0"/>
              <a:t>  LOW = 5,</a:t>
            </a:r>
          </a:p>
          <a:p>
            <a:r>
              <a:rPr lang="en-US" sz="2400" dirty="0"/>
              <a:t>  MEDIUM, // Now 6</a:t>
            </a:r>
          </a:p>
          <a:p>
            <a:r>
              <a:rPr lang="en-US" sz="2400" dirty="0"/>
              <a:t>  HIGH // Now 7</a:t>
            </a:r>
          </a:p>
          <a:p>
            <a:r>
              <a:rPr lang="en-US" sz="2400" dirty="0"/>
              <a:t>};</a:t>
            </a:r>
            <a:endParaRPr lang="en-IN" sz="2400" dirty="0"/>
          </a:p>
        </p:txBody>
      </p:sp>
    </p:spTree>
    <p:extLst>
      <p:ext uri="{BB962C8B-B14F-4D97-AF65-F5344CB8AC3E}">
        <p14:creationId xmlns:p14="http://schemas.microsoft.com/office/powerpoint/2010/main" val="3323199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5AFE8B-29F4-0450-4DBE-57F470578FCB}"/>
              </a:ext>
            </a:extLst>
          </p:cNvPr>
          <p:cNvSpPr txBox="1"/>
          <p:nvPr/>
        </p:nvSpPr>
        <p:spPr>
          <a:xfrm>
            <a:off x="137651" y="169295"/>
            <a:ext cx="6096000" cy="584775"/>
          </a:xfrm>
          <a:prstGeom prst="rect">
            <a:avLst/>
          </a:prstGeom>
          <a:noFill/>
        </p:spPr>
        <p:txBody>
          <a:bodyPr wrap="square">
            <a:spAutoFit/>
          </a:bodyPr>
          <a:lstStyle/>
          <a:p>
            <a:r>
              <a:rPr lang="en-IN" sz="3200" dirty="0"/>
              <a:t>Creating References</a:t>
            </a:r>
          </a:p>
        </p:txBody>
      </p:sp>
      <p:sp>
        <p:nvSpPr>
          <p:cNvPr id="5" name="TextBox 4">
            <a:extLst>
              <a:ext uri="{FF2B5EF4-FFF2-40B4-BE49-F238E27FC236}">
                <a16:creationId xmlns:a16="http://schemas.microsoft.com/office/drawing/2014/main" id="{7801C179-454F-3C0B-C26A-C3BFD354BEFD}"/>
              </a:ext>
            </a:extLst>
          </p:cNvPr>
          <p:cNvSpPr txBox="1"/>
          <p:nvPr/>
        </p:nvSpPr>
        <p:spPr>
          <a:xfrm>
            <a:off x="137651" y="754070"/>
            <a:ext cx="11916698" cy="4401205"/>
          </a:xfrm>
          <a:prstGeom prst="rect">
            <a:avLst/>
          </a:prstGeom>
          <a:noFill/>
        </p:spPr>
        <p:txBody>
          <a:bodyPr wrap="square">
            <a:spAutoFit/>
          </a:bodyPr>
          <a:lstStyle/>
          <a:p>
            <a:r>
              <a:rPr lang="en-US" sz="2800" dirty="0"/>
              <a:t>A reference variable is an alias for an existing variable. It is created using the &amp; operator:</a:t>
            </a:r>
          </a:p>
          <a:p>
            <a:endParaRPr lang="en-US" sz="2800" dirty="0"/>
          </a:p>
          <a:p>
            <a:r>
              <a:rPr lang="en-US" sz="2800" dirty="0"/>
              <a:t>string food = "Pizza";  // food variable</a:t>
            </a:r>
          </a:p>
          <a:p>
            <a:r>
              <a:rPr lang="en-US" sz="2800" dirty="0"/>
              <a:t>string &amp;meal = food;    // reference to food</a:t>
            </a:r>
          </a:p>
          <a:p>
            <a:endParaRPr lang="en-US" sz="2800" dirty="0"/>
          </a:p>
          <a:p>
            <a:r>
              <a:rPr lang="en-US" sz="2800" dirty="0" err="1"/>
              <a:t>cout</a:t>
            </a:r>
            <a:r>
              <a:rPr lang="en-US" sz="2800" dirty="0"/>
              <a:t> &lt;&lt; food &lt;&lt; "\n";  // Outputs Pizza</a:t>
            </a:r>
            <a:br>
              <a:rPr lang="en-US" sz="2800" dirty="0"/>
            </a:br>
            <a:r>
              <a:rPr lang="en-US" sz="2800" dirty="0" err="1"/>
              <a:t>cout</a:t>
            </a:r>
            <a:r>
              <a:rPr lang="en-US" sz="2800" dirty="0"/>
              <a:t> &lt;&lt; meal &lt;&lt; "\n";  // Outputs Pizza</a:t>
            </a:r>
          </a:p>
          <a:p>
            <a:endParaRPr lang="en-US" sz="2800" dirty="0"/>
          </a:p>
          <a:p>
            <a:r>
              <a:rPr lang="en-US" sz="2800" dirty="0"/>
              <a:t>Now, you can use either food or meal to refer to the same value:</a:t>
            </a:r>
            <a:endParaRPr lang="en-IN" sz="2800" dirty="0"/>
          </a:p>
        </p:txBody>
      </p:sp>
    </p:spTree>
    <p:extLst>
      <p:ext uri="{BB962C8B-B14F-4D97-AF65-F5344CB8AC3E}">
        <p14:creationId xmlns:p14="http://schemas.microsoft.com/office/powerpoint/2010/main" val="38654667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427740-701E-E41D-01BD-3C4CFFD2050C}"/>
              </a:ext>
            </a:extLst>
          </p:cNvPr>
          <p:cNvSpPr txBox="1"/>
          <p:nvPr/>
        </p:nvSpPr>
        <p:spPr>
          <a:xfrm>
            <a:off x="275303" y="267618"/>
            <a:ext cx="11356257" cy="646331"/>
          </a:xfrm>
          <a:prstGeom prst="rect">
            <a:avLst/>
          </a:prstGeom>
          <a:noFill/>
        </p:spPr>
        <p:txBody>
          <a:bodyPr wrap="square">
            <a:spAutoFit/>
          </a:bodyPr>
          <a:lstStyle/>
          <a:p>
            <a:r>
              <a:rPr lang="en-IN" sz="3600" b="1" dirty="0"/>
              <a:t>Updating Through References</a:t>
            </a:r>
          </a:p>
        </p:txBody>
      </p:sp>
      <p:sp>
        <p:nvSpPr>
          <p:cNvPr id="5" name="TextBox 4">
            <a:extLst>
              <a:ext uri="{FF2B5EF4-FFF2-40B4-BE49-F238E27FC236}">
                <a16:creationId xmlns:a16="http://schemas.microsoft.com/office/drawing/2014/main" id="{B8DDA4C9-9C26-3498-B3B4-DCF61545F1B6}"/>
              </a:ext>
            </a:extLst>
          </p:cNvPr>
          <p:cNvSpPr txBox="1"/>
          <p:nvPr/>
        </p:nvSpPr>
        <p:spPr>
          <a:xfrm>
            <a:off x="275302" y="1068776"/>
            <a:ext cx="11523407" cy="3970318"/>
          </a:xfrm>
          <a:prstGeom prst="rect">
            <a:avLst/>
          </a:prstGeom>
          <a:noFill/>
        </p:spPr>
        <p:txBody>
          <a:bodyPr wrap="square">
            <a:spAutoFit/>
          </a:bodyPr>
          <a:lstStyle/>
          <a:p>
            <a:r>
              <a:rPr lang="en-US" sz="3600" dirty="0"/>
              <a:t>string food = "Pizza"; // food variable</a:t>
            </a:r>
          </a:p>
          <a:p>
            <a:r>
              <a:rPr lang="en-US" sz="3600" dirty="0"/>
              <a:t>string &amp;meal = food;   // reference to food</a:t>
            </a:r>
          </a:p>
          <a:p>
            <a:endParaRPr lang="en-US" sz="3600" dirty="0"/>
          </a:p>
          <a:p>
            <a:r>
              <a:rPr lang="en-US" sz="3600" dirty="0"/>
              <a:t>meal = "Burger"; // changes both meal and food</a:t>
            </a:r>
          </a:p>
          <a:p>
            <a:endParaRPr lang="en-US" sz="3600" dirty="0"/>
          </a:p>
          <a:p>
            <a:r>
              <a:rPr lang="en-US" sz="3600" dirty="0" err="1"/>
              <a:t>cout</a:t>
            </a:r>
            <a:r>
              <a:rPr lang="en-US" sz="3600" dirty="0"/>
              <a:t> &lt;&lt; food &lt;&lt; "\n"; // Outputs Burger</a:t>
            </a:r>
          </a:p>
          <a:p>
            <a:r>
              <a:rPr lang="en-US" sz="3600" dirty="0" err="1"/>
              <a:t>cout</a:t>
            </a:r>
            <a:r>
              <a:rPr lang="en-US" sz="3600" dirty="0"/>
              <a:t> &lt;&lt; meal &lt;&lt; "\n"; // Outputs Burger</a:t>
            </a:r>
            <a:endParaRPr lang="en-IN" sz="3600" dirty="0"/>
          </a:p>
        </p:txBody>
      </p:sp>
    </p:spTree>
    <p:extLst>
      <p:ext uri="{BB962C8B-B14F-4D97-AF65-F5344CB8AC3E}">
        <p14:creationId xmlns:p14="http://schemas.microsoft.com/office/powerpoint/2010/main" val="42207745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37D2E5-5E2E-9BBE-667A-77F0FECB6F18}"/>
              </a:ext>
            </a:extLst>
          </p:cNvPr>
          <p:cNvSpPr txBox="1"/>
          <p:nvPr/>
        </p:nvSpPr>
        <p:spPr>
          <a:xfrm>
            <a:off x="108154" y="90638"/>
            <a:ext cx="11788877" cy="646331"/>
          </a:xfrm>
          <a:prstGeom prst="rect">
            <a:avLst/>
          </a:prstGeom>
          <a:noFill/>
        </p:spPr>
        <p:txBody>
          <a:bodyPr wrap="square">
            <a:spAutoFit/>
          </a:bodyPr>
          <a:lstStyle/>
          <a:p>
            <a:r>
              <a:rPr lang="en-IN" sz="3600" b="1" dirty="0"/>
              <a:t>Creating Pointers</a:t>
            </a:r>
          </a:p>
        </p:txBody>
      </p:sp>
      <p:sp>
        <p:nvSpPr>
          <p:cNvPr id="5" name="TextBox 4">
            <a:extLst>
              <a:ext uri="{FF2B5EF4-FFF2-40B4-BE49-F238E27FC236}">
                <a16:creationId xmlns:a16="http://schemas.microsoft.com/office/drawing/2014/main" id="{8BCF4755-4CEF-F09B-7DFD-E14001B03949}"/>
              </a:ext>
            </a:extLst>
          </p:cNvPr>
          <p:cNvSpPr txBox="1"/>
          <p:nvPr/>
        </p:nvSpPr>
        <p:spPr>
          <a:xfrm>
            <a:off x="108154" y="736969"/>
            <a:ext cx="11975692" cy="1938992"/>
          </a:xfrm>
          <a:prstGeom prst="rect">
            <a:avLst/>
          </a:prstGeom>
          <a:noFill/>
        </p:spPr>
        <p:txBody>
          <a:bodyPr wrap="square">
            <a:spAutoFit/>
          </a:bodyPr>
          <a:lstStyle/>
          <a:p>
            <a:r>
              <a:rPr lang="en-US" sz="2400" dirty="0"/>
              <a:t>A pointer is a variable that stores the memory address as its value.</a:t>
            </a:r>
          </a:p>
          <a:p>
            <a:endParaRPr lang="en-US" sz="2400" dirty="0"/>
          </a:p>
          <a:p>
            <a:r>
              <a:rPr lang="en-US" sz="2400" dirty="0"/>
              <a:t>A pointer variable points to a data type (like int or string) of the same type, and is created with the * operator. The address of the variable you're working with is assigned to the pointer:</a:t>
            </a:r>
            <a:endParaRPr lang="en-IN" sz="2400" dirty="0"/>
          </a:p>
        </p:txBody>
      </p:sp>
      <p:sp>
        <p:nvSpPr>
          <p:cNvPr id="7" name="TextBox 6">
            <a:extLst>
              <a:ext uri="{FF2B5EF4-FFF2-40B4-BE49-F238E27FC236}">
                <a16:creationId xmlns:a16="http://schemas.microsoft.com/office/drawing/2014/main" id="{3F2DF15E-2E7A-9477-D766-D51F50CDE6E8}"/>
              </a:ext>
            </a:extLst>
          </p:cNvPr>
          <p:cNvSpPr txBox="1"/>
          <p:nvPr/>
        </p:nvSpPr>
        <p:spPr>
          <a:xfrm>
            <a:off x="147483" y="2900859"/>
            <a:ext cx="11897033" cy="3477875"/>
          </a:xfrm>
          <a:prstGeom prst="rect">
            <a:avLst/>
          </a:prstGeom>
          <a:noFill/>
        </p:spPr>
        <p:txBody>
          <a:bodyPr wrap="square">
            <a:spAutoFit/>
          </a:bodyPr>
          <a:lstStyle/>
          <a:p>
            <a:r>
              <a:rPr lang="en-US" sz="2000" dirty="0"/>
              <a:t>string food = "Pizza";  // A food variable of type string</a:t>
            </a:r>
          </a:p>
          <a:p>
            <a:r>
              <a:rPr lang="en-US" sz="2000" dirty="0"/>
              <a:t>string* </a:t>
            </a:r>
            <a:r>
              <a:rPr lang="en-US" sz="2000" dirty="0" err="1"/>
              <a:t>ptr</a:t>
            </a:r>
            <a:r>
              <a:rPr lang="en-US" sz="2000" dirty="0"/>
              <a:t> = &amp;food;    // A pointer variable, with the name </a:t>
            </a:r>
            <a:r>
              <a:rPr lang="en-US" sz="2000" dirty="0" err="1"/>
              <a:t>ptr</a:t>
            </a:r>
            <a:r>
              <a:rPr lang="en-US" sz="2000" dirty="0"/>
              <a:t>, that stores the address of food</a:t>
            </a:r>
          </a:p>
          <a:p>
            <a:endParaRPr lang="en-US" sz="2000" dirty="0"/>
          </a:p>
          <a:p>
            <a:r>
              <a:rPr lang="en-US" sz="2000" dirty="0"/>
              <a:t>// Output the value of food (Pizza)</a:t>
            </a:r>
          </a:p>
          <a:p>
            <a:r>
              <a:rPr lang="en-US" sz="2000" dirty="0" err="1"/>
              <a:t>cout</a:t>
            </a:r>
            <a:r>
              <a:rPr lang="en-US" sz="2000" dirty="0"/>
              <a:t> &lt;&lt; food &lt;&lt; "\n";</a:t>
            </a:r>
          </a:p>
          <a:p>
            <a:endParaRPr lang="en-US" sz="2000" dirty="0"/>
          </a:p>
          <a:p>
            <a:r>
              <a:rPr lang="en-US" sz="2000" dirty="0"/>
              <a:t>// Output the memory address of food (0x6dfed4)</a:t>
            </a:r>
          </a:p>
          <a:p>
            <a:r>
              <a:rPr lang="en-US" sz="2000" dirty="0" err="1"/>
              <a:t>cout</a:t>
            </a:r>
            <a:r>
              <a:rPr lang="en-US" sz="2000" dirty="0"/>
              <a:t> &lt;&lt; &amp;food &lt;&lt; "\n";</a:t>
            </a:r>
          </a:p>
          <a:p>
            <a:endParaRPr lang="en-US" sz="2000" dirty="0"/>
          </a:p>
          <a:p>
            <a:r>
              <a:rPr lang="en-US" sz="2000" dirty="0"/>
              <a:t>// Output the memory address of food with the pointer (0x6dfed4)</a:t>
            </a:r>
          </a:p>
          <a:p>
            <a:r>
              <a:rPr lang="en-US" sz="2000" dirty="0" err="1"/>
              <a:t>cout</a:t>
            </a:r>
            <a:r>
              <a:rPr lang="en-US" sz="2000" dirty="0"/>
              <a:t> &lt;&lt; </a:t>
            </a:r>
            <a:r>
              <a:rPr lang="en-US" sz="2000" dirty="0" err="1"/>
              <a:t>ptr</a:t>
            </a:r>
            <a:r>
              <a:rPr lang="en-US" sz="2000" dirty="0"/>
              <a:t> &lt;&lt; "\n";</a:t>
            </a:r>
            <a:endParaRPr lang="en-IN" sz="2000" dirty="0"/>
          </a:p>
        </p:txBody>
      </p:sp>
    </p:spTree>
    <p:extLst>
      <p:ext uri="{BB962C8B-B14F-4D97-AF65-F5344CB8AC3E}">
        <p14:creationId xmlns:p14="http://schemas.microsoft.com/office/powerpoint/2010/main" val="4216507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9CA905-2BFA-B878-857A-264B9157924D}"/>
              </a:ext>
            </a:extLst>
          </p:cNvPr>
          <p:cNvSpPr txBox="1"/>
          <p:nvPr/>
        </p:nvSpPr>
        <p:spPr>
          <a:xfrm>
            <a:off x="157315" y="179127"/>
            <a:ext cx="10864645" cy="584775"/>
          </a:xfrm>
          <a:prstGeom prst="rect">
            <a:avLst/>
          </a:prstGeom>
          <a:noFill/>
        </p:spPr>
        <p:txBody>
          <a:bodyPr wrap="square">
            <a:spAutoFit/>
          </a:bodyPr>
          <a:lstStyle/>
          <a:p>
            <a:r>
              <a:rPr lang="en-US" sz="3200" b="1" dirty="0"/>
              <a:t>Get Memory Address and Value</a:t>
            </a:r>
            <a:endParaRPr lang="en-IN" sz="3200" b="1" dirty="0"/>
          </a:p>
        </p:txBody>
      </p:sp>
      <p:sp>
        <p:nvSpPr>
          <p:cNvPr id="5" name="TextBox 4">
            <a:extLst>
              <a:ext uri="{FF2B5EF4-FFF2-40B4-BE49-F238E27FC236}">
                <a16:creationId xmlns:a16="http://schemas.microsoft.com/office/drawing/2014/main" id="{DF40C968-85D2-99B5-3AB1-BB356E3D0089}"/>
              </a:ext>
            </a:extLst>
          </p:cNvPr>
          <p:cNvSpPr txBox="1"/>
          <p:nvPr/>
        </p:nvSpPr>
        <p:spPr>
          <a:xfrm>
            <a:off x="157315" y="869587"/>
            <a:ext cx="11847872" cy="3046988"/>
          </a:xfrm>
          <a:prstGeom prst="rect">
            <a:avLst/>
          </a:prstGeom>
          <a:noFill/>
        </p:spPr>
        <p:txBody>
          <a:bodyPr wrap="square">
            <a:spAutoFit/>
          </a:bodyPr>
          <a:lstStyle/>
          <a:p>
            <a:r>
              <a:rPr lang="en-US" sz="2400" dirty="0"/>
              <a:t>string food = "Pizza";  // Variable declaration</a:t>
            </a:r>
          </a:p>
          <a:p>
            <a:r>
              <a:rPr lang="en-US" sz="2400" dirty="0"/>
              <a:t>string* </a:t>
            </a:r>
            <a:r>
              <a:rPr lang="en-US" sz="2400" dirty="0" err="1"/>
              <a:t>ptr</a:t>
            </a:r>
            <a:r>
              <a:rPr lang="en-US" sz="2400" dirty="0"/>
              <a:t> = &amp;food;    // Pointer declaration</a:t>
            </a:r>
          </a:p>
          <a:p>
            <a:endParaRPr lang="en-US" sz="2400" dirty="0"/>
          </a:p>
          <a:p>
            <a:r>
              <a:rPr lang="en-US" sz="2400" dirty="0"/>
              <a:t>// Reference: Output the memory address of food with the pointer (0x6dfed4)</a:t>
            </a:r>
          </a:p>
          <a:p>
            <a:r>
              <a:rPr lang="en-US" sz="2400" dirty="0" err="1"/>
              <a:t>cout</a:t>
            </a:r>
            <a:r>
              <a:rPr lang="en-US" sz="2400" dirty="0"/>
              <a:t> &lt;&lt; </a:t>
            </a:r>
            <a:r>
              <a:rPr lang="en-US" sz="2400" dirty="0" err="1"/>
              <a:t>ptr</a:t>
            </a:r>
            <a:r>
              <a:rPr lang="en-US" sz="2400" dirty="0"/>
              <a:t> &lt;&lt; "\n";</a:t>
            </a:r>
          </a:p>
          <a:p>
            <a:endParaRPr lang="en-US" sz="2400" dirty="0"/>
          </a:p>
          <a:p>
            <a:r>
              <a:rPr lang="en-US" sz="2400" dirty="0"/>
              <a:t>// Dereference: Output the value of food with the pointer (Pizza)</a:t>
            </a:r>
          </a:p>
          <a:p>
            <a:r>
              <a:rPr lang="en-US" sz="2400" dirty="0" err="1"/>
              <a:t>cout</a:t>
            </a:r>
            <a:r>
              <a:rPr lang="en-US" sz="2400" dirty="0"/>
              <a:t> &lt;&lt; *</a:t>
            </a:r>
            <a:r>
              <a:rPr lang="en-US" sz="2400" dirty="0" err="1"/>
              <a:t>ptr</a:t>
            </a:r>
            <a:r>
              <a:rPr lang="en-US" sz="2400" dirty="0"/>
              <a:t> &lt;&lt; "\n";</a:t>
            </a:r>
            <a:endParaRPr lang="en-IN" sz="2400" dirty="0"/>
          </a:p>
        </p:txBody>
      </p:sp>
      <p:sp>
        <p:nvSpPr>
          <p:cNvPr id="7" name="TextBox 6">
            <a:extLst>
              <a:ext uri="{FF2B5EF4-FFF2-40B4-BE49-F238E27FC236}">
                <a16:creationId xmlns:a16="http://schemas.microsoft.com/office/drawing/2014/main" id="{8447E070-AD31-BBE7-1567-48C456CC1AC4}"/>
              </a:ext>
            </a:extLst>
          </p:cNvPr>
          <p:cNvSpPr txBox="1"/>
          <p:nvPr/>
        </p:nvSpPr>
        <p:spPr>
          <a:xfrm>
            <a:off x="157315" y="4563034"/>
            <a:ext cx="11847871" cy="1569660"/>
          </a:xfrm>
          <a:prstGeom prst="rect">
            <a:avLst/>
          </a:prstGeom>
          <a:noFill/>
        </p:spPr>
        <p:txBody>
          <a:bodyPr wrap="square">
            <a:spAutoFit/>
          </a:bodyPr>
          <a:lstStyle/>
          <a:p>
            <a:r>
              <a:rPr lang="en-US" sz="2400" dirty="0"/>
              <a:t>Note that the * sign can be confusing here, as it does two different things in our code:</a:t>
            </a:r>
          </a:p>
          <a:p>
            <a:endParaRPr lang="en-US" sz="2400" dirty="0"/>
          </a:p>
          <a:p>
            <a:r>
              <a:rPr lang="en-US" sz="2400" dirty="0"/>
              <a:t>When used in declaration (string* </a:t>
            </a:r>
            <a:r>
              <a:rPr lang="en-US" sz="2400" dirty="0" err="1"/>
              <a:t>ptr</a:t>
            </a:r>
            <a:r>
              <a:rPr lang="en-US" sz="2400" dirty="0"/>
              <a:t>), it creates a pointer variable.</a:t>
            </a:r>
          </a:p>
          <a:p>
            <a:r>
              <a:rPr lang="en-US" sz="2400" dirty="0"/>
              <a:t>When not used in declaration, it act as a dereference operator.</a:t>
            </a:r>
            <a:endParaRPr lang="en-IN" sz="2400" dirty="0"/>
          </a:p>
        </p:txBody>
      </p:sp>
    </p:spTree>
    <p:extLst>
      <p:ext uri="{BB962C8B-B14F-4D97-AF65-F5344CB8AC3E}">
        <p14:creationId xmlns:p14="http://schemas.microsoft.com/office/powerpoint/2010/main" val="1965919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847EDF-AB11-5037-A2C1-5A0F16209832}"/>
              </a:ext>
            </a:extLst>
          </p:cNvPr>
          <p:cNvSpPr txBox="1"/>
          <p:nvPr/>
        </p:nvSpPr>
        <p:spPr>
          <a:xfrm>
            <a:off x="186813" y="167600"/>
            <a:ext cx="11808542" cy="1015663"/>
          </a:xfrm>
          <a:prstGeom prst="rect">
            <a:avLst/>
          </a:prstGeom>
          <a:noFill/>
        </p:spPr>
        <p:txBody>
          <a:bodyPr wrap="square">
            <a:spAutoFit/>
          </a:bodyPr>
          <a:lstStyle/>
          <a:p>
            <a:r>
              <a:rPr lang="en-US" sz="2000" b="1" dirty="0"/>
              <a:t>Modify the Pointer Value</a:t>
            </a:r>
          </a:p>
          <a:p>
            <a:r>
              <a:rPr lang="en-US" sz="2000" dirty="0"/>
              <a:t>You can also change the pointer's value. But note that this will also change the value of the original variable:</a:t>
            </a:r>
            <a:endParaRPr lang="en-IN" sz="2000" dirty="0"/>
          </a:p>
        </p:txBody>
      </p:sp>
      <p:sp>
        <p:nvSpPr>
          <p:cNvPr id="5" name="TextBox 4">
            <a:extLst>
              <a:ext uri="{FF2B5EF4-FFF2-40B4-BE49-F238E27FC236}">
                <a16:creationId xmlns:a16="http://schemas.microsoft.com/office/drawing/2014/main" id="{441FD374-0301-35DD-F21F-035F688F1CC9}"/>
              </a:ext>
            </a:extLst>
          </p:cNvPr>
          <p:cNvSpPr txBox="1"/>
          <p:nvPr/>
        </p:nvSpPr>
        <p:spPr>
          <a:xfrm>
            <a:off x="186812" y="1225690"/>
            <a:ext cx="12005187" cy="5632311"/>
          </a:xfrm>
          <a:prstGeom prst="rect">
            <a:avLst/>
          </a:prstGeom>
          <a:noFill/>
        </p:spPr>
        <p:txBody>
          <a:bodyPr wrap="square" numCol="2">
            <a:spAutoFit/>
          </a:bodyPr>
          <a:lstStyle/>
          <a:p>
            <a:r>
              <a:rPr lang="en-US" sz="2400" dirty="0"/>
              <a:t>string food = "Pizza";</a:t>
            </a:r>
          </a:p>
          <a:p>
            <a:r>
              <a:rPr lang="en-US" sz="2400" dirty="0"/>
              <a:t>string* </a:t>
            </a:r>
            <a:r>
              <a:rPr lang="en-US" sz="2400" dirty="0" err="1"/>
              <a:t>ptr</a:t>
            </a:r>
            <a:r>
              <a:rPr lang="en-US" sz="2400" dirty="0"/>
              <a:t> = &amp;food;</a:t>
            </a:r>
          </a:p>
          <a:p>
            <a:endParaRPr lang="en-US" sz="2400" dirty="0"/>
          </a:p>
          <a:p>
            <a:r>
              <a:rPr lang="en-US" sz="2400" dirty="0"/>
              <a:t>// Output the value of food (Pizza)</a:t>
            </a:r>
          </a:p>
          <a:p>
            <a:r>
              <a:rPr lang="en-US" sz="2400" dirty="0" err="1"/>
              <a:t>cout</a:t>
            </a:r>
            <a:r>
              <a:rPr lang="en-US" sz="2400" dirty="0"/>
              <a:t> &lt;&lt; food &lt;&lt; "\n";</a:t>
            </a:r>
          </a:p>
          <a:p>
            <a:endParaRPr lang="en-US" sz="2400" dirty="0"/>
          </a:p>
          <a:p>
            <a:r>
              <a:rPr lang="en-US" sz="2400" dirty="0"/>
              <a:t>// Output the memory address of food (0x6dfed4)</a:t>
            </a:r>
          </a:p>
          <a:p>
            <a:r>
              <a:rPr lang="en-US" sz="2400" dirty="0" err="1"/>
              <a:t>cout</a:t>
            </a:r>
            <a:r>
              <a:rPr lang="en-US" sz="2400" dirty="0"/>
              <a:t> &lt;&lt; &amp;food &lt;&lt; "\n";</a:t>
            </a:r>
          </a:p>
          <a:p>
            <a:endParaRPr lang="en-US" sz="2400" dirty="0"/>
          </a:p>
          <a:p>
            <a:r>
              <a:rPr lang="en-US" sz="2400" dirty="0"/>
              <a:t>// Access the memory address of food and output its value (Pizza)</a:t>
            </a:r>
          </a:p>
          <a:p>
            <a:r>
              <a:rPr lang="en-US" sz="2400" dirty="0" err="1"/>
              <a:t>cout</a:t>
            </a:r>
            <a:r>
              <a:rPr lang="en-US" sz="2400" dirty="0"/>
              <a:t> &lt;&lt; *</a:t>
            </a:r>
            <a:r>
              <a:rPr lang="en-US" sz="2400" dirty="0" err="1"/>
              <a:t>ptr</a:t>
            </a:r>
            <a:r>
              <a:rPr lang="en-US" sz="2400" dirty="0"/>
              <a:t> &lt;&lt; "\n";</a:t>
            </a:r>
          </a:p>
          <a:p>
            <a:endParaRPr lang="en-US" sz="2400" dirty="0"/>
          </a:p>
          <a:p>
            <a:r>
              <a:rPr lang="en-US" sz="2400" dirty="0"/>
              <a:t>// Change the value of the pointer</a:t>
            </a:r>
          </a:p>
          <a:p>
            <a:r>
              <a:rPr lang="en-US" sz="2400" dirty="0"/>
              <a:t>*</a:t>
            </a:r>
            <a:r>
              <a:rPr lang="en-US" sz="2400" dirty="0" err="1"/>
              <a:t>ptr</a:t>
            </a:r>
            <a:r>
              <a:rPr lang="en-US" sz="2400" dirty="0"/>
              <a:t> = "Hamburger";</a:t>
            </a:r>
          </a:p>
          <a:p>
            <a:endParaRPr lang="en-US" sz="2400" dirty="0"/>
          </a:p>
          <a:p>
            <a:r>
              <a:rPr lang="en-US" sz="2400" dirty="0"/>
              <a:t>// Output the new value of the pointer (Hamburger)</a:t>
            </a:r>
          </a:p>
          <a:p>
            <a:r>
              <a:rPr lang="en-US" sz="2400" dirty="0" err="1"/>
              <a:t>cout</a:t>
            </a:r>
            <a:r>
              <a:rPr lang="en-US" sz="2400" dirty="0"/>
              <a:t> &lt;&lt; *</a:t>
            </a:r>
            <a:r>
              <a:rPr lang="en-US" sz="2400" dirty="0" err="1"/>
              <a:t>ptr</a:t>
            </a:r>
            <a:r>
              <a:rPr lang="en-US" sz="2400" dirty="0"/>
              <a:t> &lt;&lt; "\n";</a:t>
            </a:r>
          </a:p>
          <a:p>
            <a:endParaRPr lang="en-US" sz="2400" dirty="0"/>
          </a:p>
          <a:p>
            <a:r>
              <a:rPr lang="en-US" sz="2400" dirty="0"/>
              <a:t>// Output the new value of the food variable (Hamburger)</a:t>
            </a:r>
          </a:p>
          <a:p>
            <a:r>
              <a:rPr lang="en-US" sz="2400" dirty="0" err="1"/>
              <a:t>cout</a:t>
            </a:r>
            <a:r>
              <a:rPr lang="en-US" sz="2400" dirty="0"/>
              <a:t> &lt;&lt; food &lt;&lt; "\n";</a:t>
            </a:r>
            <a:endParaRPr lang="en-IN" sz="2400" dirty="0"/>
          </a:p>
        </p:txBody>
      </p:sp>
    </p:spTree>
    <p:extLst>
      <p:ext uri="{BB962C8B-B14F-4D97-AF65-F5344CB8AC3E}">
        <p14:creationId xmlns:p14="http://schemas.microsoft.com/office/powerpoint/2010/main" val="1489983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6D2DCF-3C1F-D45E-2837-42CC067C79AB}"/>
              </a:ext>
            </a:extLst>
          </p:cNvPr>
          <p:cNvSpPr txBox="1"/>
          <p:nvPr/>
        </p:nvSpPr>
        <p:spPr>
          <a:xfrm>
            <a:off x="403123" y="139798"/>
            <a:ext cx="11661058" cy="830997"/>
          </a:xfrm>
          <a:prstGeom prst="rect">
            <a:avLst/>
          </a:prstGeom>
          <a:noFill/>
        </p:spPr>
        <p:txBody>
          <a:bodyPr wrap="square">
            <a:spAutoFit/>
          </a:bodyPr>
          <a:lstStyle/>
          <a:p>
            <a:r>
              <a:rPr lang="en-US" sz="4800" dirty="0"/>
              <a:t>new and delete — Dynamic Memory in C++</a:t>
            </a:r>
            <a:endParaRPr lang="en-IN" sz="4800" dirty="0"/>
          </a:p>
        </p:txBody>
      </p:sp>
      <p:sp>
        <p:nvSpPr>
          <p:cNvPr id="5" name="TextBox 4">
            <a:extLst>
              <a:ext uri="{FF2B5EF4-FFF2-40B4-BE49-F238E27FC236}">
                <a16:creationId xmlns:a16="http://schemas.microsoft.com/office/drawing/2014/main" id="{879CC550-B506-88F5-802A-2119E3E0F6EE}"/>
              </a:ext>
            </a:extLst>
          </p:cNvPr>
          <p:cNvSpPr txBox="1"/>
          <p:nvPr/>
        </p:nvSpPr>
        <p:spPr>
          <a:xfrm>
            <a:off x="127819" y="970795"/>
            <a:ext cx="11847872" cy="954107"/>
          </a:xfrm>
          <a:prstGeom prst="rect">
            <a:avLst/>
          </a:prstGeom>
          <a:noFill/>
        </p:spPr>
        <p:txBody>
          <a:bodyPr wrap="square">
            <a:spAutoFit/>
          </a:bodyPr>
          <a:lstStyle/>
          <a:p>
            <a:r>
              <a:rPr lang="en-US" sz="2800" dirty="0"/>
              <a:t>In C, we use </a:t>
            </a:r>
            <a:r>
              <a:rPr lang="en-US" sz="2800" dirty="0">
                <a:latin typeface="Courier New" panose="02070309020205020404" pitchFamily="49" charset="0"/>
              </a:rPr>
              <a:t>malloc()</a:t>
            </a:r>
            <a:r>
              <a:rPr lang="en-US" sz="2800" dirty="0"/>
              <a:t> and </a:t>
            </a:r>
            <a:r>
              <a:rPr lang="en-US" sz="2800" dirty="0">
                <a:latin typeface="Courier New" panose="02070309020205020404" pitchFamily="49" charset="0"/>
              </a:rPr>
              <a:t>free()</a:t>
            </a:r>
            <a:r>
              <a:rPr lang="en-US" sz="2800" dirty="0"/>
              <a:t> for dynamic memory.</a:t>
            </a:r>
            <a:br>
              <a:rPr lang="en-US" sz="2800" dirty="0"/>
            </a:br>
            <a:r>
              <a:rPr lang="en-US" sz="2800" dirty="0"/>
              <a:t>In C++, we use </a:t>
            </a:r>
            <a:r>
              <a:rPr lang="en-US" sz="2800" b="1" dirty="0">
                <a:latin typeface="Courier New" panose="02070309020205020404" pitchFamily="49" charset="0"/>
              </a:rPr>
              <a:t>new</a:t>
            </a:r>
            <a:r>
              <a:rPr lang="en-US" sz="2800" dirty="0"/>
              <a:t> and </a:t>
            </a:r>
            <a:r>
              <a:rPr lang="en-US" sz="2800" b="1" dirty="0">
                <a:latin typeface="Courier New" panose="02070309020205020404" pitchFamily="49" charset="0"/>
              </a:rPr>
              <a:t>delete</a:t>
            </a:r>
            <a:r>
              <a:rPr lang="en-US" sz="2800" dirty="0"/>
              <a:t>, which are simpler and safer.</a:t>
            </a:r>
            <a:endParaRPr lang="en-IN" sz="2800" dirty="0"/>
          </a:p>
        </p:txBody>
      </p:sp>
      <p:sp>
        <p:nvSpPr>
          <p:cNvPr id="7" name="TextBox 6">
            <a:extLst>
              <a:ext uri="{FF2B5EF4-FFF2-40B4-BE49-F238E27FC236}">
                <a16:creationId xmlns:a16="http://schemas.microsoft.com/office/drawing/2014/main" id="{6CF84CB0-AA1C-4EE3-E1B9-4E00367BAC52}"/>
              </a:ext>
            </a:extLst>
          </p:cNvPr>
          <p:cNvSpPr txBox="1"/>
          <p:nvPr/>
        </p:nvSpPr>
        <p:spPr>
          <a:xfrm>
            <a:off x="127819" y="2000297"/>
            <a:ext cx="11936362" cy="4401205"/>
          </a:xfrm>
          <a:prstGeom prst="rect">
            <a:avLst/>
          </a:prstGeom>
          <a:noFill/>
        </p:spPr>
        <p:txBody>
          <a:bodyPr wrap="square">
            <a:spAutoFit/>
          </a:bodyPr>
          <a:lstStyle/>
          <a:p>
            <a:r>
              <a:rPr lang="en-IN" sz="2800" dirty="0"/>
              <a:t>#include &lt;iostream&gt;</a:t>
            </a:r>
          </a:p>
          <a:p>
            <a:r>
              <a:rPr lang="en-IN" sz="2800" dirty="0"/>
              <a:t>using namespace std;</a:t>
            </a:r>
          </a:p>
          <a:p>
            <a:endParaRPr lang="en-IN" sz="2800" dirty="0"/>
          </a:p>
          <a:p>
            <a:r>
              <a:rPr lang="en-IN" sz="2800" dirty="0"/>
              <a:t>int main() {</a:t>
            </a:r>
          </a:p>
          <a:p>
            <a:r>
              <a:rPr lang="en-IN" sz="2800" dirty="0"/>
              <a:t>    int* </a:t>
            </a:r>
            <a:r>
              <a:rPr lang="en-IN" sz="2800" dirty="0" err="1"/>
              <a:t>ptr</a:t>
            </a:r>
            <a:r>
              <a:rPr lang="en-IN" sz="2800" dirty="0"/>
              <a:t> = new int;   // allocate memory</a:t>
            </a:r>
          </a:p>
          <a:p>
            <a:r>
              <a:rPr lang="en-IN" sz="2800" dirty="0"/>
              <a:t>    *</a:t>
            </a:r>
            <a:r>
              <a:rPr lang="en-IN" sz="2800" dirty="0" err="1"/>
              <a:t>ptr</a:t>
            </a:r>
            <a:r>
              <a:rPr lang="en-IN" sz="2800" dirty="0"/>
              <a:t> = 50;</a:t>
            </a:r>
          </a:p>
          <a:p>
            <a:r>
              <a:rPr lang="en-IN" sz="2800" dirty="0"/>
              <a:t>    </a:t>
            </a:r>
            <a:r>
              <a:rPr lang="en-IN" sz="2800" dirty="0" err="1"/>
              <a:t>cout</a:t>
            </a:r>
            <a:r>
              <a:rPr lang="en-IN" sz="2800" dirty="0"/>
              <a:t> &lt;&lt; "Value: " &lt;&lt; *</a:t>
            </a:r>
            <a:r>
              <a:rPr lang="en-IN" sz="2800" dirty="0" err="1"/>
              <a:t>ptr</a:t>
            </a:r>
            <a:r>
              <a:rPr lang="en-IN" sz="2800" dirty="0"/>
              <a:t> &lt;&lt; </a:t>
            </a:r>
            <a:r>
              <a:rPr lang="en-IN" sz="2800" dirty="0" err="1"/>
              <a:t>endl</a:t>
            </a:r>
            <a:r>
              <a:rPr lang="en-IN" sz="2800" dirty="0"/>
              <a:t>;</a:t>
            </a:r>
          </a:p>
          <a:p>
            <a:endParaRPr lang="en-IN" sz="2800" dirty="0"/>
          </a:p>
          <a:p>
            <a:r>
              <a:rPr lang="en-IN" sz="2800" dirty="0"/>
              <a:t>    delete </a:t>
            </a:r>
            <a:r>
              <a:rPr lang="en-IN" sz="2800" dirty="0" err="1"/>
              <a:t>ptr</a:t>
            </a:r>
            <a:r>
              <a:rPr lang="en-IN" sz="2800" dirty="0"/>
              <a:t>;           // free memory</a:t>
            </a:r>
          </a:p>
          <a:p>
            <a:r>
              <a:rPr lang="en-IN" sz="2800" dirty="0"/>
              <a:t>}</a:t>
            </a:r>
          </a:p>
        </p:txBody>
      </p:sp>
    </p:spTree>
    <p:extLst>
      <p:ext uri="{BB962C8B-B14F-4D97-AF65-F5344CB8AC3E}">
        <p14:creationId xmlns:p14="http://schemas.microsoft.com/office/powerpoint/2010/main" val="10098121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681974-88E8-2797-91F7-957507FAF7A9}"/>
              </a:ext>
            </a:extLst>
          </p:cNvPr>
          <p:cNvSpPr txBox="1"/>
          <p:nvPr/>
        </p:nvSpPr>
        <p:spPr>
          <a:xfrm>
            <a:off x="117987" y="204385"/>
            <a:ext cx="11965858" cy="2677656"/>
          </a:xfrm>
          <a:prstGeom prst="rect">
            <a:avLst/>
          </a:prstGeom>
          <a:noFill/>
        </p:spPr>
        <p:txBody>
          <a:bodyPr wrap="square">
            <a:spAutoFit/>
          </a:bodyPr>
          <a:lstStyle/>
          <a:p>
            <a:pPr>
              <a:buNone/>
            </a:pPr>
            <a:r>
              <a:rPr lang="en-US" sz="2800" b="1" dirty="0"/>
              <a:t>The </a:t>
            </a:r>
            <a:r>
              <a:rPr lang="en-US" sz="2800" b="1" dirty="0">
                <a:latin typeface="Courier New" panose="02070309020205020404" pitchFamily="49" charset="0"/>
              </a:rPr>
              <a:t>new</a:t>
            </a:r>
            <a:r>
              <a:rPr lang="en-US" sz="2800" b="1" dirty="0"/>
              <a:t> Operator</a:t>
            </a:r>
          </a:p>
          <a:p>
            <a:pPr>
              <a:buNone/>
            </a:pPr>
            <a:r>
              <a:rPr lang="en-US" sz="2800" b="1" dirty="0"/>
              <a:t>Definition:</a:t>
            </a:r>
          </a:p>
          <a:p>
            <a:pPr>
              <a:buNone/>
            </a:pPr>
            <a:r>
              <a:rPr lang="en-US" sz="2800" dirty="0"/>
              <a:t>The </a:t>
            </a:r>
            <a:r>
              <a:rPr lang="en-US" sz="2800" dirty="0">
                <a:latin typeface="Courier New" panose="02070309020205020404" pitchFamily="49" charset="0"/>
              </a:rPr>
              <a:t>new</a:t>
            </a:r>
            <a:r>
              <a:rPr lang="en-US" sz="2800" dirty="0"/>
              <a:t> operator is used in C++ to </a:t>
            </a:r>
            <a:r>
              <a:rPr lang="en-US" sz="2800" b="1" dirty="0"/>
              <a:t>dynamically allocate memory</a:t>
            </a:r>
            <a:r>
              <a:rPr lang="en-US" sz="2800" dirty="0"/>
              <a:t> for a variable or an object at </a:t>
            </a:r>
            <a:r>
              <a:rPr lang="en-US" sz="2800" b="1" dirty="0"/>
              <a:t>runtime</a:t>
            </a:r>
            <a:r>
              <a:rPr lang="en-US" sz="2800" dirty="0"/>
              <a:t>.</a:t>
            </a:r>
          </a:p>
          <a:p>
            <a:pPr>
              <a:buNone/>
            </a:pPr>
            <a:r>
              <a:rPr lang="en-US" sz="2800" dirty="0"/>
              <a:t>It returns the </a:t>
            </a:r>
            <a:r>
              <a:rPr lang="en-US" sz="2800" b="1" dirty="0"/>
              <a:t>address of the memory</a:t>
            </a:r>
            <a:r>
              <a:rPr lang="en-US" sz="2800" dirty="0"/>
              <a:t> allocated, which can be stored in a pointer.</a:t>
            </a:r>
          </a:p>
        </p:txBody>
      </p:sp>
      <p:sp>
        <p:nvSpPr>
          <p:cNvPr id="5" name="TextBox 4">
            <a:extLst>
              <a:ext uri="{FF2B5EF4-FFF2-40B4-BE49-F238E27FC236}">
                <a16:creationId xmlns:a16="http://schemas.microsoft.com/office/drawing/2014/main" id="{820A02F1-1698-7CF6-9A89-A1FA7624F202}"/>
              </a:ext>
            </a:extLst>
          </p:cNvPr>
          <p:cNvSpPr txBox="1"/>
          <p:nvPr/>
        </p:nvSpPr>
        <p:spPr>
          <a:xfrm>
            <a:off x="117987" y="3237296"/>
            <a:ext cx="11965858" cy="2677656"/>
          </a:xfrm>
          <a:prstGeom prst="rect">
            <a:avLst/>
          </a:prstGeom>
          <a:noFill/>
        </p:spPr>
        <p:txBody>
          <a:bodyPr wrap="square">
            <a:spAutoFit/>
          </a:bodyPr>
          <a:lstStyle/>
          <a:p>
            <a:pPr>
              <a:buNone/>
            </a:pPr>
            <a:r>
              <a:rPr lang="en-US" sz="2800" b="1" dirty="0"/>
              <a:t>The </a:t>
            </a:r>
            <a:r>
              <a:rPr lang="en-US" sz="2800" b="1" dirty="0">
                <a:latin typeface="Courier New" panose="02070309020205020404" pitchFamily="49" charset="0"/>
              </a:rPr>
              <a:t>delete</a:t>
            </a:r>
            <a:r>
              <a:rPr lang="en-US" sz="2800" b="1" dirty="0"/>
              <a:t> Operator</a:t>
            </a:r>
          </a:p>
          <a:p>
            <a:pPr>
              <a:buNone/>
            </a:pPr>
            <a:r>
              <a:rPr lang="en-US" sz="2800" b="1" dirty="0"/>
              <a:t>Definition:</a:t>
            </a:r>
          </a:p>
          <a:p>
            <a:pPr>
              <a:buNone/>
            </a:pPr>
            <a:r>
              <a:rPr lang="en-US" sz="2800" dirty="0"/>
              <a:t>The </a:t>
            </a:r>
            <a:r>
              <a:rPr lang="en-US" sz="2800" dirty="0">
                <a:latin typeface="Courier New" panose="02070309020205020404" pitchFamily="49" charset="0"/>
              </a:rPr>
              <a:t>delete</a:t>
            </a:r>
            <a:r>
              <a:rPr lang="en-US" sz="2800" dirty="0"/>
              <a:t> operator is used to </a:t>
            </a:r>
            <a:r>
              <a:rPr lang="en-US" sz="2800" b="1" dirty="0"/>
              <a:t>free (deallocate)</a:t>
            </a:r>
            <a:r>
              <a:rPr lang="en-US" sz="2800" dirty="0"/>
              <a:t> memory that was allocated using the </a:t>
            </a:r>
            <a:r>
              <a:rPr lang="en-US" sz="2800" dirty="0">
                <a:latin typeface="Courier New" panose="02070309020205020404" pitchFamily="49" charset="0"/>
              </a:rPr>
              <a:t>new</a:t>
            </a:r>
            <a:r>
              <a:rPr lang="en-US" sz="2800" dirty="0"/>
              <a:t> operator.</a:t>
            </a:r>
          </a:p>
          <a:p>
            <a:pPr>
              <a:buNone/>
            </a:pPr>
            <a:r>
              <a:rPr lang="en-US" sz="2800" dirty="0"/>
              <a:t>If you don’t delete it, that memory remains occupied — this is called a </a:t>
            </a:r>
            <a:r>
              <a:rPr lang="en-US" sz="2800" b="1" dirty="0"/>
              <a:t>memory leak</a:t>
            </a:r>
            <a:r>
              <a:rPr lang="en-US" sz="2800" dirty="0"/>
              <a:t>.</a:t>
            </a:r>
          </a:p>
        </p:txBody>
      </p:sp>
    </p:spTree>
    <p:extLst>
      <p:ext uri="{BB962C8B-B14F-4D97-AF65-F5344CB8AC3E}">
        <p14:creationId xmlns:p14="http://schemas.microsoft.com/office/powerpoint/2010/main" val="40160486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39FDBCE-159D-21CA-3CDF-56A6EE11FE7D}"/>
              </a:ext>
            </a:extLst>
          </p:cNvPr>
          <p:cNvGraphicFramePr>
            <a:graphicFrameLocks noGrp="1"/>
          </p:cNvGraphicFramePr>
          <p:nvPr>
            <p:extLst>
              <p:ext uri="{D42A27DB-BD31-4B8C-83A1-F6EECF244321}">
                <p14:modId xmlns:p14="http://schemas.microsoft.com/office/powerpoint/2010/main" val="2657702893"/>
              </p:ext>
            </p:extLst>
          </p:nvPr>
        </p:nvGraphicFramePr>
        <p:xfrm>
          <a:off x="176981" y="411479"/>
          <a:ext cx="11729883" cy="6303952"/>
        </p:xfrm>
        <a:graphic>
          <a:graphicData uri="http://schemas.openxmlformats.org/drawingml/2006/table">
            <a:tbl>
              <a:tblPr/>
              <a:tblGrid>
                <a:gridCol w="3303638">
                  <a:extLst>
                    <a:ext uri="{9D8B030D-6E8A-4147-A177-3AD203B41FA5}">
                      <a16:colId xmlns:a16="http://schemas.microsoft.com/office/drawing/2014/main" val="2239682467"/>
                    </a:ext>
                  </a:extLst>
                </a:gridCol>
                <a:gridCol w="5093110">
                  <a:extLst>
                    <a:ext uri="{9D8B030D-6E8A-4147-A177-3AD203B41FA5}">
                      <a16:colId xmlns:a16="http://schemas.microsoft.com/office/drawing/2014/main" val="3534094518"/>
                    </a:ext>
                  </a:extLst>
                </a:gridCol>
                <a:gridCol w="3333135">
                  <a:extLst>
                    <a:ext uri="{9D8B030D-6E8A-4147-A177-3AD203B41FA5}">
                      <a16:colId xmlns:a16="http://schemas.microsoft.com/office/drawing/2014/main" val="3027457948"/>
                    </a:ext>
                  </a:extLst>
                </a:gridCol>
              </a:tblGrid>
              <a:tr h="955144">
                <a:tc>
                  <a:txBody>
                    <a:bodyPr/>
                    <a:lstStyle/>
                    <a:p>
                      <a:pPr>
                        <a:buNone/>
                      </a:pPr>
                      <a:r>
                        <a:rPr lang="en-IN" sz="2400" b="1" dirty="0"/>
                        <a:t>Feature</a:t>
                      </a:r>
                    </a:p>
                  </a:txBody>
                  <a:tcPr anchor="ctr">
                    <a:lnL>
                      <a:noFill/>
                    </a:lnL>
                    <a:lnR>
                      <a:noFill/>
                    </a:lnR>
                    <a:lnT>
                      <a:noFill/>
                    </a:lnT>
                    <a:lnB>
                      <a:noFill/>
                    </a:lnB>
                    <a:noFill/>
                  </a:tcPr>
                </a:tc>
                <a:tc>
                  <a:txBody>
                    <a:bodyPr/>
                    <a:lstStyle/>
                    <a:p>
                      <a:pPr>
                        <a:buNone/>
                      </a:pPr>
                      <a:r>
                        <a:rPr lang="en-IN" sz="2400" b="1" dirty="0"/>
                        <a:t>C (malloc/free)</a:t>
                      </a:r>
                    </a:p>
                  </a:txBody>
                  <a:tcPr anchor="ctr">
                    <a:lnL>
                      <a:noFill/>
                    </a:lnL>
                    <a:lnR>
                      <a:noFill/>
                    </a:lnR>
                    <a:lnT>
                      <a:noFill/>
                    </a:lnT>
                    <a:lnB>
                      <a:noFill/>
                    </a:lnB>
                    <a:noFill/>
                  </a:tcPr>
                </a:tc>
                <a:tc>
                  <a:txBody>
                    <a:bodyPr/>
                    <a:lstStyle/>
                    <a:p>
                      <a:pPr>
                        <a:buNone/>
                      </a:pPr>
                      <a:r>
                        <a:rPr lang="en-IN" sz="2400" b="1" dirty="0"/>
                        <a:t>C++ (new/delete)</a:t>
                      </a:r>
                    </a:p>
                  </a:txBody>
                  <a:tcPr anchor="ctr">
                    <a:lnL>
                      <a:noFill/>
                    </a:lnL>
                    <a:lnR>
                      <a:noFill/>
                    </a:lnR>
                    <a:lnT>
                      <a:noFill/>
                    </a:lnT>
                    <a:lnB>
                      <a:noFill/>
                    </a:lnB>
                    <a:noFill/>
                  </a:tcPr>
                </a:tc>
                <a:extLst>
                  <a:ext uri="{0D108BD9-81ED-4DB2-BD59-A6C34878D82A}">
                    <a16:rowId xmlns:a16="http://schemas.microsoft.com/office/drawing/2014/main" val="1959302414"/>
                  </a:ext>
                </a:extLst>
              </a:tr>
              <a:tr h="2483376">
                <a:tc>
                  <a:txBody>
                    <a:bodyPr/>
                    <a:lstStyle/>
                    <a:p>
                      <a:pPr>
                        <a:buNone/>
                      </a:pPr>
                      <a:r>
                        <a:rPr lang="en-IN" sz="2400" dirty="0"/>
                        <a:t>Syntax</a:t>
                      </a:r>
                    </a:p>
                  </a:txBody>
                  <a:tcPr anchor="ctr">
                    <a:lnL>
                      <a:noFill/>
                    </a:lnL>
                    <a:lnR>
                      <a:noFill/>
                    </a:lnR>
                    <a:lnT>
                      <a:noFill/>
                    </a:lnT>
                    <a:lnB>
                      <a:noFill/>
                    </a:lnB>
                    <a:noFill/>
                  </a:tcPr>
                </a:tc>
                <a:tc>
                  <a:txBody>
                    <a:bodyPr/>
                    <a:lstStyle/>
                    <a:p>
                      <a:pPr>
                        <a:buNone/>
                      </a:pPr>
                      <a:r>
                        <a:rPr lang="en-US" sz="2400" dirty="0">
                          <a:latin typeface="Courier New" panose="02070309020205020404" pitchFamily="49" charset="0"/>
                        </a:rPr>
                        <a:t>int *p = (int*)malloc(</a:t>
                      </a:r>
                      <a:r>
                        <a:rPr lang="en-US" sz="2400" dirty="0" err="1">
                          <a:latin typeface="Courier New" panose="02070309020205020404" pitchFamily="49" charset="0"/>
                        </a:rPr>
                        <a:t>sizeof</a:t>
                      </a:r>
                      <a:r>
                        <a:rPr lang="en-US" sz="2400" dirty="0">
                          <a:latin typeface="Courier New" panose="02070309020205020404" pitchFamily="49" charset="0"/>
                        </a:rPr>
                        <a:t>(int));</a:t>
                      </a:r>
                      <a:endParaRPr lang="en-US" sz="2400" dirty="0"/>
                    </a:p>
                  </a:txBody>
                  <a:tcPr anchor="ctr">
                    <a:lnL>
                      <a:noFill/>
                    </a:lnL>
                    <a:lnR>
                      <a:noFill/>
                    </a:lnR>
                    <a:lnT>
                      <a:noFill/>
                    </a:lnT>
                    <a:lnB>
                      <a:noFill/>
                    </a:lnB>
                    <a:noFill/>
                  </a:tcPr>
                </a:tc>
                <a:tc>
                  <a:txBody>
                    <a:bodyPr/>
                    <a:lstStyle/>
                    <a:p>
                      <a:pPr>
                        <a:buNone/>
                      </a:pPr>
                      <a:r>
                        <a:rPr lang="en-IN" sz="2400" dirty="0">
                          <a:latin typeface="Courier New" panose="02070309020205020404" pitchFamily="49" charset="0"/>
                        </a:rPr>
                        <a:t>int *p = new int;</a:t>
                      </a:r>
                      <a:endParaRPr lang="en-IN" sz="2400" dirty="0"/>
                    </a:p>
                  </a:txBody>
                  <a:tcPr anchor="ctr">
                    <a:lnL>
                      <a:noFill/>
                    </a:lnL>
                    <a:lnR>
                      <a:noFill/>
                    </a:lnR>
                    <a:lnT>
                      <a:noFill/>
                    </a:lnT>
                    <a:lnB>
                      <a:noFill/>
                    </a:lnB>
                    <a:noFill/>
                  </a:tcPr>
                </a:tc>
                <a:extLst>
                  <a:ext uri="{0D108BD9-81ED-4DB2-BD59-A6C34878D82A}">
                    <a16:rowId xmlns:a16="http://schemas.microsoft.com/office/drawing/2014/main" val="116725311"/>
                  </a:ext>
                </a:extLst>
              </a:tr>
              <a:tr h="955144">
                <a:tc>
                  <a:txBody>
                    <a:bodyPr/>
                    <a:lstStyle/>
                    <a:p>
                      <a:pPr>
                        <a:buNone/>
                      </a:pPr>
                      <a:r>
                        <a:rPr lang="en-IN" sz="2400"/>
                        <a:t>Type casting</a:t>
                      </a:r>
                    </a:p>
                  </a:txBody>
                  <a:tcPr anchor="ctr">
                    <a:lnL>
                      <a:noFill/>
                    </a:lnL>
                    <a:lnR>
                      <a:noFill/>
                    </a:lnR>
                    <a:lnT>
                      <a:noFill/>
                    </a:lnT>
                    <a:lnB>
                      <a:noFill/>
                    </a:lnB>
                    <a:noFill/>
                  </a:tcPr>
                </a:tc>
                <a:tc>
                  <a:txBody>
                    <a:bodyPr/>
                    <a:lstStyle/>
                    <a:p>
                      <a:pPr>
                        <a:buNone/>
                      </a:pPr>
                      <a:r>
                        <a:rPr lang="en-IN" sz="2400"/>
                        <a:t>Needed</a:t>
                      </a:r>
                    </a:p>
                  </a:txBody>
                  <a:tcPr anchor="ctr">
                    <a:lnL>
                      <a:noFill/>
                    </a:lnL>
                    <a:lnR>
                      <a:noFill/>
                    </a:lnR>
                    <a:lnT>
                      <a:noFill/>
                    </a:lnT>
                    <a:lnB>
                      <a:noFill/>
                    </a:lnB>
                    <a:noFill/>
                  </a:tcPr>
                </a:tc>
                <a:tc>
                  <a:txBody>
                    <a:bodyPr/>
                    <a:lstStyle/>
                    <a:p>
                      <a:pPr>
                        <a:buNone/>
                      </a:pPr>
                      <a:r>
                        <a:rPr lang="en-IN" sz="2400"/>
                        <a:t>Not needed</a:t>
                      </a:r>
                    </a:p>
                  </a:txBody>
                  <a:tcPr anchor="ctr">
                    <a:lnL>
                      <a:noFill/>
                    </a:lnL>
                    <a:lnR>
                      <a:noFill/>
                    </a:lnR>
                    <a:lnT>
                      <a:noFill/>
                    </a:lnT>
                    <a:lnB>
                      <a:noFill/>
                    </a:lnB>
                    <a:noFill/>
                  </a:tcPr>
                </a:tc>
                <a:extLst>
                  <a:ext uri="{0D108BD9-81ED-4DB2-BD59-A6C34878D82A}">
                    <a16:rowId xmlns:a16="http://schemas.microsoft.com/office/drawing/2014/main" val="1938037934"/>
                  </a:ext>
                </a:extLst>
              </a:tr>
              <a:tr h="955144">
                <a:tc>
                  <a:txBody>
                    <a:bodyPr/>
                    <a:lstStyle/>
                    <a:p>
                      <a:pPr>
                        <a:buNone/>
                      </a:pPr>
                      <a:r>
                        <a:rPr lang="en-IN" sz="2400"/>
                        <a:t>Constructor/Destructor</a:t>
                      </a:r>
                    </a:p>
                  </a:txBody>
                  <a:tcPr anchor="ctr">
                    <a:lnL>
                      <a:noFill/>
                    </a:lnL>
                    <a:lnR>
                      <a:noFill/>
                    </a:lnR>
                    <a:lnT>
                      <a:noFill/>
                    </a:lnT>
                    <a:lnB>
                      <a:noFill/>
                    </a:lnB>
                    <a:noFill/>
                  </a:tcPr>
                </a:tc>
                <a:tc>
                  <a:txBody>
                    <a:bodyPr/>
                    <a:lstStyle/>
                    <a:p>
                      <a:pPr>
                        <a:buNone/>
                      </a:pPr>
                      <a:r>
                        <a:rPr lang="en-IN" sz="2400"/>
                        <a:t>Not called</a:t>
                      </a:r>
                    </a:p>
                  </a:txBody>
                  <a:tcPr anchor="ctr">
                    <a:lnL>
                      <a:noFill/>
                    </a:lnL>
                    <a:lnR>
                      <a:noFill/>
                    </a:lnR>
                    <a:lnT>
                      <a:noFill/>
                    </a:lnT>
                    <a:lnB>
                      <a:noFill/>
                    </a:lnB>
                    <a:noFill/>
                  </a:tcPr>
                </a:tc>
                <a:tc>
                  <a:txBody>
                    <a:bodyPr/>
                    <a:lstStyle/>
                    <a:p>
                      <a:pPr>
                        <a:buNone/>
                      </a:pPr>
                      <a:r>
                        <a:rPr lang="en-IN" sz="2400"/>
                        <a:t>Called automatically</a:t>
                      </a:r>
                    </a:p>
                  </a:txBody>
                  <a:tcPr anchor="ctr">
                    <a:lnL>
                      <a:noFill/>
                    </a:lnL>
                    <a:lnR>
                      <a:noFill/>
                    </a:lnR>
                    <a:lnT>
                      <a:noFill/>
                    </a:lnT>
                    <a:lnB>
                      <a:noFill/>
                    </a:lnB>
                    <a:noFill/>
                  </a:tcPr>
                </a:tc>
                <a:extLst>
                  <a:ext uri="{0D108BD9-81ED-4DB2-BD59-A6C34878D82A}">
                    <a16:rowId xmlns:a16="http://schemas.microsoft.com/office/drawing/2014/main" val="2532856488"/>
                  </a:ext>
                </a:extLst>
              </a:tr>
              <a:tr h="955144">
                <a:tc>
                  <a:txBody>
                    <a:bodyPr/>
                    <a:lstStyle/>
                    <a:p>
                      <a:pPr>
                        <a:buNone/>
                      </a:pPr>
                      <a:r>
                        <a:rPr lang="en-IN" sz="2400"/>
                        <a:t>Deallocation</a:t>
                      </a:r>
                    </a:p>
                  </a:txBody>
                  <a:tcPr anchor="ctr">
                    <a:lnL>
                      <a:noFill/>
                    </a:lnL>
                    <a:lnR>
                      <a:noFill/>
                    </a:lnR>
                    <a:lnT>
                      <a:noFill/>
                    </a:lnT>
                    <a:lnB>
                      <a:noFill/>
                    </a:lnB>
                    <a:noFill/>
                  </a:tcPr>
                </a:tc>
                <a:tc>
                  <a:txBody>
                    <a:bodyPr/>
                    <a:lstStyle/>
                    <a:p>
                      <a:pPr>
                        <a:buNone/>
                      </a:pPr>
                      <a:r>
                        <a:rPr lang="en-IN" sz="2400">
                          <a:latin typeface="Courier New" panose="02070309020205020404" pitchFamily="49" charset="0"/>
                        </a:rPr>
                        <a:t>free(p);</a:t>
                      </a:r>
                      <a:endParaRPr lang="en-IN" sz="2400"/>
                    </a:p>
                  </a:txBody>
                  <a:tcPr anchor="ctr">
                    <a:lnL>
                      <a:noFill/>
                    </a:lnL>
                    <a:lnR>
                      <a:noFill/>
                    </a:lnR>
                    <a:lnT>
                      <a:noFill/>
                    </a:lnT>
                    <a:lnB>
                      <a:noFill/>
                    </a:lnB>
                    <a:noFill/>
                  </a:tcPr>
                </a:tc>
                <a:tc>
                  <a:txBody>
                    <a:bodyPr/>
                    <a:lstStyle/>
                    <a:p>
                      <a:pPr>
                        <a:buNone/>
                      </a:pPr>
                      <a:r>
                        <a:rPr lang="en-IN" sz="2400" dirty="0">
                          <a:latin typeface="Courier New" panose="02070309020205020404" pitchFamily="49" charset="0"/>
                        </a:rPr>
                        <a:t>delete p;</a:t>
                      </a:r>
                      <a:endParaRPr lang="en-IN" sz="2400" dirty="0"/>
                    </a:p>
                  </a:txBody>
                  <a:tcPr anchor="ctr">
                    <a:lnL>
                      <a:noFill/>
                    </a:lnL>
                    <a:lnR>
                      <a:noFill/>
                    </a:lnR>
                    <a:lnT>
                      <a:noFill/>
                    </a:lnT>
                    <a:lnB>
                      <a:noFill/>
                    </a:lnB>
                    <a:noFill/>
                  </a:tcPr>
                </a:tc>
                <a:extLst>
                  <a:ext uri="{0D108BD9-81ED-4DB2-BD59-A6C34878D82A}">
                    <a16:rowId xmlns:a16="http://schemas.microsoft.com/office/drawing/2014/main" val="3894970012"/>
                  </a:ext>
                </a:extLst>
              </a:tr>
            </a:tbl>
          </a:graphicData>
        </a:graphic>
      </p:graphicFrame>
    </p:spTree>
    <p:extLst>
      <p:ext uri="{BB962C8B-B14F-4D97-AF65-F5344CB8AC3E}">
        <p14:creationId xmlns:p14="http://schemas.microsoft.com/office/powerpoint/2010/main" val="10072655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186FC1-BBE3-9433-6462-F93CB779EFFC}"/>
              </a:ext>
            </a:extLst>
          </p:cNvPr>
          <p:cNvSpPr txBox="1"/>
          <p:nvPr/>
        </p:nvSpPr>
        <p:spPr>
          <a:xfrm>
            <a:off x="245806" y="277450"/>
            <a:ext cx="11808542" cy="523220"/>
          </a:xfrm>
          <a:prstGeom prst="rect">
            <a:avLst/>
          </a:prstGeom>
          <a:noFill/>
        </p:spPr>
        <p:txBody>
          <a:bodyPr wrap="square">
            <a:spAutoFit/>
          </a:bodyPr>
          <a:lstStyle/>
          <a:p>
            <a:r>
              <a:rPr lang="en-US" sz="2800" dirty="0"/>
              <a:t>Example 1: Using </a:t>
            </a:r>
            <a:r>
              <a:rPr lang="en-US" sz="2800" dirty="0">
                <a:latin typeface="Courier New" panose="02070309020205020404" pitchFamily="49" charset="0"/>
              </a:rPr>
              <a:t>new</a:t>
            </a:r>
            <a:r>
              <a:rPr lang="en-US" sz="2800" dirty="0"/>
              <a:t> for single variable</a:t>
            </a:r>
            <a:endParaRPr lang="en-IN" sz="2800" dirty="0"/>
          </a:p>
        </p:txBody>
      </p:sp>
      <p:sp>
        <p:nvSpPr>
          <p:cNvPr id="5" name="TextBox 4">
            <a:extLst>
              <a:ext uri="{FF2B5EF4-FFF2-40B4-BE49-F238E27FC236}">
                <a16:creationId xmlns:a16="http://schemas.microsoft.com/office/drawing/2014/main" id="{F3338300-FB88-ECD1-FB05-9DDF5915A6AF}"/>
              </a:ext>
            </a:extLst>
          </p:cNvPr>
          <p:cNvSpPr txBox="1"/>
          <p:nvPr/>
        </p:nvSpPr>
        <p:spPr>
          <a:xfrm>
            <a:off x="245806" y="982176"/>
            <a:ext cx="11631561" cy="5693866"/>
          </a:xfrm>
          <a:prstGeom prst="rect">
            <a:avLst/>
          </a:prstGeom>
          <a:noFill/>
        </p:spPr>
        <p:txBody>
          <a:bodyPr wrap="square">
            <a:spAutoFit/>
          </a:bodyPr>
          <a:lstStyle/>
          <a:p>
            <a:r>
              <a:rPr lang="en-IN" sz="2800" dirty="0"/>
              <a:t>#include &lt;iostream&gt;</a:t>
            </a:r>
          </a:p>
          <a:p>
            <a:r>
              <a:rPr lang="en-IN" sz="2800" dirty="0"/>
              <a:t>using namespace std;</a:t>
            </a:r>
          </a:p>
          <a:p>
            <a:endParaRPr lang="en-IN" sz="2800" dirty="0"/>
          </a:p>
          <a:p>
            <a:r>
              <a:rPr lang="en-IN" sz="2800" dirty="0"/>
              <a:t>int main() {</a:t>
            </a:r>
          </a:p>
          <a:p>
            <a:r>
              <a:rPr lang="en-IN" sz="2800" dirty="0"/>
              <a:t>    int *</a:t>
            </a:r>
            <a:r>
              <a:rPr lang="en-IN" sz="2800" dirty="0" err="1"/>
              <a:t>ptr</a:t>
            </a:r>
            <a:r>
              <a:rPr lang="en-IN" sz="2800" dirty="0"/>
              <a:t>;                     // pointer declaration</a:t>
            </a:r>
          </a:p>
          <a:p>
            <a:r>
              <a:rPr lang="en-IN" sz="2800" dirty="0"/>
              <a:t>    </a:t>
            </a:r>
            <a:r>
              <a:rPr lang="en-IN" sz="2800" dirty="0" err="1"/>
              <a:t>ptr</a:t>
            </a:r>
            <a:r>
              <a:rPr lang="en-IN" sz="2800" dirty="0"/>
              <a:t> = new int;                // memory allocated dynamically</a:t>
            </a:r>
          </a:p>
          <a:p>
            <a:endParaRPr lang="en-IN" sz="2800" dirty="0"/>
          </a:p>
          <a:p>
            <a:r>
              <a:rPr lang="en-IN" sz="2800" dirty="0"/>
              <a:t>    *</a:t>
            </a:r>
            <a:r>
              <a:rPr lang="en-IN" sz="2800" dirty="0" err="1"/>
              <a:t>ptr</a:t>
            </a:r>
            <a:r>
              <a:rPr lang="en-IN" sz="2800" dirty="0"/>
              <a:t> = 50;                    // assign value</a:t>
            </a:r>
          </a:p>
          <a:p>
            <a:r>
              <a:rPr lang="en-IN" sz="2800" dirty="0"/>
              <a:t>    </a:t>
            </a:r>
            <a:r>
              <a:rPr lang="en-IN" sz="2800" dirty="0" err="1"/>
              <a:t>cout</a:t>
            </a:r>
            <a:r>
              <a:rPr lang="en-IN" sz="2800" dirty="0"/>
              <a:t> &lt;&lt; "Value stored in </a:t>
            </a:r>
            <a:r>
              <a:rPr lang="en-IN" sz="2800" dirty="0" err="1"/>
              <a:t>ptr</a:t>
            </a:r>
            <a:r>
              <a:rPr lang="en-IN" sz="2800" dirty="0"/>
              <a:t>: " &lt;&lt; *</a:t>
            </a:r>
            <a:r>
              <a:rPr lang="en-IN" sz="2800" dirty="0" err="1"/>
              <a:t>ptr</a:t>
            </a:r>
            <a:r>
              <a:rPr lang="en-IN" sz="2800" dirty="0"/>
              <a:t> &lt;&lt; </a:t>
            </a:r>
            <a:r>
              <a:rPr lang="en-IN" sz="2800" dirty="0" err="1"/>
              <a:t>endl</a:t>
            </a:r>
            <a:r>
              <a:rPr lang="en-IN" sz="2800" dirty="0"/>
              <a:t>;</a:t>
            </a:r>
          </a:p>
          <a:p>
            <a:endParaRPr lang="en-IN" sz="2800" dirty="0"/>
          </a:p>
          <a:p>
            <a:r>
              <a:rPr lang="en-IN" sz="2800" dirty="0"/>
              <a:t>    delete </a:t>
            </a:r>
            <a:r>
              <a:rPr lang="en-IN" sz="2800" dirty="0" err="1"/>
              <a:t>ptr</a:t>
            </a:r>
            <a:r>
              <a:rPr lang="en-IN" sz="2800" dirty="0"/>
              <a:t>;                   // free memory</a:t>
            </a:r>
          </a:p>
          <a:p>
            <a:r>
              <a:rPr lang="en-IN" sz="2800" dirty="0"/>
              <a:t>    return 0;</a:t>
            </a:r>
          </a:p>
          <a:p>
            <a:r>
              <a:rPr lang="en-IN" sz="2800" dirty="0"/>
              <a:t>}</a:t>
            </a:r>
          </a:p>
        </p:txBody>
      </p:sp>
    </p:spTree>
    <p:extLst>
      <p:ext uri="{BB962C8B-B14F-4D97-AF65-F5344CB8AC3E}">
        <p14:creationId xmlns:p14="http://schemas.microsoft.com/office/powerpoint/2010/main" val="6825516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35C098-059A-823D-088C-1FC172840208}"/>
              </a:ext>
            </a:extLst>
          </p:cNvPr>
          <p:cNvSpPr txBox="1"/>
          <p:nvPr/>
        </p:nvSpPr>
        <p:spPr>
          <a:xfrm>
            <a:off x="117987" y="198792"/>
            <a:ext cx="11887199" cy="523220"/>
          </a:xfrm>
          <a:prstGeom prst="rect">
            <a:avLst/>
          </a:prstGeom>
          <a:noFill/>
        </p:spPr>
        <p:txBody>
          <a:bodyPr wrap="square">
            <a:spAutoFit/>
          </a:bodyPr>
          <a:lstStyle/>
          <a:p>
            <a:r>
              <a:rPr lang="en-US" sz="2800" dirty="0"/>
              <a:t>Example 2: Using </a:t>
            </a:r>
            <a:r>
              <a:rPr lang="en-US" sz="2800" dirty="0">
                <a:latin typeface="Courier New" panose="02070309020205020404" pitchFamily="49" charset="0"/>
              </a:rPr>
              <a:t>new</a:t>
            </a:r>
            <a:r>
              <a:rPr lang="en-US" sz="2800" dirty="0"/>
              <a:t> for array</a:t>
            </a:r>
            <a:endParaRPr lang="en-IN" sz="2800" dirty="0"/>
          </a:p>
        </p:txBody>
      </p:sp>
      <p:sp>
        <p:nvSpPr>
          <p:cNvPr id="5" name="TextBox 4">
            <a:extLst>
              <a:ext uri="{FF2B5EF4-FFF2-40B4-BE49-F238E27FC236}">
                <a16:creationId xmlns:a16="http://schemas.microsoft.com/office/drawing/2014/main" id="{3B156C95-5B30-08BD-B475-F0D3F2A3329E}"/>
              </a:ext>
            </a:extLst>
          </p:cNvPr>
          <p:cNvSpPr txBox="1"/>
          <p:nvPr/>
        </p:nvSpPr>
        <p:spPr>
          <a:xfrm>
            <a:off x="186814" y="722012"/>
            <a:ext cx="11818371" cy="5632311"/>
          </a:xfrm>
          <a:prstGeom prst="rect">
            <a:avLst/>
          </a:prstGeom>
          <a:noFill/>
        </p:spPr>
        <p:txBody>
          <a:bodyPr wrap="square" numCol="2">
            <a:spAutoFit/>
          </a:bodyPr>
          <a:lstStyle/>
          <a:p>
            <a:r>
              <a:rPr lang="en-IN" sz="2400" dirty="0"/>
              <a:t>#include &lt;iostream&gt;</a:t>
            </a:r>
          </a:p>
          <a:p>
            <a:r>
              <a:rPr lang="en-IN" sz="2400" dirty="0"/>
              <a:t>using namespace std;</a:t>
            </a:r>
          </a:p>
          <a:p>
            <a:endParaRPr lang="en-IN" sz="2400" dirty="0"/>
          </a:p>
          <a:p>
            <a:r>
              <a:rPr lang="en-IN" sz="2400" dirty="0"/>
              <a:t>int main() {</a:t>
            </a:r>
          </a:p>
          <a:p>
            <a:r>
              <a:rPr lang="en-IN" sz="2400" dirty="0"/>
              <a:t>    int n;</a:t>
            </a:r>
          </a:p>
          <a:p>
            <a:r>
              <a:rPr lang="en-IN" sz="2400" dirty="0"/>
              <a:t>    </a:t>
            </a:r>
            <a:r>
              <a:rPr lang="en-IN" sz="2400" dirty="0" err="1"/>
              <a:t>cout</a:t>
            </a:r>
            <a:r>
              <a:rPr lang="en-IN" sz="2400" dirty="0"/>
              <a:t> &lt;&lt; "Enter number of elements: ";</a:t>
            </a:r>
          </a:p>
          <a:p>
            <a:r>
              <a:rPr lang="en-IN" sz="2400" dirty="0"/>
              <a:t>    </a:t>
            </a:r>
            <a:r>
              <a:rPr lang="en-IN" sz="2400" dirty="0" err="1"/>
              <a:t>cin</a:t>
            </a:r>
            <a:r>
              <a:rPr lang="en-IN" sz="2400" dirty="0"/>
              <a:t> &gt;&gt; n;</a:t>
            </a:r>
          </a:p>
          <a:p>
            <a:endParaRPr lang="en-IN" sz="2400" dirty="0"/>
          </a:p>
          <a:p>
            <a:r>
              <a:rPr lang="en-IN" sz="2400" dirty="0"/>
              <a:t>    int *</a:t>
            </a:r>
            <a:r>
              <a:rPr lang="en-IN" sz="2400" dirty="0" err="1"/>
              <a:t>arr</a:t>
            </a:r>
            <a:r>
              <a:rPr lang="en-IN" sz="2400" dirty="0"/>
              <a:t> = new int[n];     // allocate array dynamically</a:t>
            </a:r>
          </a:p>
          <a:p>
            <a:endParaRPr lang="en-IN" sz="2400" dirty="0"/>
          </a:p>
          <a:p>
            <a:r>
              <a:rPr lang="en-IN" sz="2400" dirty="0"/>
              <a:t>    </a:t>
            </a:r>
            <a:r>
              <a:rPr lang="en-IN" sz="2400" dirty="0" err="1"/>
              <a:t>cout</a:t>
            </a:r>
            <a:r>
              <a:rPr lang="en-IN" sz="2400" dirty="0"/>
              <a:t> &lt;&lt; "Enter " &lt;&lt; n &lt;&lt; " numbers: ";</a:t>
            </a:r>
          </a:p>
          <a:p>
            <a:r>
              <a:rPr lang="en-IN" sz="2400" dirty="0"/>
              <a:t>    for(int </a:t>
            </a:r>
            <a:r>
              <a:rPr lang="en-IN" sz="2400" dirty="0" err="1"/>
              <a:t>i</a:t>
            </a:r>
            <a:r>
              <a:rPr lang="en-IN" sz="2400" dirty="0"/>
              <a:t> = 0; </a:t>
            </a:r>
            <a:r>
              <a:rPr lang="en-IN" sz="2400" dirty="0" err="1"/>
              <a:t>i</a:t>
            </a:r>
            <a:r>
              <a:rPr lang="en-IN" sz="2400" dirty="0"/>
              <a:t> &lt; n; </a:t>
            </a:r>
            <a:r>
              <a:rPr lang="en-IN" sz="2400" dirty="0" err="1"/>
              <a:t>i</a:t>
            </a:r>
            <a:r>
              <a:rPr lang="en-IN" sz="2400" dirty="0"/>
              <a:t>++) {</a:t>
            </a:r>
          </a:p>
          <a:p>
            <a:r>
              <a:rPr lang="en-IN" sz="2400" dirty="0"/>
              <a:t>        </a:t>
            </a:r>
            <a:r>
              <a:rPr lang="en-IN" sz="2400" dirty="0" err="1"/>
              <a:t>cin</a:t>
            </a:r>
            <a:r>
              <a:rPr lang="en-IN" sz="2400" dirty="0"/>
              <a:t> &gt;&gt; </a:t>
            </a:r>
            <a:r>
              <a:rPr lang="en-IN" sz="2400" dirty="0" err="1"/>
              <a:t>arr</a:t>
            </a:r>
            <a:r>
              <a:rPr lang="en-IN" sz="2400" dirty="0"/>
              <a:t>[</a:t>
            </a:r>
            <a:r>
              <a:rPr lang="en-IN" sz="2400" dirty="0" err="1"/>
              <a:t>i</a:t>
            </a:r>
            <a:r>
              <a:rPr lang="en-IN" sz="2400" dirty="0"/>
              <a:t>];</a:t>
            </a:r>
          </a:p>
          <a:p>
            <a:r>
              <a:rPr lang="en-IN" sz="2400" dirty="0"/>
              <a:t>    }</a:t>
            </a:r>
          </a:p>
          <a:p>
            <a:endParaRPr lang="en-IN" sz="2400" dirty="0"/>
          </a:p>
          <a:p>
            <a:r>
              <a:rPr lang="en-IN" sz="2400" dirty="0"/>
              <a:t>    </a:t>
            </a:r>
            <a:r>
              <a:rPr lang="en-IN" sz="2400" dirty="0" err="1"/>
              <a:t>cout</a:t>
            </a:r>
            <a:r>
              <a:rPr lang="en-IN" sz="2400" dirty="0"/>
              <a:t> &lt;&lt; "You entered: ";</a:t>
            </a:r>
          </a:p>
          <a:p>
            <a:r>
              <a:rPr lang="en-IN" sz="2400" dirty="0"/>
              <a:t>    for(int </a:t>
            </a:r>
            <a:r>
              <a:rPr lang="en-IN" sz="2400" dirty="0" err="1"/>
              <a:t>i</a:t>
            </a:r>
            <a:r>
              <a:rPr lang="en-IN" sz="2400" dirty="0"/>
              <a:t> = 0; </a:t>
            </a:r>
            <a:r>
              <a:rPr lang="en-IN" sz="2400" dirty="0" err="1"/>
              <a:t>i</a:t>
            </a:r>
            <a:r>
              <a:rPr lang="en-IN" sz="2400" dirty="0"/>
              <a:t> &lt; n; </a:t>
            </a:r>
            <a:r>
              <a:rPr lang="en-IN" sz="2400" dirty="0" err="1"/>
              <a:t>i</a:t>
            </a:r>
            <a:r>
              <a:rPr lang="en-IN" sz="2400" dirty="0"/>
              <a:t>++) {</a:t>
            </a:r>
          </a:p>
          <a:p>
            <a:r>
              <a:rPr lang="en-IN" sz="2400" dirty="0"/>
              <a:t>        </a:t>
            </a:r>
            <a:r>
              <a:rPr lang="en-IN" sz="2400" dirty="0" err="1"/>
              <a:t>cout</a:t>
            </a:r>
            <a:r>
              <a:rPr lang="en-IN" sz="2400" dirty="0"/>
              <a:t> &lt;&lt; </a:t>
            </a:r>
            <a:r>
              <a:rPr lang="en-IN" sz="2400" dirty="0" err="1"/>
              <a:t>arr</a:t>
            </a:r>
            <a:r>
              <a:rPr lang="en-IN" sz="2400" dirty="0"/>
              <a:t>[</a:t>
            </a:r>
            <a:r>
              <a:rPr lang="en-IN" sz="2400" dirty="0" err="1"/>
              <a:t>i</a:t>
            </a:r>
            <a:r>
              <a:rPr lang="en-IN" sz="2400" dirty="0"/>
              <a:t>] &lt;&lt; " ";</a:t>
            </a:r>
          </a:p>
          <a:p>
            <a:r>
              <a:rPr lang="en-IN" sz="2400" dirty="0"/>
              <a:t>    }</a:t>
            </a:r>
          </a:p>
          <a:p>
            <a:endParaRPr lang="en-IN" sz="2400" dirty="0"/>
          </a:p>
          <a:p>
            <a:endParaRPr lang="en-IN" sz="2400" dirty="0"/>
          </a:p>
          <a:p>
            <a:r>
              <a:rPr lang="en-IN" sz="2400" dirty="0"/>
              <a:t>    delete[] </a:t>
            </a:r>
            <a:r>
              <a:rPr lang="en-IN" sz="2400" dirty="0" err="1"/>
              <a:t>arr</a:t>
            </a:r>
            <a:r>
              <a:rPr lang="en-IN" sz="2400" dirty="0"/>
              <a:t>;              // free array memory</a:t>
            </a:r>
          </a:p>
          <a:p>
            <a:r>
              <a:rPr lang="en-IN" sz="2400" dirty="0"/>
              <a:t>    return 0;</a:t>
            </a:r>
          </a:p>
          <a:p>
            <a:r>
              <a:rPr lang="en-IN" sz="2400" dirty="0"/>
              <a:t>}</a:t>
            </a:r>
          </a:p>
        </p:txBody>
      </p:sp>
    </p:spTree>
    <p:extLst>
      <p:ext uri="{BB962C8B-B14F-4D97-AF65-F5344CB8AC3E}">
        <p14:creationId xmlns:p14="http://schemas.microsoft.com/office/powerpoint/2010/main" val="2121917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406E1D-ACF0-AEF5-81A2-A0F96BC31CCA}"/>
              </a:ext>
            </a:extLst>
          </p:cNvPr>
          <p:cNvSpPr txBox="1"/>
          <p:nvPr/>
        </p:nvSpPr>
        <p:spPr>
          <a:xfrm>
            <a:off x="162233" y="1189703"/>
            <a:ext cx="11744632" cy="3970318"/>
          </a:xfrm>
          <a:prstGeom prst="rect">
            <a:avLst/>
          </a:prstGeom>
          <a:noFill/>
        </p:spPr>
        <p:txBody>
          <a:bodyPr wrap="square">
            <a:spAutoFit/>
          </a:bodyPr>
          <a:lstStyle/>
          <a:p>
            <a:r>
              <a:rPr lang="en-IN" sz="2800" dirty="0"/>
              <a:t>class Student {</a:t>
            </a:r>
          </a:p>
          <a:p>
            <a:r>
              <a:rPr lang="en-IN" sz="2800" dirty="0"/>
              <a:t>public:</a:t>
            </a:r>
          </a:p>
          <a:p>
            <a:r>
              <a:rPr lang="en-IN" sz="2800" dirty="0"/>
              <a:t>    void display() {</a:t>
            </a:r>
          </a:p>
          <a:p>
            <a:r>
              <a:rPr lang="en-IN" sz="2800" dirty="0"/>
              <a:t>        </a:t>
            </a:r>
            <a:r>
              <a:rPr lang="en-IN" sz="2800" dirty="0" err="1"/>
              <a:t>cout</a:t>
            </a:r>
            <a:r>
              <a:rPr lang="en-IN" sz="2800" dirty="0"/>
              <a:t> &lt;&lt; "Hello Student";</a:t>
            </a:r>
          </a:p>
          <a:p>
            <a:r>
              <a:rPr lang="en-IN" sz="2800" dirty="0"/>
              <a:t>    }</a:t>
            </a:r>
          </a:p>
          <a:p>
            <a:r>
              <a:rPr lang="en-IN" sz="2800" dirty="0"/>
              <a:t>};</a:t>
            </a:r>
          </a:p>
          <a:p>
            <a:endParaRPr lang="en-IN" sz="2800" dirty="0"/>
          </a:p>
          <a:p>
            <a:r>
              <a:rPr lang="en-IN" sz="2800" dirty="0"/>
              <a:t>Student *s = new Student;   // creates object dynamically</a:t>
            </a:r>
          </a:p>
          <a:p>
            <a:r>
              <a:rPr lang="en-IN" sz="2800" dirty="0"/>
              <a:t>s-&gt;display();</a:t>
            </a:r>
          </a:p>
        </p:txBody>
      </p:sp>
      <p:sp>
        <p:nvSpPr>
          <p:cNvPr id="5" name="TextBox 4">
            <a:extLst>
              <a:ext uri="{FF2B5EF4-FFF2-40B4-BE49-F238E27FC236}">
                <a16:creationId xmlns:a16="http://schemas.microsoft.com/office/drawing/2014/main" id="{B2D3A89E-D21E-CE04-B417-0E636B1484F0}"/>
              </a:ext>
            </a:extLst>
          </p:cNvPr>
          <p:cNvSpPr txBox="1"/>
          <p:nvPr/>
        </p:nvSpPr>
        <p:spPr>
          <a:xfrm>
            <a:off x="162233" y="552754"/>
            <a:ext cx="11842954" cy="523220"/>
          </a:xfrm>
          <a:prstGeom prst="rect">
            <a:avLst/>
          </a:prstGeom>
          <a:noFill/>
        </p:spPr>
        <p:txBody>
          <a:bodyPr wrap="square">
            <a:spAutoFit/>
          </a:bodyPr>
          <a:lstStyle/>
          <a:p>
            <a:r>
              <a:rPr lang="en-US" sz="2800" dirty="0"/>
              <a:t>Example 3: Allocate memory for object</a:t>
            </a:r>
            <a:endParaRPr lang="en-IN" sz="2800" dirty="0"/>
          </a:p>
        </p:txBody>
      </p:sp>
    </p:spTree>
    <p:extLst>
      <p:ext uri="{BB962C8B-B14F-4D97-AF65-F5344CB8AC3E}">
        <p14:creationId xmlns:p14="http://schemas.microsoft.com/office/powerpoint/2010/main" val="3329424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9D134A-CE01-5578-53C4-B37912274560}"/>
              </a:ext>
            </a:extLst>
          </p:cNvPr>
          <p:cNvSpPr txBox="1"/>
          <p:nvPr/>
        </p:nvSpPr>
        <p:spPr>
          <a:xfrm>
            <a:off x="98323" y="278805"/>
            <a:ext cx="11985521" cy="6555641"/>
          </a:xfrm>
          <a:prstGeom prst="rect">
            <a:avLst/>
          </a:prstGeom>
          <a:noFill/>
        </p:spPr>
        <p:txBody>
          <a:bodyPr wrap="square">
            <a:spAutoFit/>
          </a:bodyPr>
          <a:lstStyle/>
          <a:p>
            <a:pPr>
              <a:buNone/>
            </a:pPr>
            <a:r>
              <a:rPr lang="en-US" sz="2800" b="1" dirty="0"/>
              <a:t>Operators in C++</a:t>
            </a:r>
          </a:p>
          <a:p>
            <a:pPr>
              <a:buNone/>
            </a:pPr>
            <a:r>
              <a:rPr lang="en-US" sz="2800" dirty="0"/>
              <a:t>In addition to C operators, C++ introduces </a:t>
            </a:r>
            <a:r>
              <a:rPr lang="en-US" sz="2800" b="1" dirty="0"/>
              <a:t>new operators</a:t>
            </a:r>
            <a:r>
              <a:rPr lang="en-US" sz="2800" dirty="0"/>
              <a:t> and allows </a:t>
            </a:r>
            <a:r>
              <a:rPr lang="en-US" sz="2800" b="1" dirty="0"/>
              <a:t>operator overloading</a:t>
            </a:r>
            <a:r>
              <a:rPr lang="en-US" sz="2800" dirty="0"/>
              <a:t>.</a:t>
            </a:r>
          </a:p>
          <a:p>
            <a:pPr>
              <a:buNone/>
            </a:pPr>
            <a:r>
              <a:rPr lang="en-US" sz="2800" b="1" dirty="0"/>
              <a:t>New operators in C++:</a:t>
            </a:r>
          </a:p>
          <a:p>
            <a:pPr>
              <a:buFont typeface="Arial" panose="020B0604020202020204" pitchFamily="34" charset="0"/>
              <a:buChar char="•"/>
            </a:pPr>
            <a:r>
              <a:rPr lang="en-US" sz="2800" b="1" dirty="0">
                <a:latin typeface="Courier New" panose="02070309020205020404" pitchFamily="49" charset="0"/>
              </a:rPr>
              <a:t>::</a:t>
            </a:r>
            <a:r>
              <a:rPr lang="en-US" sz="2800" b="1" dirty="0"/>
              <a:t> (Scope resolution operator):</a:t>
            </a:r>
            <a:r>
              <a:rPr lang="en-US" sz="2800" dirty="0"/>
              <a:t> Used to access global variables or class members.</a:t>
            </a:r>
          </a:p>
          <a:p>
            <a:pPr>
              <a:buFont typeface="Arial" panose="020B0604020202020204" pitchFamily="34" charset="0"/>
              <a:buChar char="•"/>
            </a:pPr>
            <a:endParaRPr lang="en-US" sz="2800" dirty="0"/>
          </a:p>
          <a:p>
            <a:pPr>
              <a:buFont typeface="Arial" panose="020B0604020202020204" pitchFamily="34" charset="0"/>
              <a:buChar char="•"/>
            </a:pPr>
            <a:r>
              <a:rPr lang="en-US" sz="2800" b="1" dirty="0">
                <a:latin typeface="Courier New" panose="02070309020205020404" pitchFamily="49" charset="0"/>
              </a:rPr>
              <a:t>-&gt;</a:t>
            </a:r>
            <a:r>
              <a:rPr lang="en-US" sz="2800" b="1" dirty="0"/>
              <a:t> (Member access operator):</a:t>
            </a:r>
            <a:r>
              <a:rPr lang="en-US" sz="2800" dirty="0"/>
              <a:t> Used with pointers to access class members.</a:t>
            </a:r>
          </a:p>
          <a:p>
            <a:pPr>
              <a:buFont typeface="Arial" panose="020B0604020202020204" pitchFamily="34" charset="0"/>
              <a:buChar char="•"/>
            </a:pPr>
            <a:endParaRPr lang="en-US" sz="2800" dirty="0"/>
          </a:p>
          <a:p>
            <a:pPr>
              <a:buFont typeface="Arial" panose="020B0604020202020204" pitchFamily="34" charset="0"/>
              <a:buChar char="•"/>
            </a:pPr>
            <a:r>
              <a:rPr lang="en-US" sz="2800" b="1" dirty="0">
                <a:latin typeface="Courier New" panose="02070309020205020404" pitchFamily="49" charset="0"/>
              </a:rPr>
              <a:t>.</a:t>
            </a:r>
            <a:r>
              <a:rPr lang="en-US" sz="2800" b="1" dirty="0"/>
              <a:t> (Dot operator):</a:t>
            </a:r>
            <a:r>
              <a:rPr lang="en-US" sz="2800" dirty="0"/>
              <a:t> Access class members using object.</a:t>
            </a:r>
          </a:p>
          <a:p>
            <a:pPr>
              <a:buFont typeface="Arial" panose="020B0604020202020204" pitchFamily="34" charset="0"/>
              <a:buChar char="•"/>
            </a:pPr>
            <a:endParaRPr lang="en-US" sz="2800" dirty="0"/>
          </a:p>
          <a:p>
            <a:pPr>
              <a:buFont typeface="Arial" panose="020B0604020202020204" pitchFamily="34" charset="0"/>
              <a:buChar char="•"/>
            </a:pPr>
            <a:r>
              <a:rPr lang="en-US" sz="2800" b="1" dirty="0">
                <a:latin typeface="Courier New" panose="02070309020205020404" pitchFamily="49" charset="0"/>
              </a:rPr>
              <a:t>new</a:t>
            </a:r>
            <a:r>
              <a:rPr lang="en-US" sz="2800" b="1" dirty="0"/>
              <a:t>, </a:t>
            </a:r>
            <a:r>
              <a:rPr lang="en-US" sz="2800" b="1" dirty="0">
                <a:latin typeface="Courier New" panose="02070309020205020404" pitchFamily="49" charset="0"/>
              </a:rPr>
              <a:t>delete</a:t>
            </a:r>
            <a:r>
              <a:rPr lang="en-US" sz="2800" dirty="0"/>
              <a:t> — for dynamic memory.</a:t>
            </a:r>
          </a:p>
          <a:p>
            <a:pPr>
              <a:buFont typeface="Arial" panose="020B0604020202020204" pitchFamily="34" charset="0"/>
              <a:buChar char="•"/>
            </a:pPr>
            <a:endParaRPr lang="en-US" sz="2800" dirty="0"/>
          </a:p>
          <a:p>
            <a:pPr>
              <a:buFont typeface="Arial" panose="020B0604020202020204" pitchFamily="34" charset="0"/>
              <a:buChar char="•"/>
            </a:pPr>
            <a:r>
              <a:rPr lang="en-US" sz="2800" b="1" dirty="0">
                <a:latin typeface="Courier New" panose="02070309020205020404" pitchFamily="49" charset="0"/>
              </a:rPr>
              <a:t>&lt;&lt;</a:t>
            </a:r>
            <a:r>
              <a:rPr lang="en-US" sz="2800" b="1" dirty="0"/>
              <a:t>, </a:t>
            </a:r>
            <a:r>
              <a:rPr lang="en-US" sz="2800" b="1" dirty="0">
                <a:latin typeface="Courier New" panose="02070309020205020404" pitchFamily="49" charset="0"/>
              </a:rPr>
              <a:t>&gt;&gt;</a:t>
            </a:r>
            <a:r>
              <a:rPr lang="en-US" sz="2800" dirty="0"/>
              <a:t> — overloaded for input/output (</a:t>
            </a:r>
            <a:r>
              <a:rPr lang="en-US" sz="2800" dirty="0" err="1">
                <a:latin typeface="Courier New" panose="02070309020205020404" pitchFamily="49" charset="0"/>
              </a:rPr>
              <a:t>cin</a:t>
            </a:r>
            <a:r>
              <a:rPr lang="en-US" sz="2800" dirty="0"/>
              <a:t>, </a:t>
            </a:r>
            <a:r>
              <a:rPr lang="en-US" sz="2800" dirty="0" err="1">
                <a:latin typeface="Courier New" panose="02070309020205020404" pitchFamily="49" charset="0"/>
              </a:rPr>
              <a:t>cout</a:t>
            </a:r>
            <a:r>
              <a:rPr lang="en-US" sz="2800" dirty="0"/>
              <a:t>).</a:t>
            </a:r>
          </a:p>
        </p:txBody>
      </p:sp>
    </p:spTree>
    <p:extLst>
      <p:ext uri="{BB962C8B-B14F-4D97-AF65-F5344CB8AC3E}">
        <p14:creationId xmlns:p14="http://schemas.microsoft.com/office/powerpoint/2010/main" val="10674143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B9241A-44C6-64F3-5330-915B29391220}"/>
              </a:ext>
            </a:extLst>
          </p:cNvPr>
          <p:cNvSpPr txBox="1"/>
          <p:nvPr/>
        </p:nvSpPr>
        <p:spPr>
          <a:xfrm>
            <a:off x="117987" y="139799"/>
            <a:ext cx="11759381" cy="769441"/>
          </a:xfrm>
          <a:prstGeom prst="rect">
            <a:avLst/>
          </a:prstGeom>
          <a:noFill/>
        </p:spPr>
        <p:txBody>
          <a:bodyPr wrap="square">
            <a:spAutoFit/>
          </a:bodyPr>
          <a:lstStyle/>
          <a:p>
            <a:pPr algn="l">
              <a:spcBef>
                <a:spcPts val="750"/>
              </a:spcBef>
              <a:spcAft>
                <a:spcPts val="750"/>
              </a:spcAft>
              <a:buNone/>
            </a:pPr>
            <a:r>
              <a:rPr lang="en-IN" sz="4400" b="1" i="0" dirty="0">
                <a:solidFill>
                  <a:srgbClr val="000000"/>
                </a:solidFill>
                <a:effectLst/>
                <a:latin typeface="Segoe UI" panose="020B0502040204020203" pitchFamily="34" charset="0"/>
              </a:rPr>
              <a:t>Classes/Objects</a:t>
            </a:r>
          </a:p>
        </p:txBody>
      </p:sp>
      <p:sp>
        <p:nvSpPr>
          <p:cNvPr id="5" name="TextBox 4">
            <a:extLst>
              <a:ext uri="{FF2B5EF4-FFF2-40B4-BE49-F238E27FC236}">
                <a16:creationId xmlns:a16="http://schemas.microsoft.com/office/drawing/2014/main" id="{2E861BA3-281B-572F-DC8A-A7416BFD53E4}"/>
              </a:ext>
            </a:extLst>
          </p:cNvPr>
          <p:cNvSpPr txBox="1"/>
          <p:nvPr/>
        </p:nvSpPr>
        <p:spPr>
          <a:xfrm>
            <a:off x="117987" y="909240"/>
            <a:ext cx="11956026" cy="2308324"/>
          </a:xfrm>
          <a:prstGeom prst="rect">
            <a:avLst/>
          </a:prstGeom>
          <a:noFill/>
        </p:spPr>
        <p:txBody>
          <a:bodyPr wrap="square">
            <a:spAutoFit/>
          </a:bodyPr>
          <a:lstStyle/>
          <a:p>
            <a:pPr algn="l">
              <a:buNone/>
            </a:pPr>
            <a:r>
              <a:rPr lang="en-US" b="0" i="0" dirty="0">
                <a:solidFill>
                  <a:srgbClr val="000000"/>
                </a:solidFill>
                <a:effectLst/>
                <a:latin typeface="Segoe UI" panose="020B0502040204020203" pitchFamily="34" charset="0"/>
              </a:rPr>
              <a:t>For example: in real life, a car is an </a:t>
            </a:r>
            <a:r>
              <a:rPr lang="en-US" b="1" i="0" dirty="0">
                <a:solidFill>
                  <a:srgbClr val="000000"/>
                </a:solidFill>
                <a:effectLst/>
                <a:latin typeface="Segoe UI" panose="020B0502040204020203" pitchFamily="34" charset="0"/>
              </a:rPr>
              <a:t>object</a:t>
            </a:r>
            <a:r>
              <a:rPr lang="en-US" b="0" i="0" dirty="0">
                <a:solidFill>
                  <a:srgbClr val="000000"/>
                </a:solidFill>
                <a:effectLst/>
                <a:latin typeface="Segoe UI" panose="020B0502040204020203" pitchFamily="34" charset="0"/>
              </a:rPr>
              <a:t>. The car has </a:t>
            </a:r>
            <a:r>
              <a:rPr lang="en-US" b="1" i="0" dirty="0">
                <a:solidFill>
                  <a:srgbClr val="000000"/>
                </a:solidFill>
                <a:effectLst/>
                <a:latin typeface="Segoe UI" panose="020B0502040204020203" pitchFamily="34" charset="0"/>
              </a:rPr>
              <a:t>attributes</a:t>
            </a:r>
            <a:r>
              <a:rPr lang="en-US" b="0" i="0" dirty="0">
                <a:solidFill>
                  <a:srgbClr val="000000"/>
                </a:solidFill>
                <a:effectLst/>
                <a:latin typeface="Segoe UI" panose="020B0502040204020203" pitchFamily="34" charset="0"/>
              </a:rPr>
              <a:t>, such as weight and color, and </a:t>
            </a:r>
            <a:r>
              <a:rPr lang="en-US" b="1" i="0" dirty="0">
                <a:solidFill>
                  <a:srgbClr val="000000"/>
                </a:solidFill>
                <a:effectLst/>
                <a:latin typeface="Segoe UI" panose="020B0502040204020203" pitchFamily="34" charset="0"/>
              </a:rPr>
              <a:t>methods</a:t>
            </a:r>
            <a:r>
              <a:rPr lang="en-US" b="0" i="0" dirty="0">
                <a:solidFill>
                  <a:srgbClr val="000000"/>
                </a:solidFill>
                <a:effectLst/>
                <a:latin typeface="Segoe UI" panose="020B0502040204020203" pitchFamily="34" charset="0"/>
              </a:rPr>
              <a:t>, such as drive and brake.</a:t>
            </a:r>
          </a:p>
          <a:p>
            <a:pPr algn="l">
              <a:buNone/>
            </a:pPr>
            <a:endParaRPr lang="en-US" b="0" i="0" dirty="0">
              <a:solidFill>
                <a:srgbClr val="000000"/>
              </a:solidFill>
              <a:effectLst/>
              <a:latin typeface="Segoe UI" panose="020B0502040204020203" pitchFamily="34" charset="0"/>
            </a:endParaRPr>
          </a:p>
          <a:p>
            <a:pPr algn="l">
              <a:buNone/>
            </a:pPr>
            <a:r>
              <a:rPr lang="en-US" b="0" i="0" dirty="0">
                <a:solidFill>
                  <a:srgbClr val="000000"/>
                </a:solidFill>
                <a:effectLst/>
                <a:latin typeface="Segoe UI" panose="020B0502040204020203" pitchFamily="34" charset="0"/>
              </a:rPr>
              <a:t>Attributes and methods are basically </a:t>
            </a:r>
            <a:r>
              <a:rPr lang="en-US" b="1" i="0" dirty="0">
                <a:solidFill>
                  <a:srgbClr val="000000"/>
                </a:solidFill>
                <a:effectLst/>
                <a:latin typeface="Segoe UI" panose="020B0502040204020203" pitchFamily="34" charset="0"/>
              </a:rPr>
              <a:t>variables</a:t>
            </a:r>
            <a:r>
              <a:rPr lang="en-US" b="0" i="0" dirty="0">
                <a:solidFill>
                  <a:srgbClr val="000000"/>
                </a:solidFill>
                <a:effectLst/>
                <a:latin typeface="Segoe UI" panose="020B0502040204020203" pitchFamily="34" charset="0"/>
              </a:rPr>
              <a:t> and </a:t>
            </a:r>
            <a:r>
              <a:rPr lang="en-US" b="1" i="0" dirty="0">
                <a:solidFill>
                  <a:srgbClr val="000000"/>
                </a:solidFill>
                <a:effectLst/>
                <a:latin typeface="Segoe UI" panose="020B0502040204020203" pitchFamily="34" charset="0"/>
              </a:rPr>
              <a:t>functions</a:t>
            </a:r>
            <a:r>
              <a:rPr lang="en-US" b="0" i="0" dirty="0">
                <a:solidFill>
                  <a:srgbClr val="000000"/>
                </a:solidFill>
                <a:effectLst/>
                <a:latin typeface="Segoe UI" panose="020B0502040204020203" pitchFamily="34" charset="0"/>
              </a:rPr>
              <a:t> that belongs to the class. These are often referred to as "class members".</a:t>
            </a:r>
          </a:p>
          <a:p>
            <a:pPr algn="l">
              <a:buNone/>
            </a:pPr>
            <a:endParaRPr lang="en-US" b="0" i="0" dirty="0">
              <a:solidFill>
                <a:srgbClr val="000000"/>
              </a:solidFill>
              <a:effectLst/>
              <a:latin typeface="Segoe UI" panose="020B0502040204020203" pitchFamily="34" charset="0"/>
            </a:endParaRPr>
          </a:p>
          <a:p>
            <a:pPr algn="l">
              <a:buNone/>
            </a:pPr>
            <a:r>
              <a:rPr lang="en-US" b="0" i="0" dirty="0">
                <a:solidFill>
                  <a:srgbClr val="000000"/>
                </a:solidFill>
                <a:effectLst/>
                <a:latin typeface="Segoe UI" panose="020B0502040204020203" pitchFamily="34" charset="0"/>
              </a:rPr>
              <a:t>A class is a user-defined data type that we can use in our program, and it works as an object constructor, or a "blueprint" for creating objects.</a:t>
            </a:r>
            <a:endParaRPr lang="en-IN" dirty="0"/>
          </a:p>
        </p:txBody>
      </p:sp>
      <p:sp>
        <p:nvSpPr>
          <p:cNvPr id="7" name="TextBox 6">
            <a:extLst>
              <a:ext uri="{FF2B5EF4-FFF2-40B4-BE49-F238E27FC236}">
                <a16:creationId xmlns:a16="http://schemas.microsoft.com/office/drawing/2014/main" id="{965BBEA8-7C49-3F0D-C2DB-29BF99A599C0}"/>
              </a:ext>
            </a:extLst>
          </p:cNvPr>
          <p:cNvSpPr txBox="1"/>
          <p:nvPr/>
        </p:nvSpPr>
        <p:spPr>
          <a:xfrm>
            <a:off x="117987" y="3392087"/>
            <a:ext cx="6159908" cy="646331"/>
          </a:xfrm>
          <a:prstGeom prst="rect">
            <a:avLst/>
          </a:prstGeom>
          <a:noFill/>
        </p:spPr>
        <p:txBody>
          <a:bodyPr wrap="square">
            <a:spAutoFit/>
          </a:bodyPr>
          <a:lstStyle/>
          <a:p>
            <a:pPr algn="l">
              <a:spcBef>
                <a:spcPts val="750"/>
              </a:spcBef>
              <a:spcAft>
                <a:spcPts val="750"/>
              </a:spcAft>
              <a:buNone/>
            </a:pPr>
            <a:r>
              <a:rPr lang="en-IN" sz="3600" b="1" i="0" dirty="0">
                <a:solidFill>
                  <a:srgbClr val="000000"/>
                </a:solidFill>
                <a:effectLst/>
                <a:latin typeface="Segoe UI" panose="020B0502040204020203" pitchFamily="34" charset="0"/>
              </a:rPr>
              <a:t>Create a Class</a:t>
            </a:r>
          </a:p>
        </p:txBody>
      </p:sp>
      <p:sp>
        <p:nvSpPr>
          <p:cNvPr id="9" name="TextBox 8">
            <a:extLst>
              <a:ext uri="{FF2B5EF4-FFF2-40B4-BE49-F238E27FC236}">
                <a16:creationId xmlns:a16="http://schemas.microsoft.com/office/drawing/2014/main" id="{6771E120-6F67-E7A1-5818-626B5562B866}"/>
              </a:ext>
            </a:extLst>
          </p:cNvPr>
          <p:cNvSpPr txBox="1"/>
          <p:nvPr/>
        </p:nvSpPr>
        <p:spPr>
          <a:xfrm>
            <a:off x="218766" y="4136442"/>
            <a:ext cx="9269363" cy="1631216"/>
          </a:xfrm>
          <a:prstGeom prst="rect">
            <a:avLst/>
          </a:prstGeom>
          <a:noFill/>
        </p:spPr>
        <p:txBody>
          <a:bodyPr wrap="square">
            <a:spAutoFit/>
          </a:bodyPr>
          <a:lstStyle/>
          <a:p>
            <a:r>
              <a:rPr lang="en-US" sz="2000" b="0" i="0" dirty="0">
                <a:effectLst/>
                <a:latin typeface="Consolas" panose="020B0609020204030204" pitchFamily="49" charset="0"/>
              </a:rPr>
              <a:t>class </a:t>
            </a:r>
            <a:r>
              <a:rPr lang="en-US" sz="2000" b="0" i="0" dirty="0" err="1">
                <a:effectLst/>
                <a:latin typeface="Consolas" panose="020B0609020204030204" pitchFamily="49" charset="0"/>
              </a:rPr>
              <a:t>MyClass</a:t>
            </a:r>
            <a:r>
              <a:rPr lang="en-US" sz="2000" b="0" i="0" dirty="0">
                <a:effectLst/>
                <a:latin typeface="Consolas" panose="020B0609020204030204" pitchFamily="49" charset="0"/>
              </a:rPr>
              <a:t> {       // The class</a:t>
            </a:r>
            <a:br>
              <a:rPr lang="en-US" sz="2000" b="0" i="0" dirty="0">
                <a:effectLst/>
                <a:latin typeface="Consolas" panose="020B0609020204030204" pitchFamily="49" charset="0"/>
              </a:rPr>
            </a:br>
            <a:r>
              <a:rPr lang="en-US" sz="2000" b="0" i="0" dirty="0">
                <a:effectLst/>
                <a:latin typeface="Consolas" panose="020B0609020204030204" pitchFamily="49" charset="0"/>
              </a:rPr>
              <a:t>  public:             // Access specifier</a:t>
            </a:r>
            <a:br>
              <a:rPr lang="en-US" sz="2000" b="0" i="0" dirty="0">
                <a:effectLst/>
                <a:latin typeface="Consolas" panose="020B0609020204030204" pitchFamily="49" charset="0"/>
              </a:rPr>
            </a:br>
            <a:r>
              <a:rPr lang="en-US" sz="2000" b="0" i="0" dirty="0">
                <a:effectLst/>
                <a:latin typeface="Consolas" panose="020B0609020204030204" pitchFamily="49" charset="0"/>
              </a:rPr>
              <a:t>    int </a:t>
            </a:r>
            <a:r>
              <a:rPr lang="en-US" sz="2000" b="0" i="0" dirty="0" err="1">
                <a:effectLst/>
                <a:latin typeface="Consolas" panose="020B0609020204030204" pitchFamily="49" charset="0"/>
              </a:rPr>
              <a:t>myNum</a:t>
            </a:r>
            <a:r>
              <a:rPr lang="en-US" sz="2000" b="0" i="0" dirty="0">
                <a:effectLst/>
                <a:latin typeface="Consolas" panose="020B0609020204030204" pitchFamily="49" charset="0"/>
              </a:rPr>
              <a:t>;        // Attribute (int variable)</a:t>
            </a:r>
            <a:br>
              <a:rPr lang="en-US" sz="2000" b="0" i="0" dirty="0">
                <a:effectLst/>
                <a:latin typeface="Consolas" panose="020B0609020204030204" pitchFamily="49" charset="0"/>
              </a:rPr>
            </a:br>
            <a:r>
              <a:rPr lang="en-US" sz="2000" b="0" i="0" dirty="0">
                <a:effectLst/>
                <a:latin typeface="Consolas" panose="020B0609020204030204" pitchFamily="49" charset="0"/>
              </a:rPr>
              <a:t>    string </a:t>
            </a:r>
            <a:r>
              <a:rPr lang="en-US" sz="2000" b="0" i="0" dirty="0" err="1">
                <a:effectLst/>
                <a:latin typeface="Consolas" panose="020B0609020204030204" pitchFamily="49" charset="0"/>
              </a:rPr>
              <a:t>myString</a:t>
            </a:r>
            <a:r>
              <a:rPr lang="en-US" sz="2000" b="0" i="0" dirty="0">
                <a:effectLst/>
                <a:latin typeface="Consolas" panose="020B0609020204030204" pitchFamily="49" charset="0"/>
              </a:rPr>
              <a:t>;  // Attribute (string variable)</a:t>
            </a:r>
            <a:br>
              <a:rPr lang="en-US" sz="2000" b="0" i="0" dirty="0">
                <a:effectLst/>
                <a:latin typeface="Consolas" panose="020B0609020204030204" pitchFamily="49" charset="0"/>
              </a:rPr>
            </a:br>
            <a:r>
              <a:rPr lang="en-US" sz="2000" b="0" i="0" dirty="0">
                <a:effectLst/>
                <a:latin typeface="Consolas" panose="020B0609020204030204" pitchFamily="49" charset="0"/>
              </a:rPr>
              <a:t>};</a:t>
            </a:r>
            <a:endParaRPr lang="en-IN" sz="2000" dirty="0"/>
          </a:p>
        </p:txBody>
      </p:sp>
    </p:spTree>
    <p:extLst>
      <p:ext uri="{BB962C8B-B14F-4D97-AF65-F5344CB8AC3E}">
        <p14:creationId xmlns:p14="http://schemas.microsoft.com/office/powerpoint/2010/main" val="33323712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614423-8854-4438-55D3-934A705D8C66}"/>
              </a:ext>
            </a:extLst>
          </p:cNvPr>
          <p:cNvSpPr txBox="1"/>
          <p:nvPr/>
        </p:nvSpPr>
        <p:spPr>
          <a:xfrm>
            <a:off x="98323" y="338644"/>
            <a:ext cx="12093677" cy="3416320"/>
          </a:xfrm>
          <a:prstGeom prst="rect">
            <a:avLst/>
          </a:prstGeom>
          <a:noFill/>
        </p:spPr>
        <p:txBody>
          <a:bodyPr wrap="square">
            <a:spAutoFit/>
          </a:bodyPr>
          <a:lstStyle/>
          <a:p>
            <a:pPr algn="l">
              <a:buFont typeface="Arial" panose="020B0604020202020204" pitchFamily="34" charset="0"/>
              <a:buChar char="•"/>
            </a:pPr>
            <a:r>
              <a:rPr lang="en-US" sz="2400" b="0" i="0" dirty="0">
                <a:effectLst/>
                <a:latin typeface="Segoe UI" panose="020B0502040204020203" pitchFamily="34" charset="0"/>
              </a:rPr>
              <a:t>The </a:t>
            </a:r>
            <a:r>
              <a:rPr lang="en-US" sz="2400" b="0" i="0" dirty="0">
                <a:effectLst/>
                <a:latin typeface="Consolas" panose="020B0609020204030204" pitchFamily="49" charset="0"/>
              </a:rPr>
              <a:t>class</a:t>
            </a:r>
            <a:r>
              <a:rPr lang="en-US" sz="2400" b="0" i="0" dirty="0">
                <a:effectLst/>
                <a:latin typeface="Segoe UI" panose="020B0502040204020203" pitchFamily="34" charset="0"/>
              </a:rPr>
              <a:t> keyword is used to create a class called </a:t>
            </a:r>
            <a:r>
              <a:rPr lang="en-US" sz="2400" b="0" i="0" dirty="0" err="1">
                <a:effectLst/>
                <a:latin typeface="Consolas" panose="020B0609020204030204" pitchFamily="49" charset="0"/>
              </a:rPr>
              <a:t>MyClass</a:t>
            </a:r>
            <a:r>
              <a:rPr lang="en-US" sz="2400" b="0" i="0" dirty="0">
                <a:effectLst/>
                <a:latin typeface="Segoe UI" panose="020B0502040204020203" pitchFamily="34" charset="0"/>
              </a:rPr>
              <a:t>.</a:t>
            </a:r>
          </a:p>
          <a:p>
            <a:pPr algn="l">
              <a:buFont typeface="Arial" panose="020B0604020202020204" pitchFamily="34" charset="0"/>
              <a:buChar char="•"/>
            </a:pPr>
            <a:endParaRPr lang="en-US" sz="2400" b="0" i="0" dirty="0">
              <a:effectLst/>
              <a:latin typeface="Segoe UI" panose="020B0502040204020203" pitchFamily="34" charset="0"/>
            </a:endParaRPr>
          </a:p>
          <a:p>
            <a:pPr algn="l">
              <a:buFont typeface="Arial" panose="020B0604020202020204" pitchFamily="34" charset="0"/>
              <a:buChar char="•"/>
            </a:pPr>
            <a:r>
              <a:rPr lang="en-US" sz="2400" b="0" i="0" dirty="0">
                <a:effectLst/>
                <a:latin typeface="Segoe UI" panose="020B0502040204020203" pitchFamily="34" charset="0"/>
              </a:rPr>
              <a:t>The </a:t>
            </a:r>
            <a:r>
              <a:rPr lang="en-US" sz="2400" b="0" i="0" dirty="0">
                <a:effectLst/>
                <a:latin typeface="Consolas" panose="020B0609020204030204" pitchFamily="49" charset="0"/>
              </a:rPr>
              <a:t>public</a:t>
            </a:r>
            <a:r>
              <a:rPr lang="en-US" sz="2400" b="0" i="0" dirty="0">
                <a:effectLst/>
                <a:latin typeface="Segoe UI" panose="020B0502040204020203" pitchFamily="34" charset="0"/>
              </a:rPr>
              <a:t> keyword is an </a:t>
            </a:r>
            <a:r>
              <a:rPr lang="en-US" sz="2400" b="1" i="0" dirty="0">
                <a:effectLst/>
                <a:latin typeface="Segoe UI" panose="020B0502040204020203" pitchFamily="34" charset="0"/>
              </a:rPr>
              <a:t>access specifier</a:t>
            </a:r>
            <a:r>
              <a:rPr lang="en-US" sz="2400" b="0" i="0" dirty="0">
                <a:effectLst/>
                <a:latin typeface="Segoe UI" panose="020B0502040204020203" pitchFamily="34" charset="0"/>
              </a:rPr>
              <a:t>, which specifies that members (attributes and methods) of the class are accessible from outside the class.</a:t>
            </a:r>
          </a:p>
          <a:p>
            <a:pPr algn="l">
              <a:buFont typeface="Arial" panose="020B0604020202020204" pitchFamily="34" charset="0"/>
              <a:buChar char="•"/>
            </a:pPr>
            <a:endParaRPr lang="en-US" sz="2400" b="0" i="0" dirty="0">
              <a:effectLst/>
              <a:latin typeface="Segoe UI" panose="020B0502040204020203" pitchFamily="34" charset="0"/>
            </a:endParaRPr>
          </a:p>
          <a:p>
            <a:pPr algn="l">
              <a:buFont typeface="Arial" panose="020B0604020202020204" pitchFamily="34" charset="0"/>
              <a:buChar char="•"/>
            </a:pPr>
            <a:r>
              <a:rPr lang="en-US" sz="2400" b="0" i="0" dirty="0">
                <a:effectLst/>
                <a:latin typeface="Segoe UI" panose="020B0502040204020203" pitchFamily="34" charset="0"/>
              </a:rPr>
              <a:t>Inside the class, there is an integer variable </a:t>
            </a:r>
            <a:r>
              <a:rPr lang="en-US" sz="2400" b="0" i="0" dirty="0" err="1">
                <a:effectLst/>
                <a:latin typeface="Consolas" panose="020B0609020204030204" pitchFamily="49" charset="0"/>
              </a:rPr>
              <a:t>myNum</a:t>
            </a:r>
            <a:r>
              <a:rPr lang="en-US" sz="2400" b="0" i="0" dirty="0">
                <a:effectLst/>
                <a:latin typeface="Segoe UI" panose="020B0502040204020203" pitchFamily="34" charset="0"/>
              </a:rPr>
              <a:t> and a string variable </a:t>
            </a:r>
            <a:r>
              <a:rPr lang="en-US" sz="2400" b="0" i="0" dirty="0" err="1">
                <a:effectLst/>
                <a:latin typeface="Consolas" panose="020B0609020204030204" pitchFamily="49" charset="0"/>
              </a:rPr>
              <a:t>myString</a:t>
            </a:r>
            <a:r>
              <a:rPr lang="en-US" sz="2400" b="0" i="0" dirty="0">
                <a:effectLst/>
                <a:latin typeface="Segoe UI" panose="020B0502040204020203" pitchFamily="34" charset="0"/>
              </a:rPr>
              <a:t>. When variables are declared within a class, they are called </a:t>
            </a:r>
            <a:r>
              <a:rPr lang="en-US" sz="2400" b="1" i="0" dirty="0">
                <a:effectLst/>
                <a:latin typeface="Segoe UI" panose="020B0502040204020203" pitchFamily="34" charset="0"/>
              </a:rPr>
              <a:t>attributes</a:t>
            </a:r>
            <a:r>
              <a:rPr lang="en-US" sz="2400" b="0" i="0" dirty="0">
                <a:effectLst/>
                <a:latin typeface="Segoe UI" panose="020B0502040204020203" pitchFamily="34" charset="0"/>
              </a:rPr>
              <a:t>.</a:t>
            </a:r>
          </a:p>
          <a:p>
            <a:pPr algn="l">
              <a:buFont typeface="Arial" panose="020B0604020202020204" pitchFamily="34" charset="0"/>
              <a:buChar char="•"/>
            </a:pPr>
            <a:endParaRPr lang="en-US" sz="2400" b="0" i="0" dirty="0">
              <a:effectLst/>
              <a:latin typeface="Segoe UI" panose="020B0502040204020203" pitchFamily="34" charset="0"/>
            </a:endParaRPr>
          </a:p>
          <a:p>
            <a:pPr algn="l">
              <a:buFont typeface="Arial" panose="020B0604020202020204" pitchFamily="34" charset="0"/>
              <a:buChar char="•"/>
            </a:pPr>
            <a:r>
              <a:rPr lang="en-US" sz="2400" b="0" i="0" dirty="0">
                <a:effectLst/>
                <a:latin typeface="Segoe UI" panose="020B0502040204020203" pitchFamily="34" charset="0"/>
              </a:rPr>
              <a:t>At last, end the class definition with a semicolon </a:t>
            </a:r>
            <a:r>
              <a:rPr lang="en-US" sz="2400" b="0" i="0" dirty="0">
                <a:effectLst/>
                <a:latin typeface="Consolas" panose="020B0609020204030204" pitchFamily="49" charset="0"/>
              </a:rPr>
              <a:t>;</a:t>
            </a:r>
            <a:endParaRPr lang="en-US" sz="2400" b="0" i="0" dirty="0">
              <a:effectLst/>
              <a:latin typeface="Segoe UI" panose="020B0502040204020203" pitchFamily="34" charset="0"/>
            </a:endParaRPr>
          </a:p>
        </p:txBody>
      </p:sp>
    </p:spTree>
    <p:extLst>
      <p:ext uri="{BB962C8B-B14F-4D97-AF65-F5344CB8AC3E}">
        <p14:creationId xmlns:p14="http://schemas.microsoft.com/office/powerpoint/2010/main" val="33236788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A9128C-F5A5-8550-5EE6-8FA5FFD5D55E}"/>
              </a:ext>
            </a:extLst>
          </p:cNvPr>
          <p:cNvSpPr txBox="1"/>
          <p:nvPr/>
        </p:nvSpPr>
        <p:spPr>
          <a:xfrm>
            <a:off x="0" y="139799"/>
            <a:ext cx="6096000" cy="707886"/>
          </a:xfrm>
          <a:prstGeom prst="rect">
            <a:avLst/>
          </a:prstGeom>
          <a:noFill/>
        </p:spPr>
        <p:txBody>
          <a:bodyPr wrap="square">
            <a:spAutoFit/>
          </a:bodyPr>
          <a:lstStyle/>
          <a:p>
            <a:pPr algn="l">
              <a:spcBef>
                <a:spcPts val="750"/>
              </a:spcBef>
              <a:spcAft>
                <a:spcPts val="750"/>
              </a:spcAft>
              <a:buNone/>
            </a:pPr>
            <a:r>
              <a:rPr lang="en-IN" sz="4000" b="1" i="0" dirty="0">
                <a:solidFill>
                  <a:srgbClr val="000000"/>
                </a:solidFill>
                <a:effectLst/>
                <a:latin typeface="Segoe UI" panose="020B0502040204020203" pitchFamily="34" charset="0"/>
              </a:rPr>
              <a:t>Create an Object</a:t>
            </a:r>
          </a:p>
        </p:txBody>
      </p:sp>
      <p:sp>
        <p:nvSpPr>
          <p:cNvPr id="5" name="TextBox 4">
            <a:extLst>
              <a:ext uri="{FF2B5EF4-FFF2-40B4-BE49-F238E27FC236}">
                <a16:creationId xmlns:a16="http://schemas.microsoft.com/office/drawing/2014/main" id="{6CB15885-0A43-5A92-9D80-87769A7574FF}"/>
              </a:ext>
            </a:extLst>
          </p:cNvPr>
          <p:cNvSpPr txBox="1"/>
          <p:nvPr/>
        </p:nvSpPr>
        <p:spPr>
          <a:xfrm>
            <a:off x="152400" y="847685"/>
            <a:ext cx="11901948" cy="5355312"/>
          </a:xfrm>
          <a:prstGeom prst="rect">
            <a:avLst/>
          </a:prstGeom>
          <a:noFill/>
        </p:spPr>
        <p:txBody>
          <a:bodyPr wrap="square">
            <a:spAutoFit/>
          </a:bodyPr>
          <a:lstStyle/>
          <a:p>
            <a:pPr algn="l">
              <a:spcBef>
                <a:spcPts val="1200"/>
              </a:spcBef>
              <a:spcAft>
                <a:spcPts val="1200"/>
              </a:spcAft>
              <a:buNone/>
            </a:pPr>
            <a:r>
              <a:rPr lang="en-IN" b="0" i="0" dirty="0">
                <a:effectLst/>
                <a:latin typeface="Consolas" panose="020B0609020204030204" pitchFamily="49" charset="0"/>
              </a:rPr>
              <a:t>class </a:t>
            </a:r>
            <a:r>
              <a:rPr lang="en-IN" b="0" i="0" dirty="0" err="1">
                <a:effectLst/>
                <a:latin typeface="Consolas" panose="020B0609020204030204" pitchFamily="49" charset="0"/>
              </a:rPr>
              <a:t>MyClass</a:t>
            </a:r>
            <a:r>
              <a:rPr lang="en-IN" b="0" i="0" dirty="0">
                <a:effectLst/>
                <a:latin typeface="Consolas" panose="020B0609020204030204" pitchFamily="49" charset="0"/>
              </a:rPr>
              <a:t> {       // The class</a:t>
            </a:r>
            <a:br>
              <a:rPr lang="en-IN" b="0" i="0" dirty="0">
                <a:effectLst/>
                <a:latin typeface="Consolas" panose="020B0609020204030204" pitchFamily="49" charset="0"/>
              </a:rPr>
            </a:br>
            <a:r>
              <a:rPr lang="en-IN" b="0" i="0" dirty="0">
                <a:effectLst/>
                <a:latin typeface="Consolas" panose="020B0609020204030204" pitchFamily="49" charset="0"/>
              </a:rPr>
              <a:t>  public:             // Access specifier</a:t>
            </a:r>
            <a:br>
              <a:rPr lang="en-IN" b="0" i="0" dirty="0">
                <a:effectLst/>
                <a:latin typeface="Consolas" panose="020B0609020204030204" pitchFamily="49" charset="0"/>
              </a:rPr>
            </a:br>
            <a:r>
              <a:rPr lang="en-IN" b="0" i="0" dirty="0">
                <a:effectLst/>
                <a:latin typeface="Consolas" panose="020B0609020204030204" pitchFamily="49" charset="0"/>
              </a:rPr>
              <a:t>    int </a:t>
            </a:r>
            <a:r>
              <a:rPr lang="en-IN" b="0" i="0" dirty="0" err="1">
                <a:effectLst/>
                <a:latin typeface="Consolas" panose="020B0609020204030204" pitchFamily="49" charset="0"/>
              </a:rPr>
              <a:t>myNum</a:t>
            </a:r>
            <a:r>
              <a:rPr lang="en-IN" b="0" i="0" dirty="0">
                <a:effectLst/>
                <a:latin typeface="Consolas" panose="020B0609020204030204" pitchFamily="49" charset="0"/>
              </a:rPr>
              <a:t>;        // Attribute (int variable)</a:t>
            </a:r>
            <a:br>
              <a:rPr lang="en-IN" b="0" i="0" dirty="0">
                <a:effectLst/>
                <a:latin typeface="Consolas" panose="020B0609020204030204" pitchFamily="49" charset="0"/>
              </a:rPr>
            </a:br>
            <a:r>
              <a:rPr lang="en-IN" b="0" i="0" dirty="0">
                <a:effectLst/>
                <a:latin typeface="Consolas" panose="020B0609020204030204" pitchFamily="49" charset="0"/>
              </a:rPr>
              <a:t>    string </a:t>
            </a:r>
            <a:r>
              <a:rPr lang="en-IN" b="0" i="0" dirty="0" err="1">
                <a:effectLst/>
                <a:latin typeface="Consolas" panose="020B0609020204030204" pitchFamily="49" charset="0"/>
              </a:rPr>
              <a:t>myString</a:t>
            </a:r>
            <a:r>
              <a:rPr lang="en-IN" b="0" i="0" dirty="0">
                <a:effectLst/>
                <a:latin typeface="Consolas" panose="020B0609020204030204" pitchFamily="49" charset="0"/>
              </a:rPr>
              <a:t>;  // Attribute (string variable)</a:t>
            </a:r>
            <a:br>
              <a:rPr lang="en-IN" b="0" i="0" dirty="0">
                <a:effectLst/>
                <a:latin typeface="Consolas" panose="020B0609020204030204" pitchFamily="49" charset="0"/>
              </a:rPr>
            </a:br>
            <a:r>
              <a:rPr lang="en-IN" b="0" i="0" dirty="0">
                <a:effectLst/>
                <a:latin typeface="Consolas" panose="020B0609020204030204" pitchFamily="49" charset="0"/>
              </a:rPr>
              <a:t>};</a:t>
            </a:r>
            <a:br>
              <a:rPr lang="en-IN" b="0" i="0" dirty="0">
                <a:effectLst/>
                <a:latin typeface="Consolas" panose="020B0609020204030204" pitchFamily="49" charset="0"/>
              </a:rPr>
            </a:br>
            <a:br>
              <a:rPr lang="en-IN" b="0" i="0" dirty="0">
                <a:effectLst/>
                <a:latin typeface="Consolas" panose="020B0609020204030204" pitchFamily="49" charset="0"/>
              </a:rPr>
            </a:br>
            <a:r>
              <a:rPr lang="en-IN" b="0" i="0" dirty="0">
                <a:effectLst/>
                <a:latin typeface="Consolas" panose="020B0609020204030204" pitchFamily="49" charset="0"/>
              </a:rPr>
              <a:t>int main() {</a:t>
            </a:r>
            <a:br>
              <a:rPr lang="en-IN" b="0" i="0" dirty="0">
                <a:effectLst/>
                <a:latin typeface="Consolas" panose="020B0609020204030204" pitchFamily="49" charset="0"/>
              </a:rPr>
            </a:br>
            <a:r>
              <a:rPr lang="en-IN" b="0" i="0" dirty="0">
                <a:effectLst/>
                <a:latin typeface="Consolas" panose="020B0609020204030204" pitchFamily="49" charset="0"/>
              </a:rPr>
              <a:t>  </a:t>
            </a:r>
            <a:r>
              <a:rPr lang="en-IN" b="0" i="0" dirty="0" err="1">
                <a:effectLst/>
                <a:latin typeface="Consolas" panose="020B0609020204030204" pitchFamily="49" charset="0"/>
              </a:rPr>
              <a:t>MyClass</a:t>
            </a:r>
            <a:r>
              <a:rPr lang="en-IN" b="0" i="0" dirty="0">
                <a:effectLst/>
                <a:latin typeface="Consolas" panose="020B0609020204030204" pitchFamily="49" charset="0"/>
              </a:rPr>
              <a:t> </a:t>
            </a:r>
            <a:r>
              <a:rPr lang="en-IN" b="1" i="0" dirty="0" err="1">
                <a:effectLst/>
                <a:latin typeface="Consolas" panose="020B0609020204030204" pitchFamily="49" charset="0"/>
              </a:rPr>
              <a:t>myObj</a:t>
            </a:r>
            <a:r>
              <a:rPr lang="en-IN" b="0" i="0" dirty="0">
                <a:effectLst/>
                <a:latin typeface="Consolas" panose="020B0609020204030204" pitchFamily="49" charset="0"/>
              </a:rPr>
              <a:t>;  // Create an object of </a:t>
            </a:r>
            <a:r>
              <a:rPr lang="en-IN" b="0" i="0" dirty="0" err="1">
                <a:effectLst/>
                <a:latin typeface="Consolas" panose="020B0609020204030204" pitchFamily="49" charset="0"/>
              </a:rPr>
              <a:t>MyClass</a:t>
            </a:r>
            <a:br>
              <a:rPr lang="en-IN" b="0" i="0" dirty="0">
                <a:effectLst/>
                <a:latin typeface="Consolas" panose="020B0609020204030204" pitchFamily="49" charset="0"/>
              </a:rPr>
            </a:br>
            <a:br>
              <a:rPr lang="en-IN" b="0" i="0" dirty="0">
                <a:effectLst/>
                <a:latin typeface="Consolas" panose="020B0609020204030204" pitchFamily="49" charset="0"/>
              </a:rPr>
            </a:br>
            <a:r>
              <a:rPr lang="en-IN" b="0" i="0" dirty="0">
                <a:effectLst/>
                <a:latin typeface="Consolas" panose="020B0609020204030204" pitchFamily="49" charset="0"/>
              </a:rPr>
              <a:t>  // Access attributes and set values</a:t>
            </a:r>
            <a:br>
              <a:rPr lang="en-IN" b="0" i="0" dirty="0">
                <a:effectLst/>
                <a:latin typeface="Consolas" panose="020B0609020204030204" pitchFamily="49" charset="0"/>
              </a:rPr>
            </a:br>
            <a:r>
              <a:rPr lang="en-IN" b="0" i="0" dirty="0">
                <a:effectLst/>
                <a:latin typeface="Consolas" panose="020B0609020204030204" pitchFamily="49" charset="0"/>
              </a:rPr>
              <a:t>  </a:t>
            </a:r>
            <a:r>
              <a:rPr lang="en-IN" b="1" i="0" dirty="0" err="1">
                <a:effectLst/>
                <a:latin typeface="Consolas" panose="020B0609020204030204" pitchFamily="49" charset="0"/>
              </a:rPr>
              <a:t>myObj.myNum</a:t>
            </a:r>
            <a:r>
              <a:rPr lang="en-IN" b="0" i="0" dirty="0">
                <a:effectLst/>
                <a:latin typeface="Consolas" panose="020B0609020204030204" pitchFamily="49" charset="0"/>
              </a:rPr>
              <a:t> = 15; </a:t>
            </a:r>
            <a:br>
              <a:rPr lang="en-IN" b="0" i="0" dirty="0">
                <a:effectLst/>
                <a:latin typeface="Consolas" panose="020B0609020204030204" pitchFamily="49" charset="0"/>
              </a:rPr>
            </a:br>
            <a:r>
              <a:rPr lang="en-IN" b="0" i="0" dirty="0">
                <a:effectLst/>
                <a:latin typeface="Consolas" panose="020B0609020204030204" pitchFamily="49" charset="0"/>
              </a:rPr>
              <a:t>  </a:t>
            </a:r>
            <a:r>
              <a:rPr lang="en-IN" b="1" i="0" dirty="0" err="1">
                <a:effectLst/>
                <a:latin typeface="Consolas" panose="020B0609020204030204" pitchFamily="49" charset="0"/>
              </a:rPr>
              <a:t>myObj.myString</a:t>
            </a:r>
            <a:r>
              <a:rPr lang="en-IN" b="0" i="0" dirty="0">
                <a:effectLst/>
                <a:latin typeface="Consolas" panose="020B0609020204030204" pitchFamily="49" charset="0"/>
              </a:rPr>
              <a:t> = "Some text";</a:t>
            </a:r>
            <a:br>
              <a:rPr lang="en-IN" b="0" i="0" dirty="0">
                <a:effectLst/>
                <a:latin typeface="Consolas" panose="020B0609020204030204" pitchFamily="49" charset="0"/>
              </a:rPr>
            </a:br>
            <a:br>
              <a:rPr lang="en-IN" b="0" i="0" dirty="0">
                <a:effectLst/>
                <a:latin typeface="Consolas" panose="020B0609020204030204" pitchFamily="49" charset="0"/>
              </a:rPr>
            </a:br>
            <a:r>
              <a:rPr lang="en-IN" b="0" i="0" dirty="0">
                <a:effectLst/>
                <a:latin typeface="Consolas" panose="020B0609020204030204" pitchFamily="49" charset="0"/>
              </a:rPr>
              <a:t>  // Print attribute values</a:t>
            </a:r>
            <a:br>
              <a:rPr lang="en-IN" b="0" i="0" dirty="0">
                <a:effectLst/>
                <a:latin typeface="Consolas" panose="020B0609020204030204" pitchFamily="49" charset="0"/>
              </a:rPr>
            </a:br>
            <a:r>
              <a:rPr lang="en-IN" b="0" i="0" dirty="0">
                <a:effectLst/>
                <a:latin typeface="Consolas" panose="020B0609020204030204" pitchFamily="49" charset="0"/>
              </a:rPr>
              <a:t>  </a:t>
            </a:r>
            <a:r>
              <a:rPr lang="en-IN" b="0" i="0" dirty="0" err="1">
                <a:effectLst/>
                <a:latin typeface="Consolas" panose="020B0609020204030204" pitchFamily="49" charset="0"/>
              </a:rPr>
              <a:t>cout</a:t>
            </a:r>
            <a:r>
              <a:rPr lang="en-IN" b="0" i="0" dirty="0">
                <a:effectLst/>
                <a:latin typeface="Consolas" panose="020B0609020204030204" pitchFamily="49" charset="0"/>
              </a:rPr>
              <a:t> &lt;&lt; </a:t>
            </a:r>
            <a:r>
              <a:rPr lang="en-IN" b="0" i="0" dirty="0" err="1">
                <a:effectLst/>
                <a:latin typeface="Consolas" panose="020B0609020204030204" pitchFamily="49" charset="0"/>
              </a:rPr>
              <a:t>myObj.myNum</a:t>
            </a:r>
            <a:r>
              <a:rPr lang="en-IN" b="0" i="0" dirty="0">
                <a:effectLst/>
                <a:latin typeface="Consolas" panose="020B0609020204030204" pitchFamily="49" charset="0"/>
              </a:rPr>
              <a:t> &lt;&lt; "\n";</a:t>
            </a:r>
            <a:br>
              <a:rPr lang="en-IN" b="0" i="0" dirty="0">
                <a:effectLst/>
                <a:latin typeface="Consolas" panose="020B0609020204030204" pitchFamily="49" charset="0"/>
              </a:rPr>
            </a:br>
            <a:r>
              <a:rPr lang="en-IN" b="0" i="0" dirty="0">
                <a:effectLst/>
                <a:latin typeface="Consolas" panose="020B0609020204030204" pitchFamily="49" charset="0"/>
              </a:rPr>
              <a:t>  </a:t>
            </a:r>
            <a:r>
              <a:rPr lang="en-IN" b="0" i="0" dirty="0" err="1">
                <a:effectLst/>
                <a:latin typeface="Consolas" panose="020B0609020204030204" pitchFamily="49" charset="0"/>
              </a:rPr>
              <a:t>cout</a:t>
            </a:r>
            <a:r>
              <a:rPr lang="en-IN" b="0" i="0" dirty="0">
                <a:effectLst/>
                <a:latin typeface="Consolas" panose="020B0609020204030204" pitchFamily="49" charset="0"/>
              </a:rPr>
              <a:t> &lt;&lt; </a:t>
            </a:r>
            <a:r>
              <a:rPr lang="en-IN" b="0" i="0" dirty="0" err="1">
                <a:effectLst/>
                <a:latin typeface="Consolas" panose="020B0609020204030204" pitchFamily="49" charset="0"/>
              </a:rPr>
              <a:t>myObj.myString</a:t>
            </a:r>
            <a:r>
              <a:rPr lang="en-IN" b="0" i="0" dirty="0">
                <a:effectLst/>
                <a:latin typeface="Consolas" panose="020B0609020204030204" pitchFamily="49" charset="0"/>
              </a:rPr>
              <a:t>;</a:t>
            </a:r>
            <a:br>
              <a:rPr lang="en-IN" b="0" i="0" dirty="0">
                <a:effectLst/>
                <a:latin typeface="Consolas" panose="020B0609020204030204" pitchFamily="49" charset="0"/>
              </a:rPr>
            </a:br>
            <a:r>
              <a:rPr lang="en-IN" b="0" i="0" dirty="0">
                <a:effectLst/>
                <a:latin typeface="Consolas" panose="020B0609020204030204" pitchFamily="49" charset="0"/>
              </a:rPr>
              <a:t>  return 0;</a:t>
            </a:r>
            <a:br>
              <a:rPr lang="en-IN" b="0" i="0" dirty="0">
                <a:effectLst/>
                <a:latin typeface="Consolas" panose="020B0609020204030204" pitchFamily="49" charset="0"/>
              </a:rPr>
            </a:br>
            <a:r>
              <a:rPr lang="en-IN" b="0" i="0" dirty="0">
                <a:effectLst/>
                <a:latin typeface="Consolas" panose="020B0609020204030204" pitchFamily="49" charset="0"/>
              </a:rPr>
              <a:t>}</a:t>
            </a:r>
            <a:br>
              <a:rPr lang="en-IN" b="0" i="0" dirty="0">
                <a:effectLst/>
                <a:latin typeface="Consolas" panose="020B0609020204030204" pitchFamily="49" charset="0"/>
              </a:rPr>
            </a:br>
            <a:endParaRPr lang="en-IN" b="0" i="0" dirty="0">
              <a:effectLst/>
              <a:latin typeface="Consolas" panose="020B0609020204030204" pitchFamily="49" charset="0"/>
            </a:endParaRPr>
          </a:p>
        </p:txBody>
      </p:sp>
    </p:spTree>
    <p:extLst>
      <p:ext uri="{BB962C8B-B14F-4D97-AF65-F5344CB8AC3E}">
        <p14:creationId xmlns:p14="http://schemas.microsoft.com/office/powerpoint/2010/main" val="1553730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FB1D3C-38CC-3B62-5B49-1EC5B2C00697}"/>
              </a:ext>
            </a:extLst>
          </p:cNvPr>
          <p:cNvSpPr txBox="1"/>
          <p:nvPr/>
        </p:nvSpPr>
        <p:spPr>
          <a:xfrm>
            <a:off x="78658" y="1027312"/>
            <a:ext cx="11867535" cy="3642023"/>
          </a:xfrm>
          <a:prstGeom prst="rect">
            <a:avLst/>
          </a:prstGeom>
          <a:noFill/>
        </p:spPr>
        <p:txBody>
          <a:bodyPr wrap="square">
            <a:spAutoFit/>
          </a:bodyPr>
          <a:lstStyle/>
          <a:p>
            <a:pPr algn="l">
              <a:spcBef>
                <a:spcPts val="750"/>
              </a:spcBef>
              <a:spcAft>
                <a:spcPts val="750"/>
              </a:spcAft>
              <a:buNone/>
            </a:pPr>
            <a:r>
              <a:rPr lang="en-US" sz="3200" b="1" i="0" dirty="0">
                <a:effectLst/>
                <a:latin typeface="Segoe UI" panose="020B0502040204020203" pitchFamily="34" charset="0"/>
              </a:rPr>
              <a:t>Challenge Task</a:t>
            </a:r>
          </a:p>
          <a:p>
            <a:pPr algn="l">
              <a:buNone/>
            </a:pPr>
            <a:r>
              <a:rPr lang="en-US" sz="3200" b="0" i="0" dirty="0">
                <a:effectLst/>
                <a:latin typeface="Segoe UI" panose="020B0502040204020203" pitchFamily="34" charset="0"/>
              </a:rPr>
              <a:t>Create a class called </a:t>
            </a:r>
            <a:r>
              <a:rPr lang="en-US" sz="3200" b="0" i="0" dirty="0">
                <a:effectLst/>
                <a:latin typeface="Consolas" panose="020B0609020204030204" pitchFamily="49" charset="0"/>
              </a:rPr>
              <a:t>Book</a:t>
            </a:r>
            <a:r>
              <a:rPr lang="en-US" sz="3200" b="0" i="0" dirty="0">
                <a:effectLst/>
                <a:latin typeface="Segoe UI" panose="020B0502040204020203" pitchFamily="34" charset="0"/>
              </a:rPr>
              <a:t> with the following attributes:</a:t>
            </a:r>
          </a:p>
          <a:p>
            <a:pPr algn="l">
              <a:buFont typeface="Arial" panose="020B0604020202020204" pitchFamily="34" charset="0"/>
              <a:buChar char="•"/>
            </a:pPr>
            <a:r>
              <a:rPr lang="en-US" sz="3200" b="0" i="0" dirty="0">
                <a:effectLst/>
                <a:latin typeface="Consolas" panose="020B0609020204030204" pitchFamily="49" charset="0"/>
              </a:rPr>
              <a:t>title</a:t>
            </a:r>
            <a:r>
              <a:rPr lang="en-US" sz="3200" b="0" i="0" dirty="0">
                <a:effectLst/>
                <a:latin typeface="Segoe UI" panose="020B0502040204020203" pitchFamily="34" charset="0"/>
              </a:rPr>
              <a:t> (</a:t>
            </a:r>
            <a:r>
              <a:rPr lang="en-US" sz="3200" b="0" i="0" dirty="0">
                <a:effectLst/>
                <a:latin typeface="Consolas" panose="020B0609020204030204" pitchFamily="49" charset="0"/>
              </a:rPr>
              <a:t>string</a:t>
            </a:r>
            <a:r>
              <a:rPr lang="en-US" sz="3200" b="0" i="0" dirty="0">
                <a:effectLst/>
                <a:latin typeface="Segoe UI" panose="020B0502040204020203" pitchFamily="34" charset="0"/>
              </a:rPr>
              <a:t>)</a:t>
            </a:r>
          </a:p>
          <a:p>
            <a:pPr algn="l">
              <a:buFont typeface="Arial" panose="020B0604020202020204" pitchFamily="34" charset="0"/>
              <a:buChar char="•"/>
            </a:pPr>
            <a:r>
              <a:rPr lang="en-US" sz="3200" b="0" i="0" dirty="0">
                <a:effectLst/>
                <a:latin typeface="Consolas" panose="020B0609020204030204" pitchFamily="49" charset="0"/>
              </a:rPr>
              <a:t>author</a:t>
            </a:r>
            <a:r>
              <a:rPr lang="en-US" sz="3200" b="0" i="0" dirty="0">
                <a:effectLst/>
                <a:latin typeface="Segoe UI" panose="020B0502040204020203" pitchFamily="34" charset="0"/>
              </a:rPr>
              <a:t> (</a:t>
            </a:r>
            <a:r>
              <a:rPr lang="en-US" sz="3200" b="0" i="0" dirty="0">
                <a:effectLst/>
                <a:latin typeface="Consolas" panose="020B0609020204030204" pitchFamily="49" charset="0"/>
              </a:rPr>
              <a:t>string</a:t>
            </a:r>
            <a:r>
              <a:rPr lang="en-US" sz="3200" b="0" i="0" dirty="0">
                <a:effectLst/>
                <a:latin typeface="Segoe UI" panose="020B0502040204020203" pitchFamily="34" charset="0"/>
              </a:rPr>
              <a:t>)</a:t>
            </a:r>
          </a:p>
          <a:p>
            <a:pPr algn="l">
              <a:buFont typeface="Arial" panose="020B0604020202020204" pitchFamily="34" charset="0"/>
              <a:buChar char="•"/>
            </a:pPr>
            <a:r>
              <a:rPr lang="en-US" sz="3200" b="0" i="0" dirty="0">
                <a:effectLst/>
                <a:latin typeface="Consolas" panose="020B0609020204030204" pitchFamily="49" charset="0"/>
              </a:rPr>
              <a:t>year</a:t>
            </a:r>
            <a:r>
              <a:rPr lang="en-US" sz="3200" b="0" i="0" dirty="0">
                <a:effectLst/>
                <a:latin typeface="Segoe UI" panose="020B0502040204020203" pitchFamily="34" charset="0"/>
              </a:rPr>
              <a:t> (</a:t>
            </a:r>
            <a:r>
              <a:rPr lang="en-US" sz="3200" b="0" i="0" dirty="0">
                <a:effectLst/>
                <a:latin typeface="Consolas" panose="020B0609020204030204" pitchFamily="49" charset="0"/>
              </a:rPr>
              <a:t>int</a:t>
            </a:r>
            <a:r>
              <a:rPr lang="en-US" sz="3200" b="0" i="0" dirty="0">
                <a:effectLst/>
                <a:latin typeface="Segoe UI" panose="020B0502040204020203" pitchFamily="34" charset="0"/>
              </a:rPr>
              <a:t>)</a:t>
            </a:r>
          </a:p>
          <a:p>
            <a:pPr algn="l">
              <a:buNone/>
            </a:pPr>
            <a:r>
              <a:rPr lang="en-US" sz="3200" b="0" i="0" dirty="0">
                <a:effectLst/>
                <a:latin typeface="Segoe UI" panose="020B0502040204020203" pitchFamily="34" charset="0"/>
              </a:rPr>
              <a:t>Then create two objects of the class and print their attribute values.</a:t>
            </a:r>
          </a:p>
        </p:txBody>
      </p:sp>
    </p:spTree>
    <p:extLst>
      <p:ext uri="{BB962C8B-B14F-4D97-AF65-F5344CB8AC3E}">
        <p14:creationId xmlns:p14="http://schemas.microsoft.com/office/powerpoint/2010/main" val="14383260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6E714D-38E0-8EA7-B25C-725A72DFF618}"/>
              </a:ext>
            </a:extLst>
          </p:cNvPr>
          <p:cNvSpPr txBox="1"/>
          <p:nvPr/>
        </p:nvSpPr>
        <p:spPr>
          <a:xfrm>
            <a:off x="167148" y="183433"/>
            <a:ext cx="11867536" cy="2349361"/>
          </a:xfrm>
          <a:prstGeom prst="rect">
            <a:avLst/>
          </a:prstGeom>
          <a:noFill/>
        </p:spPr>
        <p:txBody>
          <a:bodyPr wrap="square">
            <a:spAutoFit/>
          </a:bodyPr>
          <a:lstStyle/>
          <a:p>
            <a:pPr algn="l">
              <a:spcBef>
                <a:spcPts val="750"/>
              </a:spcBef>
              <a:spcAft>
                <a:spcPts val="750"/>
              </a:spcAft>
              <a:buNone/>
            </a:pPr>
            <a:r>
              <a:rPr lang="en-US" sz="2800" b="1" i="0" dirty="0">
                <a:solidFill>
                  <a:srgbClr val="000000"/>
                </a:solidFill>
                <a:effectLst/>
                <a:latin typeface="Segoe UI" panose="020B0502040204020203" pitchFamily="34" charset="0"/>
              </a:rPr>
              <a:t>Constructors</a:t>
            </a:r>
          </a:p>
          <a:p>
            <a:pPr algn="l">
              <a:buNone/>
            </a:pPr>
            <a:r>
              <a:rPr lang="en-US" sz="2800" b="0" i="0" dirty="0">
                <a:solidFill>
                  <a:srgbClr val="000000"/>
                </a:solidFill>
                <a:effectLst/>
                <a:latin typeface="Segoe UI" panose="020B0502040204020203" pitchFamily="34" charset="0"/>
              </a:rPr>
              <a:t>A constructor is a </a:t>
            </a:r>
            <a:r>
              <a:rPr lang="en-US" sz="2800" b="1" i="0" dirty="0">
                <a:solidFill>
                  <a:srgbClr val="000000"/>
                </a:solidFill>
                <a:effectLst/>
                <a:latin typeface="Segoe UI" panose="020B0502040204020203" pitchFamily="34" charset="0"/>
              </a:rPr>
              <a:t>special method</a:t>
            </a:r>
            <a:r>
              <a:rPr lang="en-US" sz="2800" b="0" i="0" dirty="0">
                <a:solidFill>
                  <a:srgbClr val="000000"/>
                </a:solidFill>
                <a:effectLst/>
                <a:latin typeface="Segoe UI" panose="020B0502040204020203" pitchFamily="34" charset="0"/>
              </a:rPr>
              <a:t> that is automatically called when an object of a class is created.</a:t>
            </a:r>
          </a:p>
          <a:p>
            <a:pPr algn="l">
              <a:buNone/>
            </a:pPr>
            <a:r>
              <a:rPr lang="en-US" sz="2800" b="0" i="0" dirty="0">
                <a:solidFill>
                  <a:srgbClr val="000000"/>
                </a:solidFill>
                <a:effectLst/>
                <a:latin typeface="Segoe UI" panose="020B0502040204020203" pitchFamily="34" charset="0"/>
              </a:rPr>
              <a:t>To create a constructor, use the same name as the class, followed by parentheses </a:t>
            </a:r>
            <a:r>
              <a:rPr lang="en-US" sz="2800" b="0" i="0" dirty="0">
                <a:solidFill>
                  <a:srgbClr val="DC143C"/>
                </a:solidFill>
                <a:effectLst/>
                <a:latin typeface="Consolas" panose="020B0609020204030204" pitchFamily="49" charset="0"/>
              </a:rPr>
              <a:t>()</a:t>
            </a:r>
            <a:r>
              <a:rPr lang="en-US" sz="2800" b="0" i="0" dirty="0">
                <a:solidFill>
                  <a:srgbClr val="000000"/>
                </a:solidFill>
                <a:effectLst/>
                <a:latin typeface="Segoe UI" panose="020B0502040204020203" pitchFamily="34" charset="0"/>
              </a:rPr>
              <a:t>:</a:t>
            </a:r>
          </a:p>
        </p:txBody>
      </p:sp>
      <p:sp>
        <p:nvSpPr>
          <p:cNvPr id="5" name="TextBox 4">
            <a:extLst>
              <a:ext uri="{FF2B5EF4-FFF2-40B4-BE49-F238E27FC236}">
                <a16:creationId xmlns:a16="http://schemas.microsoft.com/office/drawing/2014/main" id="{5820EF8E-2CB3-EA8D-3797-1D34ABD354F4}"/>
              </a:ext>
            </a:extLst>
          </p:cNvPr>
          <p:cNvSpPr txBox="1"/>
          <p:nvPr/>
        </p:nvSpPr>
        <p:spPr>
          <a:xfrm>
            <a:off x="304800" y="2641498"/>
            <a:ext cx="11415252" cy="2349361"/>
          </a:xfrm>
          <a:prstGeom prst="rect">
            <a:avLst/>
          </a:prstGeom>
          <a:noFill/>
        </p:spPr>
        <p:txBody>
          <a:bodyPr wrap="square">
            <a:spAutoFit/>
          </a:bodyPr>
          <a:lstStyle/>
          <a:p>
            <a:pPr algn="l">
              <a:spcBef>
                <a:spcPts val="750"/>
              </a:spcBef>
              <a:spcAft>
                <a:spcPts val="750"/>
              </a:spcAft>
              <a:buNone/>
            </a:pPr>
            <a:r>
              <a:rPr lang="en-US" sz="2800" b="1" i="0" dirty="0">
                <a:solidFill>
                  <a:srgbClr val="000000"/>
                </a:solidFill>
                <a:effectLst/>
                <a:latin typeface="Segoe UI" panose="020B0502040204020203" pitchFamily="34" charset="0"/>
              </a:rPr>
              <a:t>Constructor Rules</a:t>
            </a:r>
          </a:p>
          <a:p>
            <a:pPr algn="l">
              <a:buFont typeface="Arial" panose="020B0604020202020204" pitchFamily="34" charset="0"/>
              <a:buChar char="•"/>
            </a:pPr>
            <a:r>
              <a:rPr lang="en-US" sz="2800" b="0" i="0" dirty="0">
                <a:solidFill>
                  <a:srgbClr val="000000"/>
                </a:solidFill>
                <a:effectLst/>
                <a:latin typeface="Segoe UI" panose="020B0502040204020203" pitchFamily="34" charset="0"/>
              </a:rPr>
              <a:t>The constructor has the </a:t>
            </a:r>
            <a:r>
              <a:rPr lang="en-US" sz="2800" b="1" i="0" dirty="0">
                <a:solidFill>
                  <a:srgbClr val="000000"/>
                </a:solidFill>
                <a:effectLst/>
                <a:latin typeface="Segoe UI" panose="020B0502040204020203" pitchFamily="34" charset="0"/>
              </a:rPr>
              <a:t>same name as the class</a:t>
            </a:r>
            <a:r>
              <a:rPr lang="en-US" sz="2800" b="0" i="0" dirty="0">
                <a:solidFill>
                  <a:srgbClr val="000000"/>
                </a:solidFill>
                <a:effectLst/>
                <a:latin typeface="Segoe UI" panose="020B0502040204020203" pitchFamily="34" charset="0"/>
              </a:rPr>
              <a:t>.</a:t>
            </a:r>
          </a:p>
          <a:p>
            <a:pPr algn="l">
              <a:buFont typeface="Arial" panose="020B0604020202020204" pitchFamily="34" charset="0"/>
              <a:buChar char="•"/>
            </a:pPr>
            <a:r>
              <a:rPr lang="en-US" sz="2800" b="0" i="0" dirty="0">
                <a:solidFill>
                  <a:srgbClr val="000000"/>
                </a:solidFill>
                <a:effectLst/>
                <a:latin typeface="Segoe UI" panose="020B0502040204020203" pitchFamily="34" charset="0"/>
              </a:rPr>
              <a:t>It has </a:t>
            </a:r>
            <a:r>
              <a:rPr lang="en-US" sz="2800" b="1" i="0" dirty="0">
                <a:solidFill>
                  <a:srgbClr val="000000"/>
                </a:solidFill>
                <a:effectLst/>
                <a:latin typeface="Segoe UI" panose="020B0502040204020203" pitchFamily="34" charset="0"/>
              </a:rPr>
              <a:t>no return type</a:t>
            </a:r>
            <a:r>
              <a:rPr lang="en-US" sz="2800" b="0" i="0" dirty="0">
                <a:solidFill>
                  <a:srgbClr val="000000"/>
                </a:solidFill>
                <a:effectLst/>
                <a:latin typeface="Segoe UI" panose="020B0502040204020203" pitchFamily="34" charset="0"/>
              </a:rPr>
              <a:t> (not even </a:t>
            </a:r>
            <a:r>
              <a:rPr lang="en-US" sz="2800" b="0" i="0" dirty="0">
                <a:solidFill>
                  <a:srgbClr val="DC143C"/>
                </a:solidFill>
                <a:effectLst/>
                <a:latin typeface="Consolas" panose="020B0609020204030204" pitchFamily="49" charset="0"/>
              </a:rPr>
              <a:t>void</a:t>
            </a:r>
            <a:r>
              <a:rPr lang="en-US" sz="2800" b="0" i="0" dirty="0">
                <a:solidFill>
                  <a:srgbClr val="000000"/>
                </a:solidFill>
                <a:effectLst/>
                <a:latin typeface="Segoe UI" panose="020B0502040204020203" pitchFamily="34" charset="0"/>
              </a:rPr>
              <a:t>).</a:t>
            </a:r>
          </a:p>
          <a:p>
            <a:pPr algn="l">
              <a:buFont typeface="Arial" panose="020B0604020202020204" pitchFamily="34" charset="0"/>
              <a:buChar char="•"/>
            </a:pPr>
            <a:r>
              <a:rPr lang="en-US" sz="2800" b="0" i="0" dirty="0">
                <a:solidFill>
                  <a:srgbClr val="000000"/>
                </a:solidFill>
                <a:effectLst/>
                <a:latin typeface="Segoe UI" panose="020B0502040204020203" pitchFamily="34" charset="0"/>
              </a:rPr>
              <a:t>It is usually declared </a:t>
            </a:r>
            <a:r>
              <a:rPr lang="en-US" sz="2800" b="1" i="0" dirty="0">
                <a:solidFill>
                  <a:srgbClr val="000000"/>
                </a:solidFill>
                <a:effectLst/>
                <a:latin typeface="Segoe UI" panose="020B0502040204020203" pitchFamily="34" charset="0"/>
              </a:rPr>
              <a:t>public</a:t>
            </a:r>
            <a:r>
              <a:rPr lang="en-US" sz="2800" b="0" i="0" dirty="0">
                <a:solidFill>
                  <a:srgbClr val="000000"/>
                </a:solidFill>
                <a:effectLst/>
                <a:latin typeface="Segoe UI" panose="020B0502040204020203" pitchFamily="34" charset="0"/>
              </a:rPr>
              <a:t>.</a:t>
            </a:r>
          </a:p>
          <a:p>
            <a:pPr algn="l">
              <a:buFont typeface="Arial" panose="020B0604020202020204" pitchFamily="34" charset="0"/>
              <a:buChar char="•"/>
            </a:pPr>
            <a:r>
              <a:rPr lang="en-US" sz="2800" b="0" i="0" dirty="0">
                <a:solidFill>
                  <a:srgbClr val="000000"/>
                </a:solidFill>
                <a:effectLst/>
                <a:latin typeface="Segoe UI" panose="020B0502040204020203" pitchFamily="34" charset="0"/>
              </a:rPr>
              <a:t>It is </a:t>
            </a:r>
            <a:r>
              <a:rPr lang="en-US" sz="2800" b="1" i="0" dirty="0">
                <a:solidFill>
                  <a:srgbClr val="000000"/>
                </a:solidFill>
                <a:effectLst/>
                <a:latin typeface="Segoe UI" panose="020B0502040204020203" pitchFamily="34" charset="0"/>
              </a:rPr>
              <a:t>automatically called</a:t>
            </a:r>
            <a:r>
              <a:rPr lang="en-US" sz="2800" b="0" i="0" dirty="0">
                <a:solidFill>
                  <a:srgbClr val="000000"/>
                </a:solidFill>
                <a:effectLst/>
                <a:latin typeface="Segoe UI" panose="020B0502040204020203" pitchFamily="34" charset="0"/>
              </a:rPr>
              <a:t> when an object is created.</a:t>
            </a:r>
          </a:p>
        </p:txBody>
      </p:sp>
    </p:spTree>
    <p:extLst>
      <p:ext uri="{BB962C8B-B14F-4D97-AF65-F5344CB8AC3E}">
        <p14:creationId xmlns:p14="http://schemas.microsoft.com/office/powerpoint/2010/main" val="10042544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222FE0-4E84-8A91-A64E-ADED1BA19BBE}"/>
              </a:ext>
            </a:extLst>
          </p:cNvPr>
          <p:cNvSpPr txBox="1"/>
          <p:nvPr/>
        </p:nvSpPr>
        <p:spPr>
          <a:xfrm>
            <a:off x="324466" y="494266"/>
            <a:ext cx="11867534" cy="4524315"/>
          </a:xfrm>
          <a:prstGeom prst="rect">
            <a:avLst/>
          </a:prstGeom>
          <a:noFill/>
        </p:spPr>
        <p:txBody>
          <a:bodyPr wrap="square">
            <a:spAutoFit/>
          </a:bodyPr>
          <a:lstStyle/>
          <a:p>
            <a:r>
              <a:rPr lang="en-US" sz="2400" b="0" i="0" dirty="0">
                <a:solidFill>
                  <a:srgbClr val="005CC5"/>
                </a:solidFill>
                <a:effectLst/>
                <a:latin typeface="Consolas" panose="020B0609020204030204" pitchFamily="49" charset="0"/>
              </a:rPr>
              <a:t>class</a:t>
            </a: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MyClass</a:t>
            </a:r>
            <a:r>
              <a:rPr lang="en-US" sz="2400" b="0" i="0" dirty="0">
                <a:solidFill>
                  <a:srgbClr val="000000"/>
                </a:solidFill>
                <a:effectLst/>
                <a:latin typeface="Consolas" panose="020B0609020204030204" pitchFamily="49" charset="0"/>
              </a:rPr>
              <a:t> {     </a:t>
            </a:r>
            <a:r>
              <a:rPr lang="en-US" sz="2400" b="0" i="0" dirty="0">
                <a:solidFill>
                  <a:srgbClr val="708090"/>
                </a:solidFill>
                <a:effectLst/>
                <a:latin typeface="Consolas" panose="020B0609020204030204" pitchFamily="49" charset="0"/>
              </a:rPr>
              <a:t>// The class</a:t>
            </a:r>
            <a:br>
              <a:rPr lang="en-US" sz="2400" b="0" i="0" dirty="0">
                <a:solidFill>
                  <a:srgbClr val="708090"/>
                </a:solidFill>
                <a:effectLst/>
                <a:latin typeface="Consolas" panose="020B0609020204030204" pitchFamily="49" charset="0"/>
              </a:rPr>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public</a:t>
            </a:r>
            <a:r>
              <a:rPr lang="en-US" sz="2400" b="0" i="0" dirty="0">
                <a:solidFill>
                  <a:srgbClr val="000000"/>
                </a:solidFill>
                <a:effectLst/>
                <a:latin typeface="Consolas" panose="020B0609020204030204" pitchFamily="49" charset="0"/>
              </a:rPr>
              <a:t>:           </a:t>
            </a:r>
            <a:r>
              <a:rPr lang="en-US" sz="2400" b="0" i="0" dirty="0">
                <a:solidFill>
                  <a:srgbClr val="708090"/>
                </a:solidFill>
                <a:effectLst/>
                <a:latin typeface="Consolas" panose="020B0609020204030204" pitchFamily="49" charset="0"/>
              </a:rPr>
              <a:t>// Access specifier</a:t>
            </a:r>
            <a:br>
              <a:rPr lang="en-US" sz="2400" b="0" i="0" dirty="0">
                <a:solidFill>
                  <a:srgbClr val="708090"/>
                </a:solidFill>
                <a:effectLst/>
                <a:latin typeface="Consolas" panose="020B0609020204030204" pitchFamily="49" charset="0"/>
              </a:rPr>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MyClass</a:t>
            </a:r>
            <a:r>
              <a:rPr lang="en-US" sz="2400" b="0" i="0" dirty="0">
                <a:solidFill>
                  <a:srgbClr val="000000"/>
                </a:solidFill>
                <a:effectLst/>
                <a:latin typeface="Consolas" panose="020B0609020204030204" pitchFamily="49" charset="0"/>
              </a:rPr>
              <a:t>() {     </a:t>
            </a:r>
            <a:r>
              <a:rPr lang="en-US" sz="2400" b="0" i="0" dirty="0">
                <a:solidFill>
                  <a:srgbClr val="708090"/>
                </a:solidFill>
                <a:effectLst/>
                <a:latin typeface="Consolas" panose="020B0609020204030204" pitchFamily="49" charset="0"/>
              </a:rPr>
              <a:t>// Constructor</a:t>
            </a:r>
            <a:br>
              <a:rPr lang="en-US" sz="2400" b="0" i="0" dirty="0">
                <a:solidFill>
                  <a:srgbClr val="708090"/>
                </a:solidFill>
                <a:effectLst/>
                <a:latin typeface="Consolas" panose="020B0609020204030204" pitchFamily="49" charset="0"/>
              </a:rPr>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"Hello World!"</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a:t>
            </a:r>
            <a:br>
              <a:rPr lang="en-US" sz="2400" dirty="0"/>
            </a:br>
            <a:br>
              <a:rPr lang="en-US" sz="2400" dirty="0"/>
            </a:br>
            <a:r>
              <a:rPr lang="en-US" sz="2400" b="0" i="0" dirty="0">
                <a:solidFill>
                  <a:srgbClr val="005CC5"/>
                </a:solidFill>
                <a:effectLst/>
                <a:latin typeface="Consolas" panose="020B0609020204030204" pitchFamily="49" charset="0"/>
              </a:rPr>
              <a:t>int</a:t>
            </a:r>
            <a:r>
              <a:rPr lang="en-US" sz="2400" b="0" i="0" dirty="0">
                <a:solidFill>
                  <a:srgbClr val="000000"/>
                </a:solidFill>
                <a:effectLst/>
                <a:latin typeface="Consolas" panose="020B0609020204030204" pitchFamily="49" charset="0"/>
              </a:rPr>
              <a:t> main() {</a:t>
            </a:r>
            <a:br>
              <a:rPr lang="en-US" sz="2400" dirty="0"/>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MyClass</a:t>
            </a: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myObj</a:t>
            </a:r>
            <a:r>
              <a:rPr lang="en-US" sz="2400" b="0" i="0" dirty="0">
                <a:solidFill>
                  <a:srgbClr val="000000"/>
                </a:solidFill>
                <a:effectLst/>
                <a:latin typeface="Consolas" panose="020B0609020204030204" pitchFamily="49" charset="0"/>
              </a:rPr>
              <a:t>;    </a:t>
            </a:r>
            <a:r>
              <a:rPr lang="en-US" sz="2400" b="0" i="0" dirty="0">
                <a:solidFill>
                  <a:srgbClr val="708090"/>
                </a:solidFill>
                <a:effectLst/>
                <a:latin typeface="Consolas" panose="020B0609020204030204" pitchFamily="49" charset="0"/>
              </a:rPr>
              <a:t>// Create an object of </a:t>
            </a:r>
            <a:r>
              <a:rPr lang="en-US" sz="2400" b="0" i="0" dirty="0" err="1">
                <a:solidFill>
                  <a:srgbClr val="708090"/>
                </a:solidFill>
                <a:effectLst/>
                <a:latin typeface="Consolas" panose="020B0609020204030204" pitchFamily="49" charset="0"/>
              </a:rPr>
              <a:t>MyClass</a:t>
            </a:r>
            <a:r>
              <a:rPr lang="en-US" sz="2400" b="0" i="0" dirty="0">
                <a:solidFill>
                  <a:srgbClr val="708090"/>
                </a:solidFill>
                <a:effectLst/>
                <a:latin typeface="Consolas" panose="020B0609020204030204" pitchFamily="49" charset="0"/>
              </a:rPr>
              <a:t> (this will call the constructor)</a:t>
            </a:r>
            <a:br>
              <a:rPr lang="en-US" sz="2400" b="0" i="0" dirty="0">
                <a:solidFill>
                  <a:srgbClr val="708090"/>
                </a:solidFill>
                <a:effectLst/>
                <a:latin typeface="Consolas" panose="020B0609020204030204" pitchFamily="49" charset="0"/>
              </a:rPr>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return</a:t>
            </a:r>
            <a:r>
              <a:rPr lang="en-US" sz="2400" b="0" i="0" dirty="0">
                <a:solidFill>
                  <a:srgbClr val="000000"/>
                </a:solidFill>
                <a:effectLst/>
                <a:latin typeface="Consolas" panose="020B0609020204030204" pitchFamily="49" charset="0"/>
              </a:rPr>
              <a:t> </a:t>
            </a:r>
            <a:r>
              <a:rPr lang="en-US" sz="2400" b="0" i="0" dirty="0">
                <a:solidFill>
                  <a:srgbClr val="990055"/>
                </a:solidFill>
                <a:effectLst/>
                <a:latin typeface="Consolas" panose="020B0609020204030204" pitchFamily="49" charset="0"/>
              </a:rPr>
              <a:t>0</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a:t>
            </a:r>
            <a:endParaRPr lang="en-IN" sz="2400" dirty="0"/>
          </a:p>
        </p:txBody>
      </p:sp>
    </p:spTree>
    <p:extLst>
      <p:ext uri="{BB962C8B-B14F-4D97-AF65-F5344CB8AC3E}">
        <p14:creationId xmlns:p14="http://schemas.microsoft.com/office/powerpoint/2010/main" val="29286649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6BA588-1CE7-DF39-0B6B-C3231111EB83}"/>
              </a:ext>
            </a:extLst>
          </p:cNvPr>
          <p:cNvSpPr txBox="1"/>
          <p:nvPr/>
        </p:nvSpPr>
        <p:spPr>
          <a:xfrm>
            <a:off x="0" y="198450"/>
            <a:ext cx="12000271" cy="3170099"/>
          </a:xfrm>
          <a:prstGeom prst="rect">
            <a:avLst/>
          </a:prstGeom>
          <a:noFill/>
        </p:spPr>
        <p:txBody>
          <a:bodyPr wrap="square">
            <a:spAutoFit/>
          </a:bodyPr>
          <a:lstStyle/>
          <a:p>
            <a:r>
              <a:rPr lang="en-US" sz="3200" b="1" dirty="0"/>
              <a:t>Constructor with Parameters/Parameterized Constructor</a:t>
            </a:r>
          </a:p>
          <a:p>
            <a:r>
              <a:rPr lang="en-US" sz="2800" dirty="0"/>
              <a:t>Constructors can also take parameters (just like regular functions), which can be useful for setting initial values for attributes.</a:t>
            </a:r>
          </a:p>
          <a:p>
            <a:endParaRPr lang="en-US" sz="2800" dirty="0"/>
          </a:p>
          <a:p>
            <a:r>
              <a:rPr lang="en-US" sz="2800" dirty="0"/>
              <a:t>When we call the constructor (by creating an object of the class), we pass parameters to the constructor, which will set the value of the corresponding attributes to the same:</a:t>
            </a:r>
            <a:endParaRPr lang="en-IN" sz="2800" dirty="0"/>
          </a:p>
        </p:txBody>
      </p:sp>
    </p:spTree>
    <p:extLst>
      <p:ext uri="{BB962C8B-B14F-4D97-AF65-F5344CB8AC3E}">
        <p14:creationId xmlns:p14="http://schemas.microsoft.com/office/powerpoint/2010/main" val="37257166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0321D9-E63E-6626-5935-BEAC45396E16}"/>
              </a:ext>
            </a:extLst>
          </p:cNvPr>
          <p:cNvSpPr txBox="1"/>
          <p:nvPr/>
        </p:nvSpPr>
        <p:spPr>
          <a:xfrm>
            <a:off x="-1" y="167148"/>
            <a:ext cx="12123175" cy="6617110"/>
          </a:xfrm>
          <a:prstGeom prst="rect">
            <a:avLst/>
          </a:prstGeom>
          <a:noFill/>
        </p:spPr>
        <p:txBody>
          <a:bodyPr wrap="square" numCol="2">
            <a:spAutoFit/>
          </a:bodyPr>
          <a:lstStyle/>
          <a:p>
            <a:r>
              <a:rPr lang="en-IN" sz="2400" dirty="0"/>
              <a:t>class Car {        // The class</a:t>
            </a:r>
          </a:p>
          <a:p>
            <a:r>
              <a:rPr lang="en-IN" sz="2400" dirty="0"/>
              <a:t>  public:          // Access specifier</a:t>
            </a:r>
          </a:p>
          <a:p>
            <a:r>
              <a:rPr lang="en-IN" sz="2400" dirty="0"/>
              <a:t>    string brand;  // Attribute</a:t>
            </a:r>
          </a:p>
          <a:p>
            <a:r>
              <a:rPr lang="en-IN" sz="2400" dirty="0"/>
              <a:t>    string model;  // Attribute</a:t>
            </a:r>
          </a:p>
          <a:p>
            <a:r>
              <a:rPr lang="en-IN" sz="2400" dirty="0"/>
              <a:t>    int year;      // Attribute</a:t>
            </a:r>
          </a:p>
          <a:p>
            <a:r>
              <a:rPr lang="en-IN" sz="2400" dirty="0"/>
              <a:t>    Car(string x, string y, int z) { // Constructor with parameters</a:t>
            </a:r>
          </a:p>
          <a:p>
            <a:r>
              <a:rPr lang="en-IN" sz="2400" dirty="0"/>
              <a:t>      brand = x;</a:t>
            </a:r>
          </a:p>
          <a:p>
            <a:r>
              <a:rPr lang="en-IN" sz="2400" dirty="0"/>
              <a:t>      model = y;</a:t>
            </a:r>
          </a:p>
          <a:p>
            <a:r>
              <a:rPr lang="en-IN" sz="2400" dirty="0"/>
              <a:t>      year = z;</a:t>
            </a:r>
          </a:p>
          <a:p>
            <a:r>
              <a:rPr lang="en-IN" sz="2400" dirty="0"/>
              <a:t>    }</a:t>
            </a:r>
          </a:p>
          <a:p>
            <a:r>
              <a:rPr lang="en-IN" sz="2400" dirty="0"/>
              <a:t>};</a:t>
            </a:r>
          </a:p>
          <a:p>
            <a:endParaRPr lang="en-IN" sz="2400" dirty="0"/>
          </a:p>
          <a:p>
            <a:r>
              <a:rPr lang="en-IN" sz="2400" dirty="0"/>
              <a:t>int main() {</a:t>
            </a:r>
          </a:p>
          <a:p>
            <a:r>
              <a:rPr lang="en-IN" sz="2400" dirty="0"/>
              <a:t>  // Create Car objects and call the constructor with different values</a:t>
            </a:r>
          </a:p>
          <a:p>
            <a:r>
              <a:rPr lang="en-IN" sz="2400" dirty="0"/>
              <a:t>  Car carObj1("BMW", "X5", 1999);</a:t>
            </a:r>
          </a:p>
          <a:p>
            <a:r>
              <a:rPr lang="en-IN" sz="2400" dirty="0"/>
              <a:t>  Car carObj2("Ford", "Mustang", 1969);</a:t>
            </a:r>
          </a:p>
          <a:p>
            <a:endParaRPr lang="en-IN" sz="2400" dirty="0"/>
          </a:p>
          <a:p>
            <a:r>
              <a:rPr lang="en-IN" sz="2400" dirty="0"/>
              <a:t>  // Print values</a:t>
            </a:r>
          </a:p>
          <a:p>
            <a:r>
              <a:rPr lang="en-IN" sz="2400" dirty="0"/>
              <a:t>  </a:t>
            </a:r>
            <a:r>
              <a:rPr lang="en-IN" sz="2400" dirty="0" err="1"/>
              <a:t>cout</a:t>
            </a:r>
            <a:r>
              <a:rPr lang="en-IN" sz="2400" dirty="0"/>
              <a:t> &lt;&lt; carObj1.brand &lt;&lt; " " &lt;&lt; carObj1.model &lt;&lt; " " &lt;&lt; carObj1.year &lt;&lt; "\n";</a:t>
            </a:r>
          </a:p>
          <a:p>
            <a:r>
              <a:rPr lang="en-IN" sz="2400" dirty="0"/>
              <a:t>  </a:t>
            </a:r>
            <a:r>
              <a:rPr lang="en-IN" sz="2400" dirty="0" err="1"/>
              <a:t>cout</a:t>
            </a:r>
            <a:r>
              <a:rPr lang="en-IN" sz="2400" dirty="0"/>
              <a:t> &lt;&lt; carObj2.brand &lt;&lt; " " &lt;&lt; carObj2.model &lt;&lt; " " &lt;&lt; carObj2.year &lt;&lt; "\n";</a:t>
            </a:r>
          </a:p>
          <a:p>
            <a:r>
              <a:rPr lang="en-IN" sz="2400" dirty="0"/>
              <a:t>  return 0;</a:t>
            </a:r>
          </a:p>
          <a:p>
            <a:r>
              <a:rPr lang="en-IN" sz="2400" dirty="0"/>
              <a:t>}</a:t>
            </a:r>
          </a:p>
        </p:txBody>
      </p:sp>
    </p:spTree>
    <p:extLst>
      <p:ext uri="{BB962C8B-B14F-4D97-AF65-F5344CB8AC3E}">
        <p14:creationId xmlns:p14="http://schemas.microsoft.com/office/powerpoint/2010/main" val="21407314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3B693A-6799-E8D4-321A-1D6082DE616A}"/>
              </a:ext>
            </a:extLst>
          </p:cNvPr>
          <p:cNvSpPr txBox="1"/>
          <p:nvPr/>
        </p:nvSpPr>
        <p:spPr>
          <a:xfrm>
            <a:off x="255638" y="141945"/>
            <a:ext cx="9232491" cy="523220"/>
          </a:xfrm>
          <a:prstGeom prst="rect">
            <a:avLst/>
          </a:prstGeom>
          <a:noFill/>
        </p:spPr>
        <p:txBody>
          <a:bodyPr wrap="square">
            <a:spAutoFit/>
          </a:bodyPr>
          <a:lstStyle/>
          <a:p>
            <a:r>
              <a:rPr lang="en-US" sz="2800" b="1" dirty="0"/>
              <a:t>Constructor Defined Outside the Class</a:t>
            </a:r>
            <a:endParaRPr lang="en-IN" sz="2800" b="1" dirty="0"/>
          </a:p>
        </p:txBody>
      </p:sp>
      <p:sp>
        <p:nvSpPr>
          <p:cNvPr id="5" name="TextBox 4">
            <a:extLst>
              <a:ext uri="{FF2B5EF4-FFF2-40B4-BE49-F238E27FC236}">
                <a16:creationId xmlns:a16="http://schemas.microsoft.com/office/drawing/2014/main" id="{38091061-CBC2-F8B3-A930-13F08FE90357}"/>
              </a:ext>
            </a:extLst>
          </p:cNvPr>
          <p:cNvSpPr txBox="1"/>
          <p:nvPr/>
        </p:nvSpPr>
        <p:spPr>
          <a:xfrm>
            <a:off x="0" y="560439"/>
            <a:ext cx="11936362" cy="6128266"/>
          </a:xfrm>
          <a:prstGeom prst="rect">
            <a:avLst/>
          </a:prstGeom>
          <a:noFill/>
        </p:spPr>
        <p:txBody>
          <a:bodyPr wrap="square" numCol="2">
            <a:spAutoFit/>
          </a:bodyPr>
          <a:lstStyle/>
          <a:p>
            <a:r>
              <a:rPr lang="en-IN" sz="2400" dirty="0"/>
              <a:t>class Car {        // The class</a:t>
            </a:r>
          </a:p>
          <a:p>
            <a:r>
              <a:rPr lang="en-IN" sz="2400" dirty="0"/>
              <a:t>  public:          // Access specifier</a:t>
            </a:r>
          </a:p>
          <a:p>
            <a:r>
              <a:rPr lang="en-IN" sz="2400" dirty="0"/>
              <a:t>    string brand;  // Attribute</a:t>
            </a:r>
          </a:p>
          <a:p>
            <a:r>
              <a:rPr lang="en-IN" sz="2400" dirty="0"/>
              <a:t>    string model;  // Attribute</a:t>
            </a:r>
          </a:p>
          <a:p>
            <a:r>
              <a:rPr lang="en-IN" sz="2400" dirty="0"/>
              <a:t>    int year;      // Attribute</a:t>
            </a:r>
          </a:p>
          <a:p>
            <a:r>
              <a:rPr lang="en-IN" sz="2400" dirty="0"/>
              <a:t>    Car(string x, string y, int z); // Constructor declaration</a:t>
            </a:r>
          </a:p>
          <a:p>
            <a:r>
              <a:rPr lang="en-IN" sz="2400" dirty="0"/>
              <a:t>};</a:t>
            </a:r>
          </a:p>
          <a:p>
            <a:endParaRPr lang="en-IN" sz="2400" dirty="0"/>
          </a:p>
          <a:p>
            <a:r>
              <a:rPr lang="en-IN" sz="2400" dirty="0"/>
              <a:t>// Constructor definition outside the class</a:t>
            </a:r>
          </a:p>
          <a:p>
            <a:r>
              <a:rPr lang="en-IN" sz="2400" dirty="0"/>
              <a:t>Car::Car(string x, string y, int z) {</a:t>
            </a:r>
          </a:p>
          <a:p>
            <a:r>
              <a:rPr lang="en-IN" sz="2400" dirty="0"/>
              <a:t>  brand = x;</a:t>
            </a:r>
          </a:p>
          <a:p>
            <a:r>
              <a:rPr lang="en-IN" sz="2400" dirty="0"/>
              <a:t>  model = y;</a:t>
            </a:r>
          </a:p>
          <a:p>
            <a:r>
              <a:rPr lang="en-IN" sz="2400" dirty="0"/>
              <a:t>  year = z;</a:t>
            </a:r>
          </a:p>
          <a:p>
            <a:r>
              <a:rPr lang="en-IN" sz="2400" dirty="0"/>
              <a:t>}</a:t>
            </a:r>
          </a:p>
          <a:p>
            <a:endParaRPr lang="en-IN" sz="2400" dirty="0"/>
          </a:p>
          <a:p>
            <a:r>
              <a:rPr lang="en-IN" sz="2400" dirty="0"/>
              <a:t>int main() {</a:t>
            </a:r>
          </a:p>
          <a:p>
            <a:r>
              <a:rPr lang="en-IN" sz="2400" dirty="0"/>
              <a:t>  // Create Car objects and call the constructor with different values</a:t>
            </a:r>
          </a:p>
          <a:p>
            <a:r>
              <a:rPr lang="en-IN" sz="2400" dirty="0"/>
              <a:t>  Car carObj1("BMW", "X5", 1999);</a:t>
            </a:r>
          </a:p>
          <a:p>
            <a:r>
              <a:rPr lang="en-IN" sz="2400" dirty="0"/>
              <a:t>  Car carObj2("Ford", "Mustang", 1969);</a:t>
            </a:r>
          </a:p>
          <a:p>
            <a:endParaRPr lang="en-IN" sz="2400" dirty="0"/>
          </a:p>
          <a:p>
            <a:r>
              <a:rPr lang="en-IN" sz="2400" dirty="0"/>
              <a:t>  // Print values</a:t>
            </a:r>
          </a:p>
          <a:p>
            <a:r>
              <a:rPr lang="en-IN" sz="2400" dirty="0"/>
              <a:t>  </a:t>
            </a:r>
            <a:r>
              <a:rPr lang="en-IN" sz="2400" dirty="0" err="1"/>
              <a:t>cout</a:t>
            </a:r>
            <a:r>
              <a:rPr lang="en-IN" sz="2400" dirty="0"/>
              <a:t> &lt;&lt; carObj1.brand &lt;&lt; " " &lt;&lt; carObj1.model &lt;&lt; " " &lt;&lt; carObj1.year &lt;&lt; "\n";</a:t>
            </a:r>
          </a:p>
          <a:p>
            <a:r>
              <a:rPr lang="en-IN" sz="2400" dirty="0"/>
              <a:t>  </a:t>
            </a:r>
            <a:r>
              <a:rPr lang="en-IN" sz="2400" dirty="0" err="1"/>
              <a:t>cout</a:t>
            </a:r>
            <a:r>
              <a:rPr lang="en-IN" sz="2400" dirty="0"/>
              <a:t> &lt;&lt; carObj2.brand &lt;&lt; " " &lt;&lt; carObj2.model &lt;&lt; " " &lt;&lt; carObj2.year &lt;&lt; "\n";</a:t>
            </a:r>
          </a:p>
          <a:p>
            <a:r>
              <a:rPr lang="en-IN" sz="2400" dirty="0"/>
              <a:t>  return 0;</a:t>
            </a:r>
          </a:p>
          <a:p>
            <a:r>
              <a:rPr lang="en-IN" sz="2400" dirty="0"/>
              <a:t>}</a:t>
            </a:r>
          </a:p>
        </p:txBody>
      </p:sp>
    </p:spTree>
    <p:extLst>
      <p:ext uri="{BB962C8B-B14F-4D97-AF65-F5344CB8AC3E}">
        <p14:creationId xmlns:p14="http://schemas.microsoft.com/office/powerpoint/2010/main" val="24395710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8A9294-0B25-2CFB-6EFD-6A2C974E1B21}"/>
              </a:ext>
            </a:extLst>
          </p:cNvPr>
          <p:cNvSpPr txBox="1"/>
          <p:nvPr/>
        </p:nvSpPr>
        <p:spPr>
          <a:xfrm>
            <a:off x="117987" y="212522"/>
            <a:ext cx="11956026" cy="2677656"/>
          </a:xfrm>
          <a:prstGeom prst="rect">
            <a:avLst/>
          </a:prstGeom>
          <a:noFill/>
        </p:spPr>
        <p:txBody>
          <a:bodyPr wrap="square">
            <a:spAutoFit/>
          </a:bodyPr>
          <a:lstStyle/>
          <a:p>
            <a:r>
              <a:rPr lang="en-US" sz="2800" b="1" dirty="0"/>
              <a:t>Constructor Overloading</a:t>
            </a:r>
          </a:p>
          <a:p>
            <a:r>
              <a:rPr lang="en-US" sz="2800" dirty="0"/>
              <a:t>In C++, you can have more than one constructor in the same class. This is called constructor overloading.</a:t>
            </a:r>
          </a:p>
          <a:p>
            <a:endParaRPr lang="en-US" sz="2800" dirty="0"/>
          </a:p>
          <a:p>
            <a:r>
              <a:rPr lang="en-US" sz="2800" dirty="0"/>
              <a:t>Each constructor must have a different number or type of parameters, so the compiler knows which one to use when you create an object.</a:t>
            </a:r>
          </a:p>
        </p:txBody>
      </p:sp>
      <p:sp>
        <p:nvSpPr>
          <p:cNvPr id="5" name="TextBox 4">
            <a:extLst>
              <a:ext uri="{FF2B5EF4-FFF2-40B4-BE49-F238E27FC236}">
                <a16:creationId xmlns:a16="http://schemas.microsoft.com/office/drawing/2014/main" id="{D923A24D-4BE0-19B2-5867-3C3B7C930270}"/>
              </a:ext>
            </a:extLst>
          </p:cNvPr>
          <p:cNvSpPr txBox="1"/>
          <p:nvPr/>
        </p:nvSpPr>
        <p:spPr>
          <a:xfrm>
            <a:off x="-1" y="3658051"/>
            <a:ext cx="12074013" cy="1384995"/>
          </a:xfrm>
          <a:prstGeom prst="rect">
            <a:avLst/>
          </a:prstGeom>
          <a:noFill/>
        </p:spPr>
        <p:txBody>
          <a:bodyPr wrap="square">
            <a:spAutoFit/>
          </a:bodyPr>
          <a:lstStyle/>
          <a:p>
            <a:r>
              <a:rPr lang="en-US" sz="2800" dirty="0"/>
              <a:t>Example with Two Constructors</a:t>
            </a:r>
          </a:p>
          <a:p>
            <a:r>
              <a:rPr lang="en-US" sz="2800" dirty="0"/>
              <a:t>This class has two constructors: one without parameters, and one with parameters:</a:t>
            </a:r>
            <a:endParaRPr lang="en-IN" sz="2800" dirty="0"/>
          </a:p>
        </p:txBody>
      </p:sp>
    </p:spTree>
    <p:extLst>
      <p:ext uri="{BB962C8B-B14F-4D97-AF65-F5344CB8AC3E}">
        <p14:creationId xmlns:p14="http://schemas.microsoft.com/office/powerpoint/2010/main" val="949808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19B92A-8890-51CF-CCB5-BABAAB359106}"/>
              </a:ext>
            </a:extLst>
          </p:cNvPr>
          <p:cNvSpPr txBox="1"/>
          <p:nvPr/>
        </p:nvSpPr>
        <p:spPr>
          <a:xfrm>
            <a:off x="117987" y="157316"/>
            <a:ext cx="11995355" cy="6528619"/>
          </a:xfrm>
          <a:prstGeom prst="rect">
            <a:avLst/>
          </a:prstGeom>
          <a:noFill/>
        </p:spPr>
        <p:txBody>
          <a:bodyPr wrap="square" numCol="2">
            <a:spAutoFit/>
          </a:bodyPr>
          <a:lstStyle/>
          <a:p>
            <a:r>
              <a:rPr lang="en-IN" sz="2400" dirty="0"/>
              <a:t>class Car {</a:t>
            </a:r>
          </a:p>
          <a:p>
            <a:r>
              <a:rPr lang="en-IN" sz="2400" dirty="0"/>
              <a:t>  public:</a:t>
            </a:r>
          </a:p>
          <a:p>
            <a:r>
              <a:rPr lang="en-IN" sz="2400" dirty="0"/>
              <a:t>    string brand;</a:t>
            </a:r>
          </a:p>
          <a:p>
            <a:r>
              <a:rPr lang="en-IN" sz="2400" dirty="0"/>
              <a:t>    string model;</a:t>
            </a:r>
          </a:p>
          <a:p>
            <a:endParaRPr lang="en-IN" sz="2400" dirty="0"/>
          </a:p>
          <a:p>
            <a:r>
              <a:rPr lang="en-IN" sz="2400" dirty="0"/>
              <a:t>    Car() {</a:t>
            </a:r>
          </a:p>
          <a:p>
            <a:r>
              <a:rPr lang="en-IN" sz="2400" dirty="0"/>
              <a:t>      brand = "Unknown";</a:t>
            </a:r>
          </a:p>
          <a:p>
            <a:r>
              <a:rPr lang="en-IN" sz="2400" dirty="0"/>
              <a:t>      model = "Unknown";</a:t>
            </a:r>
          </a:p>
          <a:p>
            <a:r>
              <a:rPr lang="en-IN" sz="2400" dirty="0"/>
              <a:t>    }</a:t>
            </a:r>
          </a:p>
          <a:p>
            <a:endParaRPr lang="en-IN" sz="2400" dirty="0"/>
          </a:p>
          <a:p>
            <a:r>
              <a:rPr lang="en-IN" sz="2400" dirty="0"/>
              <a:t>    Car(string b, string m) {</a:t>
            </a:r>
          </a:p>
          <a:p>
            <a:r>
              <a:rPr lang="en-IN" sz="2400" dirty="0"/>
              <a:t>      brand = b;</a:t>
            </a:r>
          </a:p>
          <a:p>
            <a:r>
              <a:rPr lang="en-IN" sz="2400" dirty="0"/>
              <a:t>      model = m;</a:t>
            </a:r>
          </a:p>
          <a:p>
            <a:r>
              <a:rPr lang="en-IN" sz="2400" dirty="0"/>
              <a:t>    }</a:t>
            </a:r>
          </a:p>
          <a:p>
            <a:r>
              <a:rPr lang="en-IN" sz="2400" dirty="0"/>
              <a:t>};</a:t>
            </a:r>
          </a:p>
          <a:p>
            <a:endParaRPr lang="en-IN" sz="2400" dirty="0"/>
          </a:p>
          <a:p>
            <a:endParaRPr lang="en-IN" sz="2400" dirty="0"/>
          </a:p>
          <a:p>
            <a:r>
              <a:rPr lang="en-IN" sz="2400" dirty="0"/>
              <a:t>int main() {</a:t>
            </a:r>
          </a:p>
          <a:p>
            <a:r>
              <a:rPr lang="en-IN" sz="2400" dirty="0"/>
              <a:t>  Car car1;</a:t>
            </a:r>
          </a:p>
          <a:p>
            <a:r>
              <a:rPr lang="en-IN" sz="2400" dirty="0"/>
              <a:t>  Car car2("BMW", "X5");</a:t>
            </a:r>
          </a:p>
          <a:p>
            <a:r>
              <a:rPr lang="en-IN" sz="2400" dirty="0"/>
              <a:t>  Car car3("Ford", "Mustang");</a:t>
            </a:r>
          </a:p>
          <a:p>
            <a:endParaRPr lang="en-IN" sz="2400" dirty="0"/>
          </a:p>
          <a:p>
            <a:r>
              <a:rPr lang="en-IN" sz="2400" dirty="0"/>
              <a:t>  </a:t>
            </a:r>
            <a:r>
              <a:rPr lang="en-IN" sz="2400" dirty="0" err="1"/>
              <a:t>cout</a:t>
            </a:r>
            <a:r>
              <a:rPr lang="en-IN" sz="2400" dirty="0"/>
              <a:t> &lt;&lt; "Car1: " &lt;&lt; car1.brand &lt;&lt; " " &lt;&lt; car1.model &lt;&lt; "\n";</a:t>
            </a:r>
          </a:p>
          <a:p>
            <a:r>
              <a:rPr lang="en-IN" sz="2400" dirty="0"/>
              <a:t>  </a:t>
            </a:r>
            <a:r>
              <a:rPr lang="en-IN" sz="2400" dirty="0" err="1"/>
              <a:t>cout</a:t>
            </a:r>
            <a:r>
              <a:rPr lang="en-IN" sz="2400" dirty="0"/>
              <a:t> &lt;&lt; "Car2: " &lt;&lt; car2.brand &lt;&lt; " " &lt;&lt; car2.model &lt;&lt; "\n";</a:t>
            </a:r>
          </a:p>
          <a:p>
            <a:r>
              <a:rPr lang="en-IN" sz="2400" dirty="0"/>
              <a:t>  </a:t>
            </a:r>
            <a:r>
              <a:rPr lang="en-IN" sz="2400" dirty="0" err="1"/>
              <a:t>cout</a:t>
            </a:r>
            <a:r>
              <a:rPr lang="en-IN" sz="2400" dirty="0"/>
              <a:t> &lt;&lt; "Car3: " &lt;&lt; car3.brand &lt;&lt; " " &lt;&lt; car3.model;</a:t>
            </a:r>
          </a:p>
          <a:p>
            <a:r>
              <a:rPr lang="en-IN" sz="2400" dirty="0"/>
              <a:t>  return 0;</a:t>
            </a:r>
          </a:p>
          <a:p>
            <a:r>
              <a:rPr lang="en-IN" sz="2400" dirty="0"/>
              <a:t>}</a:t>
            </a:r>
          </a:p>
        </p:txBody>
      </p:sp>
    </p:spTree>
    <p:extLst>
      <p:ext uri="{BB962C8B-B14F-4D97-AF65-F5344CB8AC3E}">
        <p14:creationId xmlns:p14="http://schemas.microsoft.com/office/powerpoint/2010/main" val="17020497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8C4E95-31F3-D69D-AB0C-651EC9A59D1C}"/>
              </a:ext>
            </a:extLst>
          </p:cNvPr>
          <p:cNvSpPr txBox="1"/>
          <p:nvPr/>
        </p:nvSpPr>
        <p:spPr>
          <a:xfrm>
            <a:off x="88489" y="98774"/>
            <a:ext cx="11975691" cy="1261884"/>
          </a:xfrm>
          <a:prstGeom prst="rect">
            <a:avLst/>
          </a:prstGeom>
          <a:noFill/>
        </p:spPr>
        <p:txBody>
          <a:bodyPr wrap="square">
            <a:spAutoFit/>
          </a:bodyPr>
          <a:lstStyle/>
          <a:p>
            <a:pPr>
              <a:buNone/>
            </a:pPr>
            <a:r>
              <a:rPr lang="en-US" sz="2800" b="1" dirty="0"/>
              <a:t>Copy Constructor</a:t>
            </a:r>
          </a:p>
          <a:p>
            <a:pPr>
              <a:buNone/>
            </a:pPr>
            <a:r>
              <a:rPr lang="en-US" sz="2400" dirty="0"/>
              <a:t>A </a:t>
            </a:r>
            <a:r>
              <a:rPr lang="en-US" sz="2400" b="1" dirty="0"/>
              <a:t>copy constructor</a:t>
            </a:r>
            <a:r>
              <a:rPr lang="en-US" sz="2400" dirty="0"/>
              <a:t> is a special constructor used to create a new object as a </a:t>
            </a:r>
            <a:r>
              <a:rPr lang="en-US" sz="2400" b="1" dirty="0"/>
              <a:t>copy of an existing object</a:t>
            </a:r>
            <a:r>
              <a:rPr lang="en-US" sz="2400" dirty="0"/>
              <a:t>.</a:t>
            </a:r>
          </a:p>
        </p:txBody>
      </p:sp>
      <p:sp>
        <p:nvSpPr>
          <p:cNvPr id="5" name="TextBox 4">
            <a:extLst>
              <a:ext uri="{FF2B5EF4-FFF2-40B4-BE49-F238E27FC236}">
                <a16:creationId xmlns:a16="http://schemas.microsoft.com/office/drawing/2014/main" id="{5F4D966F-B446-B91A-5D48-4600DA614867}"/>
              </a:ext>
            </a:extLst>
          </p:cNvPr>
          <p:cNvSpPr txBox="1"/>
          <p:nvPr/>
        </p:nvSpPr>
        <p:spPr>
          <a:xfrm>
            <a:off x="88489" y="1360658"/>
            <a:ext cx="2064776" cy="461665"/>
          </a:xfrm>
          <a:prstGeom prst="rect">
            <a:avLst/>
          </a:prstGeom>
          <a:noFill/>
        </p:spPr>
        <p:txBody>
          <a:bodyPr wrap="square">
            <a:spAutoFit/>
          </a:bodyPr>
          <a:lstStyle/>
          <a:p>
            <a:r>
              <a:rPr lang="en-IN" sz="2400" b="1" dirty="0"/>
              <a:t>Syntax:</a:t>
            </a:r>
          </a:p>
        </p:txBody>
      </p:sp>
      <p:sp>
        <p:nvSpPr>
          <p:cNvPr id="7" name="TextBox 6">
            <a:extLst>
              <a:ext uri="{FF2B5EF4-FFF2-40B4-BE49-F238E27FC236}">
                <a16:creationId xmlns:a16="http://schemas.microsoft.com/office/drawing/2014/main" id="{EED73DE3-20E8-B3B1-CF1E-13C9347E43BD}"/>
              </a:ext>
            </a:extLst>
          </p:cNvPr>
          <p:cNvSpPr txBox="1"/>
          <p:nvPr/>
        </p:nvSpPr>
        <p:spPr>
          <a:xfrm>
            <a:off x="88489" y="1822323"/>
            <a:ext cx="11621730" cy="461665"/>
          </a:xfrm>
          <a:prstGeom prst="rect">
            <a:avLst/>
          </a:prstGeom>
          <a:noFill/>
        </p:spPr>
        <p:txBody>
          <a:bodyPr wrap="square">
            <a:spAutoFit/>
          </a:bodyPr>
          <a:lstStyle/>
          <a:p>
            <a:r>
              <a:rPr lang="en-IN" sz="2400" dirty="0" err="1"/>
              <a:t>ClassName</a:t>
            </a:r>
            <a:r>
              <a:rPr lang="en-IN" sz="2400" dirty="0"/>
              <a:t>(</a:t>
            </a:r>
            <a:r>
              <a:rPr lang="en-IN" sz="2400" dirty="0" err="1"/>
              <a:t>const</a:t>
            </a:r>
            <a:r>
              <a:rPr lang="en-IN" sz="2400" dirty="0"/>
              <a:t> </a:t>
            </a:r>
            <a:r>
              <a:rPr lang="en-IN" sz="2400" dirty="0" err="1"/>
              <a:t>ClassName</a:t>
            </a:r>
            <a:r>
              <a:rPr lang="en-IN" sz="2400" dirty="0"/>
              <a:t> &amp;</a:t>
            </a:r>
            <a:r>
              <a:rPr lang="en-IN" sz="2400" dirty="0" err="1"/>
              <a:t>obj</a:t>
            </a:r>
            <a:r>
              <a:rPr lang="en-IN" sz="2400" dirty="0"/>
              <a:t>);</a:t>
            </a:r>
          </a:p>
        </p:txBody>
      </p:sp>
      <p:sp>
        <p:nvSpPr>
          <p:cNvPr id="9" name="TextBox 8">
            <a:extLst>
              <a:ext uri="{FF2B5EF4-FFF2-40B4-BE49-F238E27FC236}">
                <a16:creationId xmlns:a16="http://schemas.microsoft.com/office/drawing/2014/main" id="{211676C1-8169-F4C8-CDFB-19275BCD6B64}"/>
              </a:ext>
            </a:extLst>
          </p:cNvPr>
          <p:cNvSpPr txBox="1"/>
          <p:nvPr/>
        </p:nvSpPr>
        <p:spPr>
          <a:xfrm>
            <a:off x="88487" y="2299375"/>
            <a:ext cx="11720053" cy="1938992"/>
          </a:xfrm>
          <a:prstGeom prst="rect">
            <a:avLst/>
          </a:prstGeom>
          <a:noFill/>
        </p:spPr>
        <p:txBody>
          <a:bodyPr wrap="square">
            <a:spAutoFit/>
          </a:bodyPr>
          <a:lstStyle/>
          <a:p>
            <a:r>
              <a:rPr lang="en-US" sz="2000" dirty="0"/>
              <a:t>Why is a Copy Constructor Needed?</a:t>
            </a:r>
          </a:p>
          <a:p>
            <a:r>
              <a:rPr lang="en-US" sz="2000" dirty="0"/>
              <a:t>It is used when:</a:t>
            </a:r>
          </a:p>
          <a:p>
            <a:r>
              <a:rPr lang="en-US" sz="2000" dirty="0"/>
              <a:t>	You create one object from another:</a:t>
            </a:r>
          </a:p>
          <a:p>
            <a:r>
              <a:rPr lang="en-US" sz="2000" dirty="0"/>
              <a:t>		A obj2 = obj1;</a:t>
            </a:r>
          </a:p>
          <a:p>
            <a:r>
              <a:rPr lang="en-US" sz="2000" dirty="0"/>
              <a:t>	You pass an object by value to a function</a:t>
            </a:r>
          </a:p>
          <a:p>
            <a:r>
              <a:rPr lang="en-US" sz="2000" dirty="0"/>
              <a:t>	A function returns an object by value</a:t>
            </a:r>
            <a:endParaRPr lang="en-IN" sz="2000" dirty="0"/>
          </a:p>
        </p:txBody>
      </p:sp>
      <p:sp>
        <p:nvSpPr>
          <p:cNvPr id="14" name="TextBox 13">
            <a:extLst>
              <a:ext uri="{FF2B5EF4-FFF2-40B4-BE49-F238E27FC236}">
                <a16:creationId xmlns:a16="http://schemas.microsoft.com/office/drawing/2014/main" id="{B177E904-089E-7C5F-04F6-ED3C459F3C3D}"/>
              </a:ext>
            </a:extLst>
          </p:cNvPr>
          <p:cNvSpPr txBox="1"/>
          <p:nvPr/>
        </p:nvSpPr>
        <p:spPr>
          <a:xfrm>
            <a:off x="88487" y="4343180"/>
            <a:ext cx="11975691" cy="2308324"/>
          </a:xfrm>
          <a:prstGeom prst="rect">
            <a:avLst/>
          </a:prstGeom>
          <a:noFill/>
        </p:spPr>
        <p:txBody>
          <a:bodyPr wrap="square">
            <a:spAutoFit/>
          </a:bodyPr>
          <a:lstStyle/>
          <a:p>
            <a:r>
              <a:rPr lang="en-US" sz="2400" b="1" dirty="0"/>
              <a:t>Types of Copy Constructors</a:t>
            </a:r>
            <a:r>
              <a:rPr lang="en-US" sz="2400" dirty="0"/>
              <a:t> </a:t>
            </a:r>
          </a:p>
          <a:p>
            <a:pPr marL="342900" indent="-342900">
              <a:buAutoNum type="arabicPeriod"/>
            </a:pPr>
            <a:r>
              <a:rPr lang="en-US" sz="2400" dirty="0"/>
              <a:t>Default Copy Constructor </a:t>
            </a:r>
          </a:p>
          <a:p>
            <a:r>
              <a:rPr lang="en-US" sz="2400" dirty="0"/>
              <a:t>	Created automatically by the compiler if you don't write your own.</a:t>
            </a:r>
          </a:p>
          <a:p>
            <a:r>
              <a:rPr lang="en-US" sz="2400" dirty="0"/>
              <a:t>2.  User-defined Copy Constructor</a:t>
            </a:r>
          </a:p>
          <a:p>
            <a:r>
              <a:rPr lang="en-US" sz="2400" dirty="0"/>
              <a:t>	You write your own version when you need custom copying, especially when your class has pointers or dynamic memory.</a:t>
            </a:r>
            <a:endParaRPr lang="en-IN" sz="2400" dirty="0"/>
          </a:p>
        </p:txBody>
      </p:sp>
    </p:spTree>
    <p:extLst>
      <p:ext uri="{BB962C8B-B14F-4D97-AF65-F5344CB8AC3E}">
        <p14:creationId xmlns:p14="http://schemas.microsoft.com/office/powerpoint/2010/main" val="39931589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152611-12DE-24DE-00C3-E76D88A23CC4}"/>
              </a:ext>
            </a:extLst>
          </p:cNvPr>
          <p:cNvSpPr txBox="1"/>
          <p:nvPr/>
        </p:nvSpPr>
        <p:spPr>
          <a:xfrm>
            <a:off x="1730477" y="90637"/>
            <a:ext cx="7157884" cy="461665"/>
          </a:xfrm>
          <a:prstGeom prst="rect">
            <a:avLst/>
          </a:prstGeom>
          <a:noFill/>
        </p:spPr>
        <p:txBody>
          <a:bodyPr wrap="square">
            <a:spAutoFit/>
          </a:bodyPr>
          <a:lstStyle/>
          <a:p>
            <a:r>
              <a:rPr lang="en-IN" sz="2400" dirty="0"/>
              <a:t>Simple Example (User-defined Copy Constructor)</a:t>
            </a:r>
          </a:p>
        </p:txBody>
      </p:sp>
      <p:sp>
        <p:nvSpPr>
          <p:cNvPr id="5" name="TextBox 4">
            <a:extLst>
              <a:ext uri="{FF2B5EF4-FFF2-40B4-BE49-F238E27FC236}">
                <a16:creationId xmlns:a16="http://schemas.microsoft.com/office/drawing/2014/main" id="{F6F09343-938D-3649-DCC5-BFED0C9776AD}"/>
              </a:ext>
            </a:extLst>
          </p:cNvPr>
          <p:cNvSpPr txBox="1"/>
          <p:nvPr/>
        </p:nvSpPr>
        <p:spPr>
          <a:xfrm>
            <a:off x="0" y="552301"/>
            <a:ext cx="12083845" cy="6215062"/>
          </a:xfrm>
          <a:prstGeom prst="rect">
            <a:avLst/>
          </a:prstGeom>
          <a:noFill/>
        </p:spPr>
        <p:txBody>
          <a:bodyPr wrap="square" numCol="2">
            <a:spAutoFit/>
          </a:bodyPr>
          <a:lstStyle/>
          <a:p>
            <a:r>
              <a:rPr lang="en-IN" dirty="0"/>
              <a:t>#include &lt;iostream&gt;</a:t>
            </a:r>
          </a:p>
          <a:p>
            <a:r>
              <a:rPr lang="en-IN" dirty="0"/>
              <a:t>using namespace std;</a:t>
            </a:r>
          </a:p>
          <a:p>
            <a:endParaRPr lang="en-IN" dirty="0"/>
          </a:p>
          <a:p>
            <a:r>
              <a:rPr lang="en-IN" dirty="0"/>
              <a:t>class Student {</a:t>
            </a:r>
          </a:p>
          <a:p>
            <a:r>
              <a:rPr lang="en-IN" dirty="0"/>
              <a:t>public:</a:t>
            </a:r>
          </a:p>
          <a:p>
            <a:r>
              <a:rPr lang="en-IN" dirty="0"/>
              <a:t>    int age;</a:t>
            </a:r>
          </a:p>
          <a:p>
            <a:endParaRPr lang="en-IN" dirty="0"/>
          </a:p>
          <a:p>
            <a:r>
              <a:rPr lang="en-IN" dirty="0"/>
              <a:t>    // Constructor</a:t>
            </a:r>
          </a:p>
          <a:p>
            <a:r>
              <a:rPr lang="en-IN" dirty="0"/>
              <a:t>    Student(int a) {</a:t>
            </a:r>
          </a:p>
          <a:p>
            <a:r>
              <a:rPr lang="en-IN" dirty="0"/>
              <a:t>        age = a;</a:t>
            </a:r>
          </a:p>
          <a:p>
            <a:r>
              <a:rPr lang="en-IN" dirty="0"/>
              <a:t>    }</a:t>
            </a:r>
          </a:p>
          <a:p>
            <a:endParaRPr lang="en-IN" dirty="0"/>
          </a:p>
          <a:p>
            <a:r>
              <a:rPr lang="en-IN" dirty="0"/>
              <a:t>    // Copy Constructor</a:t>
            </a:r>
          </a:p>
          <a:p>
            <a:r>
              <a:rPr lang="en-IN" dirty="0"/>
              <a:t>    Student(</a:t>
            </a:r>
            <a:r>
              <a:rPr lang="en-IN" dirty="0" err="1"/>
              <a:t>const</a:t>
            </a:r>
            <a:r>
              <a:rPr lang="en-IN" dirty="0"/>
              <a:t> Student &amp;s) {</a:t>
            </a:r>
          </a:p>
          <a:p>
            <a:r>
              <a:rPr lang="en-IN" dirty="0"/>
              <a:t>        age = </a:t>
            </a:r>
            <a:r>
              <a:rPr lang="en-IN" dirty="0" err="1"/>
              <a:t>s.age</a:t>
            </a:r>
            <a:r>
              <a:rPr lang="en-IN" dirty="0"/>
              <a:t>;</a:t>
            </a:r>
          </a:p>
          <a:p>
            <a:r>
              <a:rPr lang="en-IN" dirty="0"/>
              <a:t>        </a:t>
            </a:r>
            <a:r>
              <a:rPr lang="en-IN" dirty="0" err="1"/>
              <a:t>cout</a:t>
            </a:r>
            <a:r>
              <a:rPr lang="en-IN" dirty="0"/>
              <a:t> &lt;&lt; "Copy Constructor Called" &lt;&lt; </a:t>
            </a:r>
            <a:r>
              <a:rPr lang="en-IN" dirty="0" err="1"/>
              <a:t>endl</a:t>
            </a:r>
            <a:r>
              <a:rPr lang="en-IN" dirty="0"/>
              <a:t>;</a:t>
            </a:r>
          </a:p>
          <a:p>
            <a:r>
              <a:rPr lang="en-IN" dirty="0"/>
              <a:t>    }</a:t>
            </a:r>
          </a:p>
          <a:p>
            <a:r>
              <a:rPr lang="en-IN" dirty="0"/>
              <a:t>};</a:t>
            </a:r>
          </a:p>
          <a:p>
            <a:endParaRPr lang="en-IN" dirty="0"/>
          </a:p>
          <a:p>
            <a:r>
              <a:rPr lang="en-IN" dirty="0"/>
              <a:t>int main() {</a:t>
            </a:r>
          </a:p>
          <a:p>
            <a:r>
              <a:rPr lang="en-IN" dirty="0"/>
              <a:t>    Student s1(20);     // normal constructor</a:t>
            </a:r>
          </a:p>
          <a:p>
            <a:r>
              <a:rPr lang="en-IN" dirty="0"/>
              <a:t>    Student s2 = s1;    // copy constructor called</a:t>
            </a:r>
          </a:p>
          <a:p>
            <a:endParaRPr lang="en-IN" dirty="0"/>
          </a:p>
          <a:p>
            <a:r>
              <a:rPr lang="en-IN" dirty="0"/>
              <a:t>    </a:t>
            </a:r>
            <a:r>
              <a:rPr lang="en-IN" dirty="0" err="1"/>
              <a:t>cout</a:t>
            </a:r>
            <a:r>
              <a:rPr lang="en-IN" dirty="0"/>
              <a:t> &lt;&lt; s2.age;</a:t>
            </a:r>
          </a:p>
          <a:p>
            <a:r>
              <a:rPr lang="en-IN" dirty="0"/>
              <a:t>}</a:t>
            </a:r>
          </a:p>
        </p:txBody>
      </p:sp>
    </p:spTree>
    <p:extLst>
      <p:ext uri="{BB962C8B-B14F-4D97-AF65-F5344CB8AC3E}">
        <p14:creationId xmlns:p14="http://schemas.microsoft.com/office/powerpoint/2010/main" val="17884205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14EB35-E32F-2104-3ABC-3D810B641E01}"/>
              </a:ext>
            </a:extLst>
          </p:cNvPr>
          <p:cNvSpPr txBox="1"/>
          <p:nvPr/>
        </p:nvSpPr>
        <p:spPr>
          <a:xfrm>
            <a:off x="0" y="155224"/>
            <a:ext cx="12093677" cy="2062103"/>
          </a:xfrm>
          <a:prstGeom prst="rect">
            <a:avLst/>
          </a:prstGeom>
          <a:noFill/>
        </p:spPr>
        <p:txBody>
          <a:bodyPr wrap="square">
            <a:spAutoFit/>
          </a:bodyPr>
          <a:lstStyle/>
          <a:p>
            <a:r>
              <a:rPr lang="en-US" sz="3200" b="1" dirty="0"/>
              <a:t>Destructor in C++</a:t>
            </a:r>
          </a:p>
          <a:p>
            <a:r>
              <a:rPr lang="en-US" sz="2400" dirty="0"/>
              <a:t>A destructor is a special member function of a class that is automatically called when an object is destroyed or goes out of scope. It is used to free resources, such as:</a:t>
            </a:r>
          </a:p>
          <a:p>
            <a:r>
              <a:rPr lang="en-US" sz="2400" dirty="0"/>
              <a:t>releasing dynamically allocated memory closing files closing database connection sprinting clean-up messages</a:t>
            </a:r>
            <a:endParaRPr lang="en-IN" sz="2400" dirty="0"/>
          </a:p>
        </p:txBody>
      </p:sp>
      <p:sp>
        <p:nvSpPr>
          <p:cNvPr id="5" name="TextBox 4">
            <a:extLst>
              <a:ext uri="{FF2B5EF4-FFF2-40B4-BE49-F238E27FC236}">
                <a16:creationId xmlns:a16="http://schemas.microsoft.com/office/drawing/2014/main" id="{982D65F7-6446-8AB9-07E2-485958693BCE}"/>
              </a:ext>
            </a:extLst>
          </p:cNvPr>
          <p:cNvSpPr txBox="1"/>
          <p:nvPr/>
        </p:nvSpPr>
        <p:spPr>
          <a:xfrm>
            <a:off x="68825" y="2322559"/>
            <a:ext cx="5342290" cy="523220"/>
          </a:xfrm>
          <a:prstGeom prst="rect">
            <a:avLst/>
          </a:prstGeom>
          <a:noFill/>
        </p:spPr>
        <p:txBody>
          <a:bodyPr wrap="square">
            <a:spAutoFit/>
          </a:bodyPr>
          <a:lstStyle/>
          <a:p>
            <a:r>
              <a:rPr lang="en-IN" sz="2800" b="1" dirty="0"/>
              <a:t>Syntax of Destructor</a:t>
            </a:r>
          </a:p>
        </p:txBody>
      </p:sp>
      <p:sp>
        <p:nvSpPr>
          <p:cNvPr id="7" name="TextBox 6">
            <a:extLst>
              <a:ext uri="{FF2B5EF4-FFF2-40B4-BE49-F238E27FC236}">
                <a16:creationId xmlns:a16="http://schemas.microsoft.com/office/drawing/2014/main" id="{8636E896-84CF-1503-205A-3904EC4AFC31}"/>
              </a:ext>
            </a:extLst>
          </p:cNvPr>
          <p:cNvSpPr txBox="1"/>
          <p:nvPr/>
        </p:nvSpPr>
        <p:spPr>
          <a:xfrm>
            <a:off x="68825" y="2889456"/>
            <a:ext cx="3578943" cy="1015663"/>
          </a:xfrm>
          <a:prstGeom prst="rect">
            <a:avLst/>
          </a:prstGeom>
          <a:noFill/>
        </p:spPr>
        <p:txBody>
          <a:bodyPr wrap="square">
            <a:spAutoFit/>
          </a:bodyPr>
          <a:lstStyle/>
          <a:p>
            <a:r>
              <a:rPr lang="en-IN" sz="2000" dirty="0"/>
              <a:t>~</a:t>
            </a:r>
            <a:r>
              <a:rPr lang="en-IN" sz="2000" dirty="0" err="1"/>
              <a:t>ClassName</a:t>
            </a:r>
            <a:r>
              <a:rPr lang="en-IN" sz="2000" dirty="0"/>
              <a:t>() {</a:t>
            </a:r>
          </a:p>
          <a:p>
            <a:r>
              <a:rPr lang="en-IN" sz="2000" dirty="0"/>
              <a:t>    // cleanup code</a:t>
            </a:r>
          </a:p>
          <a:p>
            <a:r>
              <a:rPr lang="en-IN" sz="2000" dirty="0"/>
              <a:t>}</a:t>
            </a:r>
          </a:p>
        </p:txBody>
      </p:sp>
      <p:sp>
        <p:nvSpPr>
          <p:cNvPr id="9" name="TextBox 8">
            <a:extLst>
              <a:ext uri="{FF2B5EF4-FFF2-40B4-BE49-F238E27FC236}">
                <a16:creationId xmlns:a16="http://schemas.microsoft.com/office/drawing/2014/main" id="{797FD8DE-4BD4-78D5-849F-DA0BE3B7BE83}"/>
              </a:ext>
            </a:extLst>
          </p:cNvPr>
          <p:cNvSpPr txBox="1"/>
          <p:nvPr/>
        </p:nvSpPr>
        <p:spPr>
          <a:xfrm>
            <a:off x="68825" y="4012222"/>
            <a:ext cx="12024852" cy="2308324"/>
          </a:xfrm>
          <a:prstGeom prst="rect">
            <a:avLst/>
          </a:prstGeom>
          <a:noFill/>
        </p:spPr>
        <p:txBody>
          <a:bodyPr wrap="square">
            <a:spAutoFit/>
          </a:bodyPr>
          <a:lstStyle/>
          <a:p>
            <a:r>
              <a:rPr lang="en-US" sz="2400" b="1" dirty="0"/>
              <a:t>Rules:</a:t>
            </a:r>
          </a:p>
          <a:p>
            <a:r>
              <a:rPr lang="en-US" sz="2400" dirty="0"/>
              <a:t>Destructor name is same as class name, but with a ~ (tilde) prefix.</a:t>
            </a:r>
          </a:p>
          <a:p>
            <a:r>
              <a:rPr lang="en-US" sz="2400" dirty="0"/>
              <a:t>Destructor cannot take arguments.</a:t>
            </a:r>
          </a:p>
          <a:p>
            <a:r>
              <a:rPr lang="en-US" sz="2400" dirty="0"/>
              <a:t>Destructor cannot return any value.</a:t>
            </a:r>
          </a:p>
          <a:p>
            <a:r>
              <a:rPr lang="en-US" sz="2400" dirty="0"/>
              <a:t>Destructor is called automatically you do not call it manually.</a:t>
            </a:r>
          </a:p>
          <a:p>
            <a:r>
              <a:rPr lang="en-US" sz="2400" dirty="0"/>
              <a:t>One class can have only one destructor.</a:t>
            </a:r>
            <a:endParaRPr lang="en-IN" sz="2400" dirty="0"/>
          </a:p>
        </p:txBody>
      </p:sp>
    </p:spTree>
    <p:extLst>
      <p:ext uri="{BB962C8B-B14F-4D97-AF65-F5344CB8AC3E}">
        <p14:creationId xmlns:p14="http://schemas.microsoft.com/office/powerpoint/2010/main" val="7829451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89E285-7266-AD8F-A0B4-5019660F09A2}"/>
              </a:ext>
            </a:extLst>
          </p:cNvPr>
          <p:cNvSpPr txBox="1"/>
          <p:nvPr/>
        </p:nvSpPr>
        <p:spPr>
          <a:xfrm>
            <a:off x="117987" y="168448"/>
            <a:ext cx="11956026" cy="954107"/>
          </a:xfrm>
          <a:prstGeom prst="rect">
            <a:avLst/>
          </a:prstGeom>
          <a:noFill/>
        </p:spPr>
        <p:txBody>
          <a:bodyPr wrap="square">
            <a:spAutoFit/>
          </a:bodyPr>
          <a:lstStyle/>
          <a:p>
            <a:r>
              <a:rPr lang="en-US" sz="2800" b="1" dirty="0"/>
              <a:t>Why do we need a destructor?</a:t>
            </a:r>
          </a:p>
          <a:p>
            <a:r>
              <a:rPr lang="en-US" sz="2800" dirty="0"/>
              <a:t>If you allocate memory or use a resource inside a class, destructor cleans it.</a:t>
            </a:r>
            <a:endParaRPr lang="en-IN" sz="2800" dirty="0"/>
          </a:p>
        </p:txBody>
      </p:sp>
      <p:sp>
        <p:nvSpPr>
          <p:cNvPr id="5" name="TextBox 4">
            <a:extLst>
              <a:ext uri="{FF2B5EF4-FFF2-40B4-BE49-F238E27FC236}">
                <a16:creationId xmlns:a16="http://schemas.microsoft.com/office/drawing/2014/main" id="{DA7871EC-6C0A-87C1-3596-D39CDABFC2DB}"/>
              </a:ext>
            </a:extLst>
          </p:cNvPr>
          <p:cNvSpPr txBox="1"/>
          <p:nvPr/>
        </p:nvSpPr>
        <p:spPr>
          <a:xfrm>
            <a:off x="117987" y="1288477"/>
            <a:ext cx="11956026" cy="1384995"/>
          </a:xfrm>
          <a:prstGeom prst="rect">
            <a:avLst/>
          </a:prstGeom>
          <a:noFill/>
        </p:spPr>
        <p:txBody>
          <a:bodyPr wrap="square">
            <a:spAutoFit/>
          </a:bodyPr>
          <a:lstStyle/>
          <a:p>
            <a:r>
              <a:rPr lang="en-US" sz="2800" b="1" dirty="0"/>
              <a:t>Destructor Calling Order</a:t>
            </a:r>
          </a:p>
          <a:p>
            <a:r>
              <a:rPr lang="en-US" sz="2800" dirty="0"/>
              <a:t>If you have multiple objects, destructors are called in reverse order of their creation (LIFO order).</a:t>
            </a:r>
            <a:endParaRPr lang="en-IN" sz="2800" dirty="0"/>
          </a:p>
        </p:txBody>
      </p:sp>
      <p:sp>
        <p:nvSpPr>
          <p:cNvPr id="7" name="TextBox 6">
            <a:extLst>
              <a:ext uri="{FF2B5EF4-FFF2-40B4-BE49-F238E27FC236}">
                <a16:creationId xmlns:a16="http://schemas.microsoft.com/office/drawing/2014/main" id="{B8B25980-132E-D281-C1F7-38BE0E821252}"/>
              </a:ext>
            </a:extLst>
          </p:cNvPr>
          <p:cNvSpPr txBox="1"/>
          <p:nvPr/>
        </p:nvSpPr>
        <p:spPr>
          <a:xfrm>
            <a:off x="117987" y="2938601"/>
            <a:ext cx="2989007" cy="1938992"/>
          </a:xfrm>
          <a:prstGeom prst="rect">
            <a:avLst/>
          </a:prstGeom>
          <a:noFill/>
        </p:spPr>
        <p:txBody>
          <a:bodyPr wrap="square">
            <a:spAutoFit/>
          </a:bodyPr>
          <a:lstStyle/>
          <a:p>
            <a:r>
              <a:rPr lang="en-IN" sz="2400" dirty="0"/>
              <a:t>int main() {</a:t>
            </a:r>
          </a:p>
          <a:p>
            <a:r>
              <a:rPr lang="en-IN" sz="2400" dirty="0"/>
              <a:t>    Demo a;  </a:t>
            </a:r>
          </a:p>
          <a:p>
            <a:r>
              <a:rPr lang="en-IN" sz="2400" dirty="0"/>
              <a:t>    Demo b;</a:t>
            </a:r>
          </a:p>
          <a:p>
            <a:r>
              <a:rPr lang="en-IN" sz="2400" dirty="0"/>
              <a:t>    Demo c;</a:t>
            </a:r>
          </a:p>
          <a:p>
            <a:r>
              <a:rPr lang="en-IN" sz="2400" dirty="0"/>
              <a:t>}</a:t>
            </a:r>
          </a:p>
        </p:txBody>
      </p:sp>
      <p:sp>
        <p:nvSpPr>
          <p:cNvPr id="9" name="TextBox 8">
            <a:extLst>
              <a:ext uri="{FF2B5EF4-FFF2-40B4-BE49-F238E27FC236}">
                <a16:creationId xmlns:a16="http://schemas.microsoft.com/office/drawing/2014/main" id="{350359D6-939D-994D-B5FE-EEEC871CBA22}"/>
              </a:ext>
            </a:extLst>
          </p:cNvPr>
          <p:cNvSpPr txBox="1"/>
          <p:nvPr/>
        </p:nvSpPr>
        <p:spPr>
          <a:xfrm>
            <a:off x="117986" y="4958056"/>
            <a:ext cx="3628103" cy="461665"/>
          </a:xfrm>
          <a:prstGeom prst="rect">
            <a:avLst/>
          </a:prstGeom>
          <a:noFill/>
        </p:spPr>
        <p:txBody>
          <a:bodyPr wrap="square">
            <a:spAutoFit/>
          </a:bodyPr>
          <a:lstStyle/>
          <a:p>
            <a:r>
              <a:rPr lang="en-IN" sz="2400" dirty="0"/>
              <a:t>Destructor order:</a:t>
            </a:r>
          </a:p>
        </p:txBody>
      </p:sp>
      <p:sp>
        <p:nvSpPr>
          <p:cNvPr id="11" name="TextBox 10">
            <a:extLst>
              <a:ext uri="{FF2B5EF4-FFF2-40B4-BE49-F238E27FC236}">
                <a16:creationId xmlns:a16="http://schemas.microsoft.com/office/drawing/2014/main" id="{04BFA8E0-FB6A-E3BB-5EA4-B85D541F93BF}"/>
              </a:ext>
            </a:extLst>
          </p:cNvPr>
          <p:cNvSpPr txBox="1"/>
          <p:nvPr/>
        </p:nvSpPr>
        <p:spPr>
          <a:xfrm>
            <a:off x="117985" y="5585643"/>
            <a:ext cx="4100053" cy="1200329"/>
          </a:xfrm>
          <a:prstGeom prst="rect">
            <a:avLst/>
          </a:prstGeom>
          <a:noFill/>
        </p:spPr>
        <p:txBody>
          <a:bodyPr wrap="square">
            <a:spAutoFit/>
          </a:bodyPr>
          <a:lstStyle/>
          <a:p>
            <a:r>
              <a:rPr lang="en-US" sz="2400" dirty="0"/>
              <a:t>Destructor of c</a:t>
            </a:r>
          </a:p>
          <a:p>
            <a:r>
              <a:rPr lang="en-US" sz="2400" dirty="0"/>
              <a:t>Destructor of b</a:t>
            </a:r>
          </a:p>
          <a:p>
            <a:r>
              <a:rPr lang="en-US" sz="2400" dirty="0"/>
              <a:t>Destructor of a</a:t>
            </a:r>
          </a:p>
        </p:txBody>
      </p:sp>
    </p:spTree>
    <p:extLst>
      <p:ext uri="{BB962C8B-B14F-4D97-AF65-F5344CB8AC3E}">
        <p14:creationId xmlns:p14="http://schemas.microsoft.com/office/powerpoint/2010/main" val="21204751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824BD8-AA7A-CC61-AC4D-0DE9DD444E15}"/>
              </a:ext>
            </a:extLst>
          </p:cNvPr>
          <p:cNvSpPr txBox="1"/>
          <p:nvPr/>
        </p:nvSpPr>
        <p:spPr>
          <a:xfrm>
            <a:off x="122903" y="677229"/>
            <a:ext cx="11946193" cy="6001643"/>
          </a:xfrm>
          <a:prstGeom prst="rect">
            <a:avLst/>
          </a:prstGeom>
          <a:noFill/>
        </p:spPr>
        <p:txBody>
          <a:bodyPr wrap="square">
            <a:spAutoFit/>
          </a:bodyPr>
          <a:lstStyle/>
          <a:p>
            <a:pPr>
              <a:buNone/>
            </a:pPr>
            <a:r>
              <a:rPr lang="en-US" sz="2400" b="1" dirty="0"/>
              <a:t>1. Local Objects (Automatic Objects)</a:t>
            </a:r>
          </a:p>
          <a:p>
            <a:pPr>
              <a:buNone/>
            </a:pPr>
            <a:r>
              <a:rPr lang="en-US" sz="2400" b="1" dirty="0"/>
              <a:t>✔ Definition</a:t>
            </a:r>
          </a:p>
          <a:p>
            <a:pPr>
              <a:buNone/>
            </a:pPr>
            <a:r>
              <a:rPr lang="en-US" sz="2400" dirty="0"/>
              <a:t>Objects that are created </a:t>
            </a:r>
            <a:r>
              <a:rPr lang="en-US" sz="2400" b="1" dirty="0"/>
              <a:t>inside a function or block</a:t>
            </a:r>
            <a:r>
              <a:rPr lang="en-US" sz="2400" dirty="0"/>
              <a:t>.</a:t>
            </a:r>
          </a:p>
          <a:p>
            <a:pPr>
              <a:buFont typeface="Arial" panose="020B0604020202020204" pitchFamily="34" charset="0"/>
              <a:buChar char="•"/>
            </a:pPr>
            <a:r>
              <a:rPr lang="en-US" sz="2400" dirty="0"/>
              <a:t>Their lifetime ends when the function/block ends</a:t>
            </a:r>
          </a:p>
          <a:p>
            <a:pPr>
              <a:buFont typeface="Arial" panose="020B0604020202020204" pitchFamily="34" charset="0"/>
              <a:buChar char="•"/>
            </a:pPr>
            <a:r>
              <a:rPr lang="en-US" sz="2400" dirty="0"/>
              <a:t>Memory is allocated on the </a:t>
            </a:r>
            <a:r>
              <a:rPr lang="en-US" sz="2400" b="1" dirty="0"/>
              <a:t>stack</a:t>
            </a:r>
          </a:p>
          <a:p>
            <a:endParaRPr lang="en-US" sz="2400" b="1" dirty="0"/>
          </a:p>
          <a:p>
            <a:r>
              <a:rPr lang="en-US" sz="2400" b="1" dirty="0"/>
              <a:t>void test() {</a:t>
            </a:r>
          </a:p>
          <a:p>
            <a:r>
              <a:rPr lang="en-US" sz="2400" b="1" dirty="0"/>
              <a:t>    Student s1;   // local object</a:t>
            </a:r>
          </a:p>
          <a:p>
            <a:r>
              <a:rPr lang="en-US" sz="2400" b="1" dirty="0"/>
              <a:t>}</a:t>
            </a:r>
          </a:p>
          <a:p>
            <a:endParaRPr lang="en-US" sz="2400" dirty="0"/>
          </a:p>
          <a:p>
            <a:r>
              <a:rPr lang="en-US" sz="2400" dirty="0"/>
              <a:t>When test() finishes, s1 is destroyed automatically.</a:t>
            </a:r>
          </a:p>
          <a:p>
            <a:r>
              <a:rPr lang="en-US" sz="2400" b="1" dirty="0"/>
              <a:t>✔ Key Points</a:t>
            </a:r>
          </a:p>
          <a:p>
            <a:r>
              <a:rPr lang="en-US" sz="2400" dirty="0"/>
              <a:t>Scope: inside the function/block</a:t>
            </a:r>
          </a:p>
          <a:p>
            <a:r>
              <a:rPr lang="en-US" sz="2400" dirty="0"/>
              <a:t>Lifetime: short</a:t>
            </a:r>
          </a:p>
          <a:p>
            <a:r>
              <a:rPr lang="en-US" sz="2400" dirty="0"/>
              <a:t>Memory: stack</a:t>
            </a:r>
          </a:p>
          <a:p>
            <a:r>
              <a:rPr lang="en-US" sz="2400" dirty="0"/>
              <a:t>Destroyed automatically</a:t>
            </a:r>
          </a:p>
        </p:txBody>
      </p:sp>
      <p:sp>
        <p:nvSpPr>
          <p:cNvPr id="5" name="TextBox 4">
            <a:extLst>
              <a:ext uri="{FF2B5EF4-FFF2-40B4-BE49-F238E27FC236}">
                <a16:creationId xmlns:a16="http://schemas.microsoft.com/office/drawing/2014/main" id="{B54C2EE0-200F-8EF3-7CB8-38C2E86002C9}"/>
              </a:ext>
            </a:extLst>
          </p:cNvPr>
          <p:cNvSpPr txBox="1"/>
          <p:nvPr/>
        </p:nvSpPr>
        <p:spPr>
          <a:xfrm>
            <a:off x="412955" y="179128"/>
            <a:ext cx="6096000" cy="523220"/>
          </a:xfrm>
          <a:prstGeom prst="rect">
            <a:avLst/>
          </a:prstGeom>
          <a:noFill/>
        </p:spPr>
        <p:txBody>
          <a:bodyPr wrap="square">
            <a:spAutoFit/>
          </a:bodyPr>
          <a:lstStyle/>
          <a:p>
            <a:r>
              <a:rPr lang="en-IN" sz="2800" b="1" dirty="0"/>
              <a:t>Object types</a:t>
            </a:r>
          </a:p>
        </p:txBody>
      </p:sp>
    </p:spTree>
    <p:extLst>
      <p:ext uri="{BB962C8B-B14F-4D97-AF65-F5344CB8AC3E}">
        <p14:creationId xmlns:p14="http://schemas.microsoft.com/office/powerpoint/2010/main" val="4777291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78757F-4A23-253F-3A5C-EC5E158EBC30}"/>
              </a:ext>
            </a:extLst>
          </p:cNvPr>
          <p:cNvSpPr txBox="1"/>
          <p:nvPr/>
        </p:nvSpPr>
        <p:spPr>
          <a:xfrm>
            <a:off x="147484" y="157316"/>
            <a:ext cx="11906864" cy="6370975"/>
          </a:xfrm>
          <a:prstGeom prst="rect">
            <a:avLst/>
          </a:prstGeom>
          <a:noFill/>
        </p:spPr>
        <p:txBody>
          <a:bodyPr wrap="square">
            <a:spAutoFit/>
          </a:bodyPr>
          <a:lstStyle/>
          <a:p>
            <a:pPr>
              <a:buNone/>
            </a:pPr>
            <a:r>
              <a:rPr lang="en-US" sz="2400" b="1" dirty="0"/>
              <a:t>2. Global Objects</a:t>
            </a:r>
          </a:p>
          <a:p>
            <a:pPr>
              <a:buNone/>
            </a:pPr>
            <a:r>
              <a:rPr lang="en-US" sz="2400" b="1" dirty="0"/>
              <a:t>✔ Definition</a:t>
            </a:r>
          </a:p>
          <a:p>
            <a:pPr>
              <a:buNone/>
            </a:pPr>
            <a:r>
              <a:rPr lang="en-US" sz="2400" dirty="0"/>
              <a:t>Objects created </a:t>
            </a:r>
            <a:r>
              <a:rPr lang="en-US" sz="2400" b="1" dirty="0"/>
              <a:t>outside all functions</a:t>
            </a:r>
            <a:r>
              <a:rPr lang="en-US" sz="2400" dirty="0"/>
              <a:t>, usually at the top of the program.</a:t>
            </a:r>
          </a:p>
          <a:p>
            <a:pPr>
              <a:buFont typeface="Arial" panose="020B0604020202020204" pitchFamily="34" charset="0"/>
              <a:buChar char="•"/>
            </a:pPr>
            <a:r>
              <a:rPr lang="en-US" sz="2400" dirty="0"/>
              <a:t>Accessible in </a:t>
            </a:r>
            <a:r>
              <a:rPr lang="en-US" sz="2400" b="1" dirty="0"/>
              <a:t>any function</a:t>
            </a:r>
            <a:endParaRPr lang="en-US" sz="2400" dirty="0"/>
          </a:p>
          <a:p>
            <a:pPr>
              <a:buFont typeface="Arial" panose="020B0604020202020204" pitchFamily="34" charset="0"/>
              <a:buChar char="•"/>
            </a:pPr>
            <a:r>
              <a:rPr lang="en-US" sz="2400" dirty="0"/>
              <a:t>Lifetime = entire program runtime</a:t>
            </a:r>
          </a:p>
          <a:p>
            <a:pPr>
              <a:buFont typeface="Arial" panose="020B0604020202020204" pitchFamily="34" charset="0"/>
              <a:buChar char="•"/>
            </a:pPr>
            <a:r>
              <a:rPr lang="en-US" sz="2400" dirty="0"/>
              <a:t>Memory allocated </a:t>
            </a:r>
            <a:r>
              <a:rPr lang="en-US" sz="2400" b="1" dirty="0"/>
              <a:t>before main() starts</a:t>
            </a:r>
          </a:p>
          <a:p>
            <a:endParaRPr lang="en-US" sz="2400" b="1" dirty="0"/>
          </a:p>
          <a:p>
            <a:r>
              <a:rPr lang="en-US" sz="2400" b="1" dirty="0"/>
              <a:t>Student s2;  // global object</a:t>
            </a:r>
          </a:p>
          <a:p>
            <a:endParaRPr lang="en-US" sz="2400" b="1" dirty="0"/>
          </a:p>
          <a:p>
            <a:r>
              <a:rPr lang="en-US" sz="2400" b="1" dirty="0"/>
              <a:t>int main() {</a:t>
            </a:r>
          </a:p>
          <a:p>
            <a:r>
              <a:rPr lang="en-US" sz="2400" b="1" dirty="0"/>
              <a:t>    s2.display();</a:t>
            </a:r>
          </a:p>
          <a:p>
            <a:r>
              <a:rPr lang="en-US" sz="2400" b="1" dirty="0"/>
              <a:t>}</a:t>
            </a:r>
          </a:p>
          <a:p>
            <a:endParaRPr lang="en-US" sz="2400" dirty="0"/>
          </a:p>
          <a:p>
            <a:r>
              <a:rPr lang="en-US" sz="2400" b="1" dirty="0"/>
              <a:t>Key Points</a:t>
            </a:r>
          </a:p>
          <a:p>
            <a:r>
              <a:rPr lang="en-US" sz="2400" dirty="0"/>
              <a:t>Scope: whole program</a:t>
            </a:r>
          </a:p>
          <a:p>
            <a:r>
              <a:rPr lang="en-US" sz="2400" dirty="0"/>
              <a:t>Lifetime: from start to end of program</a:t>
            </a:r>
          </a:p>
          <a:p>
            <a:r>
              <a:rPr lang="en-US" sz="2400" dirty="0"/>
              <a:t>Memory: global/static area</a:t>
            </a:r>
          </a:p>
        </p:txBody>
      </p:sp>
    </p:spTree>
    <p:extLst>
      <p:ext uri="{BB962C8B-B14F-4D97-AF65-F5344CB8AC3E}">
        <p14:creationId xmlns:p14="http://schemas.microsoft.com/office/powerpoint/2010/main" val="21291824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C5FC69-6734-E618-296F-108DD633F538}"/>
              </a:ext>
            </a:extLst>
          </p:cNvPr>
          <p:cNvSpPr txBox="1"/>
          <p:nvPr/>
        </p:nvSpPr>
        <p:spPr>
          <a:xfrm>
            <a:off x="98323" y="154377"/>
            <a:ext cx="11887200" cy="6370975"/>
          </a:xfrm>
          <a:prstGeom prst="rect">
            <a:avLst/>
          </a:prstGeom>
          <a:noFill/>
        </p:spPr>
        <p:txBody>
          <a:bodyPr wrap="square">
            <a:spAutoFit/>
          </a:bodyPr>
          <a:lstStyle/>
          <a:p>
            <a:pPr>
              <a:buNone/>
            </a:pPr>
            <a:r>
              <a:rPr lang="en-US" sz="2400" b="1" dirty="0"/>
              <a:t>3. Static Objects</a:t>
            </a:r>
          </a:p>
          <a:p>
            <a:pPr>
              <a:buNone/>
            </a:pPr>
            <a:r>
              <a:rPr lang="en-US" sz="2400" b="1" dirty="0"/>
              <a:t>✔ Definition</a:t>
            </a:r>
          </a:p>
          <a:p>
            <a:pPr>
              <a:buNone/>
            </a:pPr>
            <a:r>
              <a:rPr lang="en-US" sz="2400" dirty="0"/>
              <a:t>Objects created using the </a:t>
            </a:r>
            <a:r>
              <a:rPr lang="en-US" sz="2400" dirty="0">
                <a:latin typeface="Courier New" panose="02070309020205020404" pitchFamily="49" charset="0"/>
              </a:rPr>
              <a:t>static</a:t>
            </a:r>
            <a:r>
              <a:rPr lang="en-US" sz="2400" dirty="0"/>
              <a:t> keyword (inside a function or class).</a:t>
            </a:r>
          </a:p>
          <a:p>
            <a:pPr>
              <a:buFont typeface="Arial" panose="020B0604020202020204" pitchFamily="34" charset="0"/>
              <a:buChar char="•"/>
            </a:pPr>
            <a:r>
              <a:rPr lang="en-US" sz="2400" dirty="0"/>
              <a:t>Created only </a:t>
            </a:r>
            <a:r>
              <a:rPr lang="en-US" sz="2400" b="1" dirty="0"/>
              <a:t>once</a:t>
            </a:r>
            <a:endParaRPr lang="en-US" sz="2400" dirty="0"/>
          </a:p>
          <a:p>
            <a:pPr>
              <a:buFont typeface="Arial" panose="020B0604020202020204" pitchFamily="34" charset="0"/>
              <a:buChar char="•"/>
            </a:pPr>
            <a:r>
              <a:rPr lang="en-US" sz="2400" dirty="0"/>
              <a:t>Retains value between function calls</a:t>
            </a:r>
          </a:p>
          <a:p>
            <a:pPr>
              <a:buFont typeface="Arial" panose="020B0604020202020204" pitchFamily="34" charset="0"/>
              <a:buChar char="•"/>
            </a:pPr>
            <a:r>
              <a:rPr lang="en-US" sz="2400" dirty="0"/>
              <a:t>Destroyed </a:t>
            </a:r>
            <a:r>
              <a:rPr lang="en-US" sz="2400" b="1" dirty="0"/>
              <a:t>after main() ends</a:t>
            </a:r>
          </a:p>
          <a:p>
            <a:pPr>
              <a:buFont typeface="Arial" panose="020B0604020202020204" pitchFamily="34" charset="0"/>
              <a:buChar char="•"/>
            </a:pPr>
            <a:endParaRPr lang="en-US" sz="2400" b="1" dirty="0"/>
          </a:p>
          <a:p>
            <a:r>
              <a:rPr lang="en-US" sz="2400" b="1" dirty="0"/>
              <a:t>void fun() {</a:t>
            </a:r>
          </a:p>
          <a:p>
            <a:r>
              <a:rPr lang="en-US" sz="2400" b="1" dirty="0"/>
              <a:t>    static Student s3;   // static object</a:t>
            </a:r>
          </a:p>
          <a:p>
            <a:r>
              <a:rPr lang="en-US" sz="2400" b="1" dirty="0"/>
              <a:t>    // s3 persists after function ends</a:t>
            </a:r>
          </a:p>
          <a:p>
            <a:r>
              <a:rPr lang="en-US" sz="2400" b="1" dirty="0"/>
              <a:t>}</a:t>
            </a:r>
          </a:p>
          <a:p>
            <a:endParaRPr lang="en-US" sz="2400" b="1" dirty="0"/>
          </a:p>
          <a:p>
            <a:r>
              <a:rPr lang="en-US" sz="2400" b="1" dirty="0"/>
              <a:t>Key Points</a:t>
            </a:r>
          </a:p>
          <a:p>
            <a:r>
              <a:rPr lang="en-US" sz="2400" dirty="0"/>
              <a:t>Scope: depends on where declared</a:t>
            </a:r>
          </a:p>
          <a:p>
            <a:r>
              <a:rPr lang="en-US" sz="2400" dirty="0"/>
              <a:t>Lifetime: full program duration (like global)</a:t>
            </a:r>
          </a:p>
          <a:p>
            <a:r>
              <a:rPr lang="en-US" sz="2400" dirty="0"/>
              <a:t>Memory: static storage area</a:t>
            </a:r>
          </a:p>
          <a:p>
            <a:r>
              <a:rPr lang="en-US" sz="2400" dirty="0"/>
              <a:t>Created once, reused every time</a:t>
            </a:r>
          </a:p>
        </p:txBody>
      </p:sp>
    </p:spTree>
    <p:extLst>
      <p:ext uri="{BB962C8B-B14F-4D97-AF65-F5344CB8AC3E}">
        <p14:creationId xmlns:p14="http://schemas.microsoft.com/office/powerpoint/2010/main" val="35560806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EACC4C-6C7F-A206-760A-22CE5BD59A53}"/>
              </a:ext>
            </a:extLst>
          </p:cNvPr>
          <p:cNvSpPr txBox="1"/>
          <p:nvPr/>
        </p:nvSpPr>
        <p:spPr>
          <a:xfrm>
            <a:off x="68826" y="125728"/>
            <a:ext cx="11906864" cy="6001643"/>
          </a:xfrm>
          <a:prstGeom prst="rect">
            <a:avLst/>
          </a:prstGeom>
          <a:noFill/>
        </p:spPr>
        <p:txBody>
          <a:bodyPr wrap="square">
            <a:spAutoFit/>
          </a:bodyPr>
          <a:lstStyle/>
          <a:p>
            <a:pPr>
              <a:buNone/>
            </a:pPr>
            <a:r>
              <a:rPr lang="en-US" sz="2400" b="1" dirty="0"/>
              <a:t>4. Dynamic Objects (Heap Objects)</a:t>
            </a:r>
          </a:p>
          <a:p>
            <a:pPr>
              <a:buNone/>
            </a:pPr>
            <a:r>
              <a:rPr lang="en-US" sz="2400" b="1" dirty="0"/>
              <a:t>✔ Definition</a:t>
            </a:r>
          </a:p>
          <a:p>
            <a:pPr>
              <a:buNone/>
            </a:pPr>
            <a:r>
              <a:rPr lang="en-US" sz="2400" dirty="0"/>
              <a:t>Objects created </a:t>
            </a:r>
            <a:r>
              <a:rPr lang="en-US" sz="2400" b="1" dirty="0"/>
              <a:t>at runtime</a:t>
            </a:r>
            <a:r>
              <a:rPr lang="en-US" sz="2400" dirty="0"/>
              <a:t> using the </a:t>
            </a:r>
            <a:r>
              <a:rPr lang="en-US" sz="2400" dirty="0">
                <a:latin typeface="Courier New" panose="02070309020205020404" pitchFamily="49" charset="0"/>
              </a:rPr>
              <a:t>new</a:t>
            </a:r>
            <a:r>
              <a:rPr lang="en-US" sz="2400" dirty="0"/>
              <a:t> keyword.</a:t>
            </a:r>
          </a:p>
          <a:p>
            <a:pPr>
              <a:buFont typeface="Arial" panose="020B0604020202020204" pitchFamily="34" charset="0"/>
              <a:buChar char="•"/>
            </a:pPr>
            <a:r>
              <a:rPr lang="en-US" sz="2400" dirty="0"/>
              <a:t>Stored on the </a:t>
            </a:r>
            <a:r>
              <a:rPr lang="en-US" sz="2400" b="1" dirty="0"/>
              <a:t>heap</a:t>
            </a:r>
            <a:endParaRPr lang="en-US" sz="2400" dirty="0"/>
          </a:p>
          <a:p>
            <a:pPr>
              <a:buFont typeface="Arial" panose="020B0604020202020204" pitchFamily="34" charset="0"/>
              <a:buChar char="•"/>
            </a:pPr>
            <a:r>
              <a:rPr lang="en-US" sz="2400" dirty="0"/>
              <a:t>Must be deleted manually using </a:t>
            </a:r>
            <a:r>
              <a:rPr lang="en-US" sz="2400" dirty="0">
                <a:latin typeface="Courier New" panose="02070309020205020404" pitchFamily="49" charset="0"/>
              </a:rPr>
              <a:t>delete</a:t>
            </a:r>
            <a:br>
              <a:rPr lang="en-US" sz="2400" dirty="0"/>
            </a:br>
            <a:r>
              <a:rPr lang="en-US" sz="2400" dirty="0"/>
              <a:t>(C++ has no garbage collection)</a:t>
            </a:r>
          </a:p>
          <a:p>
            <a:endParaRPr lang="en-US" sz="2400" dirty="0"/>
          </a:p>
          <a:p>
            <a:r>
              <a:rPr lang="en-US" sz="2400" dirty="0"/>
              <a:t>Student *s4 = new Student();  // dynamic object</a:t>
            </a:r>
          </a:p>
          <a:p>
            <a:endParaRPr lang="en-US" sz="2400" dirty="0"/>
          </a:p>
          <a:p>
            <a:r>
              <a:rPr lang="en-US" sz="2400" dirty="0"/>
              <a:t>delete s4;   // MUST be deleted manually</a:t>
            </a:r>
          </a:p>
          <a:p>
            <a:endParaRPr lang="en-US" sz="2400" dirty="0"/>
          </a:p>
          <a:p>
            <a:r>
              <a:rPr lang="en-US" sz="2400" b="1" dirty="0"/>
              <a:t>Key Points</a:t>
            </a:r>
          </a:p>
          <a:p>
            <a:r>
              <a:rPr lang="en-US" sz="2400" dirty="0"/>
              <a:t>Scope: pointer decides</a:t>
            </a:r>
          </a:p>
          <a:p>
            <a:r>
              <a:rPr lang="en-US" sz="2400" dirty="0"/>
              <a:t>Lifetime: until delete is called</a:t>
            </a:r>
          </a:p>
          <a:p>
            <a:r>
              <a:rPr lang="en-US" sz="2400" dirty="0"/>
              <a:t>Memory: heap</a:t>
            </a:r>
          </a:p>
          <a:p>
            <a:r>
              <a:rPr lang="en-US" sz="2400" dirty="0"/>
              <a:t>Programmer-controlled</a:t>
            </a:r>
          </a:p>
        </p:txBody>
      </p:sp>
    </p:spTree>
    <p:extLst>
      <p:ext uri="{BB962C8B-B14F-4D97-AF65-F5344CB8AC3E}">
        <p14:creationId xmlns:p14="http://schemas.microsoft.com/office/powerpoint/2010/main" val="8395573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C7A080-8170-7604-FE80-E705CA1A65E4}"/>
              </a:ext>
            </a:extLst>
          </p:cNvPr>
          <p:cNvSpPr txBox="1"/>
          <p:nvPr/>
        </p:nvSpPr>
        <p:spPr>
          <a:xfrm>
            <a:off x="0" y="114199"/>
            <a:ext cx="11877368" cy="3046988"/>
          </a:xfrm>
          <a:prstGeom prst="rect">
            <a:avLst/>
          </a:prstGeom>
          <a:noFill/>
        </p:spPr>
        <p:txBody>
          <a:bodyPr wrap="square">
            <a:spAutoFit/>
          </a:bodyPr>
          <a:lstStyle/>
          <a:p>
            <a:r>
              <a:rPr lang="en-US" sz="2400" b="1" dirty="0"/>
              <a:t>What is Garbage Collection?</a:t>
            </a:r>
          </a:p>
          <a:p>
            <a:r>
              <a:rPr lang="en-US" sz="2400" dirty="0"/>
              <a:t>In C++, garbage collection means freeing up memory that was dynamically allocated (using new or malloc) but is no longer needed.</a:t>
            </a:r>
          </a:p>
          <a:p>
            <a:r>
              <a:rPr lang="en-US" sz="2400" dirty="0"/>
              <a:t>However, unlike Java or Python, C++ does not have automatic garbage collection.</a:t>
            </a:r>
          </a:p>
          <a:p>
            <a:r>
              <a:rPr lang="en-US" sz="2400" dirty="0"/>
              <a:t>You must manually deallocate memory using the delete (for new) or free (for malloc) operators.</a:t>
            </a:r>
          </a:p>
          <a:p>
            <a:r>
              <a:rPr lang="en-US" sz="2400" dirty="0"/>
              <a:t>If you forget to do so, it causes memory leaks — memory that remains reserved but unused.</a:t>
            </a:r>
            <a:endParaRPr lang="en-IN" sz="2400" dirty="0"/>
          </a:p>
        </p:txBody>
      </p:sp>
      <p:sp>
        <p:nvSpPr>
          <p:cNvPr id="5" name="TextBox 4">
            <a:extLst>
              <a:ext uri="{FF2B5EF4-FFF2-40B4-BE49-F238E27FC236}">
                <a16:creationId xmlns:a16="http://schemas.microsoft.com/office/drawing/2014/main" id="{52F6F73E-EC5F-7025-31E6-1AE2FB4DF030}"/>
              </a:ext>
            </a:extLst>
          </p:cNvPr>
          <p:cNvSpPr txBox="1"/>
          <p:nvPr/>
        </p:nvSpPr>
        <p:spPr>
          <a:xfrm>
            <a:off x="0" y="3682182"/>
            <a:ext cx="11503742" cy="584775"/>
          </a:xfrm>
          <a:prstGeom prst="rect">
            <a:avLst/>
          </a:prstGeom>
          <a:noFill/>
        </p:spPr>
        <p:txBody>
          <a:bodyPr wrap="square">
            <a:spAutoFit/>
          </a:bodyPr>
          <a:lstStyle/>
          <a:p>
            <a:r>
              <a:rPr lang="en-US" sz="3200" b="1" dirty="0"/>
              <a:t>Example Without Garbage Collection (Memory Leak)</a:t>
            </a:r>
            <a:endParaRPr lang="en-IN" sz="3200" b="1" dirty="0"/>
          </a:p>
        </p:txBody>
      </p:sp>
    </p:spTree>
    <p:extLst>
      <p:ext uri="{BB962C8B-B14F-4D97-AF65-F5344CB8AC3E}">
        <p14:creationId xmlns:p14="http://schemas.microsoft.com/office/powerpoint/2010/main" val="6381790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E883BE-D7E3-4D93-6265-05B2B8D5D75B}"/>
              </a:ext>
            </a:extLst>
          </p:cNvPr>
          <p:cNvSpPr txBox="1"/>
          <p:nvPr/>
        </p:nvSpPr>
        <p:spPr>
          <a:xfrm>
            <a:off x="78658" y="118944"/>
            <a:ext cx="11956026" cy="4093428"/>
          </a:xfrm>
          <a:prstGeom prst="rect">
            <a:avLst/>
          </a:prstGeom>
          <a:noFill/>
        </p:spPr>
        <p:txBody>
          <a:bodyPr wrap="square">
            <a:spAutoFit/>
          </a:bodyPr>
          <a:lstStyle/>
          <a:p>
            <a:r>
              <a:rPr lang="en-US" sz="2000" dirty="0"/>
              <a:t>#include &lt;iostream&gt;</a:t>
            </a:r>
          </a:p>
          <a:p>
            <a:r>
              <a:rPr lang="en-US" sz="2000" dirty="0"/>
              <a:t>using namespace std;</a:t>
            </a:r>
          </a:p>
          <a:p>
            <a:endParaRPr lang="en-US" sz="2000" dirty="0"/>
          </a:p>
          <a:p>
            <a:r>
              <a:rPr lang="en-US" sz="2000" dirty="0"/>
              <a:t>int main() {</a:t>
            </a:r>
          </a:p>
          <a:p>
            <a:r>
              <a:rPr lang="en-US" sz="2000" dirty="0"/>
              <a:t>    int* </a:t>
            </a:r>
            <a:r>
              <a:rPr lang="en-US" sz="2000" dirty="0" err="1"/>
              <a:t>ptr</a:t>
            </a:r>
            <a:r>
              <a:rPr lang="en-US" sz="2000" dirty="0"/>
              <a:t> = new int(10);   // dynamically allocate memory</a:t>
            </a:r>
          </a:p>
          <a:p>
            <a:r>
              <a:rPr lang="en-US" sz="2000" dirty="0"/>
              <a:t>    </a:t>
            </a:r>
            <a:r>
              <a:rPr lang="en-US" sz="2000" dirty="0" err="1"/>
              <a:t>cout</a:t>
            </a:r>
            <a:r>
              <a:rPr lang="en-US" sz="2000" dirty="0"/>
              <a:t> &lt;&lt; "Value: " &lt;&lt; *</a:t>
            </a:r>
            <a:r>
              <a:rPr lang="en-US" sz="2000" dirty="0" err="1"/>
              <a:t>ptr</a:t>
            </a:r>
            <a:r>
              <a:rPr lang="en-US" sz="2000" dirty="0"/>
              <a:t> &lt;&lt; </a:t>
            </a:r>
            <a:r>
              <a:rPr lang="en-US" sz="2000" dirty="0" err="1"/>
              <a:t>endl</a:t>
            </a:r>
            <a:r>
              <a:rPr lang="en-US" sz="2000" dirty="0"/>
              <a:t>;</a:t>
            </a:r>
          </a:p>
          <a:p>
            <a:endParaRPr lang="en-US" sz="2000" dirty="0"/>
          </a:p>
          <a:p>
            <a:r>
              <a:rPr lang="en-US" sz="2000" dirty="0"/>
              <a:t>    // Forgot to delete memory</a:t>
            </a:r>
          </a:p>
          <a:p>
            <a:r>
              <a:rPr lang="en-US" sz="2000" dirty="0"/>
              <a:t>    // Memory leak occurs here because '</a:t>
            </a:r>
            <a:r>
              <a:rPr lang="en-US" sz="2000" dirty="0" err="1"/>
              <a:t>ptr</a:t>
            </a:r>
            <a:r>
              <a:rPr lang="en-US" sz="2000" dirty="0"/>
              <a:t>' goes out of scope</a:t>
            </a:r>
          </a:p>
          <a:p>
            <a:r>
              <a:rPr lang="en-US" sz="2000" dirty="0"/>
              <a:t>    // and we never released the allocated memory</a:t>
            </a:r>
          </a:p>
          <a:p>
            <a:endParaRPr lang="en-US" sz="2000" dirty="0"/>
          </a:p>
          <a:p>
            <a:r>
              <a:rPr lang="en-US" sz="2000" dirty="0"/>
              <a:t>    return 0;</a:t>
            </a:r>
          </a:p>
          <a:p>
            <a:r>
              <a:rPr lang="en-US" sz="2000" dirty="0"/>
              <a:t>}</a:t>
            </a:r>
          </a:p>
        </p:txBody>
      </p:sp>
      <p:sp>
        <p:nvSpPr>
          <p:cNvPr id="5" name="TextBox 4">
            <a:extLst>
              <a:ext uri="{FF2B5EF4-FFF2-40B4-BE49-F238E27FC236}">
                <a16:creationId xmlns:a16="http://schemas.microsoft.com/office/drawing/2014/main" id="{F4A67694-130D-7163-98B7-1C6B580B4D8D}"/>
              </a:ext>
            </a:extLst>
          </p:cNvPr>
          <p:cNvSpPr txBox="1"/>
          <p:nvPr/>
        </p:nvSpPr>
        <p:spPr>
          <a:xfrm>
            <a:off x="78658" y="4212372"/>
            <a:ext cx="12113342" cy="2308324"/>
          </a:xfrm>
          <a:prstGeom prst="rect">
            <a:avLst/>
          </a:prstGeom>
          <a:noFill/>
        </p:spPr>
        <p:txBody>
          <a:bodyPr wrap="square">
            <a:spAutoFit/>
          </a:bodyPr>
          <a:lstStyle/>
          <a:p>
            <a:r>
              <a:rPr lang="en-US" sz="2400" b="1" dirty="0"/>
              <a:t>Explanation:</a:t>
            </a:r>
          </a:p>
          <a:p>
            <a:r>
              <a:rPr lang="en-US" sz="2400" dirty="0"/>
              <a:t>Memory was allocated for an integer on the heap.</a:t>
            </a:r>
          </a:p>
          <a:p>
            <a:r>
              <a:rPr lang="en-US" sz="2400" dirty="0" err="1"/>
              <a:t>ptr</a:t>
            </a:r>
            <a:r>
              <a:rPr lang="en-US" sz="2400" dirty="0"/>
              <a:t> points to it.</a:t>
            </a:r>
          </a:p>
          <a:p>
            <a:r>
              <a:rPr lang="en-US" sz="2400" dirty="0"/>
              <a:t>When the program ends, </a:t>
            </a:r>
            <a:r>
              <a:rPr lang="en-US" sz="2400" dirty="0" err="1"/>
              <a:t>ptr</a:t>
            </a:r>
            <a:r>
              <a:rPr lang="en-US" sz="2400" dirty="0"/>
              <a:t> is destroyed but the heap memory remains allocated (not released).</a:t>
            </a:r>
          </a:p>
          <a:p>
            <a:r>
              <a:rPr lang="en-US" sz="2400" dirty="0"/>
              <a:t>This leads to a memory leak.</a:t>
            </a:r>
            <a:endParaRPr lang="en-IN" sz="2400" dirty="0"/>
          </a:p>
        </p:txBody>
      </p:sp>
    </p:spTree>
    <p:extLst>
      <p:ext uri="{BB962C8B-B14F-4D97-AF65-F5344CB8AC3E}">
        <p14:creationId xmlns:p14="http://schemas.microsoft.com/office/powerpoint/2010/main" val="8338028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188F32-3280-7D27-9A93-042F304C729A}"/>
              </a:ext>
            </a:extLst>
          </p:cNvPr>
          <p:cNvSpPr txBox="1"/>
          <p:nvPr/>
        </p:nvSpPr>
        <p:spPr>
          <a:xfrm>
            <a:off x="0" y="109454"/>
            <a:ext cx="11828207" cy="523220"/>
          </a:xfrm>
          <a:prstGeom prst="rect">
            <a:avLst/>
          </a:prstGeom>
          <a:noFill/>
        </p:spPr>
        <p:txBody>
          <a:bodyPr wrap="square">
            <a:spAutoFit/>
          </a:bodyPr>
          <a:lstStyle/>
          <a:p>
            <a:r>
              <a:rPr lang="en-US" sz="2800" dirty="0"/>
              <a:t>Example With Proper Garbage Collection (Manual Deallocation)</a:t>
            </a:r>
            <a:endParaRPr lang="en-IN" sz="2800" dirty="0"/>
          </a:p>
        </p:txBody>
      </p:sp>
      <p:sp>
        <p:nvSpPr>
          <p:cNvPr id="5" name="TextBox 4">
            <a:extLst>
              <a:ext uri="{FF2B5EF4-FFF2-40B4-BE49-F238E27FC236}">
                <a16:creationId xmlns:a16="http://schemas.microsoft.com/office/drawing/2014/main" id="{9C1D6A36-2E45-A39E-BFDC-65B35617305C}"/>
              </a:ext>
            </a:extLst>
          </p:cNvPr>
          <p:cNvSpPr txBox="1"/>
          <p:nvPr/>
        </p:nvSpPr>
        <p:spPr>
          <a:xfrm>
            <a:off x="142567" y="632674"/>
            <a:ext cx="11543071" cy="5693866"/>
          </a:xfrm>
          <a:prstGeom prst="rect">
            <a:avLst/>
          </a:prstGeom>
          <a:noFill/>
        </p:spPr>
        <p:txBody>
          <a:bodyPr wrap="square">
            <a:spAutoFit/>
          </a:bodyPr>
          <a:lstStyle/>
          <a:p>
            <a:r>
              <a:rPr lang="en-IN" sz="2800" dirty="0"/>
              <a:t>#include &lt;iostream&gt;</a:t>
            </a:r>
          </a:p>
          <a:p>
            <a:r>
              <a:rPr lang="en-IN" sz="2800" dirty="0"/>
              <a:t>using namespace std;</a:t>
            </a:r>
          </a:p>
          <a:p>
            <a:endParaRPr lang="en-IN" sz="2800" dirty="0"/>
          </a:p>
          <a:p>
            <a:r>
              <a:rPr lang="en-IN" sz="2800" dirty="0"/>
              <a:t>int main() {</a:t>
            </a:r>
          </a:p>
          <a:p>
            <a:r>
              <a:rPr lang="en-IN" sz="2800" dirty="0"/>
              <a:t>    int* </a:t>
            </a:r>
            <a:r>
              <a:rPr lang="en-IN" sz="2800" dirty="0" err="1"/>
              <a:t>ptr</a:t>
            </a:r>
            <a:r>
              <a:rPr lang="en-IN" sz="2800" dirty="0"/>
              <a:t> = new int(10);   // Allocate memory</a:t>
            </a:r>
          </a:p>
          <a:p>
            <a:r>
              <a:rPr lang="en-IN" sz="2800" dirty="0"/>
              <a:t>    </a:t>
            </a:r>
            <a:r>
              <a:rPr lang="en-IN" sz="2800" dirty="0" err="1"/>
              <a:t>cout</a:t>
            </a:r>
            <a:r>
              <a:rPr lang="en-IN" sz="2800" dirty="0"/>
              <a:t> &lt;&lt; "Value: " &lt;&lt; *</a:t>
            </a:r>
            <a:r>
              <a:rPr lang="en-IN" sz="2800" dirty="0" err="1"/>
              <a:t>ptr</a:t>
            </a:r>
            <a:r>
              <a:rPr lang="en-IN" sz="2800" dirty="0"/>
              <a:t> &lt;&lt; </a:t>
            </a:r>
            <a:r>
              <a:rPr lang="en-IN" sz="2800" dirty="0" err="1"/>
              <a:t>endl</a:t>
            </a:r>
            <a:r>
              <a:rPr lang="en-IN" sz="2800" dirty="0"/>
              <a:t>;</a:t>
            </a:r>
          </a:p>
          <a:p>
            <a:endParaRPr lang="en-IN" sz="2800" dirty="0"/>
          </a:p>
          <a:p>
            <a:r>
              <a:rPr lang="en-IN" sz="2800" dirty="0"/>
              <a:t>    delete </a:t>
            </a:r>
            <a:r>
              <a:rPr lang="en-IN" sz="2800" dirty="0" err="1"/>
              <a:t>ptr</a:t>
            </a:r>
            <a:r>
              <a:rPr lang="en-IN" sz="2800" dirty="0"/>
              <a:t>;  // Manually free memory</a:t>
            </a:r>
          </a:p>
          <a:p>
            <a:r>
              <a:rPr lang="en-IN" sz="2800" dirty="0"/>
              <a:t>    </a:t>
            </a:r>
            <a:r>
              <a:rPr lang="en-IN" sz="2800" dirty="0" err="1"/>
              <a:t>ptr</a:t>
            </a:r>
            <a:r>
              <a:rPr lang="en-IN" sz="2800" dirty="0"/>
              <a:t> = </a:t>
            </a:r>
            <a:r>
              <a:rPr lang="en-IN" sz="2800" dirty="0" err="1"/>
              <a:t>nullptr</a:t>
            </a:r>
            <a:r>
              <a:rPr lang="en-IN" sz="2800" dirty="0"/>
              <a:t>;  // Good practice to avoid dangling pointer</a:t>
            </a:r>
          </a:p>
          <a:p>
            <a:endParaRPr lang="en-IN" sz="2800" dirty="0"/>
          </a:p>
          <a:p>
            <a:r>
              <a:rPr lang="en-IN" sz="2800" dirty="0"/>
              <a:t>    </a:t>
            </a:r>
            <a:r>
              <a:rPr lang="en-IN" sz="2800" dirty="0" err="1"/>
              <a:t>cout</a:t>
            </a:r>
            <a:r>
              <a:rPr lang="en-IN" sz="2800" dirty="0"/>
              <a:t> &lt;&lt; "Memory freed successfully!" &lt;&lt; </a:t>
            </a:r>
            <a:r>
              <a:rPr lang="en-IN" sz="2800" dirty="0" err="1"/>
              <a:t>endl</a:t>
            </a:r>
            <a:r>
              <a:rPr lang="en-IN" sz="2800" dirty="0"/>
              <a:t>;</a:t>
            </a:r>
          </a:p>
          <a:p>
            <a:r>
              <a:rPr lang="en-IN" sz="2800" dirty="0"/>
              <a:t>    return 0;</a:t>
            </a:r>
          </a:p>
          <a:p>
            <a:r>
              <a:rPr lang="en-IN" sz="2800" dirty="0"/>
              <a:t>}</a:t>
            </a:r>
          </a:p>
        </p:txBody>
      </p:sp>
    </p:spTree>
    <p:extLst>
      <p:ext uri="{BB962C8B-B14F-4D97-AF65-F5344CB8AC3E}">
        <p14:creationId xmlns:p14="http://schemas.microsoft.com/office/powerpoint/2010/main" val="18475205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1F54CB-B663-836F-B305-106DCD5D1C3B}"/>
              </a:ext>
            </a:extLst>
          </p:cNvPr>
          <p:cNvSpPr txBox="1"/>
          <p:nvPr/>
        </p:nvSpPr>
        <p:spPr>
          <a:xfrm>
            <a:off x="0" y="125727"/>
            <a:ext cx="11759381" cy="5016758"/>
          </a:xfrm>
          <a:prstGeom prst="rect">
            <a:avLst/>
          </a:prstGeom>
          <a:noFill/>
        </p:spPr>
        <p:txBody>
          <a:bodyPr wrap="square">
            <a:spAutoFit/>
          </a:bodyPr>
          <a:lstStyle/>
          <a:p>
            <a:r>
              <a:rPr lang="en-US" sz="3200" b="1" dirty="0"/>
              <a:t>What is a Dangling Pointer?</a:t>
            </a:r>
          </a:p>
          <a:p>
            <a:r>
              <a:rPr lang="en-US" sz="3200" dirty="0"/>
              <a:t>A dangling pointer is a pointer that points to a memory location that has already been freed or deleted.</a:t>
            </a:r>
          </a:p>
          <a:p>
            <a:r>
              <a:rPr lang="en-US" sz="3200" dirty="0"/>
              <a:t>The pointer still holds the old address, but that memory is no longer valid.</a:t>
            </a:r>
          </a:p>
          <a:p>
            <a:r>
              <a:rPr lang="en-US" sz="3200" dirty="0"/>
              <a:t>Using a dangling pointer can lead to:</a:t>
            </a:r>
          </a:p>
          <a:p>
            <a:r>
              <a:rPr lang="en-US" sz="3200" dirty="0"/>
              <a:t>program crash</a:t>
            </a:r>
          </a:p>
          <a:p>
            <a:r>
              <a:rPr lang="en-US" sz="3200" dirty="0"/>
              <a:t>unpredictable output</a:t>
            </a:r>
          </a:p>
          <a:p>
            <a:r>
              <a:rPr lang="en-US" sz="3200" dirty="0"/>
              <a:t>security issues</a:t>
            </a:r>
          </a:p>
          <a:p>
            <a:r>
              <a:rPr lang="en-US" sz="3200" dirty="0"/>
              <a:t>memory corruption</a:t>
            </a:r>
            <a:endParaRPr lang="en-IN" sz="3200" dirty="0"/>
          </a:p>
        </p:txBody>
      </p:sp>
    </p:spTree>
    <p:extLst>
      <p:ext uri="{BB962C8B-B14F-4D97-AF65-F5344CB8AC3E}">
        <p14:creationId xmlns:p14="http://schemas.microsoft.com/office/powerpoint/2010/main" val="13754730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3C614C-F51D-BFCB-AEF3-D1752EFA12A6}"/>
              </a:ext>
            </a:extLst>
          </p:cNvPr>
          <p:cNvSpPr txBox="1"/>
          <p:nvPr/>
        </p:nvSpPr>
        <p:spPr>
          <a:xfrm>
            <a:off x="378542" y="295925"/>
            <a:ext cx="11434916" cy="6124754"/>
          </a:xfrm>
          <a:prstGeom prst="rect">
            <a:avLst/>
          </a:prstGeom>
          <a:noFill/>
        </p:spPr>
        <p:txBody>
          <a:bodyPr wrap="square">
            <a:spAutoFit/>
          </a:bodyPr>
          <a:lstStyle/>
          <a:p>
            <a:r>
              <a:rPr lang="en-IN" sz="2800" dirty="0"/>
              <a:t>#include &lt;iostream&gt;</a:t>
            </a:r>
          </a:p>
          <a:p>
            <a:r>
              <a:rPr lang="en-IN" sz="2800" dirty="0"/>
              <a:t>using namespace std;</a:t>
            </a:r>
          </a:p>
          <a:p>
            <a:endParaRPr lang="en-IN" sz="2800" dirty="0"/>
          </a:p>
          <a:p>
            <a:r>
              <a:rPr lang="en-IN" sz="2800" dirty="0"/>
              <a:t>int main() {</a:t>
            </a:r>
          </a:p>
          <a:p>
            <a:r>
              <a:rPr lang="en-IN" sz="2800" dirty="0"/>
              <a:t>    int* </a:t>
            </a:r>
            <a:r>
              <a:rPr lang="en-IN" sz="2800" dirty="0" err="1"/>
              <a:t>ptr</a:t>
            </a:r>
            <a:r>
              <a:rPr lang="en-IN" sz="2800" dirty="0"/>
              <a:t> = new int(10);  // allocate memory</a:t>
            </a:r>
          </a:p>
          <a:p>
            <a:r>
              <a:rPr lang="en-IN" sz="2800" dirty="0"/>
              <a:t>    </a:t>
            </a:r>
            <a:r>
              <a:rPr lang="en-IN" sz="2800" dirty="0" err="1"/>
              <a:t>cout</a:t>
            </a:r>
            <a:r>
              <a:rPr lang="en-IN" sz="2800" dirty="0"/>
              <a:t> &lt;&lt; "Value: " &lt;&lt; *</a:t>
            </a:r>
            <a:r>
              <a:rPr lang="en-IN" sz="2800" dirty="0" err="1"/>
              <a:t>ptr</a:t>
            </a:r>
            <a:r>
              <a:rPr lang="en-IN" sz="2800" dirty="0"/>
              <a:t> &lt;&lt; </a:t>
            </a:r>
            <a:r>
              <a:rPr lang="en-IN" sz="2800" dirty="0" err="1"/>
              <a:t>endl</a:t>
            </a:r>
            <a:r>
              <a:rPr lang="en-IN" sz="2800" dirty="0"/>
              <a:t>;</a:t>
            </a:r>
          </a:p>
          <a:p>
            <a:endParaRPr lang="en-IN" sz="2800" dirty="0"/>
          </a:p>
          <a:p>
            <a:r>
              <a:rPr lang="en-IN" sz="2800" dirty="0"/>
              <a:t>    delete </a:t>
            </a:r>
            <a:r>
              <a:rPr lang="en-IN" sz="2800" dirty="0" err="1"/>
              <a:t>ptr</a:t>
            </a:r>
            <a:r>
              <a:rPr lang="en-IN" sz="2800" dirty="0"/>
              <a:t>;              // free memory</a:t>
            </a:r>
          </a:p>
          <a:p>
            <a:endParaRPr lang="en-IN" sz="2800" dirty="0"/>
          </a:p>
          <a:p>
            <a:r>
              <a:rPr lang="en-IN" sz="2800" dirty="0"/>
              <a:t>    // </a:t>
            </a:r>
            <a:r>
              <a:rPr lang="en-IN" sz="2800" dirty="0" err="1"/>
              <a:t>ptr</a:t>
            </a:r>
            <a:r>
              <a:rPr lang="en-IN" sz="2800" dirty="0"/>
              <a:t> still contains the old address → dangling pointer</a:t>
            </a:r>
          </a:p>
          <a:p>
            <a:r>
              <a:rPr lang="en-IN" sz="2800" dirty="0"/>
              <a:t>    </a:t>
            </a:r>
            <a:r>
              <a:rPr lang="en-IN" sz="2800" dirty="0" err="1"/>
              <a:t>cout</a:t>
            </a:r>
            <a:r>
              <a:rPr lang="en-IN" sz="2800" dirty="0"/>
              <a:t> &lt;&lt; *</a:t>
            </a:r>
            <a:r>
              <a:rPr lang="en-IN" sz="2800" dirty="0" err="1"/>
              <a:t>ptr</a:t>
            </a:r>
            <a:r>
              <a:rPr lang="en-IN" sz="2800" dirty="0"/>
              <a:t>;            // dangerous — undefined </a:t>
            </a:r>
            <a:r>
              <a:rPr lang="en-IN" sz="2800" dirty="0" err="1"/>
              <a:t>behavior</a:t>
            </a:r>
            <a:r>
              <a:rPr lang="en-IN" sz="2800" dirty="0"/>
              <a:t>!</a:t>
            </a:r>
          </a:p>
          <a:p>
            <a:endParaRPr lang="en-IN" sz="2800" dirty="0"/>
          </a:p>
          <a:p>
            <a:r>
              <a:rPr lang="en-IN" sz="2800" dirty="0"/>
              <a:t>    return 0;</a:t>
            </a:r>
          </a:p>
          <a:p>
            <a:r>
              <a:rPr lang="en-IN" sz="2800" dirty="0"/>
              <a:t>}</a:t>
            </a:r>
          </a:p>
        </p:txBody>
      </p:sp>
    </p:spTree>
    <p:extLst>
      <p:ext uri="{BB962C8B-B14F-4D97-AF65-F5344CB8AC3E}">
        <p14:creationId xmlns:p14="http://schemas.microsoft.com/office/powerpoint/2010/main" val="42208368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2C5B9A-3609-3522-2942-5BE057820A80}"/>
              </a:ext>
            </a:extLst>
          </p:cNvPr>
          <p:cNvSpPr txBox="1"/>
          <p:nvPr/>
        </p:nvSpPr>
        <p:spPr>
          <a:xfrm>
            <a:off x="196645" y="131356"/>
            <a:ext cx="6096000" cy="584775"/>
          </a:xfrm>
          <a:prstGeom prst="rect">
            <a:avLst/>
          </a:prstGeom>
          <a:noFill/>
        </p:spPr>
        <p:txBody>
          <a:bodyPr wrap="square">
            <a:spAutoFit/>
          </a:bodyPr>
          <a:lstStyle/>
          <a:p>
            <a:r>
              <a:rPr lang="en-IN" sz="3200" b="1" dirty="0"/>
              <a:t>C++ Class Declaration</a:t>
            </a:r>
          </a:p>
        </p:txBody>
      </p:sp>
      <p:sp>
        <p:nvSpPr>
          <p:cNvPr id="5" name="TextBox 4">
            <a:extLst>
              <a:ext uri="{FF2B5EF4-FFF2-40B4-BE49-F238E27FC236}">
                <a16:creationId xmlns:a16="http://schemas.microsoft.com/office/drawing/2014/main" id="{3B4ED31F-5682-CC94-3352-613A686E202B}"/>
              </a:ext>
            </a:extLst>
          </p:cNvPr>
          <p:cNvSpPr txBox="1"/>
          <p:nvPr/>
        </p:nvSpPr>
        <p:spPr>
          <a:xfrm>
            <a:off x="196645" y="714507"/>
            <a:ext cx="6096000" cy="523220"/>
          </a:xfrm>
          <a:prstGeom prst="rect">
            <a:avLst/>
          </a:prstGeom>
          <a:noFill/>
        </p:spPr>
        <p:txBody>
          <a:bodyPr wrap="square">
            <a:spAutoFit/>
          </a:bodyPr>
          <a:lstStyle/>
          <a:p>
            <a:pPr algn="l">
              <a:spcBef>
                <a:spcPts val="750"/>
              </a:spcBef>
              <a:spcAft>
                <a:spcPts val="750"/>
              </a:spcAft>
              <a:buNone/>
            </a:pPr>
            <a:r>
              <a:rPr lang="en-IN" sz="2800" b="0" i="0" dirty="0">
                <a:solidFill>
                  <a:srgbClr val="000000"/>
                </a:solidFill>
                <a:effectLst/>
                <a:latin typeface="Segoe UI" panose="020B0502040204020203" pitchFamily="34" charset="0"/>
              </a:rPr>
              <a:t>Access Specifiers</a:t>
            </a:r>
          </a:p>
        </p:txBody>
      </p:sp>
      <p:sp>
        <p:nvSpPr>
          <p:cNvPr id="7" name="TextBox 6">
            <a:extLst>
              <a:ext uri="{FF2B5EF4-FFF2-40B4-BE49-F238E27FC236}">
                <a16:creationId xmlns:a16="http://schemas.microsoft.com/office/drawing/2014/main" id="{42C7ECFD-A97A-C17A-1E70-B73A92BEC318}"/>
              </a:ext>
            </a:extLst>
          </p:cNvPr>
          <p:cNvSpPr txBox="1"/>
          <p:nvPr/>
        </p:nvSpPr>
        <p:spPr>
          <a:xfrm>
            <a:off x="39328" y="3299829"/>
            <a:ext cx="12005187" cy="1569660"/>
          </a:xfrm>
          <a:prstGeom prst="rect">
            <a:avLst/>
          </a:prstGeom>
          <a:noFill/>
        </p:spPr>
        <p:txBody>
          <a:bodyPr wrap="square">
            <a:spAutoFit/>
          </a:bodyPr>
          <a:lstStyle/>
          <a:p>
            <a:pPr algn="l">
              <a:buNone/>
            </a:pPr>
            <a:r>
              <a:rPr lang="en-US" sz="2400" b="1" i="0" dirty="0">
                <a:solidFill>
                  <a:srgbClr val="000000"/>
                </a:solidFill>
                <a:effectLst/>
                <a:latin typeface="Segoe UI" panose="020B0502040204020203" pitchFamily="34" charset="0"/>
              </a:rPr>
              <a:t>Access specifiers</a:t>
            </a:r>
            <a:r>
              <a:rPr lang="en-US" sz="2400" b="0" i="0" dirty="0">
                <a:solidFill>
                  <a:srgbClr val="000000"/>
                </a:solidFill>
                <a:effectLst/>
                <a:latin typeface="Segoe UI" panose="020B0502040204020203" pitchFamily="34" charset="0"/>
              </a:rPr>
              <a:t> control how the members (attributes and methods) of a class can be accessed.</a:t>
            </a:r>
          </a:p>
          <a:p>
            <a:pPr algn="l">
              <a:buNone/>
            </a:pPr>
            <a:r>
              <a:rPr lang="en-US" sz="2400" b="0" i="0" dirty="0">
                <a:solidFill>
                  <a:srgbClr val="000000"/>
                </a:solidFill>
                <a:effectLst/>
                <a:latin typeface="Segoe UI" panose="020B0502040204020203" pitchFamily="34" charset="0"/>
              </a:rPr>
              <a:t>They help protect data and organize code so that only the right parts can be seen or changed.</a:t>
            </a:r>
          </a:p>
        </p:txBody>
      </p:sp>
      <p:sp>
        <p:nvSpPr>
          <p:cNvPr id="9" name="TextBox 8">
            <a:extLst>
              <a:ext uri="{FF2B5EF4-FFF2-40B4-BE49-F238E27FC236}">
                <a16:creationId xmlns:a16="http://schemas.microsoft.com/office/drawing/2014/main" id="{821744FD-8F82-590F-CF43-AE92C98DB807}"/>
              </a:ext>
            </a:extLst>
          </p:cNvPr>
          <p:cNvSpPr txBox="1"/>
          <p:nvPr/>
        </p:nvSpPr>
        <p:spPr>
          <a:xfrm>
            <a:off x="93406" y="4931044"/>
            <a:ext cx="12005187" cy="1672253"/>
          </a:xfrm>
          <a:prstGeom prst="rect">
            <a:avLst/>
          </a:prstGeom>
          <a:noFill/>
        </p:spPr>
        <p:txBody>
          <a:bodyPr wrap="square">
            <a:spAutoFit/>
          </a:bodyPr>
          <a:lstStyle/>
          <a:p>
            <a:pPr algn="l">
              <a:spcBef>
                <a:spcPts val="750"/>
              </a:spcBef>
              <a:spcAft>
                <a:spcPts val="750"/>
              </a:spcAft>
              <a:buNone/>
            </a:pPr>
            <a:r>
              <a:rPr lang="en-US" sz="2400" b="0" i="0" dirty="0">
                <a:solidFill>
                  <a:srgbClr val="000000"/>
                </a:solidFill>
                <a:effectLst/>
                <a:latin typeface="Segoe UI" panose="020B0502040204020203" pitchFamily="34" charset="0"/>
              </a:rPr>
              <a:t>Using Access Specifiers</a:t>
            </a:r>
          </a:p>
          <a:p>
            <a:pPr algn="l">
              <a:buNone/>
            </a:pPr>
            <a:r>
              <a:rPr lang="en-US" sz="2400" b="0" i="0" dirty="0">
                <a:solidFill>
                  <a:srgbClr val="000000"/>
                </a:solidFill>
                <a:effectLst/>
                <a:latin typeface="Segoe UI" panose="020B0502040204020203" pitchFamily="34" charset="0"/>
              </a:rPr>
              <a:t>The </a:t>
            </a:r>
            <a:r>
              <a:rPr lang="en-US" sz="2400" b="0" i="0" dirty="0">
                <a:solidFill>
                  <a:srgbClr val="DC143C"/>
                </a:solidFill>
                <a:effectLst/>
                <a:latin typeface="Consolas" panose="020B0609020204030204" pitchFamily="49" charset="0"/>
              </a:rPr>
              <a:t>public</a:t>
            </a:r>
            <a:r>
              <a:rPr lang="en-US" sz="2400" b="0" i="0" dirty="0">
                <a:solidFill>
                  <a:srgbClr val="000000"/>
                </a:solidFill>
                <a:effectLst/>
                <a:latin typeface="Segoe UI" panose="020B0502040204020203" pitchFamily="34" charset="0"/>
              </a:rPr>
              <a:t> keyword is an </a:t>
            </a:r>
            <a:r>
              <a:rPr lang="en-US" sz="2400" b="1" i="0" dirty="0">
                <a:solidFill>
                  <a:srgbClr val="000000"/>
                </a:solidFill>
                <a:effectLst/>
                <a:latin typeface="Segoe UI" panose="020B0502040204020203" pitchFamily="34" charset="0"/>
              </a:rPr>
              <a:t>access specifier.</a:t>
            </a:r>
            <a:endParaRPr lang="en-US" sz="2400" b="0" i="0" dirty="0">
              <a:solidFill>
                <a:srgbClr val="000000"/>
              </a:solidFill>
              <a:effectLst/>
              <a:latin typeface="Segoe UI" panose="020B0502040204020203" pitchFamily="34" charset="0"/>
            </a:endParaRPr>
          </a:p>
          <a:p>
            <a:pPr algn="l">
              <a:buNone/>
            </a:pPr>
            <a:r>
              <a:rPr lang="en-US" sz="2400" b="0" i="0" dirty="0">
                <a:solidFill>
                  <a:srgbClr val="000000"/>
                </a:solidFill>
                <a:effectLst/>
                <a:latin typeface="Segoe UI" panose="020B0502040204020203" pitchFamily="34" charset="0"/>
              </a:rPr>
              <a:t>In the example below, the members are </a:t>
            </a:r>
            <a:r>
              <a:rPr lang="en-US" sz="2400" b="0" i="0" dirty="0">
                <a:solidFill>
                  <a:srgbClr val="DC143C"/>
                </a:solidFill>
                <a:effectLst/>
                <a:latin typeface="Consolas" panose="020B0609020204030204" pitchFamily="49" charset="0"/>
              </a:rPr>
              <a:t>public</a:t>
            </a:r>
            <a:r>
              <a:rPr lang="en-US" sz="2400" b="0" i="0" dirty="0">
                <a:solidFill>
                  <a:srgbClr val="000000"/>
                </a:solidFill>
                <a:effectLst/>
                <a:latin typeface="Segoe UI" panose="020B0502040204020203" pitchFamily="34" charset="0"/>
              </a:rPr>
              <a:t> - which means that they can be accessed and modified from outside the code:</a:t>
            </a:r>
          </a:p>
        </p:txBody>
      </p:sp>
      <p:sp>
        <p:nvSpPr>
          <p:cNvPr id="11" name="TextBox 10">
            <a:extLst>
              <a:ext uri="{FF2B5EF4-FFF2-40B4-BE49-F238E27FC236}">
                <a16:creationId xmlns:a16="http://schemas.microsoft.com/office/drawing/2014/main" id="{22570D0D-BB47-58ED-F3B3-25C3CAD4A895}"/>
              </a:ext>
            </a:extLst>
          </p:cNvPr>
          <p:cNvSpPr txBox="1"/>
          <p:nvPr/>
        </p:nvSpPr>
        <p:spPr>
          <a:xfrm>
            <a:off x="93406" y="1299282"/>
            <a:ext cx="11897032" cy="1938992"/>
          </a:xfrm>
          <a:prstGeom prst="rect">
            <a:avLst/>
          </a:prstGeom>
          <a:noFill/>
        </p:spPr>
        <p:txBody>
          <a:bodyPr wrap="square">
            <a:spAutoFit/>
          </a:bodyPr>
          <a:lstStyle/>
          <a:p>
            <a:pPr algn="l">
              <a:buNone/>
            </a:pPr>
            <a:r>
              <a:rPr lang="en-US" sz="2400" b="0" i="0" dirty="0">
                <a:solidFill>
                  <a:srgbClr val="000000"/>
                </a:solidFill>
                <a:effectLst/>
                <a:latin typeface="Segoe UI" panose="020B0502040204020203" pitchFamily="34" charset="0"/>
              </a:rPr>
              <a:t>In C++, there are three access specifiers:</a:t>
            </a:r>
          </a:p>
          <a:p>
            <a:pPr algn="l">
              <a:buFont typeface="Arial" panose="020B0604020202020204" pitchFamily="34" charset="0"/>
              <a:buChar char="•"/>
            </a:pPr>
            <a:r>
              <a:rPr lang="en-US" sz="2400" b="0" i="0" dirty="0">
                <a:solidFill>
                  <a:srgbClr val="DC143C"/>
                </a:solidFill>
                <a:effectLst/>
                <a:latin typeface="Consolas" panose="020B0609020204030204" pitchFamily="49" charset="0"/>
              </a:rPr>
              <a:t>public</a:t>
            </a:r>
            <a:r>
              <a:rPr lang="en-US" sz="2400" b="0" i="0" dirty="0">
                <a:solidFill>
                  <a:srgbClr val="000000"/>
                </a:solidFill>
                <a:effectLst/>
                <a:latin typeface="Segoe UI" panose="020B0502040204020203" pitchFamily="34" charset="0"/>
              </a:rPr>
              <a:t> - members are accessible from outside the class</a:t>
            </a:r>
          </a:p>
          <a:p>
            <a:pPr algn="l">
              <a:buFont typeface="Arial" panose="020B0604020202020204" pitchFamily="34" charset="0"/>
              <a:buChar char="•"/>
            </a:pPr>
            <a:r>
              <a:rPr lang="en-US" sz="2400" b="0" i="0" dirty="0">
                <a:solidFill>
                  <a:srgbClr val="DC143C"/>
                </a:solidFill>
                <a:effectLst/>
                <a:latin typeface="Consolas" panose="020B0609020204030204" pitchFamily="49" charset="0"/>
              </a:rPr>
              <a:t>private</a:t>
            </a:r>
            <a:r>
              <a:rPr lang="en-US" sz="2400" b="0" i="0" dirty="0">
                <a:solidFill>
                  <a:srgbClr val="000000"/>
                </a:solidFill>
                <a:effectLst/>
                <a:latin typeface="Segoe UI" panose="020B0502040204020203" pitchFamily="34" charset="0"/>
              </a:rPr>
              <a:t> - members cannot be accessed (or viewed) from outside the class</a:t>
            </a:r>
          </a:p>
          <a:p>
            <a:pPr algn="l">
              <a:buFont typeface="Arial" panose="020B0604020202020204" pitchFamily="34" charset="0"/>
              <a:buChar char="•"/>
            </a:pPr>
            <a:r>
              <a:rPr lang="en-US" sz="2400" b="0" i="0" dirty="0">
                <a:solidFill>
                  <a:srgbClr val="DC143C"/>
                </a:solidFill>
                <a:effectLst/>
                <a:latin typeface="Consolas" panose="020B0609020204030204" pitchFamily="49" charset="0"/>
              </a:rPr>
              <a:t>protected</a:t>
            </a:r>
            <a:r>
              <a:rPr lang="en-US" sz="2400" b="0" i="0" dirty="0">
                <a:solidFill>
                  <a:srgbClr val="000000"/>
                </a:solidFill>
                <a:effectLst/>
                <a:latin typeface="Segoe UI" panose="020B0502040204020203" pitchFamily="34" charset="0"/>
              </a:rPr>
              <a:t> - members cannot be accessed from outside the class, however, they can be accessed in inherited classes. </a:t>
            </a:r>
          </a:p>
        </p:txBody>
      </p:sp>
    </p:spTree>
    <p:extLst>
      <p:ext uri="{BB962C8B-B14F-4D97-AF65-F5344CB8AC3E}">
        <p14:creationId xmlns:p14="http://schemas.microsoft.com/office/powerpoint/2010/main" val="4997062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8326EE-C473-9AC7-B87D-C659559439D1}"/>
              </a:ext>
            </a:extLst>
          </p:cNvPr>
          <p:cNvSpPr txBox="1"/>
          <p:nvPr/>
        </p:nvSpPr>
        <p:spPr>
          <a:xfrm>
            <a:off x="245807" y="501049"/>
            <a:ext cx="11444748" cy="1200329"/>
          </a:xfrm>
          <a:prstGeom prst="rect">
            <a:avLst/>
          </a:prstGeom>
          <a:noFill/>
        </p:spPr>
        <p:txBody>
          <a:bodyPr wrap="square">
            <a:spAutoFit/>
          </a:bodyPr>
          <a:lstStyle/>
          <a:p>
            <a:r>
              <a:rPr lang="en-US" b="0" i="0" dirty="0">
                <a:solidFill>
                  <a:srgbClr val="005CC5"/>
                </a:solidFill>
                <a:effectLst/>
                <a:latin typeface="Consolas" panose="020B0609020204030204" pitchFamily="49" charset="0"/>
              </a:rPr>
              <a:t>class</a:t>
            </a:r>
            <a:r>
              <a:rPr lang="en-US" b="0" i="0" dirty="0">
                <a:solidFill>
                  <a:srgbClr val="000000"/>
                </a:solidFill>
                <a:effectLst/>
                <a:latin typeface="Consolas" panose="020B0609020204030204" pitchFamily="49" charset="0"/>
              </a:rPr>
              <a:t> </a:t>
            </a:r>
            <a:r>
              <a:rPr lang="en-US" b="0" i="0" dirty="0" err="1">
                <a:solidFill>
                  <a:srgbClr val="000000"/>
                </a:solidFill>
                <a:effectLst/>
                <a:latin typeface="Consolas" panose="020B0609020204030204" pitchFamily="49" charset="0"/>
              </a:rPr>
              <a:t>MyClass</a:t>
            </a:r>
            <a:r>
              <a:rPr lang="en-US" b="0" i="0" dirty="0">
                <a:solidFill>
                  <a:srgbClr val="000000"/>
                </a:solidFill>
                <a:effectLst/>
                <a:latin typeface="Consolas" panose="020B0609020204030204" pitchFamily="49" charset="0"/>
              </a:rPr>
              <a:t> {  </a:t>
            </a:r>
            <a:r>
              <a:rPr lang="en-US" b="0" i="0" dirty="0">
                <a:solidFill>
                  <a:srgbClr val="708090"/>
                </a:solidFill>
                <a:effectLst/>
                <a:latin typeface="Consolas" panose="020B0609020204030204" pitchFamily="49" charset="0"/>
              </a:rPr>
              <a:t>// The class</a:t>
            </a:r>
            <a:br>
              <a:rPr lang="en-US" b="0" i="0" dirty="0">
                <a:solidFill>
                  <a:srgbClr val="708090"/>
                </a:solidFill>
                <a:effectLst/>
                <a:latin typeface="Consolas" panose="020B0609020204030204" pitchFamily="49" charset="0"/>
              </a:rPr>
            </a:br>
            <a:r>
              <a:rPr lang="en-US" b="0" i="0" dirty="0">
                <a:solidFill>
                  <a:srgbClr val="000000"/>
                </a:solidFill>
                <a:effectLst/>
                <a:latin typeface="Consolas" panose="020B0609020204030204" pitchFamily="49" charset="0"/>
              </a:rPr>
              <a:t>  </a:t>
            </a:r>
            <a:r>
              <a:rPr lang="en-US" b="1" i="0" dirty="0">
                <a:solidFill>
                  <a:srgbClr val="005CC5"/>
                </a:solidFill>
                <a:effectLst/>
                <a:latin typeface="Consolas" panose="020B0609020204030204" pitchFamily="49" charset="0"/>
              </a:rPr>
              <a:t>public</a:t>
            </a:r>
            <a:r>
              <a:rPr lang="en-US" b="1" i="0" dirty="0">
                <a:solidFill>
                  <a:srgbClr val="000000"/>
                </a:solidFill>
                <a:effectLst/>
                <a:latin typeface="Consolas" panose="020B0609020204030204" pitchFamily="49" charset="0"/>
              </a:rPr>
              <a:t>:</a:t>
            </a:r>
            <a:r>
              <a:rPr lang="en-US" b="0" i="0" dirty="0">
                <a:solidFill>
                  <a:srgbClr val="000000"/>
                </a:solidFill>
                <a:effectLst/>
                <a:latin typeface="Consolas" panose="020B0609020204030204" pitchFamily="49" charset="0"/>
              </a:rPr>
              <a:t>        </a:t>
            </a:r>
            <a:r>
              <a:rPr lang="en-US" b="0" i="0" dirty="0">
                <a:solidFill>
                  <a:srgbClr val="708090"/>
                </a:solidFill>
                <a:effectLst/>
                <a:latin typeface="Consolas" panose="020B0609020204030204" pitchFamily="49" charset="0"/>
              </a:rPr>
              <a:t>// Access specifier</a:t>
            </a:r>
            <a:br>
              <a:rPr lang="en-US" b="0" i="0" dirty="0">
                <a:solidFill>
                  <a:srgbClr val="708090"/>
                </a:solidFill>
                <a:effectLst/>
                <a:latin typeface="Consolas" panose="020B0609020204030204" pitchFamily="49" charset="0"/>
              </a:rPr>
            </a:br>
            <a:r>
              <a:rPr lang="en-US" b="0" i="0" dirty="0">
                <a:solidFill>
                  <a:srgbClr val="000000"/>
                </a:solidFill>
                <a:effectLst/>
                <a:latin typeface="Consolas" panose="020B0609020204030204" pitchFamily="49" charset="0"/>
              </a:rPr>
              <a:t>    </a:t>
            </a:r>
            <a:r>
              <a:rPr lang="en-US" b="0" i="0" dirty="0">
                <a:solidFill>
                  <a:srgbClr val="708090"/>
                </a:solidFill>
                <a:effectLst/>
                <a:latin typeface="Consolas" panose="020B0609020204030204" pitchFamily="49" charset="0"/>
              </a:rPr>
              <a:t>// class members goes here</a:t>
            </a:r>
            <a:br>
              <a:rPr lang="en-US" b="0" i="0" dirty="0">
                <a:solidFill>
                  <a:srgbClr val="70809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IN" dirty="0"/>
          </a:p>
        </p:txBody>
      </p:sp>
      <p:sp>
        <p:nvSpPr>
          <p:cNvPr id="7" name="TextBox 6">
            <a:extLst>
              <a:ext uri="{FF2B5EF4-FFF2-40B4-BE49-F238E27FC236}">
                <a16:creationId xmlns:a16="http://schemas.microsoft.com/office/drawing/2014/main" id="{74B18B39-62BB-A9EE-6CEC-A24942DCF398}"/>
              </a:ext>
            </a:extLst>
          </p:cNvPr>
          <p:cNvSpPr txBox="1"/>
          <p:nvPr/>
        </p:nvSpPr>
        <p:spPr>
          <a:xfrm>
            <a:off x="58994" y="1874582"/>
            <a:ext cx="12133006" cy="1179810"/>
          </a:xfrm>
          <a:prstGeom prst="rect">
            <a:avLst/>
          </a:prstGeom>
          <a:noFill/>
        </p:spPr>
        <p:txBody>
          <a:bodyPr wrap="square">
            <a:spAutoFit/>
          </a:bodyPr>
          <a:lstStyle/>
          <a:p>
            <a:pPr algn="l">
              <a:spcBef>
                <a:spcPts val="750"/>
              </a:spcBef>
              <a:spcAft>
                <a:spcPts val="750"/>
              </a:spcAft>
              <a:buNone/>
            </a:pPr>
            <a:r>
              <a:rPr lang="en-US" sz="2800" b="1" i="0" dirty="0">
                <a:solidFill>
                  <a:srgbClr val="000000"/>
                </a:solidFill>
                <a:effectLst/>
                <a:latin typeface="Segoe UI" panose="020B0502040204020203" pitchFamily="34" charset="0"/>
              </a:rPr>
              <a:t>Private</a:t>
            </a:r>
            <a:endParaRPr lang="en-US" b="1" i="0" dirty="0">
              <a:solidFill>
                <a:srgbClr val="000000"/>
              </a:solidFill>
              <a:effectLst/>
              <a:latin typeface="Segoe UI" panose="020B0502040204020203" pitchFamily="34" charset="0"/>
            </a:endParaRPr>
          </a:p>
          <a:p>
            <a:pPr algn="l">
              <a:buNone/>
            </a:pPr>
            <a:r>
              <a:rPr lang="en-US" b="0" i="0" dirty="0">
                <a:solidFill>
                  <a:srgbClr val="000000"/>
                </a:solidFill>
                <a:effectLst/>
                <a:latin typeface="Segoe UI" panose="020B0502040204020203" pitchFamily="34" charset="0"/>
              </a:rPr>
              <a:t>Members declared as </a:t>
            </a:r>
            <a:r>
              <a:rPr lang="en-US" b="0" i="0" dirty="0">
                <a:solidFill>
                  <a:srgbClr val="DC143C"/>
                </a:solidFill>
                <a:effectLst/>
                <a:latin typeface="Consolas" panose="020B0609020204030204" pitchFamily="49" charset="0"/>
              </a:rPr>
              <a:t>private</a:t>
            </a:r>
            <a:r>
              <a:rPr lang="en-US" b="0" i="0" dirty="0">
                <a:solidFill>
                  <a:srgbClr val="000000"/>
                </a:solidFill>
                <a:effectLst/>
                <a:latin typeface="Segoe UI" panose="020B0502040204020203" pitchFamily="34" charset="0"/>
              </a:rPr>
              <a:t> cannot be accessed from outside the class.</a:t>
            </a:r>
          </a:p>
          <a:p>
            <a:pPr algn="l">
              <a:buNone/>
            </a:pPr>
            <a:r>
              <a:rPr lang="en-US" b="0" i="0" dirty="0">
                <a:solidFill>
                  <a:srgbClr val="000000"/>
                </a:solidFill>
                <a:effectLst/>
                <a:latin typeface="Segoe UI" panose="020B0502040204020203" pitchFamily="34" charset="0"/>
              </a:rPr>
              <a:t>In the following example, we demonstrate the differences between </a:t>
            </a:r>
            <a:r>
              <a:rPr lang="en-US" b="0" i="0" dirty="0">
                <a:solidFill>
                  <a:srgbClr val="DC143C"/>
                </a:solidFill>
                <a:effectLst/>
                <a:latin typeface="Consolas" panose="020B0609020204030204" pitchFamily="49" charset="0"/>
              </a:rPr>
              <a:t>public</a:t>
            </a:r>
            <a:r>
              <a:rPr lang="en-US" b="0" i="0" dirty="0">
                <a:solidFill>
                  <a:srgbClr val="000000"/>
                </a:solidFill>
                <a:effectLst/>
                <a:latin typeface="Segoe UI" panose="020B0502040204020203" pitchFamily="34" charset="0"/>
              </a:rPr>
              <a:t> and </a:t>
            </a:r>
            <a:r>
              <a:rPr lang="en-US" b="0" i="0" dirty="0">
                <a:solidFill>
                  <a:srgbClr val="DC143C"/>
                </a:solidFill>
                <a:effectLst/>
                <a:latin typeface="Consolas" panose="020B0609020204030204" pitchFamily="49" charset="0"/>
              </a:rPr>
              <a:t>private</a:t>
            </a:r>
            <a:r>
              <a:rPr lang="en-US" b="0" i="0" dirty="0">
                <a:solidFill>
                  <a:srgbClr val="000000"/>
                </a:solidFill>
                <a:effectLst/>
                <a:latin typeface="Segoe UI" panose="020B0502040204020203" pitchFamily="34" charset="0"/>
              </a:rPr>
              <a:t> members</a:t>
            </a:r>
          </a:p>
        </p:txBody>
      </p:sp>
      <p:sp>
        <p:nvSpPr>
          <p:cNvPr id="9" name="TextBox 8">
            <a:extLst>
              <a:ext uri="{FF2B5EF4-FFF2-40B4-BE49-F238E27FC236}">
                <a16:creationId xmlns:a16="http://schemas.microsoft.com/office/drawing/2014/main" id="{8322367A-C62E-9055-18B7-D21575525DAC}"/>
              </a:ext>
            </a:extLst>
          </p:cNvPr>
          <p:cNvSpPr txBox="1"/>
          <p:nvPr/>
        </p:nvSpPr>
        <p:spPr>
          <a:xfrm>
            <a:off x="58994" y="3054392"/>
            <a:ext cx="5909187" cy="3693319"/>
          </a:xfrm>
          <a:prstGeom prst="rect">
            <a:avLst/>
          </a:prstGeom>
          <a:noFill/>
        </p:spPr>
        <p:txBody>
          <a:bodyPr wrap="square">
            <a:spAutoFit/>
          </a:bodyPr>
          <a:lstStyle/>
          <a:p>
            <a:r>
              <a:rPr lang="en-IN" b="0" i="0" dirty="0">
                <a:solidFill>
                  <a:srgbClr val="005CC5"/>
                </a:solidFill>
                <a:effectLst/>
                <a:latin typeface="Consolas" panose="020B0609020204030204" pitchFamily="49" charset="0"/>
              </a:rPr>
              <a:t>class</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MyClass</a:t>
            </a:r>
            <a:r>
              <a:rPr lang="en-IN" b="0" i="0" dirty="0">
                <a:solidFill>
                  <a:srgbClr val="000000"/>
                </a:solidFill>
                <a:effectLst/>
                <a:latin typeface="Consolas" panose="020B0609020204030204" pitchFamily="49" charset="0"/>
              </a:rPr>
              <a:t> {</a:t>
            </a:r>
            <a:br>
              <a:rPr lang="en-IN" dirty="0"/>
            </a:br>
            <a:r>
              <a:rPr lang="en-IN" b="0" i="0" dirty="0">
                <a:solidFill>
                  <a:srgbClr val="000000"/>
                </a:solidFill>
                <a:effectLst/>
                <a:latin typeface="Consolas" panose="020B0609020204030204" pitchFamily="49" charset="0"/>
              </a:rPr>
              <a:t>  </a:t>
            </a:r>
            <a:r>
              <a:rPr lang="en-IN" b="1" i="0" dirty="0">
                <a:solidFill>
                  <a:srgbClr val="005CC5"/>
                </a:solidFill>
                <a:effectLst/>
                <a:latin typeface="Consolas" panose="020B0609020204030204" pitchFamily="49" charset="0"/>
              </a:rPr>
              <a:t>public</a:t>
            </a:r>
            <a:r>
              <a:rPr lang="en-IN" b="1" i="0" dirty="0">
                <a:solidFill>
                  <a:srgbClr val="000000"/>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708090"/>
                </a:solidFill>
                <a:effectLst/>
                <a:latin typeface="Consolas" panose="020B0609020204030204" pitchFamily="49" charset="0"/>
              </a:rPr>
              <a:t>// Public access specifier</a:t>
            </a:r>
            <a:br>
              <a:rPr lang="en-IN" b="0" i="0" dirty="0">
                <a:solidFill>
                  <a:srgbClr val="708090"/>
                </a:solidFill>
                <a:effectLst/>
                <a:latin typeface="Consolas" panose="020B0609020204030204" pitchFamily="49" charset="0"/>
              </a:rPr>
            </a:b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int</a:t>
            </a:r>
            <a:r>
              <a:rPr lang="en-IN" b="0" i="0" dirty="0">
                <a:solidFill>
                  <a:srgbClr val="000000"/>
                </a:solidFill>
                <a:effectLst/>
                <a:latin typeface="Consolas" panose="020B0609020204030204" pitchFamily="49" charset="0"/>
              </a:rPr>
              <a:t> x;   </a:t>
            </a:r>
            <a:r>
              <a:rPr lang="en-IN" b="0" i="0" dirty="0">
                <a:solidFill>
                  <a:srgbClr val="708090"/>
                </a:solidFill>
                <a:effectLst/>
                <a:latin typeface="Consolas" panose="020B0609020204030204" pitchFamily="49" charset="0"/>
              </a:rPr>
              <a:t>// Public attribute</a:t>
            </a:r>
            <a:br>
              <a:rPr lang="en-IN" b="0" i="0" dirty="0">
                <a:solidFill>
                  <a:srgbClr val="708090"/>
                </a:solidFill>
                <a:effectLst/>
                <a:latin typeface="Consolas" panose="020B0609020204030204" pitchFamily="49" charset="0"/>
              </a:rPr>
            </a:b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 </a:t>
            </a:r>
            <a:r>
              <a:rPr lang="en-IN" b="1" i="0" dirty="0">
                <a:solidFill>
                  <a:srgbClr val="005CC5"/>
                </a:solidFill>
                <a:effectLst/>
                <a:latin typeface="Consolas" panose="020B0609020204030204" pitchFamily="49" charset="0"/>
              </a:rPr>
              <a:t>private</a:t>
            </a:r>
            <a:r>
              <a:rPr lang="en-IN" b="1" i="0" dirty="0">
                <a:solidFill>
                  <a:srgbClr val="000000"/>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708090"/>
                </a:solidFill>
                <a:effectLst/>
                <a:latin typeface="Consolas" panose="020B0609020204030204" pitchFamily="49" charset="0"/>
              </a:rPr>
              <a:t>// Private access specifier</a:t>
            </a:r>
            <a:br>
              <a:rPr lang="en-IN" b="0" i="0" dirty="0">
                <a:solidFill>
                  <a:srgbClr val="708090"/>
                </a:solidFill>
                <a:effectLst/>
                <a:latin typeface="Consolas" panose="020B0609020204030204" pitchFamily="49" charset="0"/>
              </a:rPr>
            </a:b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int</a:t>
            </a:r>
            <a:r>
              <a:rPr lang="en-IN" b="0" i="0" dirty="0">
                <a:solidFill>
                  <a:srgbClr val="000000"/>
                </a:solidFill>
                <a:effectLst/>
                <a:latin typeface="Consolas" panose="020B0609020204030204" pitchFamily="49" charset="0"/>
              </a:rPr>
              <a:t> y;   </a:t>
            </a:r>
            <a:r>
              <a:rPr lang="en-IN" b="0" i="0" dirty="0">
                <a:solidFill>
                  <a:srgbClr val="708090"/>
                </a:solidFill>
                <a:effectLst/>
                <a:latin typeface="Consolas" panose="020B0609020204030204" pitchFamily="49" charset="0"/>
              </a:rPr>
              <a:t>// Private attribute</a:t>
            </a:r>
            <a:br>
              <a:rPr lang="en-IN" b="0" i="0" dirty="0">
                <a:solidFill>
                  <a:srgbClr val="708090"/>
                </a:solidFill>
                <a:effectLst/>
                <a:latin typeface="Consolas" panose="020B0609020204030204" pitchFamily="49" charset="0"/>
              </a:rPr>
            </a:br>
            <a:r>
              <a:rPr lang="en-IN" b="0" i="0" dirty="0">
                <a:solidFill>
                  <a:srgbClr val="000000"/>
                </a:solidFill>
                <a:effectLst/>
                <a:latin typeface="Consolas" panose="020B0609020204030204" pitchFamily="49" charset="0"/>
              </a:rPr>
              <a:t>};</a:t>
            </a:r>
            <a:br>
              <a:rPr lang="en-IN" dirty="0"/>
            </a:br>
            <a:br>
              <a:rPr lang="en-IN" dirty="0"/>
            </a:br>
            <a:r>
              <a:rPr lang="en-IN" b="0" i="0" dirty="0">
                <a:solidFill>
                  <a:srgbClr val="005CC5"/>
                </a:solidFill>
                <a:effectLst/>
                <a:latin typeface="Consolas" panose="020B0609020204030204" pitchFamily="49" charset="0"/>
              </a:rPr>
              <a:t>int</a:t>
            </a:r>
            <a:r>
              <a:rPr lang="en-IN" b="0" i="0" dirty="0">
                <a:solidFill>
                  <a:srgbClr val="000000"/>
                </a:solidFill>
                <a:effectLst/>
                <a:latin typeface="Consolas" panose="020B0609020204030204" pitchFamily="49" charset="0"/>
              </a:rPr>
              <a:t> main() {</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MyClass</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myObj</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myObj.x</a:t>
            </a:r>
            <a:r>
              <a:rPr lang="en-IN" b="0" i="0" dirty="0">
                <a:solidFill>
                  <a:srgbClr val="000000"/>
                </a:solidFill>
                <a:effectLst/>
                <a:latin typeface="Consolas" panose="020B0609020204030204" pitchFamily="49" charset="0"/>
              </a:rPr>
              <a:t> = </a:t>
            </a:r>
            <a:r>
              <a:rPr lang="en-IN" b="0" i="0" dirty="0">
                <a:solidFill>
                  <a:srgbClr val="990055"/>
                </a:solidFill>
                <a:effectLst/>
                <a:latin typeface="Consolas" panose="020B0609020204030204" pitchFamily="49" charset="0"/>
              </a:rPr>
              <a:t>25</a:t>
            </a:r>
            <a:r>
              <a:rPr lang="en-IN" b="0" i="0" dirty="0">
                <a:solidFill>
                  <a:srgbClr val="000000"/>
                </a:solidFill>
                <a:effectLst/>
                <a:latin typeface="Consolas" panose="020B0609020204030204" pitchFamily="49" charset="0"/>
              </a:rPr>
              <a:t>;  </a:t>
            </a:r>
            <a:r>
              <a:rPr lang="en-IN" b="0" i="0" dirty="0">
                <a:solidFill>
                  <a:srgbClr val="708090"/>
                </a:solidFill>
                <a:effectLst/>
                <a:latin typeface="Consolas" panose="020B0609020204030204" pitchFamily="49" charset="0"/>
              </a:rPr>
              <a:t>// Allowed (public)</a:t>
            </a:r>
            <a:br>
              <a:rPr lang="en-IN" b="0" i="0" dirty="0">
                <a:solidFill>
                  <a:srgbClr val="708090"/>
                </a:solidFill>
                <a:effectLst/>
                <a:latin typeface="Consolas" panose="020B0609020204030204" pitchFamily="49" charset="0"/>
              </a:rPr>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myObj.y</a:t>
            </a:r>
            <a:r>
              <a:rPr lang="en-IN" b="0" i="0" dirty="0">
                <a:solidFill>
                  <a:srgbClr val="000000"/>
                </a:solidFill>
                <a:effectLst/>
                <a:latin typeface="Consolas" panose="020B0609020204030204" pitchFamily="49" charset="0"/>
              </a:rPr>
              <a:t> = </a:t>
            </a:r>
            <a:r>
              <a:rPr lang="en-IN" b="0" i="0" dirty="0">
                <a:solidFill>
                  <a:srgbClr val="990055"/>
                </a:solidFill>
                <a:effectLst/>
                <a:latin typeface="Consolas" panose="020B0609020204030204" pitchFamily="49" charset="0"/>
              </a:rPr>
              <a:t>50</a:t>
            </a:r>
            <a:r>
              <a:rPr lang="en-IN" b="0" i="0" dirty="0">
                <a:solidFill>
                  <a:srgbClr val="000000"/>
                </a:solidFill>
                <a:effectLst/>
                <a:latin typeface="Consolas" panose="020B0609020204030204" pitchFamily="49" charset="0"/>
              </a:rPr>
              <a:t>;  </a:t>
            </a:r>
            <a:r>
              <a:rPr lang="en-IN" b="0" i="0" dirty="0">
                <a:solidFill>
                  <a:srgbClr val="708090"/>
                </a:solidFill>
                <a:effectLst/>
                <a:latin typeface="Consolas" panose="020B0609020204030204" pitchFamily="49" charset="0"/>
              </a:rPr>
              <a:t>// Not allowed (private)</a:t>
            </a:r>
            <a:br>
              <a:rPr lang="en-IN" b="0" i="0" dirty="0">
                <a:solidFill>
                  <a:srgbClr val="708090"/>
                </a:solidFill>
                <a:effectLst/>
                <a:latin typeface="Consolas" panose="020B0609020204030204" pitchFamily="49" charset="0"/>
              </a:rPr>
            </a:br>
            <a:r>
              <a:rPr lang="en-IN" b="0" i="0" dirty="0">
                <a:solidFill>
                  <a:srgbClr val="000000"/>
                </a:solidFill>
                <a:effectLst/>
                <a:latin typeface="Consolas" panose="020B0609020204030204" pitchFamily="49" charset="0"/>
              </a:rPr>
              <a:t>  </a:t>
            </a:r>
            <a:r>
              <a:rPr lang="en-IN" b="0" i="0" dirty="0">
                <a:solidFill>
                  <a:srgbClr val="005CC5"/>
                </a:solidFill>
                <a:effectLst/>
                <a:latin typeface="Consolas" panose="020B0609020204030204" pitchFamily="49" charset="0"/>
              </a:rPr>
              <a:t>return</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0</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a:t>
            </a:r>
            <a:endParaRPr lang="en-IN" dirty="0"/>
          </a:p>
        </p:txBody>
      </p:sp>
      <p:sp>
        <p:nvSpPr>
          <p:cNvPr id="15" name="TextBox 14">
            <a:extLst>
              <a:ext uri="{FF2B5EF4-FFF2-40B4-BE49-F238E27FC236}">
                <a16:creationId xmlns:a16="http://schemas.microsoft.com/office/drawing/2014/main" id="{6F08AA2C-897E-DB71-F928-BDDBC0ECF4FA}"/>
              </a:ext>
            </a:extLst>
          </p:cNvPr>
          <p:cNvSpPr txBox="1"/>
          <p:nvPr/>
        </p:nvSpPr>
        <p:spPr>
          <a:xfrm>
            <a:off x="6939117" y="4347053"/>
            <a:ext cx="4751438" cy="584775"/>
          </a:xfrm>
          <a:prstGeom prst="rect">
            <a:avLst/>
          </a:prstGeom>
          <a:noFill/>
        </p:spPr>
        <p:txBody>
          <a:bodyPr wrap="square">
            <a:spAutoFit/>
          </a:bodyPr>
          <a:lstStyle/>
          <a:p>
            <a:r>
              <a:rPr lang="en-IN" sz="3200" dirty="0"/>
              <a:t>error: y is private</a:t>
            </a:r>
          </a:p>
        </p:txBody>
      </p:sp>
    </p:spTree>
    <p:extLst>
      <p:ext uri="{BB962C8B-B14F-4D97-AF65-F5344CB8AC3E}">
        <p14:creationId xmlns:p14="http://schemas.microsoft.com/office/powerpoint/2010/main" val="32711318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35BAF3-348A-6DCB-464C-D24BBF3CA7EC}"/>
              </a:ext>
            </a:extLst>
          </p:cNvPr>
          <p:cNvSpPr txBox="1"/>
          <p:nvPr/>
        </p:nvSpPr>
        <p:spPr>
          <a:xfrm>
            <a:off x="78658" y="1125549"/>
            <a:ext cx="12024852" cy="5617466"/>
          </a:xfrm>
          <a:prstGeom prst="rect">
            <a:avLst/>
          </a:prstGeom>
          <a:noFill/>
        </p:spPr>
        <p:txBody>
          <a:bodyPr wrap="square" numCol="2">
            <a:spAutoFit/>
          </a:bodyPr>
          <a:lstStyle/>
          <a:p>
            <a:r>
              <a:rPr lang="en-IN" sz="2000" b="0" i="0" dirty="0">
                <a:effectLst/>
                <a:latin typeface="Consolas" panose="020B0609020204030204" pitchFamily="49" charset="0"/>
              </a:rPr>
              <a:t>#include &lt;iostream&gt;</a:t>
            </a:r>
            <a:br>
              <a:rPr lang="en-IN" sz="2000" dirty="0"/>
            </a:br>
            <a:r>
              <a:rPr lang="en-IN" sz="2000" b="0" i="0" dirty="0">
                <a:effectLst/>
                <a:latin typeface="Consolas" panose="020B0609020204030204" pitchFamily="49" charset="0"/>
              </a:rPr>
              <a:t>using namespace std;</a:t>
            </a:r>
            <a:br>
              <a:rPr lang="en-IN" sz="2000" dirty="0"/>
            </a:br>
            <a:br>
              <a:rPr lang="en-IN" sz="2000" dirty="0"/>
            </a:br>
            <a:r>
              <a:rPr lang="en-IN" sz="2000" b="0" i="0" dirty="0">
                <a:effectLst/>
                <a:latin typeface="Consolas" panose="020B0609020204030204" pitchFamily="49" charset="0"/>
              </a:rPr>
              <a:t>class Employee {</a:t>
            </a:r>
            <a:br>
              <a:rPr lang="en-IN" sz="2000" dirty="0"/>
            </a:br>
            <a:r>
              <a:rPr lang="en-IN" sz="2000" b="0" i="0" dirty="0">
                <a:effectLst/>
                <a:latin typeface="Consolas" panose="020B0609020204030204" pitchFamily="49" charset="0"/>
              </a:rPr>
              <a:t>  private:</a:t>
            </a:r>
            <a:br>
              <a:rPr lang="en-IN" sz="2000" dirty="0"/>
            </a:br>
            <a:r>
              <a:rPr lang="en-IN" sz="2000" b="0" i="0" dirty="0">
                <a:effectLst/>
                <a:latin typeface="Consolas" panose="020B0609020204030204" pitchFamily="49" charset="0"/>
              </a:rPr>
              <a:t>    // Private attribute</a:t>
            </a:r>
            <a:br>
              <a:rPr lang="en-IN" sz="2000" b="0" i="0" dirty="0">
                <a:effectLst/>
                <a:latin typeface="Consolas" panose="020B0609020204030204" pitchFamily="49" charset="0"/>
              </a:rPr>
            </a:br>
            <a:r>
              <a:rPr lang="en-IN" sz="2000" b="0" i="0" dirty="0">
                <a:effectLst/>
                <a:latin typeface="Consolas" panose="020B0609020204030204" pitchFamily="49" charset="0"/>
              </a:rPr>
              <a:t>    int salary;</a:t>
            </a:r>
            <a:br>
              <a:rPr lang="en-IN" sz="2000" dirty="0"/>
            </a:br>
            <a:br>
              <a:rPr lang="en-IN" sz="2000" dirty="0"/>
            </a:br>
            <a:r>
              <a:rPr lang="en-IN" sz="2000" b="0" i="0" dirty="0">
                <a:effectLst/>
                <a:latin typeface="Consolas" panose="020B0609020204030204" pitchFamily="49" charset="0"/>
              </a:rPr>
              <a:t>  public:</a:t>
            </a:r>
            <a:br>
              <a:rPr lang="en-IN" sz="2000" dirty="0"/>
            </a:br>
            <a:r>
              <a:rPr lang="en-IN" sz="2000" b="0" i="0" dirty="0">
                <a:effectLst/>
                <a:latin typeface="Consolas" panose="020B0609020204030204" pitchFamily="49" charset="0"/>
              </a:rPr>
              <a:t>    // Setter</a:t>
            </a:r>
            <a:br>
              <a:rPr lang="en-IN" sz="2000" b="0" i="0" dirty="0">
                <a:effectLst/>
                <a:latin typeface="Consolas" panose="020B0609020204030204" pitchFamily="49" charset="0"/>
              </a:rPr>
            </a:br>
            <a:r>
              <a:rPr lang="en-IN" sz="2000" b="0" i="0" dirty="0">
                <a:effectLst/>
                <a:latin typeface="Consolas" panose="020B0609020204030204" pitchFamily="49" charset="0"/>
              </a:rPr>
              <a:t>    void </a:t>
            </a:r>
            <a:r>
              <a:rPr lang="en-IN" sz="2000" b="0" i="0" dirty="0" err="1">
                <a:effectLst/>
                <a:latin typeface="Consolas" panose="020B0609020204030204" pitchFamily="49" charset="0"/>
              </a:rPr>
              <a:t>setSalary</a:t>
            </a:r>
            <a:r>
              <a:rPr lang="en-IN" sz="2000" b="0" i="0" dirty="0">
                <a:effectLst/>
                <a:latin typeface="Consolas" panose="020B0609020204030204" pitchFamily="49" charset="0"/>
              </a:rPr>
              <a:t>(int s) {</a:t>
            </a:r>
            <a:br>
              <a:rPr lang="en-IN" sz="2000" dirty="0"/>
            </a:br>
            <a:r>
              <a:rPr lang="en-IN" sz="2000" b="0" i="0" dirty="0">
                <a:effectLst/>
                <a:latin typeface="Consolas" panose="020B0609020204030204" pitchFamily="49" charset="0"/>
              </a:rPr>
              <a:t>      salary = s;</a:t>
            </a:r>
            <a:br>
              <a:rPr lang="en-IN" sz="2000" dirty="0"/>
            </a:br>
            <a:r>
              <a:rPr lang="en-IN" sz="2000" b="0" i="0" dirty="0">
                <a:effectLst/>
                <a:latin typeface="Consolas" panose="020B0609020204030204" pitchFamily="49" charset="0"/>
              </a:rPr>
              <a:t>    }</a:t>
            </a:r>
            <a:br>
              <a:rPr lang="en-IN" sz="2000" dirty="0"/>
            </a:br>
            <a:r>
              <a:rPr lang="en-IN" sz="2000" b="0" i="0" dirty="0">
                <a:effectLst/>
                <a:latin typeface="Consolas" panose="020B0609020204030204" pitchFamily="49" charset="0"/>
              </a:rPr>
              <a:t>    // Getter</a:t>
            </a:r>
            <a:br>
              <a:rPr lang="en-IN" sz="2000" b="0" i="0" dirty="0">
                <a:effectLst/>
                <a:latin typeface="Consolas" panose="020B0609020204030204" pitchFamily="49" charset="0"/>
              </a:rPr>
            </a:br>
            <a:r>
              <a:rPr lang="en-IN" sz="2000" b="0" i="0" dirty="0">
                <a:effectLst/>
                <a:latin typeface="Consolas" panose="020B0609020204030204" pitchFamily="49" charset="0"/>
              </a:rPr>
              <a:t>    int </a:t>
            </a:r>
            <a:r>
              <a:rPr lang="en-IN" sz="2000" b="0" i="0" dirty="0" err="1">
                <a:effectLst/>
                <a:latin typeface="Consolas" panose="020B0609020204030204" pitchFamily="49" charset="0"/>
              </a:rPr>
              <a:t>getSalary</a:t>
            </a:r>
            <a:r>
              <a:rPr lang="en-IN" sz="2000" b="0" i="0" dirty="0">
                <a:effectLst/>
                <a:latin typeface="Consolas" panose="020B0609020204030204" pitchFamily="49" charset="0"/>
              </a:rPr>
              <a:t>() {</a:t>
            </a:r>
            <a:br>
              <a:rPr lang="en-IN" sz="2000" dirty="0"/>
            </a:br>
            <a:r>
              <a:rPr lang="en-IN" sz="2000" b="0" i="0" dirty="0">
                <a:effectLst/>
                <a:latin typeface="Consolas" panose="020B0609020204030204" pitchFamily="49" charset="0"/>
              </a:rPr>
              <a:t>      return salary;</a:t>
            </a:r>
            <a:br>
              <a:rPr lang="en-IN" sz="2000" dirty="0"/>
            </a:br>
            <a:r>
              <a:rPr lang="en-IN" sz="2000" b="0" i="0" dirty="0">
                <a:effectLst/>
                <a:latin typeface="Consolas" panose="020B0609020204030204" pitchFamily="49" charset="0"/>
              </a:rPr>
              <a:t>    }</a:t>
            </a:r>
            <a:br>
              <a:rPr lang="en-IN" sz="2000" dirty="0"/>
            </a:br>
            <a:r>
              <a:rPr lang="en-IN" sz="2000" b="0" i="0" dirty="0">
                <a:effectLst/>
                <a:latin typeface="Consolas" panose="020B0609020204030204" pitchFamily="49" charset="0"/>
              </a:rPr>
              <a:t>};</a:t>
            </a:r>
            <a:br>
              <a:rPr lang="en-IN" sz="2000" dirty="0"/>
            </a:br>
            <a:r>
              <a:rPr lang="en-IN" sz="2000" b="0" i="0" dirty="0">
                <a:effectLst/>
                <a:latin typeface="Consolas" panose="020B0609020204030204" pitchFamily="49" charset="0"/>
              </a:rPr>
              <a:t>int main() {</a:t>
            </a:r>
            <a:br>
              <a:rPr lang="en-IN" sz="2000" dirty="0"/>
            </a:br>
            <a:r>
              <a:rPr lang="en-IN" sz="2000" b="0" i="0" dirty="0">
                <a:effectLst/>
                <a:latin typeface="Consolas" panose="020B0609020204030204" pitchFamily="49" charset="0"/>
              </a:rPr>
              <a:t>  Employee </a:t>
            </a:r>
            <a:r>
              <a:rPr lang="en-IN" sz="2000" b="0" i="0" dirty="0" err="1">
                <a:effectLst/>
                <a:latin typeface="Consolas" panose="020B0609020204030204" pitchFamily="49" charset="0"/>
              </a:rPr>
              <a:t>myObj</a:t>
            </a:r>
            <a:r>
              <a:rPr lang="en-IN" sz="2000" b="0" i="0" dirty="0">
                <a:effectLst/>
                <a:latin typeface="Consolas" panose="020B0609020204030204" pitchFamily="49" charset="0"/>
              </a:rPr>
              <a:t>;</a:t>
            </a:r>
            <a:br>
              <a:rPr lang="en-IN" sz="2000" dirty="0"/>
            </a:br>
            <a:r>
              <a:rPr lang="en-IN" sz="2000" b="0" i="0" dirty="0">
                <a:effectLst/>
                <a:latin typeface="Consolas" panose="020B0609020204030204" pitchFamily="49" charset="0"/>
              </a:rPr>
              <a:t>  </a:t>
            </a:r>
            <a:r>
              <a:rPr lang="en-IN" sz="2000" b="0" i="0" dirty="0" err="1">
                <a:effectLst/>
                <a:latin typeface="Consolas" panose="020B0609020204030204" pitchFamily="49" charset="0"/>
              </a:rPr>
              <a:t>myObj.setSalary</a:t>
            </a:r>
            <a:r>
              <a:rPr lang="en-IN" sz="2000" b="0" i="0" dirty="0">
                <a:effectLst/>
                <a:latin typeface="Consolas" panose="020B0609020204030204" pitchFamily="49" charset="0"/>
              </a:rPr>
              <a:t>(50000);</a:t>
            </a:r>
            <a:br>
              <a:rPr lang="en-IN" sz="2000" dirty="0"/>
            </a:br>
            <a:r>
              <a:rPr lang="en-IN" sz="2000" b="0" i="0" dirty="0">
                <a:effectLst/>
                <a:latin typeface="Consolas" panose="020B0609020204030204" pitchFamily="49" charset="0"/>
              </a:rPr>
              <a:t>  </a:t>
            </a:r>
            <a:r>
              <a:rPr lang="en-IN" sz="2000" b="0" i="0" dirty="0" err="1">
                <a:effectLst/>
                <a:latin typeface="Consolas" panose="020B0609020204030204" pitchFamily="49" charset="0"/>
              </a:rPr>
              <a:t>cout</a:t>
            </a:r>
            <a:r>
              <a:rPr lang="en-IN" sz="2000" b="0" i="0" dirty="0">
                <a:effectLst/>
                <a:latin typeface="Consolas" panose="020B0609020204030204" pitchFamily="49" charset="0"/>
              </a:rPr>
              <a:t> &lt;&lt; </a:t>
            </a:r>
            <a:r>
              <a:rPr lang="en-IN" sz="2000" b="0" i="0" dirty="0" err="1">
                <a:effectLst/>
                <a:latin typeface="Consolas" panose="020B0609020204030204" pitchFamily="49" charset="0"/>
              </a:rPr>
              <a:t>myObj.getSalary</a:t>
            </a:r>
            <a:r>
              <a:rPr lang="en-IN" sz="2000" b="0" i="0" dirty="0">
                <a:effectLst/>
                <a:latin typeface="Consolas" panose="020B0609020204030204" pitchFamily="49" charset="0"/>
              </a:rPr>
              <a:t>();</a:t>
            </a:r>
            <a:br>
              <a:rPr lang="en-IN" sz="2000" dirty="0"/>
            </a:br>
            <a:r>
              <a:rPr lang="en-IN" sz="2000" b="0" i="0" dirty="0">
                <a:effectLst/>
                <a:latin typeface="Consolas" panose="020B0609020204030204" pitchFamily="49" charset="0"/>
              </a:rPr>
              <a:t>  return 0;</a:t>
            </a:r>
            <a:br>
              <a:rPr lang="en-IN" sz="2000" dirty="0"/>
            </a:br>
            <a:r>
              <a:rPr lang="en-IN" sz="2000" b="0" i="0" dirty="0">
                <a:effectLst/>
                <a:latin typeface="Consolas" panose="020B0609020204030204" pitchFamily="49" charset="0"/>
              </a:rPr>
              <a:t>}</a:t>
            </a:r>
            <a:endParaRPr lang="en-IN" sz="2000" dirty="0"/>
          </a:p>
        </p:txBody>
      </p:sp>
      <p:sp>
        <p:nvSpPr>
          <p:cNvPr id="5" name="TextBox 4">
            <a:extLst>
              <a:ext uri="{FF2B5EF4-FFF2-40B4-BE49-F238E27FC236}">
                <a16:creationId xmlns:a16="http://schemas.microsoft.com/office/drawing/2014/main" id="{2E1A0A64-02D0-0073-D985-4BD0C2B51402}"/>
              </a:ext>
            </a:extLst>
          </p:cNvPr>
          <p:cNvSpPr txBox="1"/>
          <p:nvPr/>
        </p:nvSpPr>
        <p:spPr>
          <a:xfrm>
            <a:off x="353962" y="356108"/>
            <a:ext cx="9232490" cy="769441"/>
          </a:xfrm>
          <a:prstGeom prst="rect">
            <a:avLst/>
          </a:prstGeom>
          <a:noFill/>
        </p:spPr>
        <p:txBody>
          <a:bodyPr wrap="square">
            <a:spAutoFit/>
          </a:bodyPr>
          <a:lstStyle/>
          <a:p>
            <a:pPr algn="l">
              <a:spcBef>
                <a:spcPts val="750"/>
              </a:spcBef>
              <a:spcAft>
                <a:spcPts val="750"/>
              </a:spcAft>
              <a:buNone/>
            </a:pPr>
            <a:r>
              <a:rPr lang="en-IN" sz="4400" b="1" i="0" dirty="0">
                <a:solidFill>
                  <a:srgbClr val="000000"/>
                </a:solidFill>
                <a:effectLst/>
                <a:latin typeface="Segoe UI" panose="020B0502040204020203" pitchFamily="34" charset="0"/>
              </a:rPr>
              <a:t>Encapsulation</a:t>
            </a:r>
          </a:p>
        </p:txBody>
      </p:sp>
    </p:spTree>
    <p:extLst>
      <p:ext uri="{BB962C8B-B14F-4D97-AF65-F5344CB8AC3E}">
        <p14:creationId xmlns:p14="http://schemas.microsoft.com/office/powerpoint/2010/main" val="12991300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E352ED-204C-BDBB-E91F-3C28F1F3F4C9}"/>
              </a:ext>
            </a:extLst>
          </p:cNvPr>
          <p:cNvSpPr txBox="1"/>
          <p:nvPr/>
        </p:nvSpPr>
        <p:spPr>
          <a:xfrm>
            <a:off x="157317" y="124031"/>
            <a:ext cx="11926528" cy="2800767"/>
          </a:xfrm>
          <a:prstGeom prst="rect">
            <a:avLst/>
          </a:prstGeom>
          <a:noFill/>
        </p:spPr>
        <p:txBody>
          <a:bodyPr wrap="square">
            <a:spAutoFit/>
          </a:bodyPr>
          <a:lstStyle/>
          <a:p>
            <a:r>
              <a:rPr lang="en-US" sz="3200" b="1" dirty="0"/>
              <a:t>C++ Friend Functions</a:t>
            </a:r>
          </a:p>
          <a:p>
            <a:r>
              <a:rPr lang="en-US" sz="2400" dirty="0"/>
              <a:t>Normally, private members of a class can only be accessed using public methods like getters and setters. But in some cases, you can use a special function called a friend function to access them directly.</a:t>
            </a:r>
          </a:p>
          <a:p>
            <a:endParaRPr lang="en-US" sz="2400" dirty="0"/>
          </a:p>
          <a:p>
            <a:r>
              <a:rPr lang="en-US" sz="2400" dirty="0"/>
              <a:t>A friend function is not a member of the class, but it is allowed to access the class's private data:</a:t>
            </a:r>
            <a:endParaRPr lang="en-IN" sz="2400" dirty="0"/>
          </a:p>
        </p:txBody>
      </p:sp>
      <p:sp>
        <p:nvSpPr>
          <p:cNvPr id="5" name="TextBox 4">
            <a:extLst>
              <a:ext uri="{FF2B5EF4-FFF2-40B4-BE49-F238E27FC236}">
                <a16:creationId xmlns:a16="http://schemas.microsoft.com/office/drawing/2014/main" id="{30039A22-458C-D1BD-EC5B-E235DB3F82FE}"/>
              </a:ext>
            </a:extLst>
          </p:cNvPr>
          <p:cNvSpPr txBox="1"/>
          <p:nvPr/>
        </p:nvSpPr>
        <p:spPr>
          <a:xfrm>
            <a:off x="108155" y="2835698"/>
            <a:ext cx="11926528" cy="3820742"/>
          </a:xfrm>
          <a:prstGeom prst="rect">
            <a:avLst/>
          </a:prstGeom>
          <a:noFill/>
        </p:spPr>
        <p:txBody>
          <a:bodyPr wrap="square" numCol="2">
            <a:spAutoFit/>
          </a:bodyPr>
          <a:lstStyle/>
          <a:p>
            <a:r>
              <a:rPr lang="en-IN" dirty="0"/>
              <a:t>class Employee {</a:t>
            </a:r>
          </a:p>
          <a:p>
            <a:r>
              <a:rPr lang="en-IN" dirty="0"/>
              <a:t>  private:</a:t>
            </a:r>
          </a:p>
          <a:p>
            <a:r>
              <a:rPr lang="en-IN" dirty="0"/>
              <a:t>    int salary;</a:t>
            </a:r>
          </a:p>
          <a:p>
            <a:endParaRPr lang="en-IN" dirty="0"/>
          </a:p>
          <a:p>
            <a:r>
              <a:rPr lang="en-IN" dirty="0"/>
              <a:t>  public:</a:t>
            </a:r>
          </a:p>
          <a:p>
            <a:r>
              <a:rPr lang="en-IN" dirty="0"/>
              <a:t>    Employee(int s) {</a:t>
            </a:r>
          </a:p>
          <a:p>
            <a:r>
              <a:rPr lang="en-IN" dirty="0"/>
              <a:t>      salary = s;</a:t>
            </a:r>
          </a:p>
          <a:p>
            <a:r>
              <a:rPr lang="en-IN" dirty="0"/>
              <a:t>    }</a:t>
            </a:r>
          </a:p>
          <a:p>
            <a:endParaRPr lang="en-IN" dirty="0"/>
          </a:p>
          <a:p>
            <a:r>
              <a:rPr lang="en-IN" dirty="0"/>
              <a:t>    // Declare friend function</a:t>
            </a:r>
          </a:p>
          <a:p>
            <a:r>
              <a:rPr lang="en-IN" dirty="0"/>
              <a:t>    friend void </a:t>
            </a:r>
            <a:r>
              <a:rPr lang="en-IN" dirty="0" err="1"/>
              <a:t>displaySalary</a:t>
            </a:r>
            <a:r>
              <a:rPr lang="en-IN" dirty="0"/>
              <a:t>(Employee emp);</a:t>
            </a:r>
          </a:p>
          <a:p>
            <a:r>
              <a:rPr lang="en-IN" dirty="0"/>
              <a:t>};</a:t>
            </a:r>
          </a:p>
          <a:p>
            <a:endParaRPr lang="en-IN" dirty="0"/>
          </a:p>
          <a:p>
            <a:r>
              <a:rPr lang="en-IN" dirty="0"/>
              <a:t>void </a:t>
            </a:r>
            <a:r>
              <a:rPr lang="en-IN" dirty="0" err="1"/>
              <a:t>displaySalary</a:t>
            </a:r>
            <a:r>
              <a:rPr lang="en-IN" dirty="0"/>
              <a:t>(Employee emp) {</a:t>
            </a:r>
          </a:p>
          <a:p>
            <a:r>
              <a:rPr lang="en-IN" dirty="0"/>
              <a:t>  </a:t>
            </a:r>
            <a:r>
              <a:rPr lang="en-IN" dirty="0" err="1"/>
              <a:t>cout</a:t>
            </a:r>
            <a:r>
              <a:rPr lang="en-IN" dirty="0"/>
              <a:t> &lt;&lt; "Salary: " &lt;&lt; </a:t>
            </a:r>
            <a:r>
              <a:rPr lang="en-IN" dirty="0" err="1"/>
              <a:t>emp.salary</a:t>
            </a:r>
            <a:r>
              <a:rPr lang="en-IN" dirty="0"/>
              <a:t>;</a:t>
            </a:r>
          </a:p>
          <a:p>
            <a:r>
              <a:rPr lang="en-IN" dirty="0"/>
              <a:t>}</a:t>
            </a:r>
          </a:p>
          <a:p>
            <a:endParaRPr lang="en-IN" dirty="0"/>
          </a:p>
          <a:p>
            <a:r>
              <a:rPr lang="en-IN" dirty="0"/>
              <a:t>int main() {</a:t>
            </a:r>
          </a:p>
          <a:p>
            <a:r>
              <a:rPr lang="en-IN" dirty="0"/>
              <a:t>  Employee </a:t>
            </a:r>
            <a:r>
              <a:rPr lang="en-IN" dirty="0" err="1"/>
              <a:t>myEmp</a:t>
            </a:r>
            <a:r>
              <a:rPr lang="en-IN" dirty="0"/>
              <a:t>(50000);</a:t>
            </a:r>
          </a:p>
          <a:p>
            <a:r>
              <a:rPr lang="en-IN" dirty="0"/>
              <a:t>  </a:t>
            </a:r>
            <a:r>
              <a:rPr lang="en-IN" dirty="0" err="1"/>
              <a:t>displaySalary</a:t>
            </a:r>
            <a:r>
              <a:rPr lang="en-IN" dirty="0"/>
              <a:t>(</a:t>
            </a:r>
            <a:r>
              <a:rPr lang="en-IN" dirty="0" err="1"/>
              <a:t>myEmp</a:t>
            </a:r>
            <a:r>
              <a:rPr lang="en-IN" dirty="0"/>
              <a:t>);</a:t>
            </a:r>
          </a:p>
          <a:p>
            <a:r>
              <a:rPr lang="en-IN" dirty="0"/>
              <a:t>  return 0;</a:t>
            </a:r>
          </a:p>
          <a:p>
            <a:r>
              <a:rPr lang="en-IN" dirty="0"/>
              <a:t>}</a:t>
            </a:r>
          </a:p>
        </p:txBody>
      </p:sp>
    </p:spTree>
    <p:extLst>
      <p:ext uri="{BB962C8B-B14F-4D97-AF65-F5344CB8AC3E}">
        <p14:creationId xmlns:p14="http://schemas.microsoft.com/office/powerpoint/2010/main" val="2883436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553D7F-4EFA-A7B6-8714-BA0E0283D06F}"/>
              </a:ext>
            </a:extLst>
          </p:cNvPr>
          <p:cNvSpPr txBox="1"/>
          <p:nvPr/>
        </p:nvSpPr>
        <p:spPr>
          <a:xfrm>
            <a:off x="98321" y="217676"/>
            <a:ext cx="11700387" cy="3703578"/>
          </a:xfrm>
          <a:prstGeom prst="rect">
            <a:avLst/>
          </a:prstGeom>
          <a:noFill/>
        </p:spPr>
        <p:txBody>
          <a:bodyPr wrap="square">
            <a:spAutoFit/>
          </a:bodyPr>
          <a:lstStyle/>
          <a:p>
            <a:pPr algn="l">
              <a:spcBef>
                <a:spcPts val="750"/>
              </a:spcBef>
              <a:spcAft>
                <a:spcPts val="750"/>
              </a:spcAft>
              <a:buNone/>
            </a:pPr>
            <a:r>
              <a:rPr lang="en-US" sz="3600" b="0" i="0" dirty="0">
                <a:effectLst/>
                <a:latin typeface="Segoe UI" panose="020B0502040204020203" pitchFamily="34" charset="0"/>
              </a:rPr>
              <a:t>Inheritance</a:t>
            </a:r>
          </a:p>
          <a:p>
            <a:pPr algn="l">
              <a:buNone/>
            </a:pPr>
            <a:r>
              <a:rPr lang="en-US" sz="2400" b="1" i="0" dirty="0">
                <a:effectLst/>
                <a:latin typeface="Segoe UI" panose="020B0502040204020203" pitchFamily="34" charset="0"/>
              </a:rPr>
              <a:t>Inheritance</a:t>
            </a:r>
            <a:r>
              <a:rPr lang="en-US" sz="2400" b="0" i="0" dirty="0">
                <a:effectLst/>
                <a:latin typeface="Segoe UI" panose="020B0502040204020203" pitchFamily="34" charset="0"/>
              </a:rPr>
              <a:t> allows one class to reuse attributes and methods from another class. It helps you write cleaner, more efficient code by avoiding duplication.</a:t>
            </a:r>
          </a:p>
          <a:p>
            <a:pPr algn="l">
              <a:buNone/>
            </a:pPr>
            <a:r>
              <a:rPr lang="en-US" sz="2400" b="0" i="0" dirty="0">
                <a:effectLst/>
                <a:latin typeface="Segoe UI" panose="020B0502040204020203" pitchFamily="34" charset="0"/>
              </a:rPr>
              <a:t>We group the "inheritance concept" into two categories:</a:t>
            </a:r>
          </a:p>
          <a:p>
            <a:pPr algn="l">
              <a:buFont typeface="Arial" panose="020B0604020202020204" pitchFamily="34" charset="0"/>
              <a:buChar char="•"/>
            </a:pPr>
            <a:r>
              <a:rPr lang="en-US" sz="2400" b="1" i="0" dirty="0">
                <a:effectLst/>
                <a:latin typeface="Segoe UI" panose="020B0502040204020203" pitchFamily="34" charset="0"/>
              </a:rPr>
              <a:t>derived class</a:t>
            </a:r>
            <a:r>
              <a:rPr lang="en-US" sz="2400" b="0" i="0" dirty="0">
                <a:effectLst/>
                <a:latin typeface="Segoe UI" panose="020B0502040204020203" pitchFamily="34" charset="0"/>
              </a:rPr>
              <a:t> (child) - the class that inherits from another class</a:t>
            </a:r>
          </a:p>
          <a:p>
            <a:pPr algn="l">
              <a:buFont typeface="Arial" panose="020B0604020202020204" pitchFamily="34" charset="0"/>
              <a:buChar char="•"/>
            </a:pPr>
            <a:r>
              <a:rPr lang="en-US" sz="2400" b="1" i="0" dirty="0">
                <a:effectLst/>
                <a:latin typeface="Segoe UI" panose="020B0502040204020203" pitchFamily="34" charset="0"/>
              </a:rPr>
              <a:t>base class</a:t>
            </a:r>
            <a:r>
              <a:rPr lang="en-US" sz="2400" b="0" i="0" dirty="0">
                <a:effectLst/>
                <a:latin typeface="Segoe UI" panose="020B0502040204020203" pitchFamily="34" charset="0"/>
              </a:rPr>
              <a:t> (parent) - the class being inherited from</a:t>
            </a:r>
          </a:p>
          <a:p>
            <a:pPr algn="l">
              <a:buNone/>
            </a:pPr>
            <a:r>
              <a:rPr lang="en-US" sz="2400" b="0" i="0" dirty="0">
                <a:effectLst/>
                <a:latin typeface="Segoe UI" panose="020B0502040204020203" pitchFamily="34" charset="0"/>
              </a:rPr>
              <a:t>To inherit from a class, use the </a:t>
            </a:r>
            <a:r>
              <a:rPr lang="en-US" sz="2400" b="0" i="0" dirty="0">
                <a:effectLst/>
                <a:latin typeface="Consolas" panose="020B0609020204030204" pitchFamily="49" charset="0"/>
              </a:rPr>
              <a:t>:</a:t>
            </a:r>
            <a:r>
              <a:rPr lang="en-US" sz="2400" b="0" i="0" dirty="0">
                <a:effectLst/>
                <a:latin typeface="Segoe UI" panose="020B0502040204020203" pitchFamily="34" charset="0"/>
              </a:rPr>
              <a:t> symbol.</a:t>
            </a:r>
          </a:p>
          <a:p>
            <a:pPr algn="l">
              <a:buNone/>
            </a:pPr>
            <a:r>
              <a:rPr lang="en-US" sz="2400" b="0" i="0" dirty="0">
                <a:effectLst/>
                <a:latin typeface="Segoe UI" panose="020B0502040204020203" pitchFamily="34" charset="0"/>
              </a:rPr>
              <a:t>In the example below, the </a:t>
            </a:r>
            <a:r>
              <a:rPr lang="en-US" sz="2400" b="0" i="0" dirty="0">
                <a:effectLst/>
                <a:latin typeface="Consolas" panose="020B0609020204030204" pitchFamily="49" charset="0"/>
              </a:rPr>
              <a:t>Car</a:t>
            </a:r>
            <a:r>
              <a:rPr lang="en-US" sz="2400" b="0" i="0" dirty="0">
                <a:effectLst/>
                <a:latin typeface="Segoe UI" panose="020B0502040204020203" pitchFamily="34" charset="0"/>
              </a:rPr>
              <a:t> class (child) inherits the attributes and methods from the </a:t>
            </a:r>
            <a:r>
              <a:rPr lang="en-US" sz="2400" b="0" i="0" dirty="0">
                <a:effectLst/>
                <a:latin typeface="Consolas" panose="020B0609020204030204" pitchFamily="49" charset="0"/>
              </a:rPr>
              <a:t>Vehicle</a:t>
            </a:r>
            <a:r>
              <a:rPr lang="en-US" sz="2400" b="0" i="0" dirty="0">
                <a:effectLst/>
                <a:latin typeface="Segoe UI" panose="020B0502040204020203" pitchFamily="34" charset="0"/>
              </a:rPr>
              <a:t> class (parent):</a:t>
            </a:r>
          </a:p>
        </p:txBody>
      </p:sp>
      <p:sp>
        <p:nvSpPr>
          <p:cNvPr id="5" name="TextBox 4">
            <a:extLst>
              <a:ext uri="{FF2B5EF4-FFF2-40B4-BE49-F238E27FC236}">
                <a16:creationId xmlns:a16="http://schemas.microsoft.com/office/drawing/2014/main" id="{2F8A256B-7AB4-CA37-FBF6-E949D2079E3D}"/>
              </a:ext>
            </a:extLst>
          </p:cNvPr>
          <p:cNvSpPr txBox="1"/>
          <p:nvPr/>
        </p:nvSpPr>
        <p:spPr>
          <a:xfrm>
            <a:off x="201560" y="4021844"/>
            <a:ext cx="11882285" cy="1200329"/>
          </a:xfrm>
          <a:prstGeom prst="rect">
            <a:avLst/>
          </a:prstGeom>
          <a:noFill/>
        </p:spPr>
        <p:txBody>
          <a:bodyPr wrap="square">
            <a:spAutoFit/>
          </a:bodyPr>
          <a:lstStyle/>
          <a:p>
            <a:r>
              <a:rPr lang="en-US" sz="2400" dirty="0"/>
              <a:t>Why And When To Use "Inheritance"?</a:t>
            </a:r>
          </a:p>
          <a:p>
            <a:r>
              <a:rPr lang="en-US" sz="2400" dirty="0"/>
              <a:t>- It is useful for code reusability: reuse attributes and methods of an existing class when you create a new class.</a:t>
            </a:r>
            <a:endParaRPr lang="en-IN" sz="2400" dirty="0"/>
          </a:p>
        </p:txBody>
      </p:sp>
    </p:spTree>
    <p:extLst>
      <p:ext uri="{BB962C8B-B14F-4D97-AF65-F5344CB8AC3E}">
        <p14:creationId xmlns:p14="http://schemas.microsoft.com/office/powerpoint/2010/main" val="34775298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69CE7F-59EC-60E3-A1EA-9919F17AAD53}"/>
              </a:ext>
            </a:extLst>
          </p:cNvPr>
          <p:cNvSpPr txBox="1"/>
          <p:nvPr/>
        </p:nvSpPr>
        <p:spPr>
          <a:xfrm>
            <a:off x="117987" y="83513"/>
            <a:ext cx="11631561" cy="6524863"/>
          </a:xfrm>
          <a:prstGeom prst="rect">
            <a:avLst/>
          </a:prstGeom>
          <a:noFill/>
        </p:spPr>
        <p:txBody>
          <a:bodyPr wrap="square" numCol="2">
            <a:spAutoFit/>
          </a:bodyPr>
          <a:lstStyle/>
          <a:p>
            <a:r>
              <a:rPr lang="en-IN" sz="2800" dirty="0"/>
              <a:t>// Base class</a:t>
            </a:r>
          </a:p>
          <a:p>
            <a:r>
              <a:rPr lang="en-IN" sz="2800" dirty="0"/>
              <a:t>class Vehicle {</a:t>
            </a:r>
          </a:p>
          <a:p>
            <a:r>
              <a:rPr lang="en-IN" sz="2800" dirty="0"/>
              <a:t>  public:</a:t>
            </a:r>
          </a:p>
          <a:p>
            <a:r>
              <a:rPr lang="en-IN" sz="2800" dirty="0"/>
              <a:t>    string brand = "Ford";</a:t>
            </a:r>
          </a:p>
          <a:p>
            <a:r>
              <a:rPr lang="en-IN" sz="2800" dirty="0"/>
              <a:t>    void honk() {</a:t>
            </a:r>
          </a:p>
          <a:p>
            <a:r>
              <a:rPr lang="en-IN" sz="2800" dirty="0"/>
              <a:t>      </a:t>
            </a:r>
            <a:r>
              <a:rPr lang="en-IN" sz="2800" dirty="0" err="1"/>
              <a:t>cout</a:t>
            </a:r>
            <a:r>
              <a:rPr lang="en-IN" sz="2800" dirty="0"/>
              <a:t> &lt;&lt; "</a:t>
            </a:r>
            <a:r>
              <a:rPr lang="en-IN" sz="2800" dirty="0" err="1"/>
              <a:t>Tuut</a:t>
            </a:r>
            <a:r>
              <a:rPr lang="en-IN" sz="2800" dirty="0"/>
              <a:t>, </a:t>
            </a:r>
            <a:r>
              <a:rPr lang="en-IN" sz="2800" dirty="0" err="1"/>
              <a:t>tuut</a:t>
            </a:r>
            <a:r>
              <a:rPr lang="en-IN" sz="2800" dirty="0"/>
              <a:t>! \n" ;</a:t>
            </a:r>
          </a:p>
          <a:p>
            <a:r>
              <a:rPr lang="en-IN" sz="2800" dirty="0"/>
              <a:t>    }</a:t>
            </a:r>
          </a:p>
          <a:p>
            <a:r>
              <a:rPr lang="en-IN" sz="2800" dirty="0"/>
              <a:t>};</a:t>
            </a:r>
          </a:p>
          <a:p>
            <a:endParaRPr lang="en-IN" sz="2800" dirty="0"/>
          </a:p>
          <a:p>
            <a:r>
              <a:rPr lang="en-IN" sz="2800" dirty="0"/>
              <a:t>// Derived class</a:t>
            </a:r>
          </a:p>
          <a:p>
            <a:r>
              <a:rPr lang="en-IN" sz="2800" dirty="0"/>
              <a:t>class Car: public Vehicle {</a:t>
            </a:r>
          </a:p>
          <a:p>
            <a:r>
              <a:rPr lang="en-IN" sz="2800" dirty="0"/>
              <a:t>  public:</a:t>
            </a:r>
          </a:p>
          <a:p>
            <a:r>
              <a:rPr lang="en-IN" sz="2800" dirty="0"/>
              <a:t>    string model = "Mustang";</a:t>
            </a:r>
          </a:p>
          <a:p>
            <a:r>
              <a:rPr lang="en-IN" sz="2800" dirty="0"/>
              <a:t>};</a:t>
            </a:r>
          </a:p>
          <a:p>
            <a:endParaRPr lang="en-IN" sz="2800" dirty="0"/>
          </a:p>
          <a:p>
            <a:r>
              <a:rPr lang="en-IN" sz="2800" dirty="0"/>
              <a:t>int main() {</a:t>
            </a:r>
          </a:p>
          <a:p>
            <a:r>
              <a:rPr lang="en-IN" sz="2800" dirty="0"/>
              <a:t>  Car </a:t>
            </a:r>
            <a:r>
              <a:rPr lang="en-IN" sz="2800" dirty="0" err="1"/>
              <a:t>myCar</a:t>
            </a:r>
            <a:r>
              <a:rPr lang="en-IN" sz="2800" dirty="0"/>
              <a:t>;</a:t>
            </a:r>
          </a:p>
          <a:p>
            <a:r>
              <a:rPr lang="en-IN" sz="2800" dirty="0"/>
              <a:t>  </a:t>
            </a:r>
            <a:r>
              <a:rPr lang="en-IN" sz="2800" dirty="0" err="1"/>
              <a:t>myCar.honk</a:t>
            </a:r>
            <a:r>
              <a:rPr lang="en-IN" sz="2800" dirty="0"/>
              <a:t>();</a:t>
            </a:r>
          </a:p>
          <a:p>
            <a:r>
              <a:rPr lang="en-IN" sz="2800" dirty="0"/>
              <a:t>  </a:t>
            </a:r>
            <a:r>
              <a:rPr lang="en-IN" sz="2800" dirty="0" err="1"/>
              <a:t>cout</a:t>
            </a:r>
            <a:r>
              <a:rPr lang="en-IN" sz="2800" dirty="0"/>
              <a:t> &lt;&lt; </a:t>
            </a:r>
            <a:r>
              <a:rPr lang="en-IN" sz="2800" dirty="0" err="1"/>
              <a:t>myCar.brand</a:t>
            </a:r>
            <a:r>
              <a:rPr lang="en-IN" sz="2800" dirty="0"/>
              <a:t> + " " + </a:t>
            </a:r>
            <a:r>
              <a:rPr lang="en-IN" sz="2800" dirty="0" err="1"/>
              <a:t>myCar.model</a:t>
            </a:r>
            <a:r>
              <a:rPr lang="en-IN" sz="2800" dirty="0"/>
              <a:t>;</a:t>
            </a:r>
          </a:p>
          <a:p>
            <a:r>
              <a:rPr lang="en-IN" sz="2800" dirty="0"/>
              <a:t>  return 0;</a:t>
            </a:r>
          </a:p>
          <a:p>
            <a:r>
              <a:rPr lang="en-IN" sz="2800" dirty="0"/>
              <a:t>}</a:t>
            </a:r>
          </a:p>
        </p:txBody>
      </p:sp>
    </p:spTree>
    <p:extLst>
      <p:ext uri="{BB962C8B-B14F-4D97-AF65-F5344CB8AC3E}">
        <p14:creationId xmlns:p14="http://schemas.microsoft.com/office/powerpoint/2010/main" val="23409723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757DA2-D8DA-E2D6-9669-539EA5ABAAB9}"/>
              </a:ext>
            </a:extLst>
          </p:cNvPr>
          <p:cNvSpPr txBox="1"/>
          <p:nvPr/>
        </p:nvSpPr>
        <p:spPr>
          <a:xfrm>
            <a:off x="226141" y="174888"/>
            <a:ext cx="11788877" cy="1938992"/>
          </a:xfrm>
          <a:prstGeom prst="rect">
            <a:avLst/>
          </a:prstGeom>
          <a:noFill/>
        </p:spPr>
        <p:txBody>
          <a:bodyPr wrap="square">
            <a:spAutoFit/>
          </a:bodyPr>
          <a:lstStyle/>
          <a:p>
            <a:r>
              <a:rPr lang="en-US" sz="2400" dirty="0"/>
              <a:t>Multilevel Inheritance</a:t>
            </a:r>
          </a:p>
          <a:p>
            <a:r>
              <a:rPr lang="en-US" sz="2400" dirty="0"/>
              <a:t>A class can also be derived from one class, which is already derived from another class.</a:t>
            </a:r>
          </a:p>
          <a:p>
            <a:endParaRPr lang="en-US" sz="2400" dirty="0"/>
          </a:p>
          <a:p>
            <a:r>
              <a:rPr lang="en-US" sz="2400" dirty="0"/>
              <a:t>In the following example, </a:t>
            </a:r>
            <a:r>
              <a:rPr lang="en-US" sz="2400" dirty="0" err="1"/>
              <a:t>MyGrandChild</a:t>
            </a:r>
            <a:r>
              <a:rPr lang="en-US" sz="2400" dirty="0"/>
              <a:t> is derived from class </a:t>
            </a:r>
            <a:r>
              <a:rPr lang="en-US" sz="2400" dirty="0" err="1"/>
              <a:t>MyChild</a:t>
            </a:r>
            <a:r>
              <a:rPr lang="en-US" sz="2400" dirty="0"/>
              <a:t> (which is derived from </a:t>
            </a:r>
            <a:r>
              <a:rPr lang="en-US" sz="2400" dirty="0" err="1"/>
              <a:t>MyClass</a:t>
            </a:r>
            <a:r>
              <a:rPr lang="en-US" sz="2400" dirty="0"/>
              <a:t>).</a:t>
            </a:r>
            <a:endParaRPr lang="en-IN" sz="2400" dirty="0"/>
          </a:p>
        </p:txBody>
      </p:sp>
      <p:sp>
        <p:nvSpPr>
          <p:cNvPr id="6" name="Rectangle 5">
            <a:extLst>
              <a:ext uri="{FF2B5EF4-FFF2-40B4-BE49-F238E27FC236}">
                <a16:creationId xmlns:a16="http://schemas.microsoft.com/office/drawing/2014/main" id="{690C4FBA-BC88-744D-B983-8C39822FDA4F}"/>
              </a:ext>
            </a:extLst>
          </p:cNvPr>
          <p:cNvSpPr/>
          <p:nvPr/>
        </p:nvSpPr>
        <p:spPr>
          <a:xfrm>
            <a:off x="3716594" y="2113880"/>
            <a:ext cx="3313471" cy="11602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MyClass</a:t>
            </a:r>
            <a:endParaRPr lang="en-IN" dirty="0"/>
          </a:p>
        </p:txBody>
      </p:sp>
      <p:sp>
        <p:nvSpPr>
          <p:cNvPr id="7" name="Rectangle 6">
            <a:extLst>
              <a:ext uri="{FF2B5EF4-FFF2-40B4-BE49-F238E27FC236}">
                <a16:creationId xmlns:a16="http://schemas.microsoft.com/office/drawing/2014/main" id="{6E1F0167-5D06-FAD1-E8FC-B890684BDA0D}"/>
              </a:ext>
            </a:extLst>
          </p:cNvPr>
          <p:cNvSpPr/>
          <p:nvPr/>
        </p:nvSpPr>
        <p:spPr>
          <a:xfrm>
            <a:off x="3711677" y="3878770"/>
            <a:ext cx="3313471" cy="11602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MyChild</a:t>
            </a:r>
            <a:endParaRPr lang="en-IN"/>
          </a:p>
        </p:txBody>
      </p:sp>
      <p:sp>
        <p:nvSpPr>
          <p:cNvPr id="8" name="Rectangle 7">
            <a:extLst>
              <a:ext uri="{FF2B5EF4-FFF2-40B4-BE49-F238E27FC236}">
                <a16:creationId xmlns:a16="http://schemas.microsoft.com/office/drawing/2014/main" id="{B5FD3691-DBF8-026D-7498-931BB87AABC6}"/>
              </a:ext>
            </a:extLst>
          </p:cNvPr>
          <p:cNvSpPr/>
          <p:nvPr/>
        </p:nvSpPr>
        <p:spPr>
          <a:xfrm>
            <a:off x="3706760" y="5643660"/>
            <a:ext cx="3313471" cy="11602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t>MyGrandChild</a:t>
            </a:r>
            <a:endParaRPr lang="en-IN"/>
          </a:p>
        </p:txBody>
      </p:sp>
      <p:cxnSp>
        <p:nvCxnSpPr>
          <p:cNvPr id="10" name="Straight Arrow Connector 9">
            <a:extLst>
              <a:ext uri="{FF2B5EF4-FFF2-40B4-BE49-F238E27FC236}">
                <a16:creationId xmlns:a16="http://schemas.microsoft.com/office/drawing/2014/main" id="{FD58859F-38B1-798D-1329-CB70DAECB796}"/>
              </a:ext>
            </a:extLst>
          </p:cNvPr>
          <p:cNvCxnSpPr>
            <a:cxnSpLocks/>
          </p:cNvCxnSpPr>
          <p:nvPr/>
        </p:nvCxnSpPr>
        <p:spPr>
          <a:xfrm>
            <a:off x="5348748" y="3274142"/>
            <a:ext cx="0" cy="604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09EBB22-FD27-6313-4C0B-DD0F3AC783CC}"/>
              </a:ext>
            </a:extLst>
          </p:cNvPr>
          <p:cNvCxnSpPr>
            <a:cxnSpLocks/>
          </p:cNvCxnSpPr>
          <p:nvPr/>
        </p:nvCxnSpPr>
        <p:spPr>
          <a:xfrm>
            <a:off x="5363493" y="5048870"/>
            <a:ext cx="0" cy="604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46255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EF6839-E5F1-DB3D-0980-40873EB9B115}"/>
              </a:ext>
            </a:extLst>
          </p:cNvPr>
          <p:cNvSpPr txBox="1"/>
          <p:nvPr/>
        </p:nvSpPr>
        <p:spPr>
          <a:xfrm>
            <a:off x="157316" y="476803"/>
            <a:ext cx="11847871" cy="6001643"/>
          </a:xfrm>
          <a:prstGeom prst="rect">
            <a:avLst/>
          </a:prstGeom>
          <a:noFill/>
        </p:spPr>
        <p:txBody>
          <a:bodyPr wrap="square" numCol="2">
            <a:spAutoFit/>
          </a:bodyPr>
          <a:lstStyle/>
          <a:p>
            <a:r>
              <a:rPr lang="en-IN" sz="2400" dirty="0"/>
              <a:t>// Base class (parent)</a:t>
            </a:r>
          </a:p>
          <a:p>
            <a:r>
              <a:rPr lang="en-IN" sz="2400" dirty="0"/>
              <a:t>class </a:t>
            </a:r>
            <a:r>
              <a:rPr lang="en-IN" sz="2400" dirty="0" err="1"/>
              <a:t>MyClass</a:t>
            </a:r>
            <a:r>
              <a:rPr lang="en-IN" sz="2400" dirty="0"/>
              <a:t> {</a:t>
            </a:r>
          </a:p>
          <a:p>
            <a:r>
              <a:rPr lang="en-IN" sz="2400" dirty="0"/>
              <a:t>  public:</a:t>
            </a:r>
          </a:p>
          <a:p>
            <a:r>
              <a:rPr lang="en-IN" sz="2400" dirty="0"/>
              <a:t>    void </a:t>
            </a:r>
            <a:r>
              <a:rPr lang="en-IN" sz="2400" dirty="0" err="1"/>
              <a:t>myFunction</a:t>
            </a:r>
            <a:r>
              <a:rPr lang="en-IN" sz="2400" dirty="0"/>
              <a:t>() {</a:t>
            </a:r>
          </a:p>
          <a:p>
            <a:r>
              <a:rPr lang="en-IN" sz="2400" dirty="0"/>
              <a:t>      </a:t>
            </a:r>
            <a:r>
              <a:rPr lang="en-IN" sz="2400" dirty="0" err="1"/>
              <a:t>cout</a:t>
            </a:r>
            <a:r>
              <a:rPr lang="en-IN" sz="2400" dirty="0"/>
              <a:t> &lt;&lt; "Some content in parent class." ;</a:t>
            </a:r>
          </a:p>
          <a:p>
            <a:r>
              <a:rPr lang="en-IN" sz="2400" dirty="0"/>
              <a:t>    }</a:t>
            </a:r>
          </a:p>
          <a:p>
            <a:r>
              <a:rPr lang="en-IN" sz="2400" dirty="0"/>
              <a:t>};</a:t>
            </a:r>
          </a:p>
          <a:p>
            <a:endParaRPr lang="en-IN" sz="2400" dirty="0"/>
          </a:p>
          <a:p>
            <a:r>
              <a:rPr lang="en-IN" sz="2400" dirty="0"/>
              <a:t>// Derived class (child)</a:t>
            </a:r>
          </a:p>
          <a:p>
            <a:r>
              <a:rPr lang="en-IN" sz="2400" dirty="0"/>
              <a:t>class </a:t>
            </a:r>
            <a:r>
              <a:rPr lang="en-IN" sz="2400" dirty="0" err="1"/>
              <a:t>MyChild</a:t>
            </a:r>
            <a:r>
              <a:rPr lang="en-IN" sz="2400" dirty="0"/>
              <a:t>: public </a:t>
            </a:r>
            <a:r>
              <a:rPr lang="en-IN" sz="2400" dirty="0" err="1"/>
              <a:t>MyClass</a:t>
            </a:r>
            <a:r>
              <a:rPr lang="en-IN" sz="2400" dirty="0"/>
              <a:t> {</a:t>
            </a:r>
          </a:p>
          <a:p>
            <a:r>
              <a:rPr lang="en-IN" sz="2400" dirty="0"/>
              <a:t>};</a:t>
            </a:r>
          </a:p>
          <a:p>
            <a:endParaRPr lang="en-IN" sz="2400" dirty="0"/>
          </a:p>
          <a:p>
            <a:r>
              <a:rPr lang="en-IN" sz="2400" dirty="0"/>
              <a:t>// Derived class (grandchild)</a:t>
            </a:r>
          </a:p>
          <a:p>
            <a:r>
              <a:rPr lang="en-IN" sz="2400" dirty="0"/>
              <a:t>class </a:t>
            </a:r>
            <a:r>
              <a:rPr lang="en-IN" sz="2400" dirty="0" err="1"/>
              <a:t>MyGrandChild</a:t>
            </a:r>
            <a:r>
              <a:rPr lang="en-IN" sz="2400" dirty="0"/>
              <a:t>: public </a:t>
            </a:r>
            <a:r>
              <a:rPr lang="en-IN" sz="2400" dirty="0" err="1"/>
              <a:t>MyChild</a:t>
            </a:r>
            <a:r>
              <a:rPr lang="en-IN" sz="2400" dirty="0"/>
              <a:t> {</a:t>
            </a:r>
          </a:p>
          <a:p>
            <a:r>
              <a:rPr lang="en-IN" sz="2400" dirty="0"/>
              <a:t>};</a:t>
            </a:r>
          </a:p>
          <a:p>
            <a:endParaRPr lang="en-IN" sz="2400" dirty="0"/>
          </a:p>
          <a:p>
            <a:r>
              <a:rPr lang="en-IN" sz="2400" dirty="0"/>
              <a:t>int main() {</a:t>
            </a:r>
          </a:p>
          <a:p>
            <a:r>
              <a:rPr lang="en-IN" sz="2400" dirty="0"/>
              <a:t>  </a:t>
            </a:r>
            <a:r>
              <a:rPr lang="en-IN" sz="2400" dirty="0" err="1"/>
              <a:t>MyGrandChild</a:t>
            </a:r>
            <a:r>
              <a:rPr lang="en-IN" sz="2400" dirty="0"/>
              <a:t> </a:t>
            </a:r>
            <a:r>
              <a:rPr lang="en-IN" sz="2400" dirty="0" err="1"/>
              <a:t>myObj</a:t>
            </a:r>
            <a:r>
              <a:rPr lang="en-IN" sz="2400" dirty="0"/>
              <a:t>;</a:t>
            </a:r>
          </a:p>
          <a:p>
            <a:r>
              <a:rPr lang="en-IN" sz="2400" dirty="0"/>
              <a:t>  </a:t>
            </a:r>
            <a:r>
              <a:rPr lang="en-IN" sz="2400" dirty="0" err="1"/>
              <a:t>myObj.myFunction</a:t>
            </a:r>
            <a:r>
              <a:rPr lang="en-IN" sz="2400" dirty="0"/>
              <a:t>();</a:t>
            </a:r>
          </a:p>
          <a:p>
            <a:r>
              <a:rPr lang="en-IN" sz="2400" dirty="0"/>
              <a:t>  return 0;</a:t>
            </a:r>
          </a:p>
          <a:p>
            <a:r>
              <a:rPr lang="en-IN" sz="2400" dirty="0"/>
              <a:t>}</a:t>
            </a:r>
          </a:p>
        </p:txBody>
      </p:sp>
    </p:spTree>
    <p:extLst>
      <p:ext uri="{BB962C8B-B14F-4D97-AF65-F5344CB8AC3E}">
        <p14:creationId xmlns:p14="http://schemas.microsoft.com/office/powerpoint/2010/main" val="37455151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CE900D-B898-FFA7-8A26-1E34DE97C7B3}"/>
              </a:ext>
            </a:extLst>
          </p:cNvPr>
          <p:cNvSpPr txBox="1"/>
          <p:nvPr/>
        </p:nvSpPr>
        <p:spPr>
          <a:xfrm>
            <a:off x="0" y="0"/>
            <a:ext cx="12192000" cy="1384995"/>
          </a:xfrm>
          <a:prstGeom prst="rect">
            <a:avLst/>
          </a:prstGeom>
          <a:noFill/>
        </p:spPr>
        <p:txBody>
          <a:bodyPr wrap="square">
            <a:spAutoFit/>
          </a:bodyPr>
          <a:lstStyle/>
          <a:p>
            <a:r>
              <a:rPr lang="en-US" sz="2800" dirty="0"/>
              <a:t>Multiple Inheritance</a:t>
            </a:r>
          </a:p>
          <a:p>
            <a:r>
              <a:rPr lang="en-US" sz="2800" dirty="0"/>
              <a:t>A class can also be derived from more than one base class, using a comma-separated list:</a:t>
            </a:r>
            <a:endParaRPr lang="en-IN" sz="2800" dirty="0"/>
          </a:p>
        </p:txBody>
      </p:sp>
      <p:sp>
        <p:nvSpPr>
          <p:cNvPr id="4" name="Rectangle 3">
            <a:extLst>
              <a:ext uri="{FF2B5EF4-FFF2-40B4-BE49-F238E27FC236}">
                <a16:creationId xmlns:a16="http://schemas.microsoft.com/office/drawing/2014/main" id="{92F9FB09-CABE-5577-261B-6F3F8E709755}"/>
              </a:ext>
            </a:extLst>
          </p:cNvPr>
          <p:cNvSpPr/>
          <p:nvPr/>
        </p:nvSpPr>
        <p:spPr>
          <a:xfrm>
            <a:off x="363794" y="1612490"/>
            <a:ext cx="2998838" cy="13849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MyClass</a:t>
            </a:r>
          </a:p>
        </p:txBody>
      </p:sp>
      <p:sp>
        <p:nvSpPr>
          <p:cNvPr id="5" name="Rectangle 4">
            <a:extLst>
              <a:ext uri="{FF2B5EF4-FFF2-40B4-BE49-F238E27FC236}">
                <a16:creationId xmlns:a16="http://schemas.microsoft.com/office/drawing/2014/main" id="{AE4A7AF4-FAF6-F9F1-0A32-BC756D255083}"/>
              </a:ext>
            </a:extLst>
          </p:cNvPr>
          <p:cNvSpPr/>
          <p:nvPr/>
        </p:nvSpPr>
        <p:spPr>
          <a:xfrm>
            <a:off x="7408626" y="1587909"/>
            <a:ext cx="2998838" cy="13849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MyOtherClass</a:t>
            </a:r>
          </a:p>
        </p:txBody>
      </p:sp>
      <p:sp>
        <p:nvSpPr>
          <p:cNvPr id="6" name="Rectangle 5">
            <a:extLst>
              <a:ext uri="{FF2B5EF4-FFF2-40B4-BE49-F238E27FC236}">
                <a16:creationId xmlns:a16="http://schemas.microsoft.com/office/drawing/2014/main" id="{BF505AAB-8CA7-2DFE-C84A-B65D36A19FAD}"/>
              </a:ext>
            </a:extLst>
          </p:cNvPr>
          <p:cNvSpPr/>
          <p:nvPr/>
        </p:nvSpPr>
        <p:spPr>
          <a:xfrm>
            <a:off x="3972982" y="4376005"/>
            <a:ext cx="2998838" cy="13849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MyChildClass</a:t>
            </a:r>
          </a:p>
        </p:txBody>
      </p:sp>
      <p:cxnSp>
        <p:nvCxnSpPr>
          <p:cNvPr id="8" name="Straight Arrow Connector 7">
            <a:extLst>
              <a:ext uri="{FF2B5EF4-FFF2-40B4-BE49-F238E27FC236}">
                <a16:creationId xmlns:a16="http://schemas.microsoft.com/office/drawing/2014/main" id="{753E38D4-6E05-1D0B-4D27-AF7C73B69B98}"/>
              </a:ext>
            </a:extLst>
          </p:cNvPr>
          <p:cNvCxnSpPr/>
          <p:nvPr/>
        </p:nvCxnSpPr>
        <p:spPr>
          <a:xfrm>
            <a:off x="2944167" y="2992568"/>
            <a:ext cx="1678075" cy="13834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0869CFC-625A-58A1-436D-7C5AA8D4973C}"/>
              </a:ext>
            </a:extLst>
          </p:cNvPr>
          <p:cNvCxnSpPr/>
          <p:nvPr/>
        </p:nvCxnSpPr>
        <p:spPr>
          <a:xfrm flipH="1">
            <a:off x="6577781" y="2992568"/>
            <a:ext cx="973393" cy="13834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12522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663915-0057-1D5E-1E39-C1E65D7A6F5E}"/>
              </a:ext>
            </a:extLst>
          </p:cNvPr>
          <p:cNvSpPr txBox="1"/>
          <p:nvPr/>
        </p:nvSpPr>
        <p:spPr>
          <a:xfrm>
            <a:off x="117987" y="186814"/>
            <a:ext cx="11867535" cy="6420464"/>
          </a:xfrm>
          <a:prstGeom prst="rect">
            <a:avLst/>
          </a:prstGeom>
          <a:noFill/>
        </p:spPr>
        <p:txBody>
          <a:bodyPr wrap="square" numCol="2">
            <a:spAutoFit/>
          </a:bodyPr>
          <a:lstStyle/>
          <a:p>
            <a:r>
              <a:rPr lang="en-IN" sz="2400" dirty="0"/>
              <a:t>// Base class</a:t>
            </a:r>
          </a:p>
          <a:p>
            <a:r>
              <a:rPr lang="en-IN" sz="2400" dirty="0"/>
              <a:t>class </a:t>
            </a:r>
            <a:r>
              <a:rPr lang="en-IN" sz="2400" dirty="0" err="1"/>
              <a:t>MyClass</a:t>
            </a:r>
            <a:r>
              <a:rPr lang="en-IN" sz="2400" dirty="0"/>
              <a:t> {</a:t>
            </a:r>
          </a:p>
          <a:p>
            <a:r>
              <a:rPr lang="en-IN" sz="2400" dirty="0"/>
              <a:t>  public:</a:t>
            </a:r>
          </a:p>
          <a:p>
            <a:r>
              <a:rPr lang="en-IN" sz="2400" dirty="0"/>
              <a:t>    void </a:t>
            </a:r>
            <a:r>
              <a:rPr lang="en-IN" sz="2400" dirty="0" err="1"/>
              <a:t>myFunction</a:t>
            </a:r>
            <a:r>
              <a:rPr lang="en-IN" sz="2400" dirty="0"/>
              <a:t>() {</a:t>
            </a:r>
          </a:p>
          <a:p>
            <a:r>
              <a:rPr lang="en-IN" sz="2400" dirty="0"/>
              <a:t>      </a:t>
            </a:r>
            <a:r>
              <a:rPr lang="en-IN" sz="2400" dirty="0" err="1"/>
              <a:t>cout</a:t>
            </a:r>
            <a:r>
              <a:rPr lang="en-IN" sz="2400" dirty="0"/>
              <a:t> &lt;&lt; "Some content in parent class." ;</a:t>
            </a:r>
          </a:p>
          <a:p>
            <a:r>
              <a:rPr lang="en-IN" sz="2400" dirty="0"/>
              <a:t>    }</a:t>
            </a:r>
          </a:p>
          <a:p>
            <a:r>
              <a:rPr lang="en-IN" sz="2400" dirty="0"/>
              <a:t>};</a:t>
            </a:r>
          </a:p>
          <a:p>
            <a:endParaRPr lang="en-IN" sz="2400" dirty="0"/>
          </a:p>
          <a:p>
            <a:r>
              <a:rPr lang="en-IN" sz="2400" dirty="0"/>
              <a:t>// Another base class</a:t>
            </a:r>
          </a:p>
          <a:p>
            <a:r>
              <a:rPr lang="en-IN" sz="2400" dirty="0"/>
              <a:t>class </a:t>
            </a:r>
            <a:r>
              <a:rPr lang="en-IN" sz="2400" dirty="0" err="1"/>
              <a:t>MyOtherClass</a:t>
            </a:r>
            <a:r>
              <a:rPr lang="en-IN" sz="2400" dirty="0"/>
              <a:t> {</a:t>
            </a:r>
          </a:p>
          <a:p>
            <a:r>
              <a:rPr lang="en-IN" sz="2400" dirty="0"/>
              <a:t>  public:</a:t>
            </a:r>
          </a:p>
          <a:p>
            <a:r>
              <a:rPr lang="en-IN" sz="2400" dirty="0"/>
              <a:t>    void </a:t>
            </a:r>
            <a:r>
              <a:rPr lang="en-IN" sz="2400" dirty="0" err="1"/>
              <a:t>myOtherFunction</a:t>
            </a:r>
            <a:r>
              <a:rPr lang="en-IN" sz="2400" dirty="0"/>
              <a:t>() {</a:t>
            </a:r>
          </a:p>
          <a:p>
            <a:r>
              <a:rPr lang="en-IN" sz="2400" dirty="0"/>
              <a:t>      </a:t>
            </a:r>
            <a:r>
              <a:rPr lang="en-IN" sz="2400" dirty="0" err="1"/>
              <a:t>cout</a:t>
            </a:r>
            <a:r>
              <a:rPr lang="en-IN" sz="2400" dirty="0"/>
              <a:t> &lt;&lt; "Some content in another class." ;</a:t>
            </a:r>
          </a:p>
          <a:p>
            <a:r>
              <a:rPr lang="en-IN" sz="2400" dirty="0"/>
              <a:t>    }</a:t>
            </a:r>
          </a:p>
          <a:p>
            <a:r>
              <a:rPr lang="en-IN" sz="2400" dirty="0"/>
              <a:t>};</a:t>
            </a:r>
          </a:p>
          <a:p>
            <a:endParaRPr lang="en-IN" sz="2400" dirty="0"/>
          </a:p>
          <a:p>
            <a:r>
              <a:rPr lang="en-IN" sz="2400" dirty="0"/>
              <a:t>// Derived class</a:t>
            </a:r>
          </a:p>
          <a:p>
            <a:r>
              <a:rPr lang="en-IN" sz="2400" dirty="0"/>
              <a:t>class </a:t>
            </a:r>
            <a:r>
              <a:rPr lang="en-IN" sz="2400" dirty="0" err="1"/>
              <a:t>MyChildClass</a:t>
            </a:r>
            <a:r>
              <a:rPr lang="en-IN" sz="2400" dirty="0"/>
              <a:t>: public </a:t>
            </a:r>
            <a:r>
              <a:rPr lang="en-IN" sz="2400" dirty="0" err="1"/>
              <a:t>MyClass</a:t>
            </a:r>
            <a:r>
              <a:rPr lang="en-IN" sz="2400" dirty="0"/>
              <a:t>, public </a:t>
            </a:r>
            <a:r>
              <a:rPr lang="en-IN" sz="2400" dirty="0" err="1"/>
              <a:t>MyOtherClass</a:t>
            </a:r>
            <a:r>
              <a:rPr lang="en-IN" sz="2400" dirty="0"/>
              <a:t> {</a:t>
            </a:r>
          </a:p>
          <a:p>
            <a:r>
              <a:rPr lang="en-IN" sz="2400" dirty="0"/>
              <a:t>};</a:t>
            </a:r>
          </a:p>
          <a:p>
            <a:endParaRPr lang="en-IN" sz="2400" dirty="0"/>
          </a:p>
          <a:p>
            <a:r>
              <a:rPr lang="en-IN" sz="2400" dirty="0"/>
              <a:t>int main() {</a:t>
            </a:r>
          </a:p>
          <a:p>
            <a:r>
              <a:rPr lang="en-IN" sz="2400" dirty="0"/>
              <a:t>  </a:t>
            </a:r>
            <a:r>
              <a:rPr lang="en-IN" sz="2400" dirty="0" err="1"/>
              <a:t>MyChildClass</a:t>
            </a:r>
            <a:r>
              <a:rPr lang="en-IN" sz="2400" dirty="0"/>
              <a:t> </a:t>
            </a:r>
            <a:r>
              <a:rPr lang="en-IN" sz="2400" dirty="0" err="1"/>
              <a:t>myObj</a:t>
            </a:r>
            <a:r>
              <a:rPr lang="en-IN" sz="2400" dirty="0"/>
              <a:t>;</a:t>
            </a:r>
          </a:p>
          <a:p>
            <a:r>
              <a:rPr lang="en-IN" sz="2400" dirty="0"/>
              <a:t>  </a:t>
            </a:r>
            <a:r>
              <a:rPr lang="en-IN" sz="2400" dirty="0" err="1"/>
              <a:t>myObj.myFunction</a:t>
            </a:r>
            <a:r>
              <a:rPr lang="en-IN" sz="2400" dirty="0"/>
              <a:t>();</a:t>
            </a:r>
          </a:p>
          <a:p>
            <a:r>
              <a:rPr lang="en-IN" sz="2400" dirty="0"/>
              <a:t>  </a:t>
            </a:r>
            <a:r>
              <a:rPr lang="en-IN" sz="2400" dirty="0" err="1"/>
              <a:t>myObj.myOtherFunction</a:t>
            </a:r>
            <a:r>
              <a:rPr lang="en-IN" sz="2400" dirty="0"/>
              <a:t>();</a:t>
            </a:r>
          </a:p>
          <a:p>
            <a:r>
              <a:rPr lang="en-IN" sz="2400" dirty="0"/>
              <a:t>  return 0;</a:t>
            </a:r>
          </a:p>
          <a:p>
            <a:r>
              <a:rPr lang="en-IN" sz="2400" dirty="0"/>
              <a:t>}</a:t>
            </a:r>
          </a:p>
        </p:txBody>
      </p:sp>
    </p:spTree>
    <p:extLst>
      <p:ext uri="{BB962C8B-B14F-4D97-AF65-F5344CB8AC3E}">
        <p14:creationId xmlns:p14="http://schemas.microsoft.com/office/powerpoint/2010/main" val="23320998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5B3A1F-AC1D-26E0-FA7B-E397923D4DD6}"/>
              </a:ext>
            </a:extLst>
          </p:cNvPr>
          <p:cNvSpPr txBox="1"/>
          <p:nvPr/>
        </p:nvSpPr>
        <p:spPr>
          <a:xfrm>
            <a:off x="127818" y="158616"/>
            <a:ext cx="11828207" cy="523220"/>
          </a:xfrm>
          <a:prstGeom prst="rect">
            <a:avLst/>
          </a:prstGeom>
          <a:noFill/>
        </p:spPr>
        <p:txBody>
          <a:bodyPr wrap="square">
            <a:spAutoFit/>
          </a:bodyPr>
          <a:lstStyle/>
          <a:p>
            <a:r>
              <a:rPr lang="en-US" sz="2800" b="1" dirty="0"/>
              <a:t>Hierarchical inheritance:</a:t>
            </a:r>
            <a:r>
              <a:rPr lang="en-US" sz="2800" dirty="0"/>
              <a:t> One base class has multiple derived classes.</a:t>
            </a:r>
            <a:endParaRPr lang="en-IN" sz="2800" dirty="0"/>
          </a:p>
        </p:txBody>
      </p:sp>
      <p:pic>
        <p:nvPicPr>
          <p:cNvPr id="2" name="Picture 1">
            <a:extLst>
              <a:ext uri="{FF2B5EF4-FFF2-40B4-BE49-F238E27FC236}">
                <a16:creationId xmlns:a16="http://schemas.microsoft.com/office/drawing/2014/main" id="{9D6A56C9-5F26-A3DC-1D20-31B6D96A65DC}"/>
              </a:ext>
            </a:extLst>
          </p:cNvPr>
          <p:cNvPicPr>
            <a:picLocks noChangeAspect="1"/>
          </p:cNvPicPr>
          <p:nvPr/>
        </p:nvPicPr>
        <p:blipFill>
          <a:blip r:embed="rId2"/>
          <a:stretch>
            <a:fillRect/>
          </a:stretch>
        </p:blipFill>
        <p:spPr>
          <a:xfrm>
            <a:off x="3143250" y="1428750"/>
            <a:ext cx="5905500" cy="4000500"/>
          </a:xfrm>
          <a:prstGeom prst="rect">
            <a:avLst/>
          </a:prstGeom>
        </p:spPr>
      </p:pic>
    </p:spTree>
    <p:extLst>
      <p:ext uri="{BB962C8B-B14F-4D97-AF65-F5344CB8AC3E}">
        <p14:creationId xmlns:p14="http://schemas.microsoft.com/office/powerpoint/2010/main" val="22368580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726467E-9722-7D89-44B6-00C621E82AA7}"/>
              </a:ext>
            </a:extLst>
          </p:cNvPr>
          <p:cNvSpPr txBox="1"/>
          <p:nvPr/>
        </p:nvSpPr>
        <p:spPr>
          <a:xfrm>
            <a:off x="108155" y="78659"/>
            <a:ext cx="11985522" cy="6685936"/>
          </a:xfrm>
          <a:prstGeom prst="rect">
            <a:avLst/>
          </a:prstGeom>
          <a:noFill/>
        </p:spPr>
        <p:txBody>
          <a:bodyPr wrap="square" numCol="2">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class father{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void </a:t>
            </a: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fatherdisplay</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cout</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&lt;&lt; "This is the call from father\n";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class son : public father{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void display(){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cout</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&lt;&lt; "This is the call from son\n";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class daughter : public father{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public: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void display(){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cout</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&lt;&lt; "This is the call from daughter\n";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int main(){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son 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s.fatherdisplay</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s.display</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daughter 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d.fatherdisplay</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000" b="0" i="0" u="none" strike="noStrike" kern="1200" cap="none" spc="0" normalizeH="0" baseline="0" noProof="0" dirty="0" err="1">
                <a:ln>
                  <a:noFill/>
                </a:ln>
                <a:solidFill>
                  <a:prstClr val="black"/>
                </a:solidFill>
                <a:effectLst/>
                <a:uLnTx/>
                <a:uFillTx/>
                <a:latin typeface="Aptos" panose="02110004020202020204"/>
                <a:ea typeface="+mn-ea"/>
                <a:cs typeface="+mn-cs"/>
              </a:rPr>
              <a:t>d.display</a:t>
            </a: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t>
            </a:r>
            <a:endParaRPr kumimoji="0" lang="en-IN"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0495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FFAA39-0C10-02B9-1985-794D6AADE527}"/>
              </a:ext>
            </a:extLst>
          </p:cNvPr>
          <p:cNvSpPr txBox="1"/>
          <p:nvPr/>
        </p:nvSpPr>
        <p:spPr>
          <a:xfrm>
            <a:off x="127819" y="157767"/>
            <a:ext cx="11946193" cy="1261884"/>
          </a:xfrm>
          <a:prstGeom prst="rect">
            <a:avLst/>
          </a:prstGeom>
          <a:noFill/>
        </p:spPr>
        <p:txBody>
          <a:bodyPr wrap="square">
            <a:spAutoFit/>
          </a:bodyPr>
          <a:lstStyle/>
          <a:p>
            <a:r>
              <a:rPr lang="en-US" sz="2800" b="1" dirty="0"/>
              <a:t>Hybrid (or virtual) inheritance</a:t>
            </a:r>
          </a:p>
          <a:p>
            <a:r>
              <a:rPr lang="en-US" sz="2400" dirty="0"/>
              <a:t>A combination of two or more types inheritance, often multiple + multilevel. The common real-world issue here is the diamond problem:</a:t>
            </a:r>
            <a:endParaRPr lang="en-IN" sz="2400" dirty="0"/>
          </a:p>
        </p:txBody>
      </p:sp>
      <p:grpSp>
        <p:nvGrpSpPr>
          <p:cNvPr id="20" name="Group 19">
            <a:extLst>
              <a:ext uri="{FF2B5EF4-FFF2-40B4-BE49-F238E27FC236}">
                <a16:creationId xmlns:a16="http://schemas.microsoft.com/office/drawing/2014/main" id="{03D92CF5-F6A3-60C9-DD06-B572FC5B525C}"/>
              </a:ext>
            </a:extLst>
          </p:cNvPr>
          <p:cNvGrpSpPr/>
          <p:nvPr/>
        </p:nvGrpSpPr>
        <p:grpSpPr>
          <a:xfrm>
            <a:off x="3239726" y="1419651"/>
            <a:ext cx="4144299" cy="4287979"/>
            <a:chOff x="3239727" y="1419651"/>
            <a:chExt cx="2954600" cy="4287979"/>
          </a:xfrm>
        </p:grpSpPr>
        <p:sp>
          <p:nvSpPr>
            <p:cNvPr id="6" name="Rectangle 5">
              <a:extLst>
                <a:ext uri="{FF2B5EF4-FFF2-40B4-BE49-F238E27FC236}">
                  <a16:creationId xmlns:a16="http://schemas.microsoft.com/office/drawing/2014/main" id="{804783AE-DB4F-044C-C31E-F13BF3F9734D}"/>
                </a:ext>
              </a:extLst>
            </p:cNvPr>
            <p:cNvSpPr/>
            <p:nvPr/>
          </p:nvSpPr>
          <p:spPr>
            <a:xfrm>
              <a:off x="4208206" y="1419651"/>
              <a:ext cx="1032388" cy="9400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 A</a:t>
              </a:r>
            </a:p>
          </p:txBody>
        </p:sp>
        <p:sp>
          <p:nvSpPr>
            <p:cNvPr id="7" name="Rectangle 6">
              <a:extLst>
                <a:ext uri="{FF2B5EF4-FFF2-40B4-BE49-F238E27FC236}">
                  <a16:creationId xmlns:a16="http://schemas.microsoft.com/office/drawing/2014/main" id="{4C19CEFC-BB77-EA77-D951-F580E0BC5FDA}"/>
                </a:ext>
              </a:extLst>
            </p:cNvPr>
            <p:cNvSpPr/>
            <p:nvPr/>
          </p:nvSpPr>
          <p:spPr>
            <a:xfrm>
              <a:off x="3239727" y="2889576"/>
              <a:ext cx="1032388" cy="9400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B</a:t>
              </a:r>
            </a:p>
          </p:txBody>
        </p:sp>
        <p:sp>
          <p:nvSpPr>
            <p:cNvPr id="8" name="Rectangle 7">
              <a:extLst>
                <a:ext uri="{FF2B5EF4-FFF2-40B4-BE49-F238E27FC236}">
                  <a16:creationId xmlns:a16="http://schemas.microsoft.com/office/drawing/2014/main" id="{BE92C756-F5E2-3290-8379-06F82D45B95A}"/>
                </a:ext>
              </a:extLst>
            </p:cNvPr>
            <p:cNvSpPr/>
            <p:nvPr/>
          </p:nvSpPr>
          <p:spPr>
            <a:xfrm>
              <a:off x="5161939" y="2894491"/>
              <a:ext cx="1032388" cy="9400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C</a:t>
              </a:r>
            </a:p>
          </p:txBody>
        </p:sp>
        <p:sp>
          <p:nvSpPr>
            <p:cNvPr id="9" name="Rectangle 8">
              <a:extLst>
                <a:ext uri="{FF2B5EF4-FFF2-40B4-BE49-F238E27FC236}">
                  <a16:creationId xmlns:a16="http://schemas.microsoft.com/office/drawing/2014/main" id="{985B8F4E-AD84-D114-6694-74BA196A529B}"/>
                </a:ext>
              </a:extLst>
            </p:cNvPr>
            <p:cNvSpPr/>
            <p:nvPr/>
          </p:nvSpPr>
          <p:spPr>
            <a:xfrm>
              <a:off x="4203292" y="4767539"/>
              <a:ext cx="1032388" cy="9400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a:t>D</a:t>
              </a:r>
            </a:p>
          </p:txBody>
        </p:sp>
        <p:cxnSp>
          <p:nvCxnSpPr>
            <p:cNvPr id="11" name="Straight Arrow Connector 10">
              <a:extLst>
                <a:ext uri="{FF2B5EF4-FFF2-40B4-BE49-F238E27FC236}">
                  <a16:creationId xmlns:a16="http://schemas.microsoft.com/office/drawing/2014/main" id="{FAB2FFFC-6309-3C20-5874-F6EEC9DA1C91}"/>
                </a:ext>
              </a:extLst>
            </p:cNvPr>
            <p:cNvCxnSpPr>
              <a:endCxn id="7" idx="0"/>
            </p:cNvCxnSpPr>
            <p:nvPr/>
          </p:nvCxnSpPr>
          <p:spPr>
            <a:xfrm flipH="1">
              <a:off x="3755921" y="2359742"/>
              <a:ext cx="658763" cy="5298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C36783D-7D82-1BC1-B118-BD2222361349}"/>
                </a:ext>
              </a:extLst>
            </p:cNvPr>
            <p:cNvCxnSpPr>
              <a:endCxn id="8" idx="0"/>
            </p:cNvCxnSpPr>
            <p:nvPr/>
          </p:nvCxnSpPr>
          <p:spPr>
            <a:xfrm>
              <a:off x="4975123" y="2359742"/>
              <a:ext cx="703010" cy="5347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B3C5DDE-2132-946B-BE97-9A4FE2873139}"/>
                </a:ext>
              </a:extLst>
            </p:cNvPr>
            <p:cNvCxnSpPr>
              <a:stCxn id="7" idx="2"/>
              <a:endCxn id="9" idx="0"/>
            </p:cNvCxnSpPr>
            <p:nvPr/>
          </p:nvCxnSpPr>
          <p:spPr>
            <a:xfrm>
              <a:off x="3755921" y="3829667"/>
              <a:ext cx="963565" cy="9378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17" name="Straight Arrow Connector 16">
            <a:extLst>
              <a:ext uri="{FF2B5EF4-FFF2-40B4-BE49-F238E27FC236}">
                <a16:creationId xmlns:a16="http://schemas.microsoft.com/office/drawing/2014/main" id="{76A8C1E3-7772-F6B8-2A95-CF3853A87F52}"/>
              </a:ext>
            </a:extLst>
          </p:cNvPr>
          <p:cNvCxnSpPr>
            <a:stCxn id="8" idx="2"/>
            <a:endCxn id="9" idx="0"/>
          </p:cNvCxnSpPr>
          <p:nvPr/>
        </p:nvCxnSpPr>
        <p:spPr>
          <a:xfrm flipH="1">
            <a:off x="5315325" y="3834582"/>
            <a:ext cx="1344656" cy="9329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3B3D5D50-F248-3B57-141C-89889EFA1737}"/>
              </a:ext>
            </a:extLst>
          </p:cNvPr>
          <p:cNvSpPr txBox="1"/>
          <p:nvPr/>
        </p:nvSpPr>
        <p:spPr>
          <a:xfrm>
            <a:off x="275302" y="5776903"/>
            <a:ext cx="11798709" cy="646331"/>
          </a:xfrm>
          <a:prstGeom prst="rect">
            <a:avLst/>
          </a:prstGeom>
          <a:noFill/>
        </p:spPr>
        <p:txBody>
          <a:bodyPr wrap="square">
            <a:spAutoFit/>
          </a:bodyPr>
          <a:lstStyle/>
          <a:p>
            <a:r>
              <a:rPr lang="en-US" dirty="0"/>
              <a:t>If B and C both inherit from A, and D inherits from B and C, then D may have two copies of A’s members unless you use virtual base classes.</a:t>
            </a:r>
            <a:endParaRPr lang="en-IN" dirty="0"/>
          </a:p>
        </p:txBody>
      </p:sp>
    </p:spTree>
    <p:extLst>
      <p:ext uri="{BB962C8B-B14F-4D97-AF65-F5344CB8AC3E}">
        <p14:creationId xmlns:p14="http://schemas.microsoft.com/office/powerpoint/2010/main" val="37638922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11D39C-1476-EEDF-FF72-4336E649D418}"/>
              </a:ext>
            </a:extLst>
          </p:cNvPr>
          <p:cNvSpPr txBox="1"/>
          <p:nvPr/>
        </p:nvSpPr>
        <p:spPr>
          <a:xfrm>
            <a:off x="0" y="184721"/>
            <a:ext cx="11985523" cy="3108543"/>
          </a:xfrm>
          <a:prstGeom prst="rect">
            <a:avLst/>
          </a:prstGeom>
          <a:noFill/>
        </p:spPr>
        <p:txBody>
          <a:bodyPr wrap="square">
            <a:spAutoFit/>
          </a:bodyPr>
          <a:lstStyle/>
          <a:p>
            <a:r>
              <a:rPr lang="en-US" sz="3600" b="1" dirty="0"/>
              <a:t>What is the Diamond Problem?</a:t>
            </a:r>
          </a:p>
          <a:p>
            <a:r>
              <a:rPr lang="en-US" sz="3200" dirty="0"/>
              <a:t>It occurs in multiple inheritance when two base classes inherit from the same parent, and then a derived class inherits from both of </a:t>
            </a:r>
            <a:r>
              <a:rPr lang="en-US" sz="3200" dirty="0" err="1"/>
              <a:t>them.Because</a:t>
            </a:r>
            <a:r>
              <a:rPr lang="en-US" sz="3200" dirty="0"/>
              <a:t> both base classes contain a copy of the parent’s </a:t>
            </a:r>
            <a:r>
              <a:rPr lang="en-US" sz="3200" dirty="0" err="1"/>
              <a:t>members,the</a:t>
            </a:r>
            <a:r>
              <a:rPr lang="en-US" sz="3200" dirty="0"/>
              <a:t> derived class gets two copies of the same thing — leading to ambiguity.</a:t>
            </a:r>
            <a:endParaRPr lang="en-IN" sz="3200" dirty="0"/>
          </a:p>
        </p:txBody>
      </p:sp>
    </p:spTree>
    <p:extLst>
      <p:ext uri="{BB962C8B-B14F-4D97-AF65-F5344CB8AC3E}">
        <p14:creationId xmlns:p14="http://schemas.microsoft.com/office/powerpoint/2010/main" val="8270845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55DEC3-68AD-751B-B145-C7AD0DE569DE}"/>
              </a:ext>
            </a:extLst>
          </p:cNvPr>
          <p:cNvSpPr txBox="1"/>
          <p:nvPr/>
        </p:nvSpPr>
        <p:spPr>
          <a:xfrm>
            <a:off x="127818" y="216310"/>
            <a:ext cx="11867537" cy="6351638"/>
          </a:xfrm>
          <a:prstGeom prst="rect">
            <a:avLst/>
          </a:prstGeom>
          <a:noFill/>
        </p:spPr>
        <p:txBody>
          <a:bodyPr wrap="square" numCol="2">
            <a:spAutoFit/>
          </a:bodyPr>
          <a:lstStyle/>
          <a:p>
            <a:r>
              <a:rPr lang="en-IN" sz="2400" dirty="0"/>
              <a:t>#include &lt;iostream&gt;</a:t>
            </a:r>
          </a:p>
          <a:p>
            <a:r>
              <a:rPr lang="en-IN" sz="2400" dirty="0"/>
              <a:t>using namespace std;</a:t>
            </a:r>
          </a:p>
          <a:p>
            <a:endParaRPr lang="en-IN" sz="2400" dirty="0"/>
          </a:p>
          <a:p>
            <a:r>
              <a:rPr lang="en-IN" sz="2400" dirty="0"/>
              <a:t>// Base class</a:t>
            </a:r>
          </a:p>
          <a:p>
            <a:r>
              <a:rPr lang="en-IN" sz="2400" dirty="0"/>
              <a:t>class A {</a:t>
            </a:r>
          </a:p>
          <a:p>
            <a:r>
              <a:rPr lang="en-IN" sz="2400" dirty="0"/>
              <a:t>public:</a:t>
            </a:r>
          </a:p>
          <a:p>
            <a:r>
              <a:rPr lang="en-IN" sz="2400" dirty="0"/>
              <a:t>    void show() {</a:t>
            </a:r>
          </a:p>
          <a:p>
            <a:r>
              <a:rPr lang="en-IN" sz="2400" dirty="0"/>
              <a:t>        </a:t>
            </a:r>
            <a:r>
              <a:rPr lang="en-IN" sz="2400" dirty="0" err="1"/>
              <a:t>cout</a:t>
            </a:r>
            <a:r>
              <a:rPr lang="en-IN" sz="2400" dirty="0"/>
              <a:t> &lt;&lt; "Hello from A" &lt;&lt; </a:t>
            </a:r>
            <a:r>
              <a:rPr lang="en-IN" sz="2400" dirty="0" err="1"/>
              <a:t>endl</a:t>
            </a:r>
            <a:r>
              <a:rPr lang="en-IN" sz="2400" dirty="0"/>
              <a:t>;</a:t>
            </a:r>
          </a:p>
          <a:p>
            <a:r>
              <a:rPr lang="en-IN" sz="2400" dirty="0"/>
              <a:t>    }</a:t>
            </a:r>
          </a:p>
          <a:p>
            <a:r>
              <a:rPr lang="en-IN" sz="2400" dirty="0"/>
              <a:t>};</a:t>
            </a:r>
          </a:p>
          <a:p>
            <a:endParaRPr lang="en-IN" sz="2400" dirty="0"/>
          </a:p>
          <a:p>
            <a:r>
              <a:rPr lang="en-IN" sz="2400" dirty="0"/>
              <a:t>// B and C both inherit from A</a:t>
            </a:r>
          </a:p>
          <a:p>
            <a:r>
              <a:rPr lang="en-IN" sz="2400" dirty="0"/>
              <a:t>class B : public A { };</a:t>
            </a:r>
          </a:p>
          <a:p>
            <a:r>
              <a:rPr lang="en-IN" sz="2400" dirty="0"/>
              <a:t>class C : public A { };</a:t>
            </a:r>
          </a:p>
          <a:p>
            <a:endParaRPr lang="en-IN" sz="2400" dirty="0"/>
          </a:p>
          <a:p>
            <a:r>
              <a:rPr lang="en-IN" sz="2400" dirty="0"/>
              <a:t>// D inherits from both B and C</a:t>
            </a:r>
          </a:p>
          <a:p>
            <a:r>
              <a:rPr lang="en-IN" sz="2400" dirty="0"/>
              <a:t>class D : public B, public C { };</a:t>
            </a:r>
          </a:p>
          <a:p>
            <a:endParaRPr lang="en-IN" sz="2400" dirty="0"/>
          </a:p>
          <a:p>
            <a:r>
              <a:rPr lang="en-IN" sz="2400" dirty="0"/>
              <a:t>int main() {</a:t>
            </a:r>
          </a:p>
          <a:p>
            <a:r>
              <a:rPr lang="en-IN" sz="2400" dirty="0"/>
              <a:t>    D </a:t>
            </a:r>
            <a:r>
              <a:rPr lang="en-IN" sz="2400" dirty="0" err="1"/>
              <a:t>obj</a:t>
            </a:r>
            <a:r>
              <a:rPr lang="en-IN" sz="2400" dirty="0"/>
              <a:t>;</a:t>
            </a:r>
          </a:p>
          <a:p>
            <a:r>
              <a:rPr lang="en-IN" sz="2400" dirty="0"/>
              <a:t>    </a:t>
            </a:r>
            <a:r>
              <a:rPr lang="en-IN" sz="2400" dirty="0" err="1"/>
              <a:t>obj.show</a:t>
            </a:r>
            <a:r>
              <a:rPr lang="en-IN" sz="2400" dirty="0"/>
              <a:t>();  </a:t>
            </a:r>
          </a:p>
          <a:p>
            <a:endParaRPr lang="en-IN" sz="2400" dirty="0"/>
          </a:p>
          <a:p>
            <a:r>
              <a:rPr lang="en-IN" sz="2400" dirty="0"/>
              <a:t>    return 0;</a:t>
            </a:r>
          </a:p>
          <a:p>
            <a:r>
              <a:rPr lang="en-IN" sz="2400" dirty="0"/>
              <a:t>}</a:t>
            </a:r>
          </a:p>
        </p:txBody>
      </p:sp>
    </p:spTree>
    <p:extLst>
      <p:ext uri="{BB962C8B-B14F-4D97-AF65-F5344CB8AC3E}">
        <p14:creationId xmlns:p14="http://schemas.microsoft.com/office/powerpoint/2010/main" val="37247660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AD118B-DAFC-4870-50C2-FA656D7DDD00}"/>
              </a:ext>
            </a:extLst>
          </p:cNvPr>
          <p:cNvSpPr txBox="1"/>
          <p:nvPr/>
        </p:nvSpPr>
        <p:spPr>
          <a:xfrm>
            <a:off x="127819" y="719809"/>
            <a:ext cx="11847871" cy="6081803"/>
          </a:xfrm>
          <a:prstGeom prst="rect">
            <a:avLst/>
          </a:prstGeom>
          <a:noFill/>
        </p:spPr>
        <p:txBody>
          <a:bodyPr wrap="square" numCol="2">
            <a:spAutoFit/>
          </a:bodyPr>
          <a:lstStyle/>
          <a:p>
            <a:r>
              <a:rPr lang="en-IN" sz="2000" dirty="0"/>
              <a:t>#include &lt;iostream&gt;</a:t>
            </a:r>
          </a:p>
          <a:p>
            <a:r>
              <a:rPr lang="en-IN" sz="2000" dirty="0"/>
              <a:t>using namespace std;</a:t>
            </a:r>
          </a:p>
          <a:p>
            <a:endParaRPr lang="en-IN" sz="2000" dirty="0"/>
          </a:p>
          <a:p>
            <a:r>
              <a:rPr lang="en-IN" sz="2000" dirty="0"/>
              <a:t>// Base class</a:t>
            </a:r>
          </a:p>
          <a:p>
            <a:r>
              <a:rPr lang="en-IN" sz="2000" dirty="0"/>
              <a:t>class A {</a:t>
            </a:r>
          </a:p>
          <a:p>
            <a:r>
              <a:rPr lang="en-IN" sz="2000" dirty="0"/>
              <a:t>public:</a:t>
            </a:r>
          </a:p>
          <a:p>
            <a:r>
              <a:rPr lang="en-IN" sz="2000" dirty="0"/>
              <a:t>    void show() {</a:t>
            </a:r>
          </a:p>
          <a:p>
            <a:r>
              <a:rPr lang="en-IN" sz="2000" dirty="0"/>
              <a:t>        </a:t>
            </a:r>
            <a:r>
              <a:rPr lang="en-IN" sz="2000" dirty="0" err="1"/>
              <a:t>cout</a:t>
            </a:r>
            <a:r>
              <a:rPr lang="en-IN" sz="2000" dirty="0"/>
              <a:t> &lt;&lt; "Hello from A" &lt;&lt; </a:t>
            </a:r>
            <a:r>
              <a:rPr lang="en-IN" sz="2000" dirty="0" err="1"/>
              <a:t>endl</a:t>
            </a:r>
            <a:r>
              <a:rPr lang="en-IN" sz="2000" dirty="0"/>
              <a:t>;</a:t>
            </a:r>
          </a:p>
          <a:p>
            <a:r>
              <a:rPr lang="en-IN" sz="2000" dirty="0"/>
              <a:t>    }</a:t>
            </a:r>
          </a:p>
          <a:p>
            <a:r>
              <a:rPr lang="en-IN" sz="2000" dirty="0"/>
              <a:t>};</a:t>
            </a:r>
          </a:p>
          <a:p>
            <a:endParaRPr lang="en-IN" sz="2000" dirty="0"/>
          </a:p>
          <a:p>
            <a:r>
              <a:rPr lang="en-IN" sz="2000" dirty="0"/>
              <a:t>// B and C both inherit from A</a:t>
            </a:r>
          </a:p>
          <a:p>
            <a:r>
              <a:rPr lang="en-IN" sz="2000" dirty="0"/>
              <a:t>class B : public A { };</a:t>
            </a:r>
          </a:p>
          <a:p>
            <a:r>
              <a:rPr lang="en-IN" sz="2000" dirty="0"/>
              <a:t>class C : public A { };</a:t>
            </a:r>
          </a:p>
          <a:p>
            <a:endParaRPr lang="en-IN" sz="2000" dirty="0"/>
          </a:p>
          <a:p>
            <a:r>
              <a:rPr lang="en-IN" sz="2000" dirty="0"/>
              <a:t>// D inherits from both B and C</a:t>
            </a:r>
          </a:p>
          <a:p>
            <a:r>
              <a:rPr lang="en-IN" sz="2000" dirty="0"/>
              <a:t>class D : public B, public C { };</a:t>
            </a:r>
          </a:p>
          <a:p>
            <a:endParaRPr lang="en-IN" sz="2000" dirty="0"/>
          </a:p>
          <a:p>
            <a:endParaRPr lang="en-IN" sz="2000" dirty="0"/>
          </a:p>
          <a:p>
            <a:endParaRPr lang="en-IN" sz="2000" dirty="0"/>
          </a:p>
          <a:p>
            <a:r>
              <a:rPr lang="en-IN" sz="2000" dirty="0"/>
              <a:t>int main() {</a:t>
            </a:r>
          </a:p>
          <a:p>
            <a:r>
              <a:rPr lang="en-IN" sz="2000" dirty="0"/>
              <a:t>    D </a:t>
            </a:r>
            <a:r>
              <a:rPr lang="en-IN" sz="2000" dirty="0" err="1"/>
              <a:t>obj</a:t>
            </a:r>
            <a:r>
              <a:rPr lang="en-IN" sz="2000" dirty="0"/>
              <a:t>;</a:t>
            </a:r>
          </a:p>
          <a:p>
            <a:r>
              <a:rPr lang="en-IN" sz="2000" dirty="0"/>
              <a:t>    </a:t>
            </a:r>
            <a:r>
              <a:rPr lang="en-US" sz="2000" dirty="0" err="1"/>
              <a:t>obj.B</a:t>
            </a:r>
            <a:r>
              <a:rPr lang="en-US" sz="2000" dirty="0"/>
              <a:t>::show(); </a:t>
            </a:r>
          </a:p>
          <a:p>
            <a:r>
              <a:rPr lang="en-US" sz="2000" dirty="0"/>
              <a:t>    </a:t>
            </a:r>
            <a:r>
              <a:rPr lang="en-US" sz="2000" dirty="0" err="1"/>
              <a:t>obj.C</a:t>
            </a:r>
            <a:r>
              <a:rPr lang="en-US" sz="2000" dirty="0"/>
              <a:t>::show();</a:t>
            </a:r>
            <a:r>
              <a:rPr lang="en-IN" sz="2000" dirty="0"/>
              <a:t> </a:t>
            </a:r>
          </a:p>
          <a:p>
            <a:r>
              <a:rPr lang="en-IN" sz="2000" dirty="0"/>
              <a:t>    return 0;</a:t>
            </a:r>
          </a:p>
          <a:p>
            <a:r>
              <a:rPr lang="en-IN" sz="2000" dirty="0"/>
              <a:t>}</a:t>
            </a:r>
          </a:p>
        </p:txBody>
      </p:sp>
      <p:sp>
        <p:nvSpPr>
          <p:cNvPr id="5" name="TextBox 4">
            <a:extLst>
              <a:ext uri="{FF2B5EF4-FFF2-40B4-BE49-F238E27FC236}">
                <a16:creationId xmlns:a16="http://schemas.microsoft.com/office/drawing/2014/main" id="{92204215-EEC7-DEA4-72B2-3A9FECC45420}"/>
              </a:ext>
            </a:extLst>
          </p:cNvPr>
          <p:cNvSpPr txBox="1"/>
          <p:nvPr/>
        </p:nvSpPr>
        <p:spPr>
          <a:xfrm>
            <a:off x="245806" y="258144"/>
            <a:ext cx="11611896" cy="461665"/>
          </a:xfrm>
          <a:prstGeom prst="rect">
            <a:avLst/>
          </a:prstGeom>
          <a:noFill/>
        </p:spPr>
        <p:txBody>
          <a:bodyPr wrap="square">
            <a:spAutoFit/>
          </a:bodyPr>
          <a:lstStyle/>
          <a:p>
            <a:r>
              <a:rPr lang="en-US" sz="2400" dirty="0"/>
              <a:t>Example (Without virtual — shows the problem)</a:t>
            </a:r>
            <a:endParaRPr lang="en-IN" sz="2400" dirty="0"/>
          </a:p>
        </p:txBody>
      </p:sp>
    </p:spTree>
    <p:extLst>
      <p:ext uri="{BB962C8B-B14F-4D97-AF65-F5344CB8AC3E}">
        <p14:creationId xmlns:p14="http://schemas.microsoft.com/office/powerpoint/2010/main" val="35825952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C7518C-3E5A-20AA-CFAF-7497538B7FA1}"/>
              </a:ext>
            </a:extLst>
          </p:cNvPr>
          <p:cNvSpPr txBox="1"/>
          <p:nvPr/>
        </p:nvSpPr>
        <p:spPr>
          <a:xfrm>
            <a:off x="137651" y="35900"/>
            <a:ext cx="11405420" cy="523220"/>
          </a:xfrm>
          <a:prstGeom prst="rect">
            <a:avLst/>
          </a:prstGeom>
          <a:noFill/>
        </p:spPr>
        <p:txBody>
          <a:bodyPr wrap="square">
            <a:spAutoFit/>
          </a:bodyPr>
          <a:lstStyle/>
          <a:p>
            <a:r>
              <a:rPr lang="en-IN" sz="2800" dirty="0"/>
              <a:t>Fixed Example (With virtual)</a:t>
            </a:r>
          </a:p>
        </p:txBody>
      </p:sp>
      <p:sp>
        <p:nvSpPr>
          <p:cNvPr id="5" name="TextBox 4">
            <a:extLst>
              <a:ext uri="{FF2B5EF4-FFF2-40B4-BE49-F238E27FC236}">
                <a16:creationId xmlns:a16="http://schemas.microsoft.com/office/drawing/2014/main" id="{388C58CB-4C4E-A43E-412D-EB45BDEA44EE}"/>
              </a:ext>
            </a:extLst>
          </p:cNvPr>
          <p:cNvSpPr txBox="1"/>
          <p:nvPr/>
        </p:nvSpPr>
        <p:spPr>
          <a:xfrm>
            <a:off x="137652" y="613859"/>
            <a:ext cx="11956026" cy="6091742"/>
          </a:xfrm>
          <a:prstGeom prst="rect">
            <a:avLst/>
          </a:prstGeom>
          <a:noFill/>
        </p:spPr>
        <p:txBody>
          <a:bodyPr wrap="square" numCol="2">
            <a:spAutoFit/>
          </a:bodyPr>
          <a:lstStyle/>
          <a:p>
            <a:r>
              <a:rPr lang="en-IN" sz="2400" dirty="0"/>
              <a:t>#include &lt;iostream&gt;</a:t>
            </a:r>
          </a:p>
          <a:p>
            <a:r>
              <a:rPr lang="en-IN" sz="2400" dirty="0"/>
              <a:t>using namespace std;</a:t>
            </a:r>
          </a:p>
          <a:p>
            <a:endParaRPr lang="en-IN" sz="2400" dirty="0"/>
          </a:p>
          <a:p>
            <a:r>
              <a:rPr lang="en-IN" sz="2400" dirty="0"/>
              <a:t>// Base class</a:t>
            </a:r>
          </a:p>
          <a:p>
            <a:r>
              <a:rPr lang="en-IN" sz="2400" dirty="0"/>
              <a:t>class A {</a:t>
            </a:r>
          </a:p>
          <a:p>
            <a:r>
              <a:rPr lang="en-IN" sz="2400" dirty="0"/>
              <a:t>public:</a:t>
            </a:r>
          </a:p>
          <a:p>
            <a:r>
              <a:rPr lang="en-IN" sz="2400" dirty="0"/>
              <a:t>    void show() {</a:t>
            </a:r>
          </a:p>
          <a:p>
            <a:r>
              <a:rPr lang="en-IN" sz="2400" dirty="0"/>
              <a:t>        </a:t>
            </a:r>
            <a:r>
              <a:rPr lang="en-IN" sz="2400" dirty="0" err="1"/>
              <a:t>cout</a:t>
            </a:r>
            <a:r>
              <a:rPr lang="en-IN" sz="2400" dirty="0"/>
              <a:t> &lt;&lt; "Hello from A" &lt;&lt; </a:t>
            </a:r>
            <a:r>
              <a:rPr lang="en-IN" sz="2400" dirty="0" err="1"/>
              <a:t>endl</a:t>
            </a:r>
            <a:r>
              <a:rPr lang="en-IN" sz="2400" dirty="0"/>
              <a:t>;</a:t>
            </a:r>
          </a:p>
          <a:p>
            <a:r>
              <a:rPr lang="en-IN" sz="2400" dirty="0"/>
              <a:t>    }</a:t>
            </a:r>
          </a:p>
          <a:p>
            <a:r>
              <a:rPr lang="en-IN" sz="2400" dirty="0"/>
              <a:t>};</a:t>
            </a:r>
          </a:p>
          <a:p>
            <a:endParaRPr lang="en-IN" sz="2400" dirty="0"/>
          </a:p>
          <a:p>
            <a:r>
              <a:rPr lang="en-IN" sz="2400" dirty="0"/>
              <a:t>// Now B and C virtually inherit from A</a:t>
            </a:r>
          </a:p>
          <a:p>
            <a:r>
              <a:rPr lang="en-IN" sz="2400" dirty="0"/>
              <a:t>class B : virtual public A { };</a:t>
            </a:r>
          </a:p>
          <a:p>
            <a:r>
              <a:rPr lang="en-IN" sz="2400" dirty="0"/>
              <a:t>class C : virtual public A { };</a:t>
            </a:r>
          </a:p>
          <a:p>
            <a:endParaRPr lang="en-IN" sz="2400" dirty="0"/>
          </a:p>
          <a:p>
            <a:r>
              <a:rPr lang="en-IN" sz="2400" dirty="0"/>
              <a:t>// D inherits from both B and C</a:t>
            </a:r>
          </a:p>
          <a:p>
            <a:r>
              <a:rPr lang="en-IN" sz="2400" dirty="0"/>
              <a:t>class D : public B, public C { };</a:t>
            </a:r>
          </a:p>
          <a:p>
            <a:endParaRPr lang="en-IN" sz="2400" dirty="0"/>
          </a:p>
          <a:p>
            <a:r>
              <a:rPr lang="en-IN" sz="2400" dirty="0"/>
              <a:t>int main() {</a:t>
            </a:r>
          </a:p>
          <a:p>
            <a:r>
              <a:rPr lang="en-IN" sz="2400" dirty="0"/>
              <a:t>    D </a:t>
            </a:r>
            <a:r>
              <a:rPr lang="en-IN" sz="2400" dirty="0" err="1"/>
              <a:t>obj</a:t>
            </a:r>
            <a:r>
              <a:rPr lang="en-IN" sz="2400" dirty="0"/>
              <a:t>;</a:t>
            </a:r>
          </a:p>
          <a:p>
            <a:r>
              <a:rPr lang="en-IN" sz="2400" dirty="0"/>
              <a:t>    </a:t>
            </a:r>
            <a:r>
              <a:rPr lang="en-IN" sz="2400" dirty="0" err="1"/>
              <a:t>obj.show</a:t>
            </a:r>
            <a:r>
              <a:rPr lang="en-IN" sz="2400" dirty="0"/>
              <a:t>();  </a:t>
            </a:r>
          </a:p>
          <a:p>
            <a:endParaRPr lang="en-IN" sz="2400" dirty="0"/>
          </a:p>
          <a:p>
            <a:r>
              <a:rPr lang="en-IN" sz="2400" dirty="0"/>
              <a:t>    return 0;</a:t>
            </a:r>
          </a:p>
          <a:p>
            <a:r>
              <a:rPr lang="en-IN" sz="2400" dirty="0"/>
              <a:t>}</a:t>
            </a:r>
            <a:r>
              <a:rPr lang="en-US" sz="2400" dirty="0"/>
              <a:t> </a:t>
            </a:r>
          </a:p>
          <a:p>
            <a:endParaRPr lang="en-US" dirty="0"/>
          </a:p>
          <a:p>
            <a:endParaRPr lang="en-US" dirty="0"/>
          </a:p>
          <a:p>
            <a:endParaRPr lang="en-US" dirty="0"/>
          </a:p>
          <a:p>
            <a:r>
              <a:rPr lang="en-US" sz="2800" dirty="0"/>
              <a:t>By making both B and C inherit virtually from A,</a:t>
            </a:r>
          </a:p>
          <a:p>
            <a:r>
              <a:rPr lang="en-US" sz="2800" dirty="0"/>
              <a:t>C++ ensures that only one shared copy of A exists in D.</a:t>
            </a:r>
          </a:p>
        </p:txBody>
      </p:sp>
    </p:spTree>
    <p:extLst>
      <p:ext uri="{BB962C8B-B14F-4D97-AF65-F5344CB8AC3E}">
        <p14:creationId xmlns:p14="http://schemas.microsoft.com/office/powerpoint/2010/main" val="21531339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6ACF2C-D758-9329-4935-468C881ED69B}"/>
              </a:ext>
            </a:extLst>
          </p:cNvPr>
          <p:cNvSpPr txBox="1"/>
          <p:nvPr/>
        </p:nvSpPr>
        <p:spPr>
          <a:xfrm>
            <a:off x="235973" y="179127"/>
            <a:ext cx="11002297" cy="523220"/>
          </a:xfrm>
          <a:prstGeom prst="rect">
            <a:avLst/>
          </a:prstGeom>
          <a:noFill/>
        </p:spPr>
        <p:txBody>
          <a:bodyPr wrap="square">
            <a:spAutoFit/>
          </a:bodyPr>
          <a:lstStyle/>
          <a:p>
            <a:r>
              <a:rPr lang="en-IN" sz="2800" b="1" dirty="0"/>
              <a:t>Protected Access Specifiers</a:t>
            </a:r>
          </a:p>
        </p:txBody>
      </p:sp>
      <p:sp>
        <p:nvSpPr>
          <p:cNvPr id="5" name="TextBox 4">
            <a:extLst>
              <a:ext uri="{FF2B5EF4-FFF2-40B4-BE49-F238E27FC236}">
                <a16:creationId xmlns:a16="http://schemas.microsoft.com/office/drawing/2014/main" id="{68FB0356-BC89-056E-4F24-F199ABB324A3}"/>
              </a:ext>
            </a:extLst>
          </p:cNvPr>
          <p:cNvSpPr txBox="1"/>
          <p:nvPr/>
        </p:nvSpPr>
        <p:spPr>
          <a:xfrm>
            <a:off x="108156" y="702347"/>
            <a:ext cx="11847871" cy="830997"/>
          </a:xfrm>
          <a:prstGeom prst="rect">
            <a:avLst/>
          </a:prstGeom>
          <a:noFill/>
        </p:spPr>
        <p:txBody>
          <a:bodyPr wrap="square">
            <a:spAutoFit/>
          </a:bodyPr>
          <a:lstStyle/>
          <a:p>
            <a:r>
              <a:rPr lang="en-US" sz="2400" dirty="0"/>
              <a:t>The third specifier, protected, is similar to private, but it can also be accessed in the inherited class:</a:t>
            </a:r>
            <a:endParaRPr lang="en-IN" sz="2400" dirty="0"/>
          </a:p>
        </p:txBody>
      </p:sp>
      <p:sp>
        <p:nvSpPr>
          <p:cNvPr id="7" name="TextBox 6">
            <a:extLst>
              <a:ext uri="{FF2B5EF4-FFF2-40B4-BE49-F238E27FC236}">
                <a16:creationId xmlns:a16="http://schemas.microsoft.com/office/drawing/2014/main" id="{EBD796AE-3EF3-D89E-2739-98D8A8A98BDD}"/>
              </a:ext>
            </a:extLst>
          </p:cNvPr>
          <p:cNvSpPr txBox="1"/>
          <p:nvPr/>
        </p:nvSpPr>
        <p:spPr>
          <a:xfrm>
            <a:off x="0" y="1376516"/>
            <a:ext cx="12192000" cy="5262979"/>
          </a:xfrm>
          <a:prstGeom prst="rect">
            <a:avLst/>
          </a:prstGeom>
          <a:noFill/>
        </p:spPr>
        <p:txBody>
          <a:bodyPr wrap="square" numCol="2">
            <a:spAutoFit/>
          </a:bodyPr>
          <a:lstStyle/>
          <a:p>
            <a:r>
              <a:rPr lang="en-IN" sz="2400" dirty="0"/>
              <a:t>// Base class</a:t>
            </a:r>
          </a:p>
          <a:p>
            <a:r>
              <a:rPr lang="en-IN" sz="2400" dirty="0"/>
              <a:t>class Employee {</a:t>
            </a:r>
          </a:p>
          <a:p>
            <a:r>
              <a:rPr lang="en-IN" sz="2400" dirty="0"/>
              <a:t>  protected: // Protected access specifier</a:t>
            </a:r>
          </a:p>
          <a:p>
            <a:r>
              <a:rPr lang="en-IN" sz="2400" dirty="0"/>
              <a:t>    int salary;</a:t>
            </a:r>
          </a:p>
          <a:p>
            <a:r>
              <a:rPr lang="en-IN" sz="2400" dirty="0"/>
              <a:t>};</a:t>
            </a:r>
          </a:p>
          <a:p>
            <a:endParaRPr lang="en-IN" sz="2400" dirty="0"/>
          </a:p>
          <a:p>
            <a:r>
              <a:rPr lang="en-IN" sz="2400" dirty="0"/>
              <a:t>// Derived class</a:t>
            </a:r>
          </a:p>
          <a:p>
            <a:r>
              <a:rPr lang="en-IN" sz="2400" dirty="0"/>
              <a:t>class Programmer: public Employee {</a:t>
            </a:r>
          </a:p>
          <a:p>
            <a:r>
              <a:rPr lang="en-IN" sz="2400" dirty="0"/>
              <a:t>  public:</a:t>
            </a:r>
          </a:p>
          <a:p>
            <a:r>
              <a:rPr lang="en-IN" sz="2400" dirty="0"/>
              <a:t>    int bonus;</a:t>
            </a:r>
          </a:p>
          <a:p>
            <a:r>
              <a:rPr lang="en-IN" sz="2400" dirty="0"/>
              <a:t>    void </a:t>
            </a:r>
            <a:r>
              <a:rPr lang="en-IN" sz="2400" dirty="0" err="1"/>
              <a:t>setSalary</a:t>
            </a:r>
            <a:r>
              <a:rPr lang="en-IN" sz="2400" dirty="0"/>
              <a:t>(int s) {</a:t>
            </a:r>
          </a:p>
          <a:p>
            <a:r>
              <a:rPr lang="en-IN" sz="2400" dirty="0"/>
              <a:t>      salary = s;</a:t>
            </a:r>
          </a:p>
          <a:p>
            <a:r>
              <a:rPr lang="en-IN" sz="2400" dirty="0"/>
              <a:t>    }</a:t>
            </a:r>
          </a:p>
          <a:p>
            <a:r>
              <a:rPr lang="en-IN" sz="2400" dirty="0"/>
              <a:t>    int </a:t>
            </a:r>
            <a:r>
              <a:rPr lang="en-IN" sz="2400" dirty="0" err="1"/>
              <a:t>getSalary</a:t>
            </a:r>
            <a:r>
              <a:rPr lang="en-IN" sz="2400" dirty="0"/>
              <a:t>() {</a:t>
            </a:r>
          </a:p>
          <a:p>
            <a:r>
              <a:rPr lang="en-IN" sz="2400" dirty="0"/>
              <a:t>      return salary;</a:t>
            </a:r>
          </a:p>
          <a:p>
            <a:r>
              <a:rPr lang="en-IN" sz="2400" dirty="0"/>
              <a:t>    }</a:t>
            </a:r>
          </a:p>
          <a:p>
            <a:r>
              <a:rPr lang="en-IN" sz="2400" dirty="0"/>
              <a:t>};</a:t>
            </a:r>
          </a:p>
          <a:p>
            <a:endParaRPr lang="en-IN" sz="2400" dirty="0"/>
          </a:p>
          <a:p>
            <a:r>
              <a:rPr lang="en-IN" sz="2400" dirty="0"/>
              <a:t>int main() {</a:t>
            </a:r>
          </a:p>
          <a:p>
            <a:r>
              <a:rPr lang="en-IN" sz="2400" dirty="0"/>
              <a:t>  Programmer </a:t>
            </a:r>
            <a:r>
              <a:rPr lang="en-IN" sz="2400" dirty="0" err="1"/>
              <a:t>myObj</a:t>
            </a:r>
            <a:r>
              <a:rPr lang="en-IN" sz="2400" dirty="0"/>
              <a:t>;</a:t>
            </a:r>
          </a:p>
          <a:p>
            <a:r>
              <a:rPr lang="en-IN" sz="2400" dirty="0"/>
              <a:t>  </a:t>
            </a:r>
            <a:r>
              <a:rPr lang="en-IN" sz="2400" dirty="0" err="1"/>
              <a:t>myObj.setSalary</a:t>
            </a:r>
            <a:r>
              <a:rPr lang="en-IN" sz="2400" dirty="0"/>
              <a:t>(50000);</a:t>
            </a:r>
          </a:p>
          <a:p>
            <a:r>
              <a:rPr lang="en-IN" sz="2400" dirty="0"/>
              <a:t>  </a:t>
            </a:r>
            <a:r>
              <a:rPr lang="en-IN" sz="2400" dirty="0" err="1"/>
              <a:t>myObj.bonus</a:t>
            </a:r>
            <a:r>
              <a:rPr lang="en-IN" sz="2400" dirty="0"/>
              <a:t> = 15000;</a:t>
            </a:r>
          </a:p>
          <a:p>
            <a:r>
              <a:rPr lang="en-IN" sz="2400" dirty="0"/>
              <a:t>  </a:t>
            </a:r>
            <a:r>
              <a:rPr lang="en-IN" sz="2400" dirty="0" err="1"/>
              <a:t>cout</a:t>
            </a:r>
            <a:r>
              <a:rPr lang="en-IN" sz="2400" dirty="0"/>
              <a:t> &lt;&lt; "Salary: " &lt;&lt; </a:t>
            </a:r>
            <a:r>
              <a:rPr lang="en-IN" sz="2400" dirty="0" err="1"/>
              <a:t>myObj.getSalary</a:t>
            </a:r>
            <a:r>
              <a:rPr lang="en-IN" sz="2400" dirty="0"/>
              <a:t>() &lt;&lt; "\n";</a:t>
            </a:r>
          </a:p>
          <a:p>
            <a:r>
              <a:rPr lang="en-IN" sz="2400" dirty="0"/>
              <a:t>  </a:t>
            </a:r>
            <a:r>
              <a:rPr lang="en-IN" sz="2400" dirty="0" err="1"/>
              <a:t>cout</a:t>
            </a:r>
            <a:r>
              <a:rPr lang="en-IN" sz="2400" dirty="0"/>
              <a:t> &lt;&lt; "Bonus: " &lt;&lt; </a:t>
            </a:r>
            <a:r>
              <a:rPr lang="en-IN" sz="2400" dirty="0" err="1"/>
              <a:t>myObj.bonus</a:t>
            </a:r>
            <a:r>
              <a:rPr lang="en-IN" sz="2400" dirty="0"/>
              <a:t> &lt;&lt; "\n";</a:t>
            </a:r>
          </a:p>
          <a:p>
            <a:r>
              <a:rPr lang="en-IN" sz="2400" dirty="0"/>
              <a:t>  return 0;</a:t>
            </a:r>
          </a:p>
          <a:p>
            <a:r>
              <a:rPr lang="en-IN" sz="2400" dirty="0"/>
              <a:t>}</a:t>
            </a:r>
          </a:p>
        </p:txBody>
      </p:sp>
    </p:spTree>
    <p:extLst>
      <p:ext uri="{BB962C8B-B14F-4D97-AF65-F5344CB8AC3E}">
        <p14:creationId xmlns:p14="http://schemas.microsoft.com/office/powerpoint/2010/main" val="38417854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66FAFF-0B69-FD64-474D-C9E7457C3E58}"/>
              </a:ext>
            </a:extLst>
          </p:cNvPr>
          <p:cNvSpPr txBox="1"/>
          <p:nvPr/>
        </p:nvSpPr>
        <p:spPr>
          <a:xfrm>
            <a:off x="137652" y="272364"/>
            <a:ext cx="11936361" cy="3170099"/>
          </a:xfrm>
          <a:prstGeom prst="rect">
            <a:avLst/>
          </a:prstGeom>
          <a:noFill/>
        </p:spPr>
        <p:txBody>
          <a:bodyPr wrap="square">
            <a:spAutoFit/>
          </a:bodyPr>
          <a:lstStyle/>
          <a:p>
            <a:pPr>
              <a:buNone/>
            </a:pPr>
            <a:r>
              <a:rPr lang="en-US" sz="3200" b="1" dirty="0"/>
              <a:t>What Are Classification Hierarchies?</a:t>
            </a:r>
          </a:p>
          <a:p>
            <a:pPr>
              <a:buNone/>
            </a:pPr>
            <a:r>
              <a:rPr lang="en-US" sz="2800" dirty="0"/>
              <a:t>A </a:t>
            </a:r>
            <a:r>
              <a:rPr lang="en-US" sz="2800" b="1" dirty="0"/>
              <a:t>classification hierarchy</a:t>
            </a:r>
            <a:r>
              <a:rPr lang="en-US" sz="2800" dirty="0"/>
              <a:t> is a way to arrange classes in </a:t>
            </a:r>
            <a:r>
              <a:rPr lang="en-US" sz="2800" b="1" dirty="0"/>
              <a:t>levels</a:t>
            </a:r>
            <a:r>
              <a:rPr lang="en-US" sz="2800" dirty="0"/>
              <a:t>, starting from a </a:t>
            </a:r>
            <a:r>
              <a:rPr lang="en-US" sz="2800" b="1" dirty="0"/>
              <a:t>general</a:t>
            </a:r>
            <a:r>
              <a:rPr lang="en-US" sz="2800" dirty="0"/>
              <a:t> class (parent) and moving down to </a:t>
            </a:r>
            <a:r>
              <a:rPr lang="en-US" sz="2800" b="1" dirty="0"/>
              <a:t>more specific</a:t>
            </a:r>
            <a:r>
              <a:rPr lang="en-US" sz="2800" dirty="0"/>
              <a:t> classes (children).</a:t>
            </a:r>
          </a:p>
          <a:p>
            <a:pPr>
              <a:buNone/>
            </a:pPr>
            <a:r>
              <a:rPr lang="en-US" sz="2800" dirty="0"/>
              <a:t>It is created using </a:t>
            </a:r>
            <a:r>
              <a:rPr lang="en-US" sz="2800" b="1" dirty="0"/>
              <a:t>inheritance</a:t>
            </a:r>
            <a:r>
              <a:rPr lang="en-US" sz="2800" dirty="0"/>
              <a:t> in C++.</a:t>
            </a:r>
          </a:p>
          <a:p>
            <a:pPr>
              <a:buNone/>
            </a:pPr>
            <a:r>
              <a:rPr lang="en-US" sz="2800" dirty="0"/>
              <a:t>This hierarchy helps us organize classes in a structured way, just like biological hierarchies:</a:t>
            </a:r>
          </a:p>
        </p:txBody>
      </p:sp>
      <p:sp>
        <p:nvSpPr>
          <p:cNvPr id="5" name="TextBox 4">
            <a:extLst>
              <a:ext uri="{FF2B5EF4-FFF2-40B4-BE49-F238E27FC236}">
                <a16:creationId xmlns:a16="http://schemas.microsoft.com/office/drawing/2014/main" id="{88136745-F311-6800-4C93-712BD109700F}"/>
              </a:ext>
            </a:extLst>
          </p:cNvPr>
          <p:cNvSpPr txBox="1"/>
          <p:nvPr/>
        </p:nvSpPr>
        <p:spPr>
          <a:xfrm>
            <a:off x="221226" y="3785870"/>
            <a:ext cx="11936360" cy="1200329"/>
          </a:xfrm>
          <a:prstGeom prst="rect">
            <a:avLst/>
          </a:prstGeom>
          <a:noFill/>
        </p:spPr>
        <p:txBody>
          <a:bodyPr wrap="square">
            <a:spAutoFit/>
          </a:bodyPr>
          <a:lstStyle/>
          <a:p>
            <a:pPr>
              <a:buNone/>
            </a:pPr>
            <a:r>
              <a:rPr lang="en-US" sz="2400" dirty="0"/>
              <a:t>In C++:</a:t>
            </a:r>
          </a:p>
          <a:p>
            <a:pPr>
              <a:buFont typeface="Arial" panose="020B0604020202020204" pitchFamily="34" charset="0"/>
              <a:buChar char="•"/>
            </a:pPr>
            <a:r>
              <a:rPr lang="en-US" sz="2400" dirty="0"/>
              <a:t>The </a:t>
            </a:r>
            <a:r>
              <a:rPr lang="en-US" sz="2400" b="1" dirty="0"/>
              <a:t>base class</a:t>
            </a:r>
            <a:r>
              <a:rPr lang="en-US" sz="2400" dirty="0"/>
              <a:t> contains common properties.</a:t>
            </a:r>
          </a:p>
          <a:p>
            <a:pPr>
              <a:buFont typeface="Arial" panose="020B0604020202020204" pitchFamily="34" charset="0"/>
              <a:buChar char="•"/>
            </a:pPr>
            <a:r>
              <a:rPr lang="en-US" sz="2400" b="1" dirty="0"/>
              <a:t>Derived classes</a:t>
            </a:r>
            <a:r>
              <a:rPr lang="en-US" sz="2400" dirty="0"/>
              <a:t> contain specific properties.</a:t>
            </a:r>
          </a:p>
        </p:txBody>
      </p:sp>
    </p:spTree>
    <p:extLst>
      <p:ext uri="{BB962C8B-B14F-4D97-AF65-F5344CB8AC3E}">
        <p14:creationId xmlns:p14="http://schemas.microsoft.com/office/powerpoint/2010/main" val="13436041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6F4A93-27B0-A4DC-C483-A19634CFE13C}"/>
              </a:ext>
            </a:extLst>
          </p:cNvPr>
          <p:cNvSpPr txBox="1"/>
          <p:nvPr/>
        </p:nvSpPr>
        <p:spPr>
          <a:xfrm>
            <a:off x="265471" y="274058"/>
            <a:ext cx="11700387" cy="2246769"/>
          </a:xfrm>
          <a:prstGeom prst="rect">
            <a:avLst/>
          </a:prstGeom>
          <a:noFill/>
        </p:spPr>
        <p:txBody>
          <a:bodyPr wrap="square">
            <a:spAutoFit/>
          </a:bodyPr>
          <a:lstStyle/>
          <a:p>
            <a:pPr>
              <a:buNone/>
            </a:pPr>
            <a:r>
              <a:rPr lang="en-US" sz="2800" b="1" dirty="0"/>
              <a:t>Why do we use Classification Hierarchies?</a:t>
            </a:r>
          </a:p>
          <a:p>
            <a:pPr>
              <a:buNone/>
            </a:pPr>
            <a:r>
              <a:rPr lang="en-US" sz="2800" dirty="0"/>
              <a:t>✔ To avoid repetition of code</a:t>
            </a:r>
            <a:br>
              <a:rPr lang="en-US" sz="2800" dirty="0"/>
            </a:br>
            <a:r>
              <a:rPr lang="en-US" sz="2800" dirty="0"/>
              <a:t>✔ To group similar classes together</a:t>
            </a:r>
            <a:br>
              <a:rPr lang="en-US" sz="2800" dirty="0"/>
            </a:br>
            <a:r>
              <a:rPr lang="en-US" sz="2800" dirty="0"/>
              <a:t>✔ To show real-world “is-a” relationships</a:t>
            </a:r>
            <a:br>
              <a:rPr lang="en-US" sz="2800" dirty="0"/>
            </a:br>
            <a:r>
              <a:rPr lang="en-US" sz="2800" dirty="0"/>
              <a:t>✔ To help in polymorphism</a:t>
            </a:r>
          </a:p>
        </p:txBody>
      </p:sp>
      <p:sp>
        <p:nvSpPr>
          <p:cNvPr id="5" name="TextBox 4">
            <a:extLst>
              <a:ext uri="{FF2B5EF4-FFF2-40B4-BE49-F238E27FC236}">
                <a16:creationId xmlns:a16="http://schemas.microsoft.com/office/drawing/2014/main" id="{47146DFB-0EB7-F4A2-8934-707D8DEDE245}"/>
              </a:ext>
            </a:extLst>
          </p:cNvPr>
          <p:cNvSpPr txBox="1"/>
          <p:nvPr/>
        </p:nvSpPr>
        <p:spPr>
          <a:xfrm>
            <a:off x="265471" y="3429000"/>
            <a:ext cx="11533239" cy="2246769"/>
          </a:xfrm>
          <a:prstGeom prst="rect">
            <a:avLst/>
          </a:prstGeom>
          <a:noFill/>
        </p:spPr>
        <p:txBody>
          <a:bodyPr wrap="square">
            <a:spAutoFit/>
          </a:bodyPr>
          <a:lstStyle/>
          <a:p>
            <a:r>
              <a:rPr lang="en-US" sz="2800" dirty="0"/>
              <a:t> Base Class  (General)</a:t>
            </a:r>
          </a:p>
          <a:p>
            <a:r>
              <a:rPr lang="en-US" sz="2800" dirty="0"/>
              <a:t>                 |</a:t>
            </a:r>
          </a:p>
          <a:p>
            <a:r>
              <a:rPr lang="en-US" sz="2800" dirty="0"/>
              <a:t>          Derived Class (More specific)</a:t>
            </a:r>
          </a:p>
          <a:p>
            <a:r>
              <a:rPr lang="en-US" sz="2800" dirty="0"/>
              <a:t>                 |</a:t>
            </a:r>
          </a:p>
          <a:p>
            <a:r>
              <a:rPr lang="en-US" sz="2800" dirty="0"/>
              <a:t>          More Derived Classes (Most specific)</a:t>
            </a:r>
            <a:endParaRPr lang="en-IN" sz="2800" dirty="0"/>
          </a:p>
        </p:txBody>
      </p:sp>
    </p:spTree>
    <p:extLst>
      <p:ext uri="{BB962C8B-B14F-4D97-AF65-F5344CB8AC3E}">
        <p14:creationId xmlns:p14="http://schemas.microsoft.com/office/powerpoint/2010/main" val="253317920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D645C3-A4FF-4055-F472-93A7AB956DA5}"/>
              </a:ext>
            </a:extLst>
          </p:cNvPr>
          <p:cNvSpPr txBox="1"/>
          <p:nvPr/>
        </p:nvSpPr>
        <p:spPr>
          <a:xfrm>
            <a:off x="167148" y="167147"/>
            <a:ext cx="11887200" cy="6690853"/>
          </a:xfrm>
          <a:prstGeom prst="rect">
            <a:avLst/>
          </a:prstGeom>
          <a:noFill/>
        </p:spPr>
        <p:txBody>
          <a:bodyPr wrap="square" numCol="2">
            <a:spAutoFit/>
          </a:bodyPr>
          <a:lstStyle/>
          <a:p>
            <a:r>
              <a:rPr lang="en-IN" sz="2400" dirty="0"/>
              <a:t>#include &lt;iostream&gt;</a:t>
            </a:r>
          </a:p>
          <a:p>
            <a:r>
              <a:rPr lang="en-IN" sz="2400" dirty="0"/>
              <a:t>using namespace std;</a:t>
            </a:r>
          </a:p>
          <a:p>
            <a:endParaRPr lang="en-IN" sz="2400" dirty="0"/>
          </a:p>
          <a:p>
            <a:r>
              <a:rPr lang="en-IN" sz="2400" dirty="0"/>
              <a:t>// Base class (General Classification)</a:t>
            </a:r>
          </a:p>
          <a:p>
            <a:r>
              <a:rPr lang="en-IN" sz="2400" dirty="0"/>
              <a:t>class Animal {</a:t>
            </a:r>
          </a:p>
          <a:p>
            <a:r>
              <a:rPr lang="en-IN" sz="2400" dirty="0"/>
              <a:t>public:</a:t>
            </a:r>
          </a:p>
          <a:p>
            <a:r>
              <a:rPr lang="en-IN" sz="2400" dirty="0"/>
              <a:t>    void eat() {</a:t>
            </a:r>
          </a:p>
          <a:p>
            <a:r>
              <a:rPr lang="en-IN" sz="2400" dirty="0"/>
              <a:t>        </a:t>
            </a:r>
            <a:r>
              <a:rPr lang="en-IN" sz="2400" dirty="0" err="1"/>
              <a:t>cout</a:t>
            </a:r>
            <a:r>
              <a:rPr lang="en-IN" sz="2400" dirty="0"/>
              <a:t> &lt;&lt; "Eating food\n";</a:t>
            </a:r>
          </a:p>
          <a:p>
            <a:r>
              <a:rPr lang="en-IN" sz="2400" dirty="0"/>
              <a:t>    }</a:t>
            </a:r>
          </a:p>
          <a:p>
            <a:r>
              <a:rPr lang="en-IN" sz="2400" dirty="0"/>
              <a:t>};</a:t>
            </a:r>
          </a:p>
          <a:p>
            <a:endParaRPr lang="en-IN" sz="2400" dirty="0"/>
          </a:p>
          <a:p>
            <a:r>
              <a:rPr lang="en-IN" sz="2400" dirty="0"/>
              <a:t>// First level (More specific classification)</a:t>
            </a:r>
          </a:p>
          <a:p>
            <a:r>
              <a:rPr lang="en-IN" sz="2400" dirty="0"/>
              <a:t>class Mammal : public Animal {</a:t>
            </a:r>
          </a:p>
          <a:p>
            <a:r>
              <a:rPr lang="en-IN" sz="2400" dirty="0"/>
              <a:t>public:</a:t>
            </a:r>
          </a:p>
          <a:p>
            <a:r>
              <a:rPr lang="en-IN" sz="2400" dirty="0"/>
              <a:t>    void walk() {</a:t>
            </a:r>
          </a:p>
          <a:p>
            <a:r>
              <a:rPr lang="en-IN" sz="2400" dirty="0"/>
              <a:t>        </a:t>
            </a:r>
            <a:r>
              <a:rPr lang="en-IN" sz="2400" dirty="0" err="1"/>
              <a:t>cout</a:t>
            </a:r>
            <a:r>
              <a:rPr lang="en-IN" sz="2400" dirty="0"/>
              <a:t> &lt;&lt; "Walking on land\n";</a:t>
            </a:r>
          </a:p>
          <a:p>
            <a:r>
              <a:rPr lang="en-IN" sz="2400" dirty="0"/>
              <a:t>    }</a:t>
            </a:r>
          </a:p>
          <a:p>
            <a:r>
              <a:rPr lang="en-IN" sz="2400" dirty="0"/>
              <a:t>};</a:t>
            </a:r>
          </a:p>
          <a:p>
            <a:r>
              <a:rPr lang="en-IN" sz="2400" dirty="0"/>
              <a:t>// Second level (Even more specific)</a:t>
            </a:r>
          </a:p>
          <a:p>
            <a:r>
              <a:rPr lang="en-IN" sz="2400" dirty="0"/>
              <a:t>class Dog : public Mammal {</a:t>
            </a:r>
          </a:p>
          <a:p>
            <a:r>
              <a:rPr lang="en-IN" sz="2400" dirty="0"/>
              <a:t>public:</a:t>
            </a:r>
          </a:p>
          <a:p>
            <a:r>
              <a:rPr lang="en-IN" sz="2400" dirty="0"/>
              <a:t>    void bark() {</a:t>
            </a:r>
          </a:p>
          <a:p>
            <a:r>
              <a:rPr lang="en-IN" sz="2400" dirty="0"/>
              <a:t>        </a:t>
            </a:r>
            <a:r>
              <a:rPr lang="en-IN" sz="2400" dirty="0" err="1"/>
              <a:t>cout</a:t>
            </a:r>
            <a:r>
              <a:rPr lang="en-IN" sz="2400" dirty="0"/>
              <a:t> &lt;&lt; "Dog barks\n";</a:t>
            </a:r>
          </a:p>
          <a:p>
            <a:r>
              <a:rPr lang="en-IN" sz="2400" dirty="0"/>
              <a:t>    }</a:t>
            </a:r>
          </a:p>
          <a:p>
            <a:r>
              <a:rPr lang="en-IN" sz="2400" dirty="0"/>
              <a:t>};</a:t>
            </a:r>
          </a:p>
          <a:p>
            <a:endParaRPr lang="en-IN" sz="2400" dirty="0"/>
          </a:p>
          <a:p>
            <a:r>
              <a:rPr lang="en-IN" sz="2400" dirty="0"/>
              <a:t>int main() {</a:t>
            </a:r>
          </a:p>
          <a:p>
            <a:r>
              <a:rPr lang="en-IN" sz="2400" dirty="0"/>
              <a:t>    Dog d;</a:t>
            </a:r>
          </a:p>
          <a:p>
            <a:endParaRPr lang="en-IN" sz="2400" dirty="0"/>
          </a:p>
          <a:p>
            <a:r>
              <a:rPr lang="en-IN" sz="2400" dirty="0"/>
              <a:t>    </a:t>
            </a:r>
            <a:r>
              <a:rPr lang="en-IN" sz="2400" dirty="0" err="1"/>
              <a:t>d.eat</a:t>
            </a:r>
            <a:r>
              <a:rPr lang="en-IN" sz="2400" dirty="0"/>
              <a:t>();   // From Animal</a:t>
            </a:r>
          </a:p>
          <a:p>
            <a:r>
              <a:rPr lang="en-IN" sz="2400" dirty="0"/>
              <a:t>    </a:t>
            </a:r>
            <a:r>
              <a:rPr lang="en-IN" sz="2400" dirty="0" err="1"/>
              <a:t>d.walk</a:t>
            </a:r>
            <a:r>
              <a:rPr lang="en-IN" sz="2400" dirty="0"/>
              <a:t>();  // From Mammal</a:t>
            </a:r>
          </a:p>
          <a:p>
            <a:r>
              <a:rPr lang="en-IN" sz="2400" dirty="0"/>
              <a:t>    </a:t>
            </a:r>
            <a:r>
              <a:rPr lang="en-IN" sz="2400" dirty="0" err="1"/>
              <a:t>d.bark</a:t>
            </a:r>
            <a:r>
              <a:rPr lang="en-IN" sz="2400" dirty="0"/>
              <a:t>();  // From Dog</a:t>
            </a:r>
          </a:p>
          <a:p>
            <a:endParaRPr lang="en-IN" sz="2400" dirty="0"/>
          </a:p>
          <a:p>
            <a:r>
              <a:rPr lang="en-IN" sz="2400" dirty="0"/>
              <a:t>    return 0;</a:t>
            </a:r>
          </a:p>
          <a:p>
            <a:r>
              <a:rPr lang="en-IN" sz="2400" dirty="0"/>
              <a:t>}</a:t>
            </a:r>
          </a:p>
        </p:txBody>
      </p:sp>
    </p:spTree>
    <p:extLst>
      <p:ext uri="{BB962C8B-B14F-4D97-AF65-F5344CB8AC3E}">
        <p14:creationId xmlns:p14="http://schemas.microsoft.com/office/powerpoint/2010/main" val="42528057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C525DB-703A-D8CA-0F52-339B07F4F803}"/>
              </a:ext>
            </a:extLst>
          </p:cNvPr>
          <p:cNvSpPr txBox="1"/>
          <p:nvPr/>
        </p:nvSpPr>
        <p:spPr>
          <a:xfrm>
            <a:off x="108156" y="117591"/>
            <a:ext cx="11901948" cy="1384995"/>
          </a:xfrm>
          <a:prstGeom prst="rect">
            <a:avLst/>
          </a:prstGeom>
          <a:noFill/>
        </p:spPr>
        <p:txBody>
          <a:bodyPr wrap="square">
            <a:spAutoFit/>
          </a:bodyPr>
          <a:lstStyle/>
          <a:p>
            <a:r>
              <a:rPr lang="en-US" sz="2800" b="1" dirty="0"/>
              <a:t>Polymorphism</a:t>
            </a:r>
          </a:p>
          <a:p>
            <a:r>
              <a:rPr lang="en-US" sz="2800" dirty="0"/>
              <a:t>Polymorphism means "many forms", and it occurs when we have many classes that are related to each other by inheritance.</a:t>
            </a:r>
            <a:endParaRPr lang="en-IN" sz="2800" dirty="0"/>
          </a:p>
        </p:txBody>
      </p:sp>
      <p:sp>
        <p:nvSpPr>
          <p:cNvPr id="5" name="TextBox 4">
            <a:extLst>
              <a:ext uri="{FF2B5EF4-FFF2-40B4-BE49-F238E27FC236}">
                <a16:creationId xmlns:a16="http://schemas.microsoft.com/office/drawing/2014/main" id="{2E7F86C0-AD91-9C62-77C6-D8CE2D47F39E}"/>
              </a:ext>
            </a:extLst>
          </p:cNvPr>
          <p:cNvSpPr txBox="1"/>
          <p:nvPr/>
        </p:nvSpPr>
        <p:spPr>
          <a:xfrm>
            <a:off x="108157" y="1685665"/>
            <a:ext cx="11901948" cy="3416320"/>
          </a:xfrm>
          <a:prstGeom prst="rect">
            <a:avLst/>
          </a:prstGeom>
          <a:noFill/>
        </p:spPr>
        <p:txBody>
          <a:bodyPr wrap="square">
            <a:spAutoFit/>
          </a:bodyPr>
          <a:lstStyle/>
          <a:p>
            <a:r>
              <a:rPr lang="en-US" sz="2400" dirty="0"/>
              <a:t>For example, imagine a base class Animal with a method called </a:t>
            </a:r>
            <a:r>
              <a:rPr lang="en-US" sz="2400" dirty="0" err="1"/>
              <a:t>makeSound</a:t>
            </a:r>
            <a:r>
              <a:rPr lang="en-US" sz="2400" dirty="0"/>
              <a:t>(). Derived classes of Animals could be Pigs, Cats, Dogs, Birds, etc. Every animal can "make a sound", but each one sounds different:</a:t>
            </a:r>
          </a:p>
          <a:p>
            <a:endParaRPr lang="en-US" sz="2400" dirty="0"/>
          </a:p>
          <a:p>
            <a:r>
              <a:rPr lang="en-US" sz="2400" dirty="0"/>
              <a:t>Pig: wee </a:t>
            </a:r>
            <a:r>
              <a:rPr lang="en-US" sz="2400" dirty="0" err="1"/>
              <a:t>wee</a:t>
            </a:r>
            <a:endParaRPr lang="en-US" sz="2400" dirty="0"/>
          </a:p>
          <a:p>
            <a:r>
              <a:rPr lang="en-US" sz="2400" dirty="0"/>
              <a:t>Dog: bow wow</a:t>
            </a:r>
          </a:p>
          <a:p>
            <a:r>
              <a:rPr lang="en-US" sz="2400" dirty="0"/>
              <a:t>Bird: tweet </a:t>
            </a:r>
            <a:r>
              <a:rPr lang="en-US" sz="2400" dirty="0" err="1"/>
              <a:t>tweet</a:t>
            </a:r>
            <a:endParaRPr lang="en-US" sz="2400" dirty="0"/>
          </a:p>
          <a:p>
            <a:r>
              <a:rPr lang="en-US" sz="2400" dirty="0"/>
              <a:t>This is polymorphism - the same action (making a sound) behaves differently for each animal:</a:t>
            </a:r>
            <a:endParaRPr lang="en-IN" sz="2400" dirty="0"/>
          </a:p>
        </p:txBody>
      </p:sp>
    </p:spTree>
    <p:extLst>
      <p:ext uri="{BB962C8B-B14F-4D97-AF65-F5344CB8AC3E}">
        <p14:creationId xmlns:p14="http://schemas.microsoft.com/office/powerpoint/2010/main" val="9401203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67F4B7-0652-4496-D802-478E1B901C62}"/>
              </a:ext>
            </a:extLst>
          </p:cNvPr>
          <p:cNvSpPr txBox="1"/>
          <p:nvPr/>
        </p:nvSpPr>
        <p:spPr>
          <a:xfrm>
            <a:off x="0" y="117986"/>
            <a:ext cx="12034684" cy="6740014"/>
          </a:xfrm>
          <a:prstGeom prst="rect">
            <a:avLst/>
          </a:prstGeom>
          <a:noFill/>
        </p:spPr>
        <p:txBody>
          <a:bodyPr wrap="square" numCol="2">
            <a:spAutoFit/>
          </a:bodyPr>
          <a:lstStyle/>
          <a:p>
            <a:r>
              <a:rPr lang="en-IN" sz="2400" dirty="0"/>
              <a:t>// Base class</a:t>
            </a:r>
          </a:p>
          <a:p>
            <a:r>
              <a:rPr lang="en-IN" sz="2400" dirty="0"/>
              <a:t>class Animal {</a:t>
            </a:r>
          </a:p>
          <a:p>
            <a:r>
              <a:rPr lang="en-IN" sz="2400" dirty="0"/>
              <a:t>  public:</a:t>
            </a:r>
          </a:p>
          <a:p>
            <a:r>
              <a:rPr lang="en-IN" sz="2400" dirty="0"/>
              <a:t>    void </a:t>
            </a:r>
            <a:r>
              <a:rPr lang="en-IN" sz="2400" dirty="0" err="1"/>
              <a:t>animalSound</a:t>
            </a:r>
            <a:r>
              <a:rPr lang="en-IN" sz="2400" dirty="0"/>
              <a:t>() {</a:t>
            </a:r>
          </a:p>
          <a:p>
            <a:r>
              <a:rPr lang="en-IN" sz="2400" dirty="0"/>
              <a:t>      </a:t>
            </a:r>
            <a:r>
              <a:rPr lang="en-IN" sz="2400" dirty="0" err="1"/>
              <a:t>cout</a:t>
            </a:r>
            <a:r>
              <a:rPr lang="en-IN" sz="2400" dirty="0"/>
              <a:t> &lt;&lt; "The animal makes a sound \n";</a:t>
            </a:r>
          </a:p>
          <a:p>
            <a:r>
              <a:rPr lang="en-IN" sz="2400" dirty="0"/>
              <a:t>    }</a:t>
            </a:r>
          </a:p>
          <a:p>
            <a:r>
              <a:rPr lang="en-IN" sz="2400" dirty="0"/>
              <a:t>};</a:t>
            </a:r>
          </a:p>
          <a:p>
            <a:endParaRPr lang="en-IN" sz="2400" dirty="0"/>
          </a:p>
          <a:p>
            <a:r>
              <a:rPr lang="en-IN" sz="2400" dirty="0"/>
              <a:t>// Derived class</a:t>
            </a:r>
          </a:p>
          <a:p>
            <a:r>
              <a:rPr lang="en-IN" sz="2400" dirty="0"/>
              <a:t>class Pig : public Animal {</a:t>
            </a:r>
          </a:p>
          <a:p>
            <a:r>
              <a:rPr lang="en-IN" sz="2400" dirty="0"/>
              <a:t>  public:</a:t>
            </a:r>
          </a:p>
          <a:p>
            <a:r>
              <a:rPr lang="en-IN" sz="2400" dirty="0"/>
              <a:t>    void </a:t>
            </a:r>
            <a:r>
              <a:rPr lang="en-IN" sz="2400" dirty="0" err="1"/>
              <a:t>animalSound</a:t>
            </a:r>
            <a:r>
              <a:rPr lang="en-IN" sz="2400" dirty="0"/>
              <a:t>() {</a:t>
            </a:r>
          </a:p>
          <a:p>
            <a:r>
              <a:rPr lang="en-IN" sz="2400" dirty="0"/>
              <a:t>      </a:t>
            </a:r>
            <a:r>
              <a:rPr lang="en-IN" sz="2400" dirty="0" err="1"/>
              <a:t>cout</a:t>
            </a:r>
            <a:r>
              <a:rPr lang="en-IN" sz="2400" dirty="0"/>
              <a:t> &lt;&lt; "The pig says: wee </a:t>
            </a:r>
            <a:r>
              <a:rPr lang="en-IN" sz="2400" dirty="0" err="1"/>
              <a:t>wee</a:t>
            </a:r>
            <a:r>
              <a:rPr lang="en-IN" sz="2400" dirty="0"/>
              <a:t> \n";</a:t>
            </a:r>
          </a:p>
          <a:p>
            <a:r>
              <a:rPr lang="en-IN" sz="2400" dirty="0"/>
              <a:t>    }</a:t>
            </a:r>
          </a:p>
          <a:p>
            <a:r>
              <a:rPr lang="en-IN" sz="2400" dirty="0"/>
              <a:t>};</a:t>
            </a:r>
          </a:p>
          <a:p>
            <a:endParaRPr lang="en-IN" sz="2400" dirty="0"/>
          </a:p>
          <a:p>
            <a:r>
              <a:rPr lang="en-IN" sz="2400" dirty="0"/>
              <a:t>// Derived class</a:t>
            </a:r>
          </a:p>
          <a:p>
            <a:r>
              <a:rPr lang="en-IN" sz="2400" dirty="0"/>
              <a:t>class Dog : public Animal {</a:t>
            </a:r>
          </a:p>
          <a:p>
            <a:r>
              <a:rPr lang="en-IN" sz="2400" dirty="0"/>
              <a:t>  public:</a:t>
            </a:r>
          </a:p>
          <a:p>
            <a:r>
              <a:rPr lang="en-IN" sz="2400" dirty="0"/>
              <a:t>    void </a:t>
            </a:r>
            <a:r>
              <a:rPr lang="en-IN" sz="2400" dirty="0" err="1"/>
              <a:t>animalSound</a:t>
            </a:r>
            <a:r>
              <a:rPr lang="en-IN" sz="2400" dirty="0"/>
              <a:t>() {</a:t>
            </a:r>
          </a:p>
          <a:p>
            <a:r>
              <a:rPr lang="en-IN" sz="2400" dirty="0"/>
              <a:t>      </a:t>
            </a:r>
            <a:r>
              <a:rPr lang="en-IN" sz="2400" dirty="0" err="1"/>
              <a:t>cout</a:t>
            </a:r>
            <a:r>
              <a:rPr lang="en-IN" sz="2400" dirty="0"/>
              <a:t> &lt;&lt; "The dog says: bow wow \n";</a:t>
            </a:r>
          </a:p>
          <a:p>
            <a:r>
              <a:rPr lang="en-IN" sz="2400" dirty="0"/>
              <a:t>    }</a:t>
            </a:r>
          </a:p>
          <a:p>
            <a:r>
              <a:rPr lang="en-IN" sz="2400" dirty="0"/>
              <a:t>};</a:t>
            </a:r>
          </a:p>
          <a:p>
            <a:endParaRPr lang="en-IN" sz="2400" dirty="0"/>
          </a:p>
          <a:p>
            <a:r>
              <a:rPr lang="en-IN" sz="2400" dirty="0"/>
              <a:t>int main() {</a:t>
            </a:r>
          </a:p>
          <a:p>
            <a:r>
              <a:rPr lang="en-IN" sz="2400" dirty="0"/>
              <a:t>  Animal </a:t>
            </a:r>
            <a:r>
              <a:rPr lang="en-IN" sz="2400" dirty="0" err="1"/>
              <a:t>myAnimal</a:t>
            </a:r>
            <a:r>
              <a:rPr lang="en-IN" sz="2400" dirty="0"/>
              <a:t>;</a:t>
            </a:r>
          </a:p>
          <a:p>
            <a:r>
              <a:rPr lang="en-IN" sz="2400" dirty="0"/>
              <a:t>  Pig </a:t>
            </a:r>
            <a:r>
              <a:rPr lang="en-IN" sz="2400" dirty="0" err="1"/>
              <a:t>myPig</a:t>
            </a:r>
            <a:r>
              <a:rPr lang="en-IN" sz="2400" dirty="0"/>
              <a:t>;</a:t>
            </a:r>
          </a:p>
          <a:p>
            <a:r>
              <a:rPr lang="en-IN" sz="2400" dirty="0"/>
              <a:t>  Dog </a:t>
            </a:r>
            <a:r>
              <a:rPr lang="en-IN" sz="2400" dirty="0" err="1"/>
              <a:t>myDog</a:t>
            </a:r>
            <a:r>
              <a:rPr lang="en-IN" sz="2400" dirty="0"/>
              <a:t>;</a:t>
            </a:r>
          </a:p>
          <a:p>
            <a:endParaRPr lang="en-IN" sz="2400" dirty="0"/>
          </a:p>
          <a:p>
            <a:r>
              <a:rPr lang="en-IN" sz="2400" dirty="0"/>
              <a:t>  </a:t>
            </a:r>
            <a:r>
              <a:rPr lang="en-IN" sz="2400" dirty="0" err="1"/>
              <a:t>myAnimal.animalSound</a:t>
            </a:r>
            <a:r>
              <a:rPr lang="en-IN" sz="2400" dirty="0"/>
              <a:t>();</a:t>
            </a:r>
          </a:p>
          <a:p>
            <a:r>
              <a:rPr lang="en-IN" sz="2400" dirty="0"/>
              <a:t>  </a:t>
            </a:r>
            <a:r>
              <a:rPr lang="en-IN" sz="2400" dirty="0" err="1"/>
              <a:t>myPig.animalSound</a:t>
            </a:r>
            <a:r>
              <a:rPr lang="en-IN" sz="2400" dirty="0"/>
              <a:t>();</a:t>
            </a:r>
          </a:p>
          <a:p>
            <a:r>
              <a:rPr lang="en-IN" sz="2400" dirty="0"/>
              <a:t>  </a:t>
            </a:r>
            <a:r>
              <a:rPr lang="en-IN" sz="2400" dirty="0" err="1"/>
              <a:t>myDog.animalSound</a:t>
            </a:r>
            <a:r>
              <a:rPr lang="en-IN" sz="2400" dirty="0"/>
              <a:t>();</a:t>
            </a:r>
          </a:p>
          <a:p>
            <a:r>
              <a:rPr lang="en-IN" sz="2400" dirty="0"/>
              <a:t>  return 0;</a:t>
            </a:r>
          </a:p>
          <a:p>
            <a:r>
              <a:rPr lang="en-IN" sz="2400" dirty="0"/>
              <a:t>}</a:t>
            </a:r>
          </a:p>
        </p:txBody>
      </p:sp>
    </p:spTree>
    <p:extLst>
      <p:ext uri="{BB962C8B-B14F-4D97-AF65-F5344CB8AC3E}">
        <p14:creationId xmlns:p14="http://schemas.microsoft.com/office/powerpoint/2010/main" val="9130084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30E232-E836-9A6F-9E97-3F249D84B631}"/>
              </a:ext>
            </a:extLst>
          </p:cNvPr>
          <p:cNvSpPr txBox="1"/>
          <p:nvPr/>
        </p:nvSpPr>
        <p:spPr>
          <a:xfrm>
            <a:off x="127818" y="167600"/>
            <a:ext cx="11906865" cy="1384995"/>
          </a:xfrm>
          <a:prstGeom prst="rect">
            <a:avLst/>
          </a:prstGeom>
          <a:noFill/>
        </p:spPr>
        <p:txBody>
          <a:bodyPr wrap="square">
            <a:spAutoFit/>
          </a:bodyPr>
          <a:lstStyle/>
          <a:p>
            <a:r>
              <a:rPr lang="en-US" sz="2800" b="1" dirty="0"/>
              <a:t>C++ Virtual Functions</a:t>
            </a:r>
          </a:p>
          <a:p>
            <a:r>
              <a:rPr lang="en-US" sz="2800" dirty="0"/>
              <a:t>A virtual function is a member function in the base class that can be overridden in derived classes.</a:t>
            </a:r>
            <a:endParaRPr lang="en-IN" sz="2800" dirty="0"/>
          </a:p>
        </p:txBody>
      </p:sp>
      <p:sp>
        <p:nvSpPr>
          <p:cNvPr id="5" name="TextBox 4">
            <a:extLst>
              <a:ext uri="{FF2B5EF4-FFF2-40B4-BE49-F238E27FC236}">
                <a16:creationId xmlns:a16="http://schemas.microsoft.com/office/drawing/2014/main" id="{0AFB358B-A3B9-CC99-EA46-A491F0EE2FC1}"/>
              </a:ext>
            </a:extLst>
          </p:cNvPr>
          <p:cNvSpPr txBox="1"/>
          <p:nvPr/>
        </p:nvSpPr>
        <p:spPr>
          <a:xfrm>
            <a:off x="127817" y="1723298"/>
            <a:ext cx="11906865" cy="4832092"/>
          </a:xfrm>
          <a:prstGeom prst="rect">
            <a:avLst/>
          </a:prstGeom>
          <a:noFill/>
        </p:spPr>
        <p:txBody>
          <a:bodyPr wrap="square">
            <a:spAutoFit/>
          </a:bodyPr>
          <a:lstStyle/>
          <a:p>
            <a:r>
              <a:rPr lang="en-US" sz="2800" b="1" dirty="0"/>
              <a:t>Why Use Virtual Functions?</a:t>
            </a:r>
          </a:p>
          <a:p>
            <a:r>
              <a:rPr lang="en-US" sz="2800" dirty="0"/>
              <a:t>Without virtual, C++ decides which function to call based on the pointer type, not the actual object type.</a:t>
            </a:r>
          </a:p>
          <a:p>
            <a:endParaRPr lang="en-US" sz="2800" dirty="0"/>
          </a:p>
          <a:p>
            <a:r>
              <a:rPr lang="en-US" sz="2800" dirty="0"/>
              <a:t>With virtual, it checks the actual object the pointer is pointing to.</a:t>
            </a:r>
          </a:p>
          <a:p>
            <a:endParaRPr lang="en-US" sz="2800" dirty="0"/>
          </a:p>
          <a:p>
            <a:r>
              <a:rPr lang="en-US" sz="2800" dirty="0"/>
              <a:t>Or to put it even more simply:</a:t>
            </a:r>
          </a:p>
          <a:p>
            <a:endParaRPr lang="en-US" sz="2800" dirty="0"/>
          </a:p>
          <a:p>
            <a:r>
              <a:rPr lang="en-US" sz="2800" dirty="0"/>
              <a:t>Without virtual: the base function runs, even if the object is from a child class.</a:t>
            </a:r>
          </a:p>
          <a:p>
            <a:r>
              <a:rPr lang="en-US" sz="2800" dirty="0"/>
              <a:t>With virtual: the child's version runs, like you expect.</a:t>
            </a:r>
            <a:endParaRPr lang="en-IN" sz="2800" dirty="0"/>
          </a:p>
        </p:txBody>
      </p:sp>
    </p:spTree>
    <p:extLst>
      <p:ext uri="{BB962C8B-B14F-4D97-AF65-F5344CB8AC3E}">
        <p14:creationId xmlns:p14="http://schemas.microsoft.com/office/powerpoint/2010/main" val="22478737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49F744-3EAE-CB6C-F73D-B9F2BCAB29CA}"/>
              </a:ext>
            </a:extLst>
          </p:cNvPr>
          <p:cNvSpPr txBox="1"/>
          <p:nvPr/>
        </p:nvSpPr>
        <p:spPr>
          <a:xfrm>
            <a:off x="0" y="0"/>
            <a:ext cx="12024852" cy="4524315"/>
          </a:xfrm>
          <a:prstGeom prst="rect">
            <a:avLst/>
          </a:prstGeom>
          <a:noFill/>
        </p:spPr>
        <p:txBody>
          <a:bodyPr wrap="square">
            <a:spAutoFit/>
          </a:bodyPr>
          <a:lstStyle/>
          <a:p>
            <a:r>
              <a:rPr lang="en-US" sz="3200" dirty="0"/>
              <a:t>The -&gt; Operator in C++</a:t>
            </a:r>
          </a:p>
          <a:p>
            <a:endParaRPr lang="en-US" sz="3200" dirty="0"/>
          </a:p>
          <a:p>
            <a:r>
              <a:rPr lang="en-US" sz="3200" dirty="0"/>
              <a:t>The -&gt; operator is used to access members (like functions or variables) through a pointer.</a:t>
            </a:r>
          </a:p>
          <a:p>
            <a:endParaRPr lang="en-US" sz="3200" dirty="0"/>
          </a:p>
          <a:p>
            <a:r>
              <a:rPr lang="en-US" sz="3200" dirty="0"/>
              <a:t>It's a shortcut for writing (*pointer).member:</a:t>
            </a:r>
          </a:p>
          <a:p>
            <a:endParaRPr lang="en-US" sz="3200" dirty="0"/>
          </a:p>
          <a:p>
            <a:r>
              <a:rPr lang="en-US" sz="3200" dirty="0"/>
              <a:t>Animal* a = new Animal();</a:t>
            </a:r>
          </a:p>
          <a:p>
            <a:r>
              <a:rPr lang="en-US" sz="3200" dirty="0"/>
              <a:t>a-&gt;sound(); 		// Same as (*a).sound();</a:t>
            </a:r>
            <a:endParaRPr lang="en-IN" sz="3200" dirty="0"/>
          </a:p>
        </p:txBody>
      </p:sp>
    </p:spTree>
    <p:extLst>
      <p:ext uri="{BB962C8B-B14F-4D97-AF65-F5344CB8AC3E}">
        <p14:creationId xmlns:p14="http://schemas.microsoft.com/office/powerpoint/2010/main" val="32325040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FCE837-1E40-5D0F-70D1-5C1A69F54D95}"/>
              </a:ext>
            </a:extLst>
          </p:cNvPr>
          <p:cNvSpPr txBox="1"/>
          <p:nvPr/>
        </p:nvSpPr>
        <p:spPr>
          <a:xfrm>
            <a:off x="-1" y="120134"/>
            <a:ext cx="11926529" cy="584775"/>
          </a:xfrm>
          <a:prstGeom prst="rect">
            <a:avLst/>
          </a:prstGeom>
          <a:noFill/>
        </p:spPr>
        <p:txBody>
          <a:bodyPr wrap="square">
            <a:spAutoFit/>
          </a:bodyPr>
          <a:lstStyle/>
          <a:p>
            <a:r>
              <a:rPr lang="en-IN" sz="3200" dirty="0"/>
              <a:t>Without Virtual Function</a:t>
            </a:r>
          </a:p>
        </p:txBody>
      </p:sp>
      <p:sp>
        <p:nvSpPr>
          <p:cNvPr id="5" name="TextBox 4">
            <a:extLst>
              <a:ext uri="{FF2B5EF4-FFF2-40B4-BE49-F238E27FC236}">
                <a16:creationId xmlns:a16="http://schemas.microsoft.com/office/drawing/2014/main" id="{6CDD6174-EF9A-D565-FF7D-755338C115C8}"/>
              </a:ext>
            </a:extLst>
          </p:cNvPr>
          <p:cNvSpPr txBox="1"/>
          <p:nvPr/>
        </p:nvSpPr>
        <p:spPr>
          <a:xfrm>
            <a:off x="88489" y="704909"/>
            <a:ext cx="11926529" cy="5909310"/>
          </a:xfrm>
          <a:prstGeom prst="rect">
            <a:avLst/>
          </a:prstGeom>
          <a:noFill/>
        </p:spPr>
        <p:txBody>
          <a:bodyPr wrap="square">
            <a:spAutoFit/>
          </a:bodyPr>
          <a:lstStyle/>
          <a:p>
            <a:r>
              <a:rPr lang="en-US" dirty="0"/>
              <a:t>class Animal {</a:t>
            </a:r>
          </a:p>
          <a:p>
            <a:r>
              <a:rPr lang="en-US" dirty="0"/>
              <a:t>  public:</a:t>
            </a:r>
          </a:p>
          <a:p>
            <a:r>
              <a:rPr lang="en-US" dirty="0"/>
              <a:t>    void sound() {</a:t>
            </a:r>
          </a:p>
          <a:p>
            <a:r>
              <a:rPr lang="en-US" dirty="0"/>
              <a:t>      </a:t>
            </a:r>
            <a:r>
              <a:rPr lang="en-US" dirty="0" err="1"/>
              <a:t>cout</a:t>
            </a:r>
            <a:r>
              <a:rPr lang="en-US" dirty="0"/>
              <a:t> &lt;&lt; "Animal sound\n";</a:t>
            </a:r>
          </a:p>
          <a:p>
            <a:r>
              <a:rPr lang="en-US" dirty="0"/>
              <a:t>    }</a:t>
            </a:r>
          </a:p>
          <a:p>
            <a:r>
              <a:rPr lang="en-US" dirty="0"/>
              <a:t>};</a:t>
            </a:r>
          </a:p>
          <a:p>
            <a:endParaRPr lang="en-US" dirty="0"/>
          </a:p>
          <a:p>
            <a:r>
              <a:rPr lang="en-US" dirty="0"/>
              <a:t>class Dog : public Animal {</a:t>
            </a:r>
          </a:p>
          <a:p>
            <a:r>
              <a:rPr lang="en-US" dirty="0"/>
              <a:t>  public:</a:t>
            </a:r>
          </a:p>
          <a:p>
            <a:r>
              <a:rPr lang="en-US" dirty="0"/>
              <a:t>    void sound() {</a:t>
            </a:r>
          </a:p>
          <a:p>
            <a:r>
              <a:rPr lang="en-US" dirty="0"/>
              <a:t>      </a:t>
            </a:r>
            <a:r>
              <a:rPr lang="en-US" dirty="0" err="1"/>
              <a:t>cout</a:t>
            </a:r>
            <a:r>
              <a:rPr lang="en-US" dirty="0"/>
              <a:t> &lt;&lt; "Dog barks\n";</a:t>
            </a:r>
          </a:p>
          <a:p>
            <a:r>
              <a:rPr lang="en-US" dirty="0"/>
              <a:t>    }</a:t>
            </a:r>
          </a:p>
          <a:p>
            <a:r>
              <a:rPr lang="en-US" dirty="0"/>
              <a:t>};</a:t>
            </a:r>
          </a:p>
          <a:p>
            <a:endParaRPr lang="en-US" dirty="0"/>
          </a:p>
          <a:p>
            <a:r>
              <a:rPr lang="en-US" dirty="0"/>
              <a:t>int main() {</a:t>
            </a:r>
          </a:p>
          <a:p>
            <a:r>
              <a:rPr lang="en-US" dirty="0"/>
              <a:t>  Animal* a;	  // Declare a pointer to the base class (Animal)</a:t>
            </a:r>
          </a:p>
          <a:p>
            <a:r>
              <a:rPr lang="en-US" dirty="0"/>
              <a:t>  Dog d;  		// Create an object of the derived class (Dog)</a:t>
            </a:r>
          </a:p>
          <a:p>
            <a:r>
              <a:rPr lang="en-US" dirty="0"/>
              <a:t>  a = &amp;d;  		// Point the base class pointer to the Dog object</a:t>
            </a:r>
          </a:p>
          <a:p>
            <a:r>
              <a:rPr lang="en-US" dirty="0"/>
              <a:t>  a-&gt;sound(); 	// Call the sound() function using the pointer. Since sound() is not virtual, this calls Animal's version</a:t>
            </a:r>
          </a:p>
          <a:p>
            <a:r>
              <a:rPr lang="en-US" dirty="0"/>
              <a:t>  return 0;</a:t>
            </a:r>
          </a:p>
          <a:p>
            <a:r>
              <a:rPr lang="en-US" dirty="0"/>
              <a:t>}</a:t>
            </a:r>
            <a:endParaRPr lang="en-IN" dirty="0"/>
          </a:p>
        </p:txBody>
      </p:sp>
      <p:sp>
        <p:nvSpPr>
          <p:cNvPr id="7" name="TextBox 6">
            <a:extLst>
              <a:ext uri="{FF2B5EF4-FFF2-40B4-BE49-F238E27FC236}">
                <a16:creationId xmlns:a16="http://schemas.microsoft.com/office/drawing/2014/main" id="{4F167DF5-A62B-6BAB-134F-F8E004EDDAE3}"/>
              </a:ext>
            </a:extLst>
          </p:cNvPr>
          <p:cNvSpPr txBox="1"/>
          <p:nvPr/>
        </p:nvSpPr>
        <p:spPr>
          <a:xfrm>
            <a:off x="4729316" y="643353"/>
            <a:ext cx="6174658" cy="646331"/>
          </a:xfrm>
          <a:prstGeom prst="rect">
            <a:avLst/>
          </a:prstGeom>
          <a:noFill/>
        </p:spPr>
        <p:txBody>
          <a:bodyPr wrap="square">
            <a:spAutoFit/>
          </a:bodyPr>
          <a:lstStyle/>
          <a:p>
            <a:r>
              <a:rPr lang="en-US" dirty="0"/>
              <a:t>Even though a points to a Dog, it still calls Animal::sound() because the function is not virtual.</a:t>
            </a:r>
            <a:endParaRPr lang="en-IN" dirty="0"/>
          </a:p>
        </p:txBody>
      </p:sp>
    </p:spTree>
    <p:extLst>
      <p:ext uri="{BB962C8B-B14F-4D97-AF65-F5344CB8AC3E}">
        <p14:creationId xmlns:p14="http://schemas.microsoft.com/office/powerpoint/2010/main" val="112570688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0EA082-C78C-C2AB-CD68-574BBF451C9C}"/>
              </a:ext>
            </a:extLst>
          </p:cNvPr>
          <p:cNvSpPr txBox="1"/>
          <p:nvPr/>
        </p:nvSpPr>
        <p:spPr>
          <a:xfrm>
            <a:off x="196644" y="152339"/>
            <a:ext cx="11838040" cy="6602422"/>
          </a:xfrm>
          <a:prstGeom prst="rect">
            <a:avLst/>
          </a:prstGeom>
          <a:noFill/>
        </p:spPr>
        <p:txBody>
          <a:bodyPr wrap="square" numCol="2">
            <a:spAutoFit/>
          </a:bodyPr>
          <a:lstStyle/>
          <a:p>
            <a:r>
              <a:rPr lang="en-IN" sz="2400" dirty="0"/>
              <a:t>class Animal {</a:t>
            </a:r>
          </a:p>
          <a:p>
            <a:r>
              <a:rPr lang="en-IN" sz="2400" dirty="0"/>
              <a:t>  public:</a:t>
            </a:r>
          </a:p>
          <a:p>
            <a:r>
              <a:rPr lang="en-IN" sz="2400" dirty="0"/>
              <a:t>    virtual void sound() {</a:t>
            </a:r>
          </a:p>
          <a:p>
            <a:r>
              <a:rPr lang="en-IN" sz="2400" dirty="0"/>
              <a:t>      </a:t>
            </a:r>
            <a:r>
              <a:rPr lang="en-IN" sz="2400" dirty="0" err="1"/>
              <a:t>cout</a:t>
            </a:r>
            <a:r>
              <a:rPr lang="en-IN" sz="2400" dirty="0"/>
              <a:t> &lt;&lt; "Animal sound\n";</a:t>
            </a:r>
          </a:p>
          <a:p>
            <a:r>
              <a:rPr lang="en-IN" sz="2400" dirty="0"/>
              <a:t>    }</a:t>
            </a:r>
          </a:p>
          <a:p>
            <a:r>
              <a:rPr lang="en-IN" sz="2400" dirty="0"/>
              <a:t>};</a:t>
            </a:r>
          </a:p>
          <a:p>
            <a:endParaRPr lang="en-IN" sz="2400" dirty="0"/>
          </a:p>
          <a:p>
            <a:r>
              <a:rPr lang="en-IN" sz="2400" dirty="0"/>
              <a:t>class Dog : public Animal {</a:t>
            </a:r>
          </a:p>
          <a:p>
            <a:r>
              <a:rPr lang="en-IN" sz="2400" dirty="0"/>
              <a:t>  public:</a:t>
            </a:r>
          </a:p>
          <a:p>
            <a:r>
              <a:rPr lang="en-IN" sz="2400" dirty="0"/>
              <a:t>    void sound() override {</a:t>
            </a:r>
          </a:p>
          <a:p>
            <a:r>
              <a:rPr lang="en-IN" sz="2400" dirty="0"/>
              <a:t>      </a:t>
            </a:r>
            <a:r>
              <a:rPr lang="en-IN" sz="2400" dirty="0" err="1"/>
              <a:t>cout</a:t>
            </a:r>
            <a:r>
              <a:rPr lang="en-IN" sz="2400" dirty="0"/>
              <a:t> &lt;&lt; "Dog barks\n";</a:t>
            </a:r>
          </a:p>
          <a:p>
            <a:r>
              <a:rPr lang="en-IN" sz="2400" dirty="0"/>
              <a:t>    }</a:t>
            </a:r>
          </a:p>
          <a:p>
            <a:r>
              <a:rPr lang="en-IN" sz="2400" dirty="0"/>
              <a:t>};</a:t>
            </a:r>
          </a:p>
          <a:p>
            <a:endParaRPr lang="en-IN" sz="2400" dirty="0"/>
          </a:p>
          <a:p>
            <a:r>
              <a:rPr lang="en-IN" sz="2400" dirty="0"/>
              <a:t>int main() {</a:t>
            </a:r>
          </a:p>
          <a:p>
            <a:r>
              <a:rPr lang="en-IN" sz="2400" dirty="0"/>
              <a:t>  Animal* a;</a:t>
            </a:r>
          </a:p>
          <a:p>
            <a:r>
              <a:rPr lang="en-IN" sz="2400" dirty="0"/>
              <a:t>  Dog d;</a:t>
            </a:r>
          </a:p>
          <a:p>
            <a:r>
              <a:rPr lang="en-IN" sz="2400" dirty="0"/>
              <a:t>  a = &amp;d;</a:t>
            </a:r>
          </a:p>
          <a:p>
            <a:r>
              <a:rPr lang="en-IN" sz="2400" dirty="0"/>
              <a:t>  a-&gt;sound(); // Outputs: Dog barks</a:t>
            </a:r>
          </a:p>
          <a:p>
            <a:r>
              <a:rPr lang="en-IN" sz="2400" dirty="0"/>
              <a:t>  return 0;</a:t>
            </a:r>
          </a:p>
          <a:p>
            <a:r>
              <a:rPr lang="en-IN" sz="2400" dirty="0"/>
              <a:t>}</a:t>
            </a:r>
            <a:r>
              <a:rPr lang="en-US" sz="2400" dirty="0"/>
              <a:t> </a:t>
            </a:r>
          </a:p>
          <a:p>
            <a:endParaRPr lang="en-US" sz="2400" dirty="0"/>
          </a:p>
          <a:p>
            <a:endParaRPr lang="en-US" sz="2400" dirty="0"/>
          </a:p>
          <a:p>
            <a:r>
              <a:rPr lang="en-US" sz="2400" dirty="0"/>
              <a:t>Use virtual only in the base class</a:t>
            </a:r>
          </a:p>
          <a:p>
            <a:endParaRPr lang="en-US" sz="2400" dirty="0"/>
          </a:p>
          <a:p>
            <a:r>
              <a:rPr lang="en-US" sz="2400" dirty="0"/>
              <a:t>Use override (optional, but recommended) in the derived class for clarity</a:t>
            </a:r>
            <a:endParaRPr lang="en-IN" sz="2400" dirty="0"/>
          </a:p>
        </p:txBody>
      </p:sp>
    </p:spTree>
    <p:extLst>
      <p:ext uri="{BB962C8B-B14F-4D97-AF65-F5344CB8AC3E}">
        <p14:creationId xmlns:p14="http://schemas.microsoft.com/office/powerpoint/2010/main" val="32474765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CDEB3D-B16A-84D3-829F-5FC55A0416F4}"/>
              </a:ext>
            </a:extLst>
          </p:cNvPr>
          <p:cNvSpPr txBox="1"/>
          <p:nvPr/>
        </p:nvSpPr>
        <p:spPr>
          <a:xfrm>
            <a:off x="196643" y="216419"/>
            <a:ext cx="11818375" cy="6124754"/>
          </a:xfrm>
          <a:prstGeom prst="rect">
            <a:avLst/>
          </a:prstGeom>
          <a:noFill/>
        </p:spPr>
        <p:txBody>
          <a:bodyPr wrap="square">
            <a:spAutoFit/>
          </a:bodyPr>
          <a:lstStyle/>
          <a:p>
            <a:pPr>
              <a:buNone/>
            </a:pPr>
            <a:r>
              <a:rPr lang="en-US" sz="2800" b="1" dirty="0"/>
              <a:t>Abstraction — Showing Only Essential Details</a:t>
            </a:r>
          </a:p>
          <a:p>
            <a:pPr>
              <a:buNone/>
            </a:pPr>
            <a:r>
              <a:rPr lang="en-US" sz="2800" b="1" dirty="0"/>
              <a:t>Concept:</a:t>
            </a:r>
          </a:p>
          <a:p>
            <a:pPr>
              <a:buNone/>
            </a:pPr>
            <a:r>
              <a:rPr lang="en-US" sz="2800" b="1" dirty="0"/>
              <a:t>Abstraction</a:t>
            </a:r>
            <a:r>
              <a:rPr lang="en-US" sz="2800" dirty="0"/>
              <a:t> means </a:t>
            </a:r>
            <a:r>
              <a:rPr lang="en-US" sz="2800" b="1" dirty="0"/>
              <a:t>showing only the necessary features</a:t>
            </a:r>
            <a:r>
              <a:rPr lang="en-US" sz="2800" dirty="0"/>
              <a:t> of an object and </a:t>
            </a:r>
            <a:r>
              <a:rPr lang="en-US" sz="2800" b="1" dirty="0"/>
              <a:t>hiding the complex background details</a:t>
            </a:r>
            <a:r>
              <a:rPr lang="en-US" sz="2800" dirty="0"/>
              <a:t>.</a:t>
            </a:r>
          </a:p>
          <a:p>
            <a:pPr>
              <a:buNone/>
            </a:pPr>
            <a:r>
              <a:rPr lang="en-US" sz="2800" dirty="0"/>
              <a:t>It helps reduce complexity and allows the programmer to focus on what an object does, instead of how it does it.</a:t>
            </a:r>
          </a:p>
          <a:p>
            <a:pPr>
              <a:buNone/>
            </a:pPr>
            <a:endParaRPr lang="en-US" sz="2800" dirty="0"/>
          </a:p>
          <a:p>
            <a:pPr>
              <a:buNone/>
            </a:pPr>
            <a:r>
              <a:rPr lang="en-US" sz="2800" b="1" dirty="0"/>
              <a:t>Real-Life Example:</a:t>
            </a:r>
          </a:p>
          <a:p>
            <a:pPr>
              <a:buNone/>
            </a:pPr>
            <a:r>
              <a:rPr lang="en-US" sz="2800" dirty="0"/>
              <a:t>When you drive a car:</a:t>
            </a:r>
          </a:p>
          <a:p>
            <a:pPr>
              <a:buFont typeface="Arial" panose="020B0604020202020204" pitchFamily="34" charset="0"/>
              <a:buChar char="•"/>
            </a:pPr>
            <a:r>
              <a:rPr lang="en-US" sz="2800" dirty="0"/>
              <a:t>You use the steering, brake, and accelerator.</a:t>
            </a:r>
          </a:p>
          <a:p>
            <a:pPr>
              <a:buFont typeface="Arial" panose="020B0604020202020204" pitchFamily="34" charset="0"/>
              <a:buChar char="•"/>
            </a:pPr>
            <a:r>
              <a:rPr lang="en-US" sz="2800" dirty="0"/>
              <a:t>You </a:t>
            </a:r>
            <a:r>
              <a:rPr lang="en-US" sz="2800" b="1" dirty="0"/>
              <a:t>don’t need to know</a:t>
            </a:r>
            <a:r>
              <a:rPr lang="en-US" sz="2800" dirty="0"/>
              <a:t> how the engine works or how fuel is converted into motion.</a:t>
            </a:r>
          </a:p>
          <a:p>
            <a:pPr>
              <a:buNone/>
            </a:pPr>
            <a:r>
              <a:rPr lang="en-US" sz="2800" dirty="0"/>
              <a:t>This is </a:t>
            </a:r>
            <a:r>
              <a:rPr lang="en-US" sz="2800" b="1" dirty="0"/>
              <a:t>abstraction</a:t>
            </a:r>
            <a:r>
              <a:rPr lang="en-US" sz="2800" dirty="0"/>
              <a:t> — showing </a:t>
            </a:r>
            <a:r>
              <a:rPr lang="en-US" sz="2800" i="1" dirty="0"/>
              <a:t>only necessary functions</a:t>
            </a:r>
            <a:r>
              <a:rPr lang="en-US" sz="2800" dirty="0"/>
              <a:t> and hiding the </a:t>
            </a:r>
            <a:r>
              <a:rPr lang="en-US" sz="2800" i="1" dirty="0"/>
              <a:t>internal working</a:t>
            </a:r>
            <a:r>
              <a:rPr lang="en-US" sz="2800" dirty="0"/>
              <a:t>.</a:t>
            </a:r>
          </a:p>
        </p:txBody>
      </p:sp>
    </p:spTree>
    <p:extLst>
      <p:ext uri="{BB962C8B-B14F-4D97-AF65-F5344CB8AC3E}">
        <p14:creationId xmlns:p14="http://schemas.microsoft.com/office/powerpoint/2010/main" val="7015627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35B47D-9395-940B-AEEA-20208DD4F85A}"/>
              </a:ext>
            </a:extLst>
          </p:cNvPr>
          <p:cNvSpPr txBox="1"/>
          <p:nvPr/>
        </p:nvSpPr>
        <p:spPr>
          <a:xfrm>
            <a:off x="88490" y="215065"/>
            <a:ext cx="11680722" cy="2677656"/>
          </a:xfrm>
          <a:prstGeom prst="rect">
            <a:avLst/>
          </a:prstGeom>
          <a:noFill/>
        </p:spPr>
        <p:txBody>
          <a:bodyPr wrap="square">
            <a:spAutoFit/>
          </a:bodyPr>
          <a:lstStyle/>
          <a:p>
            <a:r>
              <a:rPr lang="en-US" sz="2800" b="1" dirty="0"/>
              <a:t>Abstract Class in C++</a:t>
            </a:r>
          </a:p>
          <a:p>
            <a:r>
              <a:rPr lang="en-US" sz="2800" dirty="0"/>
              <a:t>An abstract class in C++ is a class that cannot be used to create objects.</a:t>
            </a:r>
          </a:p>
          <a:p>
            <a:r>
              <a:rPr lang="en-US" sz="2800" dirty="0"/>
              <a:t>It is used as a base class and is meant to provide a common structure for derived classes.</a:t>
            </a:r>
          </a:p>
          <a:p>
            <a:r>
              <a:rPr lang="en-US" sz="2800" dirty="0"/>
              <a:t> A class becomes abstract when it contains at least one pure virtual function.</a:t>
            </a:r>
            <a:endParaRPr lang="en-IN" sz="2800" dirty="0"/>
          </a:p>
        </p:txBody>
      </p:sp>
      <p:sp>
        <p:nvSpPr>
          <p:cNvPr id="5" name="TextBox 4">
            <a:extLst>
              <a:ext uri="{FF2B5EF4-FFF2-40B4-BE49-F238E27FC236}">
                <a16:creationId xmlns:a16="http://schemas.microsoft.com/office/drawing/2014/main" id="{BBE3D463-7CC2-4A15-E23D-B6F2F71FD418}"/>
              </a:ext>
            </a:extLst>
          </p:cNvPr>
          <p:cNvSpPr txBox="1"/>
          <p:nvPr/>
        </p:nvSpPr>
        <p:spPr>
          <a:xfrm>
            <a:off x="167149" y="3103206"/>
            <a:ext cx="11680722" cy="3108543"/>
          </a:xfrm>
          <a:prstGeom prst="rect">
            <a:avLst/>
          </a:prstGeom>
          <a:noFill/>
        </p:spPr>
        <p:txBody>
          <a:bodyPr wrap="square">
            <a:spAutoFit/>
          </a:bodyPr>
          <a:lstStyle/>
          <a:p>
            <a:pPr>
              <a:buNone/>
            </a:pPr>
            <a:r>
              <a:rPr lang="en-US" sz="2800" b="1" dirty="0"/>
              <a:t>Why do we use Abstract Classes?</a:t>
            </a:r>
          </a:p>
          <a:p>
            <a:pPr>
              <a:buNone/>
            </a:pPr>
            <a:r>
              <a:rPr lang="en-US" sz="2800" b="1" dirty="0"/>
              <a:t>✔ To achieve runtime polymorphism</a:t>
            </a:r>
          </a:p>
          <a:p>
            <a:pPr>
              <a:buNone/>
            </a:pPr>
            <a:r>
              <a:rPr lang="en-US" sz="2800" dirty="0"/>
              <a:t>You can use a base class pointer to call overridden functions.</a:t>
            </a:r>
          </a:p>
          <a:p>
            <a:pPr>
              <a:buNone/>
            </a:pPr>
            <a:r>
              <a:rPr lang="en-US" sz="2800" b="1" dirty="0"/>
              <a:t>✔ To define a common blueprint</a:t>
            </a:r>
          </a:p>
          <a:p>
            <a:pPr>
              <a:buNone/>
            </a:pPr>
            <a:r>
              <a:rPr lang="en-US" sz="2800" dirty="0"/>
              <a:t>Example: All shapes must have a </a:t>
            </a:r>
            <a:r>
              <a:rPr lang="en-US" sz="2800" dirty="0">
                <a:latin typeface="Courier New" panose="02070309020205020404" pitchFamily="49" charset="0"/>
              </a:rPr>
              <a:t>draw()</a:t>
            </a:r>
            <a:r>
              <a:rPr lang="en-US" sz="2800" dirty="0"/>
              <a:t> method.</a:t>
            </a:r>
          </a:p>
          <a:p>
            <a:pPr>
              <a:buNone/>
            </a:pPr>
            <a:r>
              <a:rPr lang="en-US" sz="2800" b="1" dirty="0"/>
              <a:t>✔ To force derived classes to implement functions</a:t>
            </a:r>
          </a:p>
          <a:p>
            <a:pPr>
              <a:buNone/>
            </a:pPr>
            <a:r>
              <a:rPr lang="en-US" sz="2800" dirty="0"/>
              <a:t>Base class gives rules; derived classes give details.</a:t>
            </a:r>
          </a:p>
        </p:txBody>
      </p:sp>
    </p:spTree>
    <p:extLst>
      <p:ext uri="{BB962C8B-B14F-4D97-AF65-F5344CB8AC3E}">
        <p14:creationId xmlns:p14="http://schemas.microsoft.com/office/powerpoint/2010/main" val="38920358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402DA8-8E05-271A-7827-8BD5EFDAE838}"/>
              </a:ext>
            </a:extLst>
          </p:cNvPr>
          <p:cNvSpPr txBox="1"/>
          <p:nvPr/>
        </p:nvSpPr>
        <p:spPr>
          <a:xfrm>
            <a:off x="117986" y="197096"/>
            <a:ext cx="9330813" cy="830997"/>
          </a:xfrm>
          <a:prstGeom prst="rect">
            <a:avLst/>
          </a:prstGeom>
          <a:noFill/>
        </p:spPr>
        <p:txBody>
          <a:bodyPr wrap="square">
            <a:spAutoFit/>
          </a:bodyPr>
          <a:lstStyle/>
          <a:p>
            <a:pPr>
              <a:buNone/>
            </a:pPr>
            <a:r>
              <a:rPr lang="en-US" sz="2400" b="1" dirty="0"/>
              <a:t>What is a Pure Virtual Function?</a:t>
            </a:r>
          </a:p>
          <a:p>
            <a:pPr>
              <a:buNone/>
            </a:pPr>
            <a:r>
              <a:rPr lang="en-US" sz="2400" dirty="0"/>
              <a:t>A </a:t>
            </a:r>
            <a:r>
              <a:rPr lang="en-US" sz="2400" b="1" dirty="0"/>
              <a:t>pure virtual function</a:t>
            </a:r>
            <a:r>
              <a:rPr lang="en-US" sz="2400" dirty="0"/>
              <a:t> is a function with </a:t>
            </a:r>
            <a:r>
              <a:rPr lang="en-US" sz="2400" b="1" dirty="0"/>
              <a:t>no body</a:t>
            </a:r>
            <a:r>
              <a:rPr lang="en-US" sz="2400" dirty="0"/>
              <a:t>, declared using:</a:t>
            </a:r>
          </a:p>
        </p:txBody>
      </p:sp>
      <p:sp>
        <p:nvSpPr>
          <p:cNvPr id="5" name="TextBox 4">
            <a:extLst>
              <a:ext uri="{FF2B5EF4-FFF2-40B4-BE49-F238E27FC236}">
                <a16:creationId xmlns:a16="http://schemas.microsoft.com/office/drawing/2014/main" id="{33E8DFB6-5D21-9268-278D-11BB401593C1}"/>
              </a:ext>
            </a:extLst>
          </p:cNvPr>
          <p:cNvSpPr txBox="1"/>
          <p:nvPr/>
        </p:nvSpPr>
        <p:spPr>
          <a:xfrm>
            <a:off x="216310" y="1211514"/>
            <a:ext cx="6096000" cy="461665"/>
          </a:xfrm>
          <a:prstGeom prst="rect">
            <a:avLst/>
          </a:prstGeom>
          <a:noFill/>
        </p:spPr>
        <p:txBody>
          <a:bodyPr wrap="square">
            <a:spAutoFit/>
          </a:bodyPr>
          <a:lstStyle/>
          <a:p>
            <a:r>
              <a:rPr lang="en-IN" sz="2400" dirty="0"/>
              <a:t>virtual void </a:t>
            </a:r>
            <a:r>
              <a:rPr lang="en-IN" sz="2400" dirty="0" err="1"/>
              <a:t>functionName</a:t>
            </a:r>
            <a:r>
              <a:rPr lang="en-IN" sz="2400" dirty="0"/>
              <a:t>() = 0;</a:t>
            </a:r>
          </a:p>
        </p:txBody>
      </p:sp>
      <p:sp>
        <p:nvSpPr>
          <p:cNvPr id="7" name="TextBox 6">
            <a:extLst>
              <a:ext uri="{FF2B5EF4-FFF2-40B4-BE49-F238E27FC236}">
                <a16:creationId xmlns:a16="http://schemas.microsoft.com/office/drawing/2014/main" id="{0060065B-5ADA-8222-0EF5-58A5D8696650}"/>
              </a:ext>
            </a:extLst>
          </p:cNvPr>
          <p:cNvSpPr txBox="1"/>
          <p:nvPr/>
        </p:nvSpPr>
        <p:spPr>
          <a:xfrm>
            <a:off x="216310" y="1976735"/>
            <a:ext cx="8829368" cy="1200329"/>
          </a:xfrm>
          <a:prstGeom prst="rect">
            <a:avLst/>
          </a:prstGeom>
          <a:noFill/>
        </p:spPr>
        <p:txBody>
          <a:bodyPr wrap="square">
            <a:spAutoFit/>
          </a:bodyPr>
          <a:lstStyle/>
          <a:p>
            <a:pPr>
              <a:buNone/>
            </a:pPr>
            <a:r>
              <a:rPr lang="en-US" sz="2400" dirty="0"/>
              <a:t>This means:</a:t>
            </a:r>
          </a:p>
          <a:p>
            <a:pPr>
              <a:buFont typeface="Arial" panose="020B0604020202020204" pitchFamily="34" charset="0"/>
              <a:buChar char="•"/>
            </a:pPr>
            <a:r>
              <a:rPr lang="en-US" sz="2400" dirty="0"/>
              <a:t>Derived classes </a:t>
            </a:r>
            <a:r>
              <a:rPr lang="en-US" sz="2400" b="1" dirty="0"/>
              <a:t>must</a:t>
            </a:r>
            <a:r>
              <a:rPr lang="en-US" sz="2400" dirty="0"/>
              <a:t> provide an implementation.</a:t>
            </a:r>
          </a:p>
          <a:p>
            <a:pPr>
              <a:buFont typeface="Arial" panose="020B0604020202020204" pitchFamily="34" charset="0"/>
              <a:buChar char="•"/>
            </a:pPr>
            <a:r>
              <a:rPr lang="en-US" sz="2400" dirty="0"/>
              <a:t>The base class only provides structure, not behavior.</a:t>
            </a:r>
          </a:p>
        </p:txBody>
      </p:sp>
      <p:sp>
        <p:nvSpPr>
          <p:cNvPr id="9" name="TextBox 8">
            <a:extLst>
              <a:ext uri="{FF2B5EF4-FFF2-40B4-BE49-F238E27FC236}">
                <a16:creationId xmlns:a16="http://schemas.microsoft.com/office/drawing/2014/main" id="{4EDEF9CD-0BA8-530A-D2E0-57E5B487CD9F}"/>
              </a:ext>
            </a:extLst>
          </p:cNvPr>
          <p:cNvSpPr txBox="1"/>
          <p:nvPr/>
        </p:nvSpPr>
        <p:spPr>
          <a:xfrm>
            <a:off x="216310" y="3429000"/>
            <a:ext cx="6096000" cy="461665"/>
          </a:xfrm>
          <a:prstGeom prst="rect">
            <a:avLst/>
          </a:prstGeom>
          <a:noFill/>
        </p:spPr>
        <p:txBody>
          <a:bodyPr wrap="square">
            <a:spAutoFit/>
          </a:bodyPr>
          <a:lstStyle/>
          <a:p>
            <a:r>
              <a:rPr lang="en-IN" sz="2400" b="1" dirty="0"/>
              <a:t>Syntax of Abstract Class</a:t>
            </a:r>
          </a:p>
        </p:txBody>
      </p:sp>
      <p:sp>
        <p:nvSpPr>
          <p:cNvPr id="11" name="TextBox 10">
            <a:extLst>
              <a:ext uri="{FF2B5EF4-FFF2-40B4-BE49-F238E27FC236}">
                <a16:creationId xmlns:a16="http://schemas.microsoft.com/office/drawing/2014/main" id="{60B43120-23D6-0DF2-8695-DB828D00BBA0}"/>
              </a:ext>
            </a:extLst>
          </p:cNvPr>
          <p:cNvSpPr txBox="1"/>
          <p:nvPr/>
        </p:nvSpPr>
        <p:spPr>
          <a:xfrm>
            <a:off x="314633" y="4315117"/>
            <a:ext cx="10530348" cy="1569660"/>
          </a:xfrm>
          <a:prstGeom prst="rect">
            <a:avLst/>
          </a:prstGeom>
          <a:noFill/>
        </p:spPr>
        <p:txBody>
          <a:bodyPr wrap="square">
            <a:spAutoFit/>
          </a:bodyPr>
          <a:lstStyle/>
          <a:p>
            <a:r>
              <a:rPr lang="en-US" sz="2400" dirty="0"/>
              <a:t>class </a:t>
            </a:r>
            <a:r>
              <a:rPr lang="en-US" sz="2400" dirty="0" err="1"/>
              <a:t>ClassName</a:t>
            </a:r>
            <a:r>
              <a:rPr lang="en-US" sz="2400" dirty="0"/>
              <a:t> {</a:t>
            </a:r>
          </a:p>
          <a:p>
            <a:r>
              <a:rPr lang="en-US" sz="2400" dirty="0"/>
              <a:t>public:</a:t>
            </a:r>
          </a:p>
          <a:p>
            <a:r>
              <a:rPr lang="en-US" sz="2400" dirty="0"/>
              <a:t>    virtual void display() = 0;   // pure virtual function → abstract class</a:t>
            </a:r>
          </a:p>
          <a:p>
            <a:r>
              <a:rPr lang="en-US" sz="2400" dirty="0"/>
              <a:t>};</a:t>
            </a:r>
          </a:p>
        </p:txBody>
      </p:sp>
    </p:spTree>
    <p:extLst>
      <p:ext uri="{BB962C8B-B14F-4D97-AF65-F5344CB8AC3E}">
        <p14:creationId xmlns:p14="http://schemas.microsoft.com/office/powerpoint/2010/main" val="5296812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43C76E-5816-DB33-3D87-1CB52D83E21D}"/>
              </a:ext>
            </a:extLst>
          </p:cNvPr>
          <p:cNvSpPr txBox="1"/>
          <p:nvPr/>
        </p:nvSpPr>
        <p:spPr>
          <a:xfrm>
            <a:off x="1" y="98323"/>
            <a:ext cx="12034684" cy="7848302"/>
          </a:xfrm>
          <a:prstGeom prst="rect">
            <a:avLst/>
          </a:prstGeom>
          <a:noFill/>
        </p:spPr>
        <p:txBody>
          <a:bodyPr wrap="square" numCol="2">
            <a:spAutoFit/>
          </a:bodyPr>
          <a:lstStyle/>
          <a:p>
            <a:r>
              <a:rPr lang="en-IN" sz="2000" dirty="0"/>
              <a:t>#include &lt;iostream&gt;</a:t>
            </a:r>
          </a:p>
          <a:p>
            <a:r>
              <a:rPr lang="en-IN" sz="2000" dirty="0"/>
              <a:t>using namespace std;</a:t>
            </a:r>
          </a:p>
          <a:p>
            <a:endParaRPr lang="en-IN" sz="2000" dirty="0"/>
          </a:p>
          <a:p>
            <a:r>
              <a:rPr lang="en-IN" sz="2000" dirty="0"/>
              <a:t>class Shape {</a:t>
            </a:r>
          </a:p>
          <a:p>
            <a:r>
              <a:rPr lang="en-IN" sz="2000" dirty="0"/>
              <a:t>public:</a:t>
            </a:r>
          </a:p>
          <a:p>
            <a:r>
              <a:rPr lang="en-IN" sz="2000" dirty="0"/>
              <a:t>    virtual void draw() = 0;   // pure virtual function</a:t>
            </a:r>
          </a:p>
          <a:p>
            <a:r>
              <a:rPr lang="en-IN" sz="2000" dirty="0"/>
              <a:t>};</a:t>
            </a:r>
          </a:p>
          <a:p>
            <a:endParaRPr lang="en-IN" sz="2000" dirty="0"/>
          </a:p>
          <a:p>
            <a:r>
              <a:rPr lang="en-IN" sz="2000" dirty="0"/>
              <a:t>class Circle : public Shape {</a:t>
            </a:r>
          </a:p>
          <a:p>
            <a:r>
              <a:rPr lang="en-IN" sz="2000" dirty="0"/>
              <a:t>public:</a:t>
            </a:r>
          </a:p>
          <a:p>
            <a:r>
              <a:rPr lang="en-IN" sz="2000" dirty="0"/>
              <a:t>    void draw() {</a:t>
            </a:r>
          </a:p>
          <a:p>
            <a:r>
              <a:rPr lang="en-IN" sz="2000" dirty="0"/>
              <a:t>        </a:t>
            </a:r>
            <a:r>
              <a:rPr lang="en-IN" sz="2000" dirty="0" err="1"/>
              <a:t>cout</a:t>
            </a:r>
            <a:r>
              <a:rPr lang="en-IN" sz="2000" dirty="0"/>
              <a:t> &lt;&lt; "Drawing Circle" &lt;&lt; </a:t>
            </a:r>
            <a:r>
              <a:rPr lang="en-IN" sz="2000" dirty="0" err="1"/>
              <a:t>endl</a:t>
            </a:r>
            <a:r>
              <a:rPr lang="en-IN" sz="2000" dirty="0"/>
              <a:t>;</a:t>
            </a:r>
          </a:p>
          <a:p>
            <a:r>
              <a:rPr lang="en-IN" sz="2000" dirty="0"/>
              <a:t>    }</a:t>
            </a:r>
          </a:p>
          <a:p>
            <a:r>
              <a:rPr lang="en-IN" sz="2000" dirty="0"/>
              <a:t>};</a:t>
            </a:r>
          </a:p>
          <a:p>
            <a:endParaRPr lang="en-IN" sz="2000" dirty="0"/>
          </a:p>
          <a:p>
            <a:r>
              <a:rPr lang="en-IN" sz="2000" dirty="0"/>
              <a:t>class Square : public Shape {</a:t>
            </a:r>
          </a:p>
          <a:p>
            <a:r>
              <a:rPr lang="en-IN" sz="2000" dirty="0"/>
              <a:t>public:</a:t>
            </a:r>
          </a:p>
          <a:p>
            <a:r>
              <a:rPr lang="en-IN" sz="2000" dirty="0"/>
              <a:t>    void draw() {</a:t>
            </a:r>
          </a:p>
          <a:p>
            <a:r>
              <a:rPr lang="en-IN" sz="2000" dirty="0"/>
              <a:t>        </a:t>
            </a:r>
            <a:r>
              <a:rPr lang="en-IN" sz="2000" dirty="0" err="1"/>
              <a:t>cout</a:t>
            </a:r>
            <a:r>
              <a:rPr lang="en-IN" sz="2000" dirty="0"/>
              <a:t> &lt;&lt; "Drawing Square" &lt;&lt; </a:t>
            </a:r>
            <a:r>
              <a:rPr lang="en-IN" sz="2000" dirty="0" err="1"/>
              <a:t>endl</a:t>
            </a:r>
            <a:r>
              <a:rPr lang="en-IN" sz="2000" dirty="0"/>
              <a:t>;</a:t>
            </a:r>
          </a:p>
          <a:p>
            <a:r>
              <a:rPr lang="en-IN" sz="2000" dirty="0"/>
              <a:t>    }</a:t>
            </a:r>
          </a:p>
          <a:p>
            <a:r>
              <a:rPr lang="en-IN" sz="2000" dirty="0"/>
              <a:t>};</a:t>
            </a:r>
          </a:p>
          <a:p>
            <a:endParaRPr lang="en-IN" sz="2000" dirty="0"/>
          </a:p>
          <a:p>
            <a:endParaRPr lang="en-IN" sz="2000" dirty="0"/>
          </a:p>
          <a:p>
            <a:endParaRPr lang="en-IN" sz="2000" dirty="0"/>
          </a:p>
          <a:p>
            <a:r>
              <a:rPr lang="en-IN" sz="2000" dirty="0"/>
              <a:t>int main() {</a:t>
            </a:r>
          </a:p>
          <a:p>
            <a:r>
              <a:rPr lang="en-IN" sz="2000" dirty="0"/>
              <a:t>    // Shape s;   // Error — cannot create object of abstract class</a:t>
            </a:r>
          </a:p>
          <a:p>
            <a:endParaRPr lang="en-IN" sz="2000" dirty="0"/>
          </a:p>
          <a:p>
            <a:r>
              <a:rPr lang="en-IN" sz="2000" dirty="0"/>
              <a:t>    Shape* s;     // pointer allowed</a:t>
            </a:r>
          </a:p>
          <a:p>
            <a:r>
              <a:rPr lang="en-IN" sz="2000" dirty="0"/>
              <a:t>    Circle c;</a:t>
            </a:r>
          </a:p>
          <a:p>
            <a:r>
              <a:rPr lang="en-IN" sz="2000" dirty="0"/>
              <a:t>    Square </a:t>
            </a:r>
            <a:r>
              <a:rPr lang="en-IN" sz="2000" dirty="0" err="1"/>
              <a:t>sq</a:t>
            </a:r>
            <a:r>
              <a:rPr lang="en-IN" sz="2000" dirty="0"/>
              <a:t>;</a:t>
            </a:r>
          </a:p>
          <a:p>
            <a:endParaRPr lang="en-IN" sz="2000" dirty="0"/>
          </a:p>
          <a:p>
            <a:r>
              <a:rPr lang="en-IN" sz="2000" dirty="0"/>
              <a:t>    s = &amp;c;</a:t>
            </a:r>
          </a:p>
          <a:p>
            <a:r>
              <a:rPr lang="en-IN" sz="2000" dirty="0"/>
              <a:t>    s-&gt;draw();    // Drawing Circle</a:t>
            </a:r>
          </a:p>
          <a:p>
            <a:endParaRPr lang="en-IN" sz="2000" dirty="0"/>
          </a:p>
          <a:p>
            <a:r>
              <a:rPr lang="en-IN" sz="2000" dirty="0"/>
              <a:t>    s = &amp;</a:t>
            </a:r>
            <a:r>
              <a:rPr lang="en-IN" sz="2000" dirty="0" err="1"/>
              <a:t>sq</a:t>
            </a:r>
            <a:r>
              <a:rPr lang="en-IN" sz="2000" dirty="0"/>
              <a:t>;</a:t>
            </a:r>
          </a:p>
          <a:p>
            <a:r>
              <a:rPr lang="en-IN" sz="2000" dirty="0"/>
              <a:t>    s-&gt;draw();    // Drawing Square</a:t>
            </a:r>
          </a:p>
          <a:p>
            <a:endParaRPr lang="en-IN" sz="2000" dirty="0"/>
          </a:p>
          <a:p>
            <a:r>
              <a:rPr lang="en-IN" sz="2000" dirty="0"/>
              <a:t>    return 0;</a:t>
            </a:r>
          </a:p>
          <a:p>
            <a:r>
              <a:rPr lang="en-IN" sz="2000" dirty="0"/>
              <a:t>}</a:t>
            </a:r>
          </a:p>
        </p:txBody>
      </p:sp>
    </p:spTree>
    <p:extLst>
      <p:ext uri="{BB962C8B-B14F-4D97-AF65-F5344CB8AC3E}">
        <p14:creationId xmlns:p14="http://schemas.microsoft.com/office/powerpoint/2010/main" val="618584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669F59-82B8-D7A2-F7C3-41820F76B025}"/>
              </a:ext>
            </a:extLst>
          </p:cNvPr>
          <p:cNvSpPr txBox="1"/>
          <p:nvPr/>
        </p:nvSpPr>
        <p:spPr>
          <a:xfrm>
            <a:off x="137650" y="122336"/>
            <a:ext cx="11808543" cy="3046988"/>
          </a:xfrm>
          <a:prstGeom prst="rect">
            <a:avLst/>
          </a:prstGeom>
          <a:noFill/>
        </p:spPr>
        <p:txBody>
          <a:bodyPr wrap="square">
            <a:spAutoFit/>
          </a:bodyPr>
          <a:lstStyle/>
          <a:p>
            <a:pPr>
              <a:buNone/>
            </a:pPr>
            <a:r>
              <a:rPr lang="en-US" sz="2400" b="1" dirty="0"/>
              <a:t>Association in C++</a:t>
            </a:r>
          </a:p>
          <a:p>
            <a:pPr>
              <a:buNone/>
            </a:pPr>
            <a:r>
              <a:rPr lang="en-US" sz="2400" b="1" dirty="0"/>
              <a:t>✔ Definition</a:t>
            </a:r>
          </a:p>
          <a:p>
            <a:pPr>
              <a:buNone/>
            </a:pPr>
            <a:r>
              <a:rPr lang="en-US" sz="2400" b="1" dirty="0"/>
              <a:t>Association</a:t>
            </a:r>
            <a:r>
              <a:rPr lang="en-US" sz="2400" dirty="0"/>
              <a:t> is a relationship between two independent classes where:</a:t>
            </a:r>
          </a:p>
          <a:p>
            <a:pPr>
              <a:buFont typeface="Arial" panose="020B0604020202020204" pitchFamily="34" charset="0"/>
              <a:buChar char="•"/>
            </a:pPr>
            <a:r>
              <a:rPr lang="en-US" sz="2400" dirty="0"/>
              <a:t>Both objects can </a:t>
            </a:r>
            <a:r>
              <a:rPr lang="en-US" sz="2400" b="1" dirty="0"/>
              <a:t>exist independently</a:t>
            </a:r>
            <a:endParaRPr lang="en-US" sz="2400" dirty="0"/>
          </a:p>
          <a:p>
            <a:pPr>
              <a:buFont typeface="Arial" panose="020B0604020202020204" pitchFamily="34" charset="0"/>
              <a:buChar char="•"/>
            </a:pPr>
            <a:r>
              <a:rPr lang="en-US" sz="2400" dirty="0"/>
              <a:t>One object </a:t>
            </a:r>
            <a:r>
              <a:rPr lang="en-US" sz="2400" b="1" dirty="0"/>
              <a:t>uses</a:t>
            </a:r>
            <a:r>
              <a:rPr lang="en-US" sz="2400" dirty="0"/>
              <a:t> or </a:t>
            </a:r>
            <a:r>
              <a:rPr lang="en-US" sz="2400" b="1" dirty="0"/>
              <a:t>works with</a:t>
            </a:r>
            <a:r>
              <a:rPr lang="en-US" sz="2400" dirty="0"/>
              <a:t> another object</a:t>
            </a:r>
          </a:p>
          <a:p>
            <a:pPr>
              <a:buFont typeface="Arial" panose="020B0604020202020204" pitchFamily="34" charset="0"/>
              <a:buChar char="•"/>
            </a:pPr>
            <a:r>
              <a:rPr lang="en-US" sz="2400" dirty="0"/>
              <a:t>There is </a:t>
            </a:r>
            <a:r>
              <a:rPr lang="en-US" sz="2400" b="1" dirty="0"/>
              <a:t>no ownership</a:t>
            </a:r>
            <a:endParaRPr lang="en-US" sz="2400" dirty="0"/>
          </a:p>
          <a:p>
            <a:pPr>
              <a:buFont typeface="Arial" panose="020B0604020202020204" pitchFamily="34" charset="0"/>
              <a:buChar char="•"/>
            </a:pPr>
            <a:r>
              <a:rPr lang="en-US" sz="2400" dirty="0"/>
              <a:t>Lifetime of both objects is </a:t>
            </a:r>
            <a:r>
              <a:rPr lang="en-US" sz="2400" b="1" dirty="0"/>
              <a:t>independent</a:t>
            </a:r>
            <a:endParaRPr lang="en-US" sz="2400" dirty="0"/>
          </a:p>
          <a:p>
            <a:pPr>
              <a:buNone/>
            </a:pPr>
            <a:r>
              <a:rPr lang="en-US" sz="2400" dirty="0"/>
              <a:t>It is the </a:t>
            </a:r>
            <a:r>
              <a:rPr lang="en-US" sz="2400" b="1" dirty="0"/>
              <a:t>least strong</a:t>
            </a:r>
            <a:r>
              <a:rPr lang="en-US" sz="2400" dirty="0"/>
              <a:t> relationship in OOP (weaker than Aggregation and Composition).</a:t>
            </a:r>
          </a:p>
        </p:txBody>
      </p:sp>
      <p:sp>
        <p:nvSpPr>
          <p:cNvPr id="5" name="TextBox 4">
            <a:extLst>
              <a:ext uri="{FF2B5EF4-FFF2-40B4-BE49-F238E27FC236}">
                <a16:creationId xmlns:a16="http://schemas.microsoft.com/office/drawing/2014/main" id="{E1FAAAD8-3CB7-8245-9A82-26DA21E552AE}"/>
              </a:ext>
            </a:extLst>
          </p:cNvPr>
          <p:cNvSpPr txBox="1"/>
          <p:nvPr/>
        </p:nvSpPr>
        <p:spPr>
          <a:xfrm>
            <a:off x="206478" y="3688676"/>
            <a:ext cx="3451122" cy="2308324"/>
          </a:xfrm>
          <a:prstGeom prst="rect">
            <a:avLst/>
          </a:prstGeom>
          <a:noFill/>
        </p:spPr>
        <p:txBody>
          <a:bodyPr wrap="square">
            <a:spAutoFit/>
          </a:bodyPr>
          <a:lstStyle/>
          <a:p>
            <a:pPr>
              <a:buNone/>
            </a:pPr>
            <a:r>
              <a:rPr lang="en-US" sz="2400" b="1" dirty="0"/>
              <a:t>Real-Life Example</a:t>
            </a:r>
          </a:p>
          <a:p>
            <a:pPr>
              <a:buFont typeface="Arial" panose="020B0604020202020204" pitchFamily="34" charset="0"/>
              <a:buChar char="•"/>
            </a:pPr>
            <a:r>
              <a:rPr lang="en-US" sz="2400" b="1" dirty="0"/>
              <a:t>Teacher teaches Student</a:t>
            </a:r>
            <a:br>
              <a:rPr lang="en-US" sz="2400" dirty="0"/>
            </a:br>
            <a:r>
              <a:rPr lang="en-US" sz="2400" dirty="0"/>
              <a:t>Teacher ≠ Student</a:t>
            </a:r>
            <a:br>
              <a:rPr lang="en-US" sz="2400" dirty="0"/>
            </a:br>
            <a:r>
              <a:rPr lang="en-US" sz="2400" dirty="0" err="1"/>
              <a:t>Student</a:t>
            </a:r>
            <a:r>
              <a:rPr lang="en-US" sz="2400" dirty="0"/>
              <a:t> ≠ Teacher</a:t>
            </a:r>
            <a:br>
              <a:rPr lang="en-US" sz="2400" dirty="0"/>
            </a:br>
            <a:r>
              <a:rPr lang="en-US" sz="2400" dirty="0"/>
              <a:t>Both exist separately.</a:t>
            </a:r>
          </a:p>
        </p:txBody>
      </p:sp>
      <p:sp>
        <p:nvSpPr>
          <p:cNvPr id="7" name="TextBox 6">
            <a:extLst>
              <a:ext uri="{FF2B5EF4-FFF2-40B4-BE49-F238E27FC236}">
                <a16:creationId xmlns:a16="http://schemas.microsoft.com/office/drawing/2014/main" id="{A4C629B9-F261-2203-3A29-1C2E548B96D3}"/>
              </a:ext>
            </a:extLst>
          </p:cNvPr>
          <p:cNvSpPr txBox="1"/>
          <p:nvPr/>
        </p:nvSpPr>
        <p:spPr>
          <a:xfrm>
            <a:off x="6096000" y="3244334"/>
            <a:ext cx="4375354" cy="461665"/>
          </a:xfrm>
          <a:prstGeom prst="rect">
            <a:avLst/>
          </a:prstGeom>
          <a:noFill/>
        </p:spPr>
        <p:txBody>
          <a:bodyPr wrap="square">
            <a:spAutoFit/>
          </a:bodyPr>
          <a:lstStyle/>
          <a:p>
            <a:r>
              <a:rPr lang="en-IN" sz="2400" b="1" dirty="0"/>
              <a:t>Key Features of Association</a:t>
            </a:r>
          </a:p>
        </p:txBody>
      </p:sp>
      <p:graphicFrame>
        <p:nvGraphicFramePr>
          <p:cNvPr id="8" name="Table 7">
            <a:extLst>
              <a:ext uri="{FF2B5EF4-FFF2-40B4-BE49-F238E27FC236}">
                <a16:creationId xmlns:a16="http://schemas.microsoft.com/office/drawing/2014/main" id="{DDB03425-5E36-F927-0273-2E4AD4264C87}"/>
              </a:ext>
            </a:extLst>
          </p:cNvPr>
          <p:cNvGraphicFramePr>
            <a:graphicFrameLocks noGrp="1"/>
          </p:cNvGraphicFramePr>
          <p:nvPr>
            <p:extLst>
              <p:ext uri="{D42A27DB-BD31-4B8C-83A1-F6EECF244321}">
                <p14:modId xmlns:p14="http://schemas.microsoft.com/office/powerpoint/2010/main" val="744078849"/>
              </p:ext>
            </p:extLst>
          </p:nvPr>
        </p:nvGraphicFramePr>
        <p:xfrm>
          <a:off x="3923071" y="3781008"/>
          <a:ext cx="8170606" cy="2954657"/>
        </p:xfrm>
        <a:graphic>
          <a:graphicData uri="http://schemas.openxmlformats.org/drawingml/2006/table">
            <a:tbl>
              <a:tblPr bandRow="1" bandCol="1">
                <a:tableStyleId>{5940675A-B579-460E-94D1-54222C63F5DA}</a:tableStyleId>
              </a:tblPr>
              <a:tblGrid>
                <a:gridCol w="3333135">
                  <a:extLst>
                    <a:ext uri="{9D8B030D-6E8A-4147-A177-3AD203B41FA5}">
                      <a16:colId xmlns:a16="http://schemas.microsoft.com/office/drawing/2014/main" val="2203092020"/>
                    </a:ext>
                  </a:extLst>
                </a:gridCol>
                <a:gridCol w="4837471">
                  <a:extLst>
                    <a:ext uri="{9D8B030D-6E8A-4147-A177-3AD203B41FA5}">
                      <a16:colId xmlns:a16="http://schemas.microsoft.com/office/drawing/2014/main" val="1752984276"/>
                    </a:ext>
                  </a:extLst>
                </a:gridCol>
              </a:tblGrid>
              <a:tr h="437727">
                <a:tc>
                  <a:txBody>
                    <a:bodyPr/>
                    <a:lstStyle/>
                    <a:p>
                      <a:pPr algn="ctr">
                        <a:buNone/>
                      </a:pPr>
                      <a:r>
                        <a:rPr lang="en-IN" b="1" dirty="0"/>
                        <a:t>Feature</a:t>
                      </a:r>
                    </a:p>
                  </a:txBody>
                  <a:tcPr anchor="ctr"/>
                </a:tc>
                <a:tc>
                  <a:txBody>
                    <a:bodyPr/>
                    <a:lstStyle/>
                    <a:p>
                      <a:pPr algn="ctr">
                        <a:buNone/>
                      </a:pPr>
                      <a:r>
                        <a:rPr lang="en-IN" b="1" dirty="0"/>
                        <a:t>Explanation</a:t>
                      </a:r>
                    </a:p>
                  </a:txBody>
                  <a:tcPr anchor="ctr"/>
                </a:tc>
                <a:extLst>
                  <a:ext uri="{0D108BD9-81ED-4DB2-BD59-A6C34878D82A}">
                    <a16:rowId xmlns:a16="http://schemas.microsoft.com/office/drawing/2014/main" val="1880507048"/>
                  </a:ext>
                </a:extLst>
              </a:tr>
              <a:tr h="437727">
                <a:tc>
                  <a:txBody>
                    <a:bodyPr/>
                    <a:lstStyle/>
                    <a:p>
                      <a:pPr>
                        <a:buNone/>
                      </a:pPr>
                      <a:r>
                        <a:rPr lang="en-IN" b="1"/>
                        <a:t>Type of Relationship</a:t>
                      </a:r>
                      <a:endParaRPr lang="en-IN"/>
                    </a:p>
                  </a:txBody>
                  <a:tcPr anchor="ctr"/>
                </a:tc>
                <a:tc>
                  <a:txBody>
                    <a:bodyPr/>
                    <a:lstStyle/>
                    <a:p>
                      <a:pPr>
                        <a:buNone/>
                      </a:pPr>
                      <a:r>
                        <a:rPr lang="en-IN"/>
                        <a:t>Uses / Works-with</a:t>
                      </a:r>
                    </a:p>
                  </a:txBody>
                  <a:tcPr anchor="ctr"/>
                </a:tc>
                <a:extLst>
                  <a:ext uri="{0D108BD9-81ED-4DB2-BD59-A6C34878D82A}">
                    <a16:rowId xmlns:a16="http://schemas.microsoft.com/office/drawing/2014/main" val="1855599697"/>
                  </a:ext>
                </a:extLst>
              </a:tr>
              <a:tr h="437727">
                <a:tc>
                  <a:txBody>
                    <a:bodyPr/>
                    <a:lstStyle/>
                    <a:p>
                      <a:pPr>
                        <a:buNone/>
                      </a:pPr>
                      <a:r>
                        <a:rPr lang="en-IN" b="1"/>
                        <a:t>Ownership</a:t>
                      </a:r>
                      <a:endParaRPr lang="en-IN"/>
                    </a:p>
                  </a:txBody>
                  <a:tcPr anchor="ctr"/>
                </a:tc>
                <a:tc>
                  <a:txBody>
                    <a:bodyPr/>
                    <a:lstStyle/>
                    <a:p>
                      <a:pPr>
                        <a:buNone/>
                      </a:pPr>
                      <a:r>
                        <a:rPr lang="en-US" dirty="0"/>
                        <a:t>No object owns the other</a:t>
                      </a:r>
                    </a:p>
                  </a:txBody>
                  <a:tcPr anchor="ctr"/>
                </a:tc>
                <a:extLst>
                  <a:ext uri="{0D108BD9-81ED-4DB2-BD59-A6C34878D82A}">
                    <a16:rowId xmlns:a16="http://schemas.microsoft.com/office/drawing/2014/main" val="3850536031"/>
                  </a:ext>
                </a:extLst>
              </a:tr>
              <a:tr h="437727">
                <a:tc>
                  <a:txBody>
                    <a:bodyPr/>
                    <a:lstStyle/>
                    <a:p>
                      <a:pPr>
                        <a:buNone/>
                      </a:pPr>
                      <a:r>
                        <a:rPr lang="en-IN" b="1"/>
                        <a:t>Lifetime</a:t>
                      </a:r>
                      <a:endParaRPr lang="en-IN"/>
                    </a:p>
                  </a:txBody>
                  <a:tcPr anchor="ctr"/>
                </a:tc>
                <a:tc>
                  <a:txBody>
                    <a:bodyPr/>
                    <a:lstStyle/>
                    <a:p>
                      <a:pPr>
                        <a:buNone/>
                      </a:pPr>
                      <a:r>
                        <a:rPr lang="en-IN"/>
                        <a:t>Independent</a:t>
                      </a:r>
                    </a:p>
                  </a:txBody>
                  <a:tcPr anchor="ctr"/>
                </a:tc>
                <a:extLst>
                  <a:ext uri="{0D108BD9-81ED-4DB2-BD59-A6C34878D82A}">
                    <a16:rowId xmlns:a16="http://schemas.microsoft.com/office/drawing/2014/main" val="3019467593"/>
                  </a:ext>
                </a:extLst>
              </a:tr>
              <a:tr h="766022">
                <a:tc>
                  <a:txBody>
                    <a:bodyPr/>
                    <a:lstStyle/>
                    <a:p>
                      <a:pPr>
                        <a:buNone/>
                      </a:pPr>
                      <a:r>
                        <a:rPr lang="en-IN" b="1"/>
                        <a:t>Direction</a:t>
                      </a:r>
                      <a:endParaRPr lang="en-IN"/>
                    </a:p>
                  </a:txBody>
                  <a:tcPr anchor="ctr"/>
                </a:tc>
                <a:tc>
                  <a:txBody>
                    <a:bodyPr/>
                    <a:lstStyle/>
                    <a:p>
                      <a:pPr>
                        <a:buNone/>
                      </a:pPr>
                      <a:r>
                        <a:rPr lang="en-US"/>
                        <a:t>One-way (unidirectional) or two-way (bidirectional)</a:t>
                      </a:r>
                    </a:p>
                  </a:txBody>
                  <a:tcPr anchor="ctr"/>
                </a:tc>
                <a:extLst>
                  <a:ext uri="{0D108BD9-81ED-4DB2-BD59-A6C34878D82A}">
                    <a16:rowId xmlns:a16="http://schemas.microsoft.com/office/drawing/2014/main" val="2826841321"/>
                  </a:ext>
                </a:extLst>
              </a:tr>
              <a:tr h="437727">
                <a:tc>
                  <a:txBody>
                    <a:bodyPr/>
                    <a:lstStyle/>
                    <a:p>
                      <a:pPr>
                        <a:buNone/>
                      </a:pPr>
                      <a:r>
                        <a:rPr lang="en-IN" b="1"/>
                        <a:t>Strength</a:t>
                      </a:r>
                      <a:endParaRPr lang="en-IN"/>
                    </a:p>
                  </a:txBody>
                  <a:tcPr anchor="ctr"/>
                </a:tc>
                <a:tc>
                  <a:txBody>
                    <a:bodyPr/>
                    <a:lstStyle/>
                    <a:p>
                      <a:pPr>
                        <a:buNone/>
                      </a:pPr>
                      <a:r>
                        <a:rPr lang="en-IN" dirty="0"/>
                        <a:t>Weakest relation among classes</a:t>
                      </a:r>
                    </a:p>
                  </a:txBody>
                  <a:tcPr anchor="ctr"/>
                </a:tc>
                <a:extLst>
                  <a:ext uri="{0D108BD9-81ED-4DB2-BD59-A6C34878D82A}">
                    <a16:rowId xmlns:a16="http://schemas.microsoft.com/office/drawing/2014/main" val="4073914040"/>
                  </a:ext>
                </a:extLst>
              </a:tr>
            </a:tbl>
          </a:graphicData>
        </a:graphic>
      </p:graphicFrame>
    </p:spTree>
    <p:extLst>
      <p:ext uri="{BB962C8B-B14F-4D97-AF65-F5344CB8AC3E}">
        <p14:creationId xmlns:p14="http://schemas.microsoft.com/office/powerpoint/2010/main" val="195239261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8DF113-0F88-48BC-C0FA-2E8A56C57D8C}"/>
              </a:ext>
            </a:extLst>
          </p:cNvPr>
          <p:cNvSpPr txBox="1"/>
          <p:nvPr/>
        </p:nvSpPr>
        <p:spPr>
          <a:xfrm>
            <a:off x="226143" y="142848"/>
            <a:ext cx="5211096" cy="3416320"/>
          </a:xfrm>
          <a:prstGeom prst="rect">
            <a:avLst/>
          </a:prstGeom>
          <a:noFill/>
        </p:spPr>
        <p:txBody>
          <a:bodyPr wrap="square">
            <a:spAutoFit/>
          </a:bodyPr>
          <a:lstStyle/>
          <a:p>
            <a:pPr>
              <a:buNone/>
            </a:pPr>
            <a:r>
              <a:rPr lang="en-US" sz="2400" b="1" dirty="0"/>
              <a:t>Types of Association</a:t>
            </a:r>
          </a:p>
          <a:p>
            <a:pPr>
              <a:buNone/>
            </a:pPr>
            <a:r>
              <a:rPr lang="en-US" sz="2400" b="1" dirty="0"/>
              <a:t>✔ 1. Unidirectional Association</a:t>
            </a:r>
          </a:p>
          <a:p>
            <a:pPr>
              <a:buNone/>
            </a:pPr>
            <a:r>
              <a:rPr lang="en-US" sz="2400" dirty="0"/>
              <a:t>One class knows about the other.</a:t>
            </a:r>
          </a:p>
          <a:p>
            <a:pPr>
              <a:buNone/>
            </a:pPr>
            <a:r>
              <a:rPr lang="en-US" sz="2400" dirty="0"/>
              <a:t>Example:</a:t>
            </a:r>
            <a:br>
              <a:rPr lang="en-US" sz="2400" dirty="0"/>
            </a:br>
            <a:r>
              <a:rPr lang="en-US" sz="2400" dirty="0"/>
              <a:t>Student → uses → Library</a:t>
            </a:r>
          </a:p>
          <a:p>
            <a:pPr>
              <a:buNone/>
            </a:pPr>
            <a:r>
              <a:rPr lang="en-US" sz="2400" b="1" dirty="0"/>
              <a:t>✔ 2. Bidirectional Association</a:t>
            </a:r>
          </a:p>
          <a:p>
            <a:pPr>
              <a:buNone/>
            </a:pPr>
            <a:r>
              <a:rPr lang="en-US" sz="2400" dirty="0"/>
              <a:t>Both classes know about each other.</a:t>
            </a:r>
          </a:p>
          <a:p>
            <a:pPr>
              <a:buNone/>
            </a:pPr>
            <a:r>
              <a:rPr lang="en-US" sz="2400" dirty="0"/>
              <a:t>Example:</a:t>
            </a:r>
            <a:br>
              <a:rPr lang="en-US" sz="2400" dirty="0"/>
            </a:br>
            <a:r>
              <a:rPr lang="en-US" sz="2400" dirty="0"/>
              <a:t>Doctor ↔ Patient</a:t>
            </a:r>
          </a:p>
        </p:txBody>
      </p:sp>
    </p:spTree>
    <p:extLst>
      <p:ext uri="{BB962C8B-B14F-4D97-AF65-F5344CB8AC3E}">
        <p14:creationId xmlns:p14="http://schemas.microsoft.com/office/powerpoint/2010/main" val="132148095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EC83F-CA47-8D05-980B-1373D179B986}"/>
              </a:ext>
            </a:extLst>
          </p:cNvPr>
          <p:cNvSpPr txBox="1"/>
          <p:nvPr/>
        </p:nvSpPr>
        <p:spPr>
          <a:xfrm>
            <a:off x="68825" y="100470"/>
            <a:ext cx="12024851" cy="461665"/>
          </a:xfrm>
          <a:prstGeom prst="rect">
            <a:avLst/>
          </a:prstGeom>
          <a:noFill/>
        </p:spPr>
        <p:txBody>
          <a:bodyPr wrap="square">
            <a:spAutoFit/>
          </a:bodyPr>
          <a:lstStyle/>
          <a:p>
            <a:pPr algn="ctr"/>
            <a:r>
              <a:rPr lang="en-US" sz="2400" dirty="0"/>
              <a:t>Unidirectional Association Example with Code</a:t>
            </a:r>
            <a:endParaRPr lang="en-IN" sz="2400" dirty="0"/>
          </a:p>
        </p:txBody>
      </p:sp>
      <p:sp>
        <p:nvSpPr>
          <p:cNvPr id="5" name="TextBox 4">
            <a:extLst>
              <a:ext uri="{FF2B5EF4-FFF2-40B4-BE49-F238E27FC236}">
                <a16:creationId xmlns:a16="http://schemas.microsoft.com/office/drawing/2014/main" id="{AA341082-8946-A0D0-3436-B757E82E9918}"/>
              </a:ext>
            </a:extLst>
          </p:cNvPr>
          <p:cNvSpPr txBox="1"/>
          <p:nvPr/>
        </p:nvSpPr>
        <p:spPr>
          <a:xfrm>
            <a:off x="98324" y="562135"/>
            <a:ext cx="11995352" cy="6195395"/>
          </a:xfrm>
          <a:prstGeom prst="rect">
            <a:avLst/>
          </a:prstGeom>
          <a:noFill/>
        </p:spPr>
        <p:txBody>
          <a:bodyPr wrap="square" numCol="2">
            <a:spAutoFit/>
          </a:bodyPr>
          <a:lstStyle/>
          <a:p>
            <a:r>
              <a:rPr lang="en-US" dirty="0"/>
              <a:t>#include &lt;iostream&gt;</a:t>
            </a:r>
          </a:p>
          <a:p>
            <a:r>
              <a:rPr lang="en-US" dirty="0"/>
              <a:t>using namespace std;</a:t>
            </a:r>
          </a:p>
          <a:p>
            <a:endParaRPr lang="en-US" dirty="0"/>
          </a:p>
          <a:p>
            <a:r>
              <a:rPr lang="en-US" dirty="0"/>
              <a:t>class Car {</a:t>
            </a:r>
          </a:p>
          <a:p>
            <a:r>
              <a:rPr lang="en-US" dirty="0"/>
              <a:t>public:</a:t>
            </a:r>
          </a:p>
          <a:p>
            <a:r>
              <a:rPr lang="en-US" dirty="0"/>
              <a:t>    void start() {</a:t>
            </a:r>
          </a:p>
          <a:p>
            <a:r>
              <a:rPr lang="en-US" dirty="0"/>
              <a:t>        </a:t>
            </a:r>
            <a:r>
              <a:rPr lang="en-US" dirty="0" err="1"/>
              <a:t>cout</a:t>
            </a:r>
            <a:r>
              <a:rPr lang="en-US" dirty="0"/>
              <a:t> &lt;&lt; "Car is starting..." &lt;&lt; </a:t>
            </a:r>
            <a:r>
              <a:rPr lang="en-US" dirty="0" err="1"/>
              <a:t>endl</a:t>
            </a:r>
            <a:r>
              <a:rPr lang="en-US" dirty="0"/>
              <a:t>;</a:t>
            </a:r>
          </a:p>
          <a:p>
            <a:r>
              <a:rPr lang="en-US" dirty="0"/>
              <a:t>    }</a:t>
            </a:r>
          </a:p>
          <a:p>
            <a:r>
              <a:rPr lang="en-US" dirty="0"/>
              <a:t>};</a:t>
            </a:r>
          </a:p>
          <a:p>
            <a:endParaRPr lang="en-US" dirty="0"/>
          </a:p>
          <a:p>
            <a:r>
              <a:rPr lang="en-US" dirty="0"/>
              <a:t>class Driver {</a:t>
            </a:r>
          </a:p>
          <a:p>
            <a:r>
              <a:rPr lang="en-US" dirty="0"/>
              <a:t>private:</a:t>
            </a:r>
          </a:p>
          <a:p>
            <a:r>
              <a:rPr lang="en-US" dirty="0"/>
              <a:t>    Car* car;    // association: Driver uses Car</a:t>
            </a:r>
          </a:p>
          <a:p>
            <a:endParaRPr lang="en-US" dirty="0"/>
          </a:p>
          <a:p>
            <a:r>
              <a:rPr lang="en-US" dirty="0"/>
              <a:t>public:</a:t>
            </a:r>
          </a:p>
          <a:p>
            <a:r>
              <a:rPr lang="en-US" dirty="0"/>
              <a:t>    Driver(Car* c) {</a:t>
            </a:r>
          </a:p>
          <a:p>
            <a:r>
              <a:rPr lang="en-US" dirty="0"/>
              <a:t>        car = c;</a:t>
            </a:r>
          </a:p>
          <a:p>
            <a:r>
              <a:rPr lang="en-US" dirty="0"/>
              <a:t>    }</a:t>
            </a:r>
          </a:p>
          <a:p>
            <a:endParaRPr lang="en-US" dirty="0"/>
          </a:p>
          <a:p>
            <a:r>
              <a:rPr lang="en-US" dirty="0"/>
              <a:t>    void drive() {</a:t>
            </a:r>
          </a:p>
          <a:p>
            <a:r>
              <a:rPr lang="en-US" dirty="0"/>
              <a:t>        car-&gt;start();    // using Car</a:t>
            </a:r>
          </a:p>
          <a:p>
            <a:r>
              <a:rPr lang="en-US" dirty="0"/>
              <a:t>        </a:t>
            </a:r>
            <a:r>
              <a:rPr lang="en-US" dirty="0" err="1"/>
              <a:t>cout</a:t>
            </a:r>
            <a:r>
              <a:rPr lang="en-US" dirty="0"/>
              <a:t> &lt;&lt; "Driver is driving the car." &lt;&lt; </a:t>
            </a:r>
            <a:r>
              <a:rPr lang="en-US" dirty="0" err="1"/>
              <a:t>endl</a:t>
            </a:r>
            <a:r>
              <a:rPr lang="en-US" dirty="0"/>
              <a:t>;</a:t>
            </a:r>
          </a:p>
          <a:p>
            <a:r>
              <a:rPr lang="en-US" dirty="0"/>
              <a:t>    }</a:t>
            </a:r>
          </a:p>
          <a:p>
            <a:r>
              <a:rPr lang="en-US" dirty="0"/>
              <a:t>};</a:t>
            </a:r>
          </a:p>
          <a:p>
            <a:endParaRPr lang="en-US" dirty="0"/>
          </a:p>
          <a:p>
            <a:r>
              <a:rPr lang="en-US" dirty="0"/>
              <a:t>int main() {</a:t>
            </a:r>
          </a:p>
          <a:p>
            <a:r>
              <a:rPr lang="en-US" dirty="0"/>
              <a:t>    Car c1;               // Car exists independently</a:t>
            </a:r>
          </a:p>
          <a:p>
            <a:r>
              <a:rPr lang="en-US" dirty="0"/>
              <a:t>    Driver d1(&amp;c1);       // Driver associated with Car</a:t>
            </a:r>
          </a:p>
          <a:p>
            <a:endParaRPr lang="en-US" dirty="0"/>
          </a:p>
          <a:p>
            <a:r>
              <a:rPr lang="en-US" dirty="0"/>
              <a:t>    d1.drive();</a:t>
            </a:r>
          </a:p>
          <a:p>
            <a:pPr>
              <a:buNone/>
            </a:pPr>
            <a:r>
              <a:rPr lang="en-US" dirty="0"/>
              <a:t>}</a:t>
            </a:r>
            <a:r>
              <a:rPr lang="en-US" b="1" dirty="0"/>
              <a:t> </a:t>
            </a:r>
          </a:p>
          <a:p>
            <a:pPr>
              <a:buNone/>
            </a:pPr>
            <a:endParaRPr lang="en-US" b="1" dirty="0"/>
          </a:p>
          <a:p>
            <a:pPr>
              <a:buNone/>
            </a:pPr>
            <a:endParaRPr lang="en-US" b="1" dirty="0"/>
          </a:p>
          <a:p>
            <a:pPr>
              <a:buNone/>
            </a:pPr>
            <a:endParaRPr lang="en-US" b="1" dirty="0"/>
          </a:p>
          <a:p>
            <a:pPr>
              <a:buNone/>
            </a:pPr>
            <a:endParaRPr lang="en-US" b="1" dirty="0"/>
          </a:p>
          <a:p>
            <a:pPr>
              <a:buNone/>
            </a:pPr>
            <a:r>
              <a:rPr lang="en-US" b="1" dirty="0"/>
              <a:t>Points shown in code:</a:t>
            </a:r>
          </a:p>
          <a:p>
            <a:pPr>
              <a:buFont typeface="Arial" panose="020B0604020202020204" pitchFamily="34" charset="0"/>
              <a:buChar char="•"/>
            </a:pPr>
            <a:r>
              <a:rPr lang="en-US" dirty="0"/>
              <a:t>Car and Driver exist independently</a:t>
            </a:r>
          </a:p>
          <a:p>
            <a:pPr>
              <a:buFont typeface="Arial" panose="020B0604020202020204" pitchFamily="34" charset="0"/>
              <a:buChar char="•"/>
            </a:pPr>
            <a:r>
              <a:rPr lang="en-US" dirty="0"/>
              <a:t>Driver only </a:t>
            </a:r>
            <a:r>
              <a:rPr lang="en-US" b="1" dirty="0"/>
              <a:t>uses</a:t>
            </a:r>
            <a:r>
              <a:rPr lang="en-US" dirty="0"/>
              <a:t> Car</a:t>
            </a:r>
          </a:p>
          <a:p>
            <a:pPr>
              <a:buFont typeface="Arial" panose="020B0604020202020204" pitchFamily="34" charset="0"/>
              <a:buChar char="•"/>
            </a:pPr>
            <a:r>
              <a:rPr lang="en-US" dirty="0"/>
              <a:t>Driver does NOT own Car</a:t>
            </a:r>
          </a:p>
          <a:p>
            <a:pPr>
              <a:buFont typeface="Arial" panose="020B0604020202020204" pitchFamily="34" charset="0"/>
              <a:buChar char="•"/>
            </a:pPr>
            <a:r>
              <a:rPr lang="en-US" dirty="0"/>
              <a:t>If Driver is deleted → Car still exists</a:t>
            </a:r>
          </a:p>
          <a:p>
            <a:pPr>
              <a:buFont typeface="Arial" panose="020B0604020202020204" pitchFamily="34" charset="0"/>
              <a:buChar char="•"/>
            </a:pPr>
            <a:r>
              <a:rPr lang="en-US" dirty="0"/>
              <a:t>If Car is deleted → Driver still exists (but pointer becomes invalid)</a:t>
            </a:r>
          </a:p>
          <a:p>
            <a:endParaRPr lang="en-US" dirty="0"/>
          </a:p>
        </p:txBody>
      </p:sp>
    </p:spTree>
    <p:extLst>
      <p:ext uri="{BB962C8B-B14F-4D97-AF65-F5344CB8AC3E}">
        <p14:creationId xmlns:p14="http://schemas.microsoft.com/office/powerpoint/2010/main" val="271827446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BE7B35-EE5A-13FC-46CF-77403BFF7D42}"/>
              </a:ext>
            </a:extLst>
          </p:cNvPr>
          <p:cNvSpPr txBox="1"/>
          <p:nvPr/>
        </p:nvSpPr>
        <p:spPr>
          <a:xfrm>
            <a:off x="108154" y="78657"/>
            <a:ext cx="11946193" cy="1200329"/>
          </a:xfrm>
          <a:prstGeom prst="rect">
            <a:avLst/>
          </a:prstGeom>
          <a:noFill/>
        </p:spPr>
        <p:txBody>
          <a:bodyPr wrap="square">
            <a:spAutoFit/>
          </a:bodyPr>
          <a:lstStyle/>
          <a:p>
            <a:pPr algn="ctr">
              <a:buNone/>
            </a:pPr>
            <a:r>
              <a:rPr lang="en-US" sz="2400" b="1" dirty="0"/>
              <a:t>Bidirectional Association Example (Simple)</a:t>
            </a:r>
          </a:p>
          <a:p>
            <a:pPr>
              <a:buNone/>
            </a:pPr>
            <a:r>
              <a:rPr lang="en-US" sz="2400" dirty="0"/>
              <a:t>Doctor ↔ Patient</a:t>
            </a:r>
            <a:br>
              <a:rPr lang="en-US" sz="2400" dirty="0"/>
            </a:br>
            <a:r>
              <a:rPr lang="en-US" sz="2400" dirty="0"/>
              <a:t>Both know each other.</a:t>
            </a:r>
          </a:p>
        </p:txBody>
      </p:sp>
      <p:sp>
        <p:nvSpPr>
          <p:cNvPr id="5" name="TextBox 4">
            <a:extLst>
              <a:ext uri="{FF2B5EF4-FFF2-40B4-BE49-F238E27FC236}">
                <a16:creationId xmlns:a16="http://schemas.microsoft.com/office/drawing/2014/main" id="{9F285764-01E6-637C-DF98-53C4DF18A408}"/>
              </a:ext>
            </a:extLst>
          </p:cNvPr>
          <p:cNvSpPr txBox="1"/>
          <p:nvPr/>
        </p:nvSpPr>
        <p:spPr>
          <a:xfrm>
            <a:off x="137653" y="1278986"/>
            <a:ext cx="11582399" cy="4154984"/>
          </a:xfrm>
          <a:prstGeom prst="rect">
            <a:avLst/>
          </a:prstGeom>
          <a:noFill/>
        </p:spPr>
        <p:txBody>
          <a:bodyPr wrap="square">
            <a:spAutoFit/>
          </a:bodyPr>
          <a:lstStyle/>
          <a:p>
            <a:r>
              <a:rPr lang="en-US" sz="2400" dirty="0"/>
              <a:t>class Patient; // forward declaration</a:t>
            </a:r>
          </a:p>
          <a:p>
            <a:endParaRPr lang="en-US" sz="2400" dirty="0"/>
          </a:p>
          <a:p>
            <a:r>
              <a:rPr lang="en-US" sz="2400" dirty="0"/>
              <a:t>class Doctor {</a:t>
            </a:r>
          </a:p>
          <a:p>
            <a:r>
              <a:rPr lang="en-US" sz="2400" dirty="0"/>
              <a:t>public:</a:t>
            </a:r>
          </a:p>
          <a:p>
            <a:r>
              <a:rPr lang="en-US" sz="2400" dirty="0"/>
              <a:t>    Patient* p;</a:t>
            </a:r>
          </a:p>
          <a:p>
            <a:r>
              <a:rPr lang="en-US" sz="2400" dirty="0"/>
              <a:t>};</a:t>
            </a:r>
          </a:p>
          <a:p>
            <a:endParaRPr lang="en-US" sz="2400" dirty="0"/>
          </a:p>
          <a:p>
            <a:r>
              <a:rPr lang="en-US" sz="2400" dirty="0"/>
              <a:t>class Patient {</a:t>
            </a:r>
          </a:p>
          <a:p>
            <a:r>
              <a:rPr lang="en-US" sz="2400" dirty="0"/>
              <a:t>public:</a:t>
            </a:r>
          </a:p>
          <a:p>
            <a:r>
              <a:rPr lang="en-US" sz="2400" dirty="0"/>
              <a:t>    Doctor* d;</a:t>
            </a:r>
          </a:p>
          <a:p>
            <a:r>
              <a:rPr lang="en-US" sz="2400" dirty="0"/>
              <a:t>};</a:t>
            </a:r>
          </a:p>
        </p:txBody>
      </p:sp>
      <p:sp>
        <p:nvSpPr>
          <p:cNvPr id="7" name="TextBox 6">
            <a:extLst>
              <a:ext uri="{FF2B5EF4-FFF2-40B4-BE49-F238E27FC236}">
                <a16:creationId xmlns:a16="http://schemas.microsoft.com/office/drawing/2014/main" id="{1B253064-497D-4006-54CE-129F2E59AF76}"/>
              </a:ext>
            </a:extLst>
          </p:cNvPr>
          <p:cNvSpPr txBox="1"/>
          <p:nvPr/>
        </p:nvSpPr>
        <p:spPr>
          <a:xfrm>
            <a:off x="108155" y="6068199"/>
            <a:ext cx="7934632" cy="461665"/>
          </a:xfrm>
          <a:prstGeom prst="rect">
            <a:avLst/>
          </a:prstGeom>
          <a:noFill/>
        </p:spPr>
        <p:txBody>
          <a:bodyPr wrap="square">
            <a:spAutoFit/>
          </a:bodyPr>
          <a:lstStyle/>
          <a:p>
            <a:r>
              <a:rPr lang="en-US" sz="2400" dirty="0"/>
              <a:t>This shows both are connected but still </a:t>
            </a:r>
            <a:r>
              <a:rPr lang="en-US" sz="2400" b="1" dirty="0"/>
              <a:t>independent</a:t>
            </a:r>
            <a:r>
              <a:rPr lang="en-US" sz="2400" dirty="0"/>
              <a:t>.</a:t>
            </a:r>
            <a:endParaRPr lang="en-IN" sz="2400" dirty="0"/>
          </a:p>
        </p:txBody>
      </p:sp>
    </p:spTree>
    <p:extLst>
      <p:ext uri="{BB962C8B-B14F-4D97-AF65-F5344CB8AC3E}">
        <p14:creationId xmlns:p14="http://schemas.microsoft.com/office/powerpoint/2010/main" val="202541023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D3C9E-E70A-660C-1A50-3870914A6CCC}"/>
              </a:ext>
            </a:extLst>
          </p:cNvPr>
          <p:cNvSpPr txBox="1"/>
          <p:nvPr/>
        </p:nvSpPr>
        <p:spPr>
          <a:xfrm>
            <a:off x="462116" y="247954"/>
            <a:ext cx="2959510" cy="523220"/>
          </a:xfrm>
          <a:prstGeom prst="rect">
            <a:avLst/>
          </a:prstGeom>
          <a:noFill/>
        </p:spPr>
        <p:txBody>
          <a:bodyPr wrap="square">
            <a:spAutoFit/>
          </a:bodyPr>
          <a:lstStyle/>
          <a:p>
            <a:r>
              <a:rPr lang="en-IN" sz="2800" b="1" dirty="0"/>
              <a:t>Aggregation</a:t>
            </a:r>
          </a:p>
        </p:txBody>
      </p:sp>
      <p:sp>
        <p:nvSpPr>
          <p:cNvPr id="5" name="TextBox 4">
            <a:extLst>
              <a:ext uri="{FF2B5EF4-FFF2-40B4-BE49-F238E27FC236}">
                <a16:creationId xmlns:a16="http://schemas.microsoft.com/office/drawing/2014/main" id="{C66DE16A-E85A-AD9C-0054-37AC3887E2E5}"/>
              </a:ext>
            </a:extLst>
          </p:cNvPr>
          <p:cNvSpPr txBox="1"/>
          <p:nvPr/>
        </p:nvSpPr>
        <p:spPr>
          <a:xfrm>
            <a:off x="162232" y="771174"/>
            <a:ext cx="11867535" cy="3785652"/>
          </a:xfrm>
          <a:prstGeom prst="rect">
            <a:avLst/>
          </a:prstGeom>
          <a:noFill/>
        </p:spPr>
        <p:txBody>
          <a:bodyPr wrap="square">
            <a:spAutoFit/>
          </a:bodyPr>
          <a:lstStyle/>
          <a:p>
            <a:r>
              <a:rPr lang="en-US" sz="2400" dirty="0"/>
              <a:t>Aggregation is a type of object-to-object relationship in OOP.</a:t>
            </a:r>
          </a:p>
          <a:p>
            <a:r>
              <a:rPr lang="en-US" sz="2400" dirty="0"/>
              <a:t>It represents a "HAS–A" relationship between two classes.</a:t>
            </a:r>
          </a:p>
          <a:p>
            <a:r>
              <a:rPr lang="en-US" sz="2400" dirty="0"/>
              <a:t>Aggregation means one class contains another </a:t>
            </a:r>
            <a:r>
              <a:rPr lang="en-US" sz="2400" dirty="0" err="1"/>
              <a:t>class,but</a:t>
            </a:r>
            <a:r>
              <a:rPr lang="en-US" sz="2400" dirty="0"/>
              <a:t> both can exist independently.</a:t>
            </a:r>
          </a:p>
          <a:p>
            <a:endParaRPr lang="en-US" sz="2400" dirty="0"/>
          </a:p>
          <a:p>
            <a:r>
              <a:rPr lang="en-US" sz="2400" dirty="0"/>
              <a:t>Example (real-life):</a:t>
            </a:r>
          </a:p>
          <a:p>
            <a:pPr lvl="1"/>
            <a:r>
              <a:rPr lang="en-US" sz="2400" dirty="0"/>
              <a:t>A Teacher HAS–A Department</a:t>
            </a:r>
          </a:p>
          <a:p>
            <a:pPr lvl="1"/>
            <a:r>
              <a:rPr lang="en-US" sz="2400" dirty="0"/>
              <a:t>A Library HAS–A Book</a:t>
            </a:r>
          </a:p>
          <a:p>
            <a:pPr lvl="1"/>
            <a:r>
              <a:rPr lang="en-US" sz="2400" dirty="0"/>
              <a:t>A Student HAS–A Address</a:t>
            </a:r>
          </a:p>
          <a:p>
            <a:endParaRPr lang="en-US" sz="2400" dirty="0"/>
          </a:p>
          <a:p>
            <a:r>
              <a:rPr lang="en-US" sz="2400" dirty="0"/>
              <a:t>If the main object is destroyed, the contained object still exists.</a:t>
            </a:r>
            <a:endParaRPr lang="en-IN" sz="2400" dirty="0"/>
          </a:p>
        </p:txBody>
      </p:sp>
    </p:spTree>
    <p:extLst>
      <p:ext uri="{BB962C8B-B14F-4D97-AF65-F5344CB8AC3E}">
        <p14:creationId xmlns:p14="http://schemas.microsoft.com/office/powerpoint/2010/main" val="15741253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C32892-1313-22C8-97D7-2F5207B3A772}"/>
              </a:ext>
            </a:extLst>
          </p:cNvPr>
          <p:cNvSpPr txBox="1"/>
          <p:nvPr/>
        </p:nvSpPr>
        <p:spPr>
          <a:xfrm>
            <a:off x="363794" y="238121"/>
            <a:ext cx="6096000" cy="523220"/>
          </a:xfrm>
          <a:prstGeom prst="rect">
            <a:avLst/>
          </a:prstGeom>
          <a:noFill/>
        </p:spPr>
        <p:txBody>
          <a:bodyPr wrap="square">
            <a:spAutoFit/>
          </a:bodyPr>
          <a:lstStyle/>
          <a:p>
            <a:r>
              <a:rPr lang="en-IN" sz="2800" b="1" dirty="0"/>
              <a:t>Key Features of Aggregation</a:t>
            </a:r>
          </a:p>
        </p:txBody>
      </p:sp>
      <p:graphicFrame>
        <p:nvGraphicFramePr>
          <p:cNvPr id="4" name="Table 3">
            <a:extLst>
              <a:ext uri="{FF2B5EF4-FFF2-40B4-BE49-F238E27FC236}">
                <a16:creationId xmlns:a16="http://schemas.microsoft.com/office/drawing/2014/main" id="{9A799D82-2B9F-4F37-3E0F-64C6833EDC72}"/>
              </a:ext>
            </a:extLst>
          </p:cNvPr>
          <p:cNvGraphicFramePr>
            <a:graphicFrameLocks noGrp="1"/>
          </p:cNvGraphicFramePr>
          <p:nvPr>
            <p:extLst>
              <p:ext uri="{D42A27DB-BD31-4B8C-83A1-F6EECF244321}">
                <p14:modId xmlns:p14="http://schemas.microsoft.com/office/powerpoint/2010/main" val="3146783168"/>
              </p:ext>
            </p:extLst>
          </p:nvPr>
        </p:nvGraphicFramePr>
        <p:xfrm>
          <a:off x="176981" y="953729"/>
          <a:ext cx="11779046" cy="3352800"/>
        </p:xfrm>
        <a:graphic>
          <a:graphicData uri="http://schemas.openxmlformats.org/drawingml/2006/table">
            <a:tbl>
              <a:tblPr>
                <a:tableStyleId>{5940675A-B579-460E-94D1-54222C63F5DA}</a:tableStyleId>
              </a:tblPr>
              <a:tblGrid>
                <a:gridCol w="5889523">
                  <a:extLst>
                    <a:ext uri="{9D8B030D-6E8A-4147-A177-3AD203B41FA5}">
                      <a16:colId xmlns:a16="http://schemas.microsoft.com/office/drawing/2014/main" val="4062785386"/>
                    </a:ext>
                  </a:extLst>
                </a:gridCol>
                <a:gridCol w="5889523">
                  <a:extLst>
                    <a:ext uri="{9D8B030D-6E8A-4147-A177-3AD203B41FA5}">
                      <a16:colId xmlns:a16="http://schemas.microsoft.com/office/drawing/2014/main" val="2412402893"/>
                    </a:ext>
                  </a:extLst>
                </a:gridCol>
              </a:tblGrid>
              <a:tr h="558800">
                <a:tc>
                  <a:txBody>
                    <a:bodyPr/>
                    <a:lstStyle/>
                    <a:p>
                      <a:pPr>
                        <a:buNone/>
                      </a:pPr>
                      <a:r>
                        <a:rPr lang="en-IN" sz="2400" b="1" dirty="0"/>
                        <a:t>Feature</a:t>
                      </a:r>
                    </a:p>
                  </a:txBody>
                  <a:tcPr anchor="ctr"/>
                </a:tc>
                <a:tc>
                  <a:txBody>
                    <a:bodyPr/>
                    <a:lstStyle/>
                    <a:p>
                      <a:pPr>
                        <a:buNone/>
                      </a:pPr>
                      <a:r>
                        <a:rPr lang="en-IN" sz="2400" b="1" dirty="0"/>
                        <a:t>Meaning</a:t>
                      </a:r>
                    </a:p>
                  </a:txBody>
                  <a:tcPr anchor="ctr"/>
                </a:tc>
                <a:extLst>
                  <a:ext uri="{0D108BD9-81ED-4DB2-BD59-A6C34878D82A}">
                    <a16:rowId xmlns:a16="http://schemas.microsoft.com/office/drawing/2014/main" val="882263830"/>
                  </a:ext>
                </a:extLst>
              </a:tr>
              <a:tr h="558800">
                <a:tc>
                  <a:txBody>
                    <a:bodyPr/>
                    <a:lstStyle/>
                    <a:p>
                      <a:pPr>
                        <a:buNone/>
                      </a:pPr>
                      <a:r>
                        <a:rPr lang="en-IN" sz="2400"/>
                        <a:t>Type of relationship</a:t>
                      </a:r>
                    </a:p>
                  </a:txBody>
                  <a:tcPr anchor="ctr"/>
                </a:tc>
                <a:tc>
                  <a:txBody>
                    <a:bodyPr/>
                    <a:lstStyle/>
                    <a:p>
                      <a:pPr>
                        <a:buNone/>
                      </a:pPr>
                      <a:r>
                        <a:rPr lang="en-IN" sz="2400"/>
                        <a:t>HAS–A</a:t>
                      </a:r>
                    </a:p>
                  </a:txBody>
                  <a:tcPr anchor="ctr"/>
                </a:tc>
                <a:extLst>
                  <a:ext uri="{0D108BD9-81ED-4DB2-BD59-A6C34878D82A}">
                    <a16:rowId xmlns:a16="http://schemas.microsoft.com/office/drawing/2014/main" val="132376428"/>
                  </a:ext>
                </a:extLst>
              </a:tr>
              <a:tr h="558800">
                <a:tc>
                  <a:txBody>
                    <a:bodyPr/>
                    <a:lstStyle/>
                    <a:p>
                      <a:pPr>
                        <a:buNone/>
                      </a:pPr>
                      <a:r>
                        <a:rPr lang="en-IN" sz="2400"/>
                        <a:t>Ownership</a:t>
                      </a:r>
                    </a:p>
                  </a:txBody>
                  <a:tcPr anchor="ctr"/>
                </a:tc>
                <a:tc>
                  <a:txBody>
                    <a:bodyPr/>
                    <a:lstStyle/>
                    <a:p>
                      <a:pPr>
                        <a:buNone/>
                      </a:pPr>
                      <a:r>
                        <a:rPr lang="en-IN" sz="2400"/>
                        <a:t>Weak ownership</a:t>
                      </a:r>
                    </a:p>
                  </a:txBody>
                  <a:tcPr anchor="ctr"/>
                </a:tc>
                <a:extLst>
                  <a:ext uri="{0D108BD9-81ED-4DB2-BD59-A6C34878D82A}">
                    <a16:rowId xmlns:a16="http://schemas.microsoft.com/office/drawing/2014/main" val="3672828747"/>
                  </a:ext>
                </a:extLst>
              </a:tr>
              <a:tr h="558800">
                <a:tc>
                  <a:txBody>
                    <a:bodyPr/>
                    <a:lstStyle/>
                    <a:p>
                      <a:pPr>
                        <a:buNone/>
                      </a:pPr>
                      <a:r>
                        <a:rPr lang="en-IN" sz="2400" dirty="0"/>
                        <a:t>Lifetime dependency</a:t>
                      </a:r>
                    </a:p>
                  </a:txBody>
                  <a:tcPr anchor="ctr"/>
                </a:tc>
                <a:tc>
                  <a:txBody>
                    <a:bodyPr/>
                    <a:lstStyle/>
                    <a:p>
                      <a:pPr>
                        <a:buNone/>
                      </a:pPr>
                      <a:r>
                        <a:rPr lang="en-IN" sz="2400"/>
                        <a:t>Independent</a:t>
                      </a:r>
                    </a:p>
                  </a:txBody>
                  <a:tcPr anchor="ctr"/>
                </a:tc>
                <a:extLst>
                  <a:ext uri="{0D108BD9-81ED-4DB2-BD59-A6C34878D82A}">
                    <a16:rowId xmlns:a16="http://schemas.microsoft.com/office/drawing/2014/main" val="1787301960"/>
                  </a:ext>
                </a:extLst>
              </a:tr>
              <a:tr h="558800">
                <a:tc>
                  <a:txBody>
                    <a:bodyPr/>
                    <a:lstStyle/>
                    <a:p>
                      <a:pPr>
                        <a:buNone/>
                      </a:pPr>
                      <a:r>
                        <a:rPr lang="en-US" sz="2400"/>
                        <a:t>If container object is deleted</a:t>
                      </a:r>
                    </a:p>
                  </a:txBody>
                  <a:tcPr anchor="ctr"/>
                </a:tc>
                <a:tc>
                  <a:txBody>
                    <a:bodyPr/>
                    <a:lstStyle/>
                    <a:p>
                      <a:pPr>
                        <a:buNone/>
                      </a:pPr>
                      <a:r>
                        <a:rPr lang="en-IN" sz="2400"/>
                        <a:t>Contained object still exists</a:t>
                      </a:r>
                    </a:p>
                  </a:txBody>
                  <a:tcPr anchor="ctr"/>
                </a:tc>
                <a:extLst>
                  <a:ext uri="{0D108BD9-81ED-4DB2-BD59-A6C34878D82A}">
                    <a16:rowId xmlns:a16="http://schemas.microsoft.com/office/drawing/2014/main" val="571237454"/>
                  </a:ext>
                </a:extLst>
              </a:tr>
              <a:tr h="558800">
                <a:tc>
                  <a:txBody>
                    <a:bodyPr/>
                    <a:lstStyle/>
                    <a:p>
                      <a:pPr>
                        <a:buNone/>
                      </a:pPr>
                      <a:r>
                        <a:rPr lang="en-IN" sz="2400"/>
                        <a:t>Example</a:t>
                      </a:r>
                    </a:p>
                  </a:txBody>
                  <a:tcPr anchor="ctr"/>
                </a:tc>
                <a:tc>
                  <a:txBody>
                    <a:bodyPr/>
                    <a:lstStyle/>
                    <a:p>
                      <a:pPr>
                        <a:buNone/>
                      </a:pPr>
                      <a:r>
                        <a:rPr lang="en-IN" sz="2400" dirty="0"/>
                        <a:t>Student HAS–A Address</a:t>
                      </a:r>
                    </a:p>
                  </a:txBody>
                  <a:tcPr anchor="ctr"/>
                </a:tc>
                <a:extLst>
                  <a:ext uri="{0D108BD9-81ED-4DB2-BD59-A6C34878D82A}">
                    <a16:rowId xmlns:a16="http://schemas.microsoft.com/office/drawing/2014/main" val="2328009523"/>
                  </a:ext>
                </a:extLst>
              </a:tr>
            </a:tbl>
          </a:graphicData>
        </a:graphic>
      </p:graphicFrame>
    </p:spTree>
    <p:extLst>
      <p:ext uri="{BB962C8B-B14F-4D97-AF65-F5344CB8AC3E}">
        <p14:creationId xmlns:p14="http://schemas.microsoft.com/office/powerpoint/2010/main" val="391893460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5531F6-FF46-71D1-16AA-8980505F7CA7}"/>
              </a:ext>
            </a:extLst>
          </p:cNvPr>
          <p:cNvSpPr txBox="1"/>
          <p:nvPr/>
        </p:nvSpPr>
        <p:spPr>
          <a:xfrm>
            <a:off x="216310" y="267618"/>
            <a:ext cx="7334864" cy="523220"/>
          </a:xfrm>
          <a:prstGeom prst="rect">
            <a:avLst/>
          </a:prstGeom>
          <a:noFill/>
        </p:spPr>
        <p:txBody>
          <a:bodyPr wrap="square">
            <a:spAutoFit/>
          </a:bodyPr>
          <a:lstStyle/>
          <a:p>
            <a:r>
              <a:rPr lang="en-US" sz="2800" dirty="0"/>
              <a:t>Student HAS–A Address (Aggregation)</a:t>
            </a:r>
            <a:endParaRPr lang="en-IN" sz="2800" dirty="0"/>
          </a:p>
        </p:txBody>
      </p:sp>
      <p:sp>
        <p:nvSpPr>
          <p:cNvPr id="5" name="TextBox 4">
            <a:extLst>
              <a:ext uri="{FF2B5EF4-FFF2-40B4-BE49-F238E27FC236}">
                <a16:creationId xmlns:a16="http://schemas.microsoft.com/office/drawing/2014/main" id="{15C2D921-97CA-6FEE-33A4-E6FB31C3840A}"/>
              </a:ext>
            </a:extLst>
          </p:cNvPr>
          <p:cNvSpPr txBox="1"/>
          <p:nvPr/>
        </p:nvSpPr>
        <p:spPr>
          <a:xfrm>
            <a:off x="127818" y="790838"/>
            <a:ext cx="11985524" cy="6067161"/>
          </a:xfrm>
          <a:prstGeom prst="rect">
            <a:avLst/>
          </a:prstGeom>
          <a:noFill/>
        </p:spPr>
        <p:txBody>
          <a:bodyPr wrap="square" numCol="2">
            <a:spAutoFit/>
          </a:bodyPr>
          <a:lstStyle/>
          <a:p>
            <a:r>
              <a:rPr lang="en-US" dirty="0"/>
              <a:t>#include &lt;iostream&gt;</a:t>
            </a:r>
          </a:p>
          <a:p>
            <a:r>
              <a:rPr lang="en-US" dirty="0"/>
              <a:t>using namespace std;</a:t>
            </a:r>
          </a:p>
          <a:p>
            <a:endParaRPr lang="en-US" dirty="0"/>
          </a:p>
          <a:p>
            <a:r>
              <a:rPr lang="en-US" dirty="0"/>
              <a:t>class Address {</a:t>
            </a:r>
          </a:p>
          <a:p>
            <a:r>
              <a:rPr lang="en-US" dirty="0"/>
              <a:t>public:</a:t>
            </a:r>
          </a:p>
          <a:p>
            <a:r>
              <a:rPr lang="en-US" dirty="0"/>
              <a:t>    string city;</a:t>
            </a:r>
          </a:p>
          <a:p>
            <a:r>
              <a:rPr lang="en-US" dirty="0"/>
              <a:t>    string state;</a:t>
            </a:r>
          </a:p>
          <a:p>
            <a:endParaRPr lang="en-US" dirty="0"/>
          </a:p>
          <a:p>
            <a:r>
              <a:rPr lang="en-US" dirty="0"/>
              <a:t>    Address(string c, string s) {</a:t>
            </a:r>
          </a:p>
          <a:p>
            <a:r>
              <a:rPr lang="en-US" dirty="0"/>
              <a:t>        city = c;</a:t>
            </a:r>
          </a:p>
          <a:p>
            <a:r>
              <a:rPr lang="en-US" dirty="0"/>
              <a:t>        state = s;</a:t>
            </a:r>
          </a:p>
          <a:p>
            <a:r>
              <a:rPr lang="en-US" dirty="0"/>
              <a:t>    }</a:t>
            </a:r>
          </a:p>
          <a:p>
            <a:r>
              <a:rPr lang="en-US" dirty="0"/>
              <a:t>};</a:t>
            </a:r>
          </a:p>
          <a:p>
            <a:endParaRPr lang="en-US" dirty="0"/>
          </a:p>
          <a:p>
            <a:r>
              <a:rPr lang="en-US" dirty="0"/>
              <a:t>class Student {</a:t>
            </a:r>
          </a:p>
          <a:p>
            <a:r>
              <a:rPr lang="en-US" dirty="0"/>
              <a:t>    string name;</a:t>
            </a:r>
          </a:p>
          <a:p>
            <a:r>
              <a:rPr lang="en-US" dirty="0"/>
              <a:t>    int age;</a:t>
            </a:r>
          </a:p>
          <a:p>
            <a:r>
              <a:rPr lang="en-US" dirty="0"/>
              <a:t>    Address* </a:t>
            </a:r>
            <a:r>
              <a:rPr lang="en-US" dirty="0" err="1"/>
              <a:t>addr</a:t>
            </a:r>
            <a:r>
              <a:rPr lang="en-US" dirty="0"/>
              <a:t>;   // AGGREGATION (pointer to Address)</a:t>
            </a:r>
          </a:p>
          <a:p>
            <a:r>
              <a:rPr lang="en-US" dirty="0"/>
              <a:t>public:</a:t>
            </a:r>
          </a:p>
          <a:p>
            <a:r>
              <a:rPr lang="en-US" dirty="0"/>
              <a:t>    Student(string n, int a, Address* ad) {</a:t>
            </a:r>
          </a:p>
          <a:p>
            <a:r>
              <a:rPr lang="en-US" dirty="0"/>
              <a:t>        name = n;</a:t>
            </a:r>
          </a:p>
          <a:p>
            <a:r>
              <a:rPr lang="en-US" dirty="0"/>
              <a:t>        age = a;</a:t>
            </a:r>
          </a:p>
          <a:p>
            <a:r>
              <a:rPr lang="en-US" dirty="0"/>
              <a:t>        </a:t>
            </a:r>
            <a:r>
              <a:rPr lang="en-US" dirty="0" err="1"/>
              <a:t>addr</a:t>
            </a:r>
            <a:r>
              <a:rPr lang="en-US" dirty="0"/>
              <a:t> = ad;   // student uses existing address object</a:t>
            </a:r>
          </a:p>
          <a:p>
            <a:r>
              <a:rPr lang="en-US" dirty="0"/>
              <a:t>    }</a:t>
            </a:r>
          </a:p>
          <a:p>
            <a:endParaRPr lang="en-US" dirty="0"/>
          </a:p>
          <a:p>
            <a:r>
              <a:rPr lang="en-US" dirty="0"/>
              <a:t>    void display() {</a:t>
            </a:r>
          </a:p>
          <a:p>
            <a:r>
              <a:rPr lang="en-US" dirty="0"/>
              <a:t>        </a:t>
            </a:r>
            <a:r>
              <a:rPr lang="en-US" dirty="0" err="1"/>
              <a:t>cout</a:t>
            </a:r>
            <a:r>
              <a:rPr lang="en-US" dirty="0"/>
              <a:t> &lt;&lt; "Name: " &lt;&lt; name &lt;&lt; </a:t>
            </a:r>
            <a:r>
              <a:rPr lang="en-US" dirty="0" err="1"/>
              <a:t>endl</a:t>
            </a:r>
            <a:r>
              <a:rPr lang="en-US" dirty="0"/>
              <a:t>;</a:t>
            </a:r>
          </a:p>
          <a:p>
            <a:r>
              <a:rPr lang="en-US" dirty="0"/>
              <a:t>        </a:t>
            </a:r>
            <a:r>
              <a:rPr lang="en-US" dirty="0" err="1"/>
              <a:t>cout</a:t>
            </a:r>
            <a:r>
              <a:rPr lang="en-US" dirty="0"/>
              <a:t> &lt;&lt; "Age: " &lt;&lt; age &lt;&lt; </a:t>
            </a:r>
            <a:r>
              <a:rPr lang="en-US" dirty="0" err="1"/>
              <a:t>endl</a:t>
            </a:r>
            <a:r>
              <a:rPr lang="en-US" dirty="0"/>
              <a:t>;</a:t>
            </a:r>
          </a:p>
          <a:p>
            <a:r>
              <a:rPr lang="en-US" dirty="0"/>
              <a:t>        </a:t>
            </a:r>
            <a:r>
              <a:rPr lang="en-US" dirty="0" err="1"/>
              <a:t>cout</a:t>
            </a:r>
            <a:r>
              <a:rPr lang="en-US" dirty="0"/>
              <a:t> &lt;&lt; "City: " &lt;&lt; </a:t>
            </a:r>
            <a:r>
              <a:rPr lang="en-US" dirty="0" err="1"/>
              <a:t>addr</a:t>
            </a:r>
            <a:r>
              <a:rPr lang="en-US" dirty="0"/>
              <a:t>-&gt;city &lt;&lt; </a:t>
            </a:r>
            <a:r>
              <a:rPr lang="en-US" dirty="0" err="1"/>
              <a:t>endl</a:t>
            </a:r>
            <a:r>
              <a:rPr lang="en-US" dirty="0"/>
              <a:t>;</a:t>
            </a:r>
          </a:p>
          <a:p>
            <a:r>
              <a:rPr lang="en-US" dirty="0"/>
              <a:t>        </a:t>
            </a:r>
            <a:r>
              <a:rPr lang="en-US" dirty="0" err="1"/>
              <a:t>cout</a:t>
            </a:r>
            <a:r>
              <a:rPr lang="en-US" dirty="0"/>
              <a:t> &lt;&lt; "State: " &lt;&lt; </a:t>
            </a:r>
            <a:r>
              <a:rPr lang="en-US" dirty="0" err="1"/>
              <a:t>addr</a:t>
            </a:r>
            <a:r>
              <a:rPr lang="en-US" dirty="0"/>
              <a:t>-&gt;state &lt;&lt; </a:t>
            </a:r>
            <a:r>
              <a:rPr lang="en-US" dirty="0" err="1"/>
              <a:t>endl</a:t>
            </a:r>
            <a:r>
              <a:rPr lang="en-US" dirty="0"/>
              <a:t>;</a:t>
            </a:r>
          </a:p>
          <a:p>
            <a:r>
              <a:rPr lang="en-US" dirty="0"/>
              <a:t>    }</a:t>
            </a:r>
          </a:p>
          <a:p>
            <a:r>
              <a:rPr lang="en-US" dirty="0"/>
              <a:t>};</a:t>
            </a:r>
          </a:p>
          <a:p>
            <a:endParaRPr lang="en-US" dirty="0"/>
          </a:p>
          <a:p>
            <a:r>
              <a:rPr lang="en-US" dirty="0"/>
              <a:t>int main() {</a:t>
            </a:r>
          </a:p>
          <a:p>
            <a:r>
              <a:rPr lang="en-US" dirty="0"/>
              <a:t>    Address a("Kanpur", "UP");        // Address exists independently</a:t>
            </a:r>
          </a:p>
          <a:p>
            <a:r>
              <a:rPr lang="en-US" dirty="0"/>
              <a:t>    Student s("</a:t>
            </a:r>
            <a:r>
              <a:rPr lang="en-US" dirty="0" err="1"/>
              <a:t>Kaartik</a:t>
            </a:r>
            <a:r>
              <a:rPr lang="en-US" dirty="0"/>
              <a:t>", 21, &amp;a);     // Aggregation</a:t>
            </a:r>
          </a:p>
          <a:p>
            <a:endParaRPr lang="en-US" dirty="0"/>
          </a:p>
          <a:p>
            <a:r>
              <a:rPr lang="en-US" dirty="0"/>
              <a:t>    </a:t>
            </a:r>
            <a:r>
              <a:rPr lang="en-US" dirty="0" err="1"/>
              <a:t>s.display</a:t>
            </a:r>
            <a:r>
              <a:rPr lang="en-US" dirty="0"/>
              <a:t>();</a:t>
            </a:r>
          </a:p>
          <a:p>
            <a:r>
              <a:rPr lang="en-US" dirty="0"/>
              <a:t>}</a:t>
            </a:r>
          </a:p>
        </p:txBody>
      </p:sp>
    </p:spTree>
    <p:extLst>
      <p:ext uri="{BB962C8B-B14F-4D97-AF65-F5344CB8AC3E}">
        <p14:creationId xmlns:p14="http://schemas.microsoft.com/office/powerpoint/2010/main" val="14774963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74A6E6-4B0D-3879-D5F3-66A560CA5174}"/>
              </a:ext>
            </a:extLst>
          </p:cNvPr>
          <p:cNvSpPr txBox="1"/>
          <p:nvPr/>
        </p:nvSpPr>
        <p:spPr>
          <a:xfrm>
            <a:off x="127819" y="134713"/>
            <a:ext cx="11946194" cy="2739211"/>
          </a:xfrm>
          <a:prstGeom prst="rect">
            <a:avLst/>
          </a:prstGeom>
          <a:noFill/>
        </p:spPr>
        <p:txBody>
          <a:bodyPr wrap="square">
            <a:spAutoFit/>
          </a:bodyPr>
          <a:lstStyle/>
          <a:p>
            <a:pPr>
              <a:buNone/>
            </a:pPr>
            <a:r>
              <a:rPr lang="en-US" sz="3200" b="1" dirty="0"/>
              <a:t>Composition</a:t>
            </a:r>
          </a:p>
          <a:p>
            <a:pPr>
              <a:buNone/>
            </a:pPr>
            <a:r>
              <a:rPr lang="en-US" sz="2800" b="1" dirty="0"/>
              <a:t>Composition</a:t>
            </a:r>
            <a:r>
              <a:rPr lang="en-US" sz="2800" dirty="0"/>
              <a:t> is a strong form of association between two classes.</a:t>
            </a:r>
            <a:br>
              <a:rPr lang="en-US" sz="2800" dirty="0"/>
            </a:br>
            <a:r>
              <a:rPr lang="en-US" sz="2800" dirty="0"/>
              <a:t>It represents a </a:t>
            </a:r>
            <a:r>
              <a:rPr lang="en-US" sz="2800" b="1" dirty="0"/>
              <a:t>PART–OF</a:t>
            </a:r>
            <a:r>
              <a:rPr lang="en-US" sz="2800" dirty="0"/>
              <a:t> relationship.</a:t>
            </a:r>
          </a:p>
          <a:p>
            <a:pPr>
              <a:buNone/>
            </a:pPr>
            <a:r>
              <a:rPr lang="en-US" sz="2800" dirty="0"/>
              <a:t>If class A contains class B,</a:t>
            </a:r>
            <a:br>
              <a:rPr lang="en-US" sz="2800" dirty="0"/>
            </a:br>
            <a:r>
              <a:rPr lang="en-US" sz="2800" dirty="0"/>
              <a:t>and </a:t>
            </a:r>
            <a:r>
              <a:rPr lang="en-US" sz="2800" b="1" dirty="0"/>
              <a:t>B cannot exist without A</a:t>
            </a:r>
            <a:r>
              <a:rPr lang="en-US" sz="2800" dirty="0"/>
              <a:t>,</a:t>
            </a:r>
            <a:br>
              <a:rPr lang="en-US" sz="2800" dirty="0"/>
            </a:br>
            <a:r>
              <a:rPr lang="en-US" sz="2800" dirty="0"/>
              <a:t>then the relationship is </a:t>
            </a:r>
            <a:r>
              <a:rPr lang="en-US" sz="2800" b="1" dirty="0"/>
              <a:t>composition</a:t>
            </a:r>
            <a:r>
              <a:rPr lang="en-US" sz="2800" dirty="0"/>
              <a:t>.</a:t>
            </a:r>
          </a:p>
        </p:txBody>
      </p:sp>
      <p:sp>
        <p:nvSpPr>
          <p:cNvPr id="7" name="TextBox 6">
            <a:extLst>
              <a:ext uri="{FF2B5EF4-FFF2-40B4-BE49-F238E27FC236}">
                <a16:creationId xmlns:a16="http://schemas.microsoft.com/office/drawing/2014/main" id="{7FF39345-1C2F-30D6-6D4D-A0D5FE8694BC}"/>
              </a:ext>
            </a:extLst>
          </p:cNvPr>
          <p:cNvSpPr txBox="1"/>
          <p:nvPr/>
        </p:nvSpPr>
        <p:spPr>
          <a:xfrm>
            <a:off x="0" y="3318570"/>
            <a:ext cx="12005187" cy="3539430"/>
          </a:xfrm>
          <a:prstGeom prst="rect">
            <a:avLst/>
          </a:prstGeom>
          <a:noFill/>
        </p:spPr>
        <p:txBody>
          <a:bodyPr wrap="square">
            <a:spAutoFit/>
          </a:bodyPr>
          <a:lstStyle/>
          <a:p>
            <a:r>
              <a:rPr lang="en-US" sz="2800" b="1" dirty="0"/>
              <a:t>Composition</a:t>
            </a:r>
            <a:r>
              <a:rPr lang="en-US" sz="2800" dirty="0"/>
              <a:t> is a strong association where one class contains another class as a part.</a:t>
            </a:r>
            <a:br>
              <a:rPr lang="en-US" sz="2800" dirty="0"/>
            </a:br>
            <a:r>
              <a:rPr lang="en-US" sz="2800" dirty="0"/>
              <a:t>It represents a </a:t>
            </a:r>
            <a:r>
              <a:rPr lang="en-US" sz="2800" b="1" dirty="0"/>
              <a:t>PART–OF</a:t>
            </a:r>
            <a:r>
              <a:rPr lang="en-US" sz="2800" dirty="0"/>
              <a:t> relationship.</a:t>
            </a:r>
            <a:br>
              <a:rPr lang="en-US" sz="2800" dirty="0"/>
            </a:br>
            <a:r>
              <a:rPr lang="en-US" sz="2800" dirty="0"/>
              <a:t>In composition, the lifetime of the contained object depends on the containing object.</a:t>
            </a:r>
            <a:br>
              <a:rPr lang="en-US" sz="2800" dirty="0"/>
            </a:br>
            <a:r>
              <a:rPr lang="en-US" sz="2800" dirty="0"/>
              <a:t>If the main object is destroyed, the contained object is also destroyed automatically.</a:t>
            </a:r>
            <a:br>
              <a:rPr lang="en-US" sz="2800" dirty="0"/>
            </a:br>
            <a:r>
              <a:rPr lang="en-US" sz="2800" dirty="0"/>
              <a:t>Example: Car–Engine, Human–Heart, House–Room.</a:t>
            </a:r>
            <a:endParaRPr lang="en-IN" sz="2800" dirty="0"/>
          </a:p>
        </p:txBody>
      </p:sp>
    </p:spTree>
    <p:extLst>
      <p:ext uri="{BB962C8B-B14F-4D97-AF65-F5344CB8AC3E}">
        <p14:creationId xmlns:p14="http://schemas.microsoft.com/office/powerpoint/2010/main" val="404889415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816E03-250E-E860-DB3F-7B960FD932AC}"/>
              </a:ext>
            </a:extLst>
          </p:cNvPr>
          <p:cNvSpPr txBox="1"/>
          <p:nvPr/>
        </p:nvSpPr>
        <p:spPr>
          <a:xfrm>
            <a:off x="142568" y="90945"/>
            <a:ext cx="11906864" cy="2677656"/>
          </a:xfrm>
          <a:prstGeom prst="rect">
            <a:avLst/>
          </a:prstGeom>
          <a:noFill/>
        </p:spPr>
        <p:txBody>
          <a:bodyPr wrap="square">
            <a:spAutoFit/>
          </a:bodyPr>
          <a:lstStyle/>
          <a:p>
            <a:pPr>
              <a:buNone/>
            </a:pPr>
            <a:r>
              <a:rPr lang="en-US" sz="2400" b="1" dirty="0"/>
              <a:t>Simple Real-Life Examples</a:t>
            </a:r>
          </a:p>
          <a:p>
            <a:pPr>
              <a:buFont typeface="Arial" panose="020B0604020202020204" pitchFamily="34" charset="0"/>
              <a:buChar char="•"/>
            </a:pPr>
            <a:r>
              <a:rPr lang="en-US" sz="2400" b="1" dirty="0"/>
              <a:t>Car PART–OF Engine</a:t>
            </a:r>
            <a:br>
              <a:rPr lang="en-US" sz="2400" dirty="0"/>
            </a:br>
            <a:r>
              <a:rPr lang="en-US" sz="2400" dirty="0"/>
              <a:t>(Engine cannot exist independently without the car)</a:t>
            </a:r>
          </a:p>
          <a:p>
            <a:pPr>
              <a:buFont typeface="Arial" panose="020B0604020202020204" pitchFamily="34" charset="0"/>
              <a:buChar char="•"/>
            </a:pPr>
            <a:r>
              <a:rPr lang="en-US" sz="2400" b="1" dirty="0"/>
              <a:t>Human PART–OF Heart</a:t>
            </a:r>
            <a:br>
              <a:rPr lang="en-US" sz="2400" dirty="0"/>
            </a:br>
            <a:r>
              <a:rPr lang="en-US" sz="2400" dirty="0"/>
              <a:t>(Heart exists only as long as the human exists)</a:t>
            </a:r>
          </a:p>
          <a:p>
            <a:pPr>
              <a:buFont typeface="Arial" panose="020B0604020202020204" pitchFamily="34" charset="0"/>
              <a:buChar char="•"/>
            </a:pPr>
            <a:r>
              <a:rPr lang="en-US" sz="2400" b="1" dirty="0"/>
              <a:t>House PART–OF Room</a:t>
            </a:r>
            <a:endParaRPr lang="en-US" sz="2400" dirty="0"/>
          </a:p>
          <a:p>
            <a:pPr>
              <a:buNone/>
            </a:pPr>
            <a:r>
              <a:rPr lang="en-US" sz="2400" dirty="0"/>
              <a:t>In all these relationships, the “part” object cannot live on its own.</a:t>
            </a:r>
          </a:p>
        </p:txBody>
      </p:sp>
      <p:sp>
        <p:nvSpPr>
          <p:cNvPr id="6" name="TextBox 5">
            <a:extLst>
              <a:ext uri="{FF2B5EF4-FFF2-40B4-BE49-F238E27FC236}">
                <a16:creationId xmlns:a16="http://schemas.microsoft.com/office/drawing/2014/main" id="{952D3A14-55F0-78A2-56A0-72867B679CB0}"/>
              </a:ext>
            </a:extLst>
          </p:cNvPr>
          <p:cNvSpPr txBox="1"/>
          <p:nvPr/>
        </p:nvSpPr>
        <p:spPr>
          <a:xfrm>
            <a:off x="3215149" y="2637191"/>
            <a:ext cx="5476568" cy="523220"/>
          </a:xfrm>
          <a:prstGeom prst="rect">
            <a:avLst/>
          </a:prstGeom>
          <a:noFill/>
        </p:spPr>
        <p:txBody>
          <a:bodyPr wrap="square">
            <a:spAutoFit/>
          </a:bodyPr>
          <a:lstStyle/>
          <a:p>
            <a:r>
              <a:rPr lang="en-IN" sz="2800" b="1" dirty="0"/>
              <a:t>Key Features of Composition</a:t>
            </a:r>
          </a:p>
        </p:txBody>
      </p:sp>
      <p:graphicFrame>
        <p:nvGraphicFramePr>
          <p:cNvPr id="7" name="Table 6">
            <a:extLst>
              <a:ext uri="{FF2B5EF4-FFF2-40B4-BE49-F238E27FC236}">
                <a16:creationId xmlns:a16="http://schemas.microsoft.com/office/drawing/2014/main" id="{33C86F58-0694-F965-B307-863BE531EE28}"/>
              </a:ext>
            </a:extLst>
          </p:cNvPr>
          <p:cNvGraphicFramePr>
            <a:graphicFrameLocks noGrp="1"/>
          </p:cNvGraphicFramePr>
          <p:nvPr>
            <p:extLst>
              <p:ext uri="{D42A27DB-BD31-4B8C-83A1-F6EECF244321}">
                <p14:modId xmlns:p14="http://schemas.microsoft.com/office/powerpoint/2010/main" val="2250948182"/>
              </p:ext>
            </p:extLst>
          </p:nvPr>
        </p:nvGraphicFramePr>
        <p:xfrm>
          <a:off x="127818" y="3160411"/>
          <a:ext cx="11921613" cy="3525522"/>
        </p:xfrm>
        <a:graphic>
          <a:graphicData uri="http://schemas.openxmlformats.org/drawingml/2006/table">
            <a:tbl>
              <a:tblPr/>
              <a:tblGrid>
                <a:gridCol w="4074221">
                  <a:extLst>
                    <a:ext uri="{9D8B030D-6E8A-4147-A177-3AD203B41FA5}">
                      <a16:colId xmlns:a16="http://schemas.microsoft.com/office/drawing/2014/main" val="1094930239"/>
                    </a:ext>
                  </a:extLst>
                </a:gridCol>
                <a:gridCol w="7847392">
                  <a:extLst>
                    <a:ext uri="{9D8B030D-6E8A-4147-A177-3AD203B41FA5}">
                      <a16:colId xmlns:a16="http://schemas.microsoft.com/office/drawing/2014/main" val="1579141061"/>
                    </a:ext>
                  </a:extLst>
                </a:gridCol>
              </a:tblGrid>
              <a:tr h="587587">
                <a:tc>
                  <a:txBody>
                    <a:bodyPr/>
                    <a:lstStyle/>
                    <a:p>
                      <a:pPr>
                        <a:buNone/>
                      </a:pPr>
                      <a:r>
                        <a:rPr lang="en-IN" sz="2000" b="1" dirty="0"/>
                        <a:t>Feature</a:t>
                      </a:r>
                    </a:p>
                  </a:txBody>
                  <a:tcPr anchor="ctr">
                    <a:lnL>
                      <a:noFill/>
                    </a:lnL>
                    <a:lnR>
                      <a:noFill/>
                    </a:lnR>
                    <a:lnT>
                      <a:noFill/>
                    </a:lnT>
                    <a:lnB>
                      <a:noFill/>
                    </a:lnB>
                    <a:noFill/>
                  </a:tcPr>
                </a:tc>
                <a:tc>
                  <a:txBody>
                    <a:bodyPr/>
                    <a:lstStyle/>
                    <a:p>
                      <a:pPr>
                        <a:buNone/>
                      </a:pPr>
                      <a:r>
                        <a:rPr lang="en-IN" sz="2000" b="1" dirty="0"/>
                        <a:t>Meaning</a:t>
                      </a:r>
                    </a:p>
                  </a:txBody>
                  <a:tcPr anchor="ctr">
                    <a:lnL>
                      <a:noFill/>
                    </a:lnL>
                    <a:lnR>
                      <a:noFill/>
                    </a:lnR>
                    <a:lnT>
                      <a:noFill/>
                    </a:lnT>
                    <a:lnB>
                      <a:noFill/>
                    </a:lnB>
                    <a:noFill/>
                  </a:tcPr>
                </a:tc>
                <a:extLst>
                  <a:ext uri="{0D108BD9-81ED-4DB2-BD59-A6C34878D82A}">
                    <a16:rowId xmlns:a16="http://schemas.microsoft.com/office/drawing/2014/main" val="2829604045"/>
                  </a:ext>
                </a:extLst>
              </a:tr>
              <a:tr h="587587">
                <a:tc>
                  <a:txBody>
                    <a:bodyPr/>
                    <a:lstStyle/>
                    <a:p>
                      <a:pPr>
                        <a:buNone/>
                      </a:pPr>
                      <a:r>
                        <a:rPr lang="en-IN" sz="2000" dirty="0"/>
                        <a:t>Type of relation</a:t>
                      </a:r>
                    </a:p>
                  </a:txBody>
                  <a:tcPr anchor="ctr">
                    <a:lnL>
                      <a:noFill/>
                    </a:lnL>
                    <a:lnR>
                      <a:noFill/>
                    </a:lnR>
                    <a:lnT>
                      <a:noFill/>
                    </a:lnT>
                    <a:lnB>
                      <a:noFill/>
                    </a:lnB>
                    <a:noFill/>
                  </a:tcPr>
                </a:tc>
                <a:tc>
                  <a:txBody>
                    <a:bodyPr/>
                    <a:lstStyle/>
                    <a:p>
                      <a:pPr>
                        <a:buNone/>
                      </a:pPr>
                      <a:r>
                        <a:rPr lang="en-IN" sz="2000" b="1"/>
                        <a:t>PART–OF</a:t>
                      </a:r>
                      <a:endParaRPr lang="en-IN" sz="2000"/>
                    </a:p>
                  </a:txBody>
                  <a:tcPr anchor="ctr">
                    <a:lnL>
                      <a:noFill/>
                    </a:lnL>
                    <a:lnR>
                      <a:noFill/>
                    </a:lnR>
                    <a:lnT>
                      <a:noFill/>
                    </a:lnT>
                    <a:lnB>
                      <a:noFill/>
                    </a:lnB>
                    <a:noFill/>
                  </a:tcPr>
                </a:tc>
                <a:extLst>
                  <a:ext uri="{0D108BD9-81ED-4DB2-BD59-A6C34878D82A}">
                    <a16:rowId xmlns:a16="http://schemas.microsoft.com/office/drawing/2014/main" val="2237794631"/>
                  </a:ext>
                </a:extLst>
              </a:tr>
              <a:tr h="587587">
                <a:tc>
                  <a:txBody>
                    <a:bodyPr/>
                    <a:lstStyle/>
                    <a:p>
                      <a:pPr>
                        <a:buNone/>
                      </a:pPr>
                      <a:r>
                        <a:rPr lang="en-IN" sz="2000" dirty="0"/>
                        <a:t>Ownership</a:t>
                      </a:r>
                    </a:p>
                  </a:txBody>
                  <a:tcPr anchor="ctr">
                    <a:lnL>
                      <a:noFill/>
                    </a:lnL>
                    <a:lnR>
                      <a:noFill/>
                    </a:lnR>
                    <a:lnT>
                      <a:noFill/>
                    </a:lnT>
                    <a:lnB>
                      <a:noFill/>
                    </a:lnB>
                    <a:noFill/>
                  </a:tcPr>
                </a:tc>
                <a:tc>
                  <a:txBody>
                    <a:bodyPr/>
                    <a:lstStyle/>
                    <a:p>
                      <a:pPr>
                        <a:buNone/>
                      </a:pPr>
                      <a:r>
                        <a:rPr lang="en-US" sz="2000" b="1"/>
                        <a:t>Strong ownership</a:t>
                      </a:r>
                      <a:r>
                        <a:rPr lang="en-US" sz="2000"/>
                        <a:t> (container </a:t>
                      </a:r>
                      <a:r>
                        <a:rPr lang="en-US" sz="2000" i="1"/>
                        <a:t>owns</a:t>
                      </a:r>
                      <a:r>
                        <a:rPr lang="en-US" sz="2000"/>
                        <a:t> the part)</a:t>
                      </a:r>
                    </a:p>
                  </a:txBody>
                  <a:tcPr anchor="ctr">
                    <a:lnL>
                      <a:noFill/>
                    </a:lnL>
                    <a:lnR>
                      <a:noFill/>
                    </a:lnR>
                    <a:lnT>
                      <a:noFill/>
                    </a:lnT>
                    <a:lnB>
                      <a:noFill/>
                    </a:lnB>
                    <a:noFill/>
                  </a:tcPr>
                </a:tc>
                <a:extLst>
                  <a:ext uri="{0D108BD9-81ED-4DB2-BD59-A6C34878D82A}">
                    <a16:rowId xmlns:a16="http://schemas.microsoft.com/office/drawing/2014/main" val="2467094057"/>
                  </a:ext>
                </a:extLst>
              </a:tr>
              <a:tr h="587587">
                <a:tc>
                  <a:txBody>
                    <a:bodyPr/>
                    <a:lstStyle/>
                    <a:p>
                      <a:pPr>
                        <a:buNone/>
                      </a:pPr>
                      <a:r>
                        <a:rPr lang="en-IN" sz="2000" dirty="0"/>
                        <a:t>Lifetime</a:t>
                      </a:r>
                    </a:p>
                  </a:txBody>
                  <a:tcPr anchor="ctr">
                    <a:lnL>
                      <a:noFill/>
                    </a:lnL>
                    <a:lnR>
                      <a:noFill/>
                    </a:lnR>
                    <a:lnT>
                      <a:noFill/>
                    </a:lnT>
                    <a:lnB>
                      <a:noFill/>
                    </a:lnB>
                    <a:noFill/>
                  </a:tcPr>
                </a:tc>
                <a:tc>
                  <a:txBody>
                    <a:bodyPr/>
                    <a:lstStyle/>
                    <a:p>
                      <a:pPr>
                        <a:buNone/>
                      </a:pPr>
                      <a:r>
                        <a:rPr lang="en-US" sz="2000" b="1"/>
                        <a:t>Dependent</a:t>
                      </a:r>
                      <a:r>
                        <a:rPr lang="en-US" sz="2000"/>
                        <a:t> (child depends on parent)</a:t>
                      </a:r>
                    </a:p>
                  </a:txBody>
                  <a:tcPr anchor="ctr">
                    <a:lnL>
                      <a:noFill/>
                    </a:lnL>
                    <a:lnR>
                      <a:noFill/>
                    </a:lnR>
                    <a:lnT>
                      <a:noFill/>
                    </a:lnT>
                    <a:lnB>
                      <a:noFill/>
                    </a:lnB>
                    <a:noFill/>
                  </a:tcPr>
                </a:tc>
                <a:extLst>
                  <a:ext uri="{0D108BD9-81ED-4DB2-BD59-A6C34878D82A}">
                    <a16:rowId xmlns:a16="http://schemas.microsoft.com/office/drawing/2014/main" val="886673427"/>
                  </a:ext>
                </a:extLst>
              </a:tr>
              <a:tr h="587587">
                <a:tc>
                  <a:txBody>
                    <a:bodyPr/>
                    <a:lstStyle/>
                    <a:p>
                      <a:pPr>
                        <a:buNone/>
                      </a:pPr>
                      <a:r>
                        <a:rPr lang="en-IN" sz="2000"/>
                        <a:t>If container is deleted</a:t>
                      </a:r>
                    </a:p>
                  </a:txBody>
                  <a:tcPr anchor="ctr">
                    <a:lnL>
                      <a:noFill/>
                    </a:lnL>
                    <a:lnR>
                      <a:noFill/>
                    </a:lnR>
                    <a:lnT>
                      <a:noFill/>
                    </a:lnT>
                    <a:lnB>
                      <a:noFill/>
                    </a:lnB>
                    <a:noFill/>
                  </a:tcPr>
                </a:tc>
                <a:tc>
                  <a:txBody>
                    <a:bodyPr/>
                    <a:lstStyle/>
                    <a:p>
                      <a:pPr>
                        <a:buNone/>
                      </a:pPr>
                      <a:r>
                        <a:rPr lang="en-IN" sz="2000"/>
                        <a:t>Contained object also deleted</a:t>
                      </a:r>
                    </a:p>
                  </a:txBody>
                  <a:tcPr anchor="ctr">
                    <a:lnL>
                      <a:noFill/>
                    </a:lnL>
                    <a:lnR>
                      <a:noFill/>
                    </a:lnR>
                    <a:lnT>
                      <a:noFill/>
                    </a:lnT>
                    <a:lnB>
                      <a:noFill/>
                    </a:lnB>
                    <a:noFill/>
                  </a:tcPr>
                </a:tc>
                <a:extLst>
                  <a:ext uri="{0D108BD9-81ED-4DB2-BD59-A6C34878D82A}">
                    <a16:rowId xmlns:a16="http://schemas.microsoft.com/office/drawing/2014/main" val="3441527161"/>
                  </a:ext>
                </a:extLst>
              </a:tr>
              <a:tr h="587587">
                <a:tc>
                  <a:txBody>
                    <a:bodyPr/>
                    <a:lstStyle/>
                    <a:p>
                      <a:pPr>
                        <a:buNone/>
                      </a:pPr>
                      <a:r>
                        <a:rPr lang="en-IN" sz="2000" dirty="0"/>
                        <a:t>Code style</a:t>
                      </a:r>
                    </a:p>
                  </a:txBody>
                  <a:tcPr anchor="ctr">
                    <a:lnL>
                      <a:noFill/>
                    </a:lnL>
                    <a:lnR>
                      <a:noFill/>
                    </a:lnR>
                    <a:lnT>
                      <a:noFill/>
                    </a:lnT>
                    <a:lnB>
                      <a:noFill/>
                    </a:lnB>
                    <a:noFill/>
                  </a:tcPr>
                </a:tc>
                <a:tc>
                  <a:txBody>
                    <a:bodyPr/>
                    <a:lstStyle/>
                    <a:p>
                      <a:pPr>
                        <a:buNone/>
                      </a:pPr>
                      <a:r>
                        <a:rPr lang="en-US" sz="2000" dirty="0"/>
                        <a:t>Object is created </a:t>
                      </a:r>
                      <a:r>
                        <a:rPr lang="en-US" sz="2000" b="1" dirty="0"/>
                        <a:t>inside</a:t>
                      </a:r>
                      <a:r>
                        <a:rPr lang="en-US" sz="2000" dirty="0"/>
                        <a:t> the class, not outside</a:t>
                      </a:r>
                    </a:p>
                  </a:txBody>
                  <a:tcPr anchor="ctr">
                    <a:lnL>
                      <a:noFill/>
                    </a:lnL>
                    <a:lnR>
                      <a:noFill/>
                    </a:lnR>
                    <a:lnT>
                      <a:noFill/>
                    </a:lnT>
                    <a:lnB>
                      <a:noFill/>
                    </a:lnB>
                    <a:noFill/>
                  </a:tcPr>
                </a:tc>
                <a:extLst>
                  <a:ext uri="{0D108BD9-81ED-4DB2-BD59-A6C34878D82A}">
                    <a16:rowId xmlns:a16="http://schemas.microsoft.com/office/drawing/2014/main" val="1361913665"/>
                  </a:ext>
                </a:extLst>
              </a:tr>
            </a:tbl>
          </a:graphicData>
        </a:graphic>
      </p:graphicFrame>
    </p:spTree>
    <p:extLst>
      <p:ext uri="{BB962C8B-B14F-4D97-AF65-F5344CB8AC3E}">
        <p14:creationId xmlns:p14="http://schemas.microsoft.com/office/powerpoint/2010/main" val="337198581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48E033A-9623-DFB5-18EE-01DCBCCB14C9}"/>
              </a:ext>
            </a:extLst>
          </p:cNvPr>
          <p:cNvSpPr txBox="1"/>
          <p:nvPr/>
        </p:nvSpPr>
        <p:spPr>
          <a:xfrm>
            <a:off x="68827" y="540774"/>
            <a:ext cx="11956026" cy="6233652"/>
          </a:xfrm>
          <a:prstGeom prst="rect">
            <a:avLst/>
          </a:prstGeom>
          <a:noFill/>
        </p:spPr>
        <p:txBody>
          <a:bodyPr wrap="square" numCol="2">
            <a:spAutoFit/>
          </a:bodyPr>
          <a:lstStyle/>
          <a:p>
            <a:r>
              <a:rPr lang="en-IN" sz="2000" dirty="0"/>
              <a:t>#include &lt;iostream&gt;</a:t>
            </a:r>
          </a:p>
          <a:p>
            <a:r>
              <a:rPr lang="en-IN" sz="2000" dirty="0"/>
              <a:t>using namespace std;</a:t>
            </a:r>
          </a:p>
          <a:p>
            <a:endParaRPr lang="en-IN" sz="2000" dirty="0"/>
          </a:p>
          <a:p>
            <a:r>
              <a:rPr lang="en-IN" sz="2000" dirty="0"/>
              <a:t>class Engine {</a:t>
            </a:r>
          </a:p>
          <a:p>
            <a:r>
              <a:rPr lang="en-IN" sz="2000" dirty="0"/>
              <a:t>public:</a:t>
            </a:r>
          </a:p>
          <a:p>
            <a:r>
              <a:rPr lang="en-IN" sz="2000" dirty="0"/>
              <a:t>    Engine() {</a:t>
            </a:r>
          </a:p>
          <a:p>
            <a:r>
              <a:rPr lang="en-IN" sz="2000" dirty="0"/>
              <a:t>        </a:t>
            </a:r>
            <a:r>
              <a:rPr lang="en-IN" sz="2000" dirty="0" err="1"/>
              <a:t>cout</a:t>
            </a:r>
            <a:r>
              <a:rPr lang="en-IN" sz="2000" dirty="0"/>
              <a:t> &lt;&lt; "Engine created\n";</a:t>
            </a:r>
          </a:p>
          <a:p>
            <a:r>
              <a:rPr lang="en-IN" sz="2000" dirty="0"/>
              <a:t>    }</a:t>
            </a:r>
          </a:p>
          <a:p>
            <a:r>
              <a:rPr lang="en-IN" sz="2000" dirty="0"/>
              <a:t>    ~Engine() {</a:t>
            </a:r>
          </a:p>
          <a:p>
            <a:r>
              <a:rPr lang="en-IN" sz="2000" dirty="0"/>
              <a:t>        </a:t>
            </a:r>
            <a:r>
              <a:rPr lang="en-IN" sz="2000" dirty="0" err="1"/>
              <a:t>cout</a:t>
            </a:r>
            <a:r>
              <a:rPr lang="en-IN" sz="2000" dirty="0"/>
              <a:t> &lt;&lt; "Engine destroyed\n";</a:t>
            </a:r>
          </a:p>
          <a:p>
            <a:r>
              <a:rPr lang="en-IN" sz="2000" dirty="0"/>
              <a:t>    }</a:t>
            </a:r>
          </a:p>
          <a:p>
            <a:r>
              <a:rPr lang="en-IN" sz="2000" dirty="0"/>
              <a:t>};</a:t>
            </a:r>
          </a:p>
          <a:p>
            <a:endParaRPr lang="en-IN" sz="2000" dirty="0"/>
          </a:p>
          <a:p>
            <a:r>
              <a:rPr lang="en-IN" sz="2000" dirty="0"/>
              <a:t>class Car {</a:t>
            </a:r>
          </a:p>
          <a:p>
            <a:r>
              <a:rPr lang="en-IN" sz="2000" dirty="0"/>
              <a:t>private:</a:t>
            </a:r>
          </a:p>
          <a:p>
            <a:r>
              <a:rPr lang="en-IN" sz="2000" dirty="0"/>
              <a:t>    Engine </a:t>
            </a:r>
            <a:r>
              <a:rPr lang="en-IN" sz="2000" dirty="0" err="1"/>
              <a:t>eng</a:t>
            </a:r>
            <a:r>
              <a:rPr lang="en-IN" sz="2000" dirty="0"/>
              <a:t>;   // Composition: Engine is part of Car</a:t>
            </a:r>
          </a:p>
          <a:p>
            <a:r>
              <a:rPr lang="en-IN" sz="2000" dirty="0"/>
              <a:t>public:</a:t>
            </a:r>
          </a:p>
          <a:p>
            <a:r>
              <a:rPr lang="en-IN" sz="2000" dirty="0"/>
              <a:t>    Car() {</a:t>
            </a:r>
          </a:p>
          <a:p>
            <a:r>
              <a:rPr lang="en-IN" sz="2000" dirty="0"/>
              <a:t>        </a:t>
            </a:r>
            <a:r>
              <a:rPr lang="en-IN" sz="2000" dirty="0" err="1"/>
              <a:t>cout</a:t>
            </a:r>
            <a:r>
              <a:rPr lang="en-IN" sz="2000" dirty="0"/>
              <a:t> &lt;&lt; "Car created\n";</a:t>
            </a:r>
          </a:p>
          <a:p>
            <a:r>
              <a:rPr lang="en-IN" sz="2000" dirty="0"/>
              <a:t>    }</a:t>
            </a:r>
          </a:p>
          <a:p>
            <a:r>
              <a:rPr lang="en-IN" sz="2000" dirty="0"/>
              <a:t>    ~Car() {</a:t>
            </a:r>
          </a:p>
          <a:p>
            <a:r>
              <a:rPr lang="en-IN" sz="2000" dirty="0"/>
              <a:t>        </a:t>
            </a:r>
            <a:r>
              <a:rPr lang="en-IN" sz="2000" dirty="0" err="1"/>
              <a:t>cout</a:t>
            </a:r>
            <a:r>
              <a:rPr lang="en-IN" sz="2000" dirty="0"/>
              <a:t> &lt;&lt; "Car destroyed\n";</a:t>
            </a:r>
          </a:p>
          <a:p>
            <a:r>
              <a:rPr lang="en-IN" sz="2000" dirty="0"/>
              <a:t>    }</a:t>
            </a:r>
          </a:p>
          <a:p>
            <a:r>
              <a:rPr lang="en-IN" sz="2000" dirty="0"/>
              <a:t>};</a:t>
            </a:r>
          </a:p>
          <a:p>
            <a:endParaRPr lang="en-IN" sz="2000" dirty="0"/>
          </a:p>
          <a:p>
            <a:r>
              <a:rPr lang="en-IN" sz="2000" dirty="0"/>
              <a:t>int main() {</a:t>
            </a:r>
          </a:p>
          <a:p>
            <a:r>
              <a:rPr lang="en-IN" sz="2000" dirty="0"/>
              <a:t>    Car c;   // Car object created</a:t>
            </a:r>
          </a:p>
          <a:p>
            <a:r>
              <a:rPr lang="en-IN" sz="2000" dirty="0"/>
              <a:t>}            // Car goes out of scope → Engine also destroyed</a:t>
            </a:r>
          </a:p>
        </p:txBody>
      </p:sp>
      <p:sp>
        <p:nvSpPr>
          <p:cNvPr id="5" name="TextBox 4">
            <a:extLst>
              <a:ext uri="{FF2B5EF4-FFF2-40B4-BE49-F238E27FC236}">
                <a16:creationId xmlns:a16="http://schemas.microsoft.com/office/drawing/2014/main" id="{A5E651D4-B417-72D3-887F-6CEC7FF5019D}"/>
              </a:ext>
            </a:extLst>
          </p:cNvPr>
          <p:cNvSpPr txBox="1"/>
          <p:nvPr/>
        </p:nvSpPr>
        <p:spPr>
          <a:xfrm>
            <a:off x="68827" y="0"/>
            <a:ext cx="10146890" cy="523220"/>
          </a:xfrm>
          <a:prstGeom prst="rect">
            <a:avLst/>
          </a:prstGeom>
          <a:noFill/>
        </p:spPr>
        <p:txBody>
          <a:bodyPr wrap="square">
            <a:spAutoFit/>
          </a:bodyPr>
          <a:lstStyle/>
          <a:p>
            <a:r>
              <a:rPr lang="en-US" sz="2800" dirty="0"/>
              <a:t>Example 1: Car and Engine (Composition)</a:t>
            </a:r>
            <a:endParaRPr lang="en-IN" sz="2800" dirty="0"/>
          </a:p>
        </p:txBody>
      </p:sp>
    </p:spTree>
    <p:extLst>
      <p:ext uri="{BB962C8B-B14F-4D97-AF65-F5344CB8AC3E}">
        <p14:creationId xmlns:p14="http://schemas.microsoft.com/office/powerpoint/2010/main" val="219179883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C89478-AC40-665B-06BB-D556BE48EF29}"/>
              </a:ext>
            </a:extLst>
          </p:cNvPr>
          <p:cNvSpPr txBox="1"/>
          <p:nvPr/>
        </p:nvSpPr>
        <p:spPr>
          <a:xfrm>
            <a:off x="0" y="88094"/>
            <a:ext cx="11936361" cy="1200329"/>
          </a:xfrm>
          <a:prstGeom prst="rect">
            <a:avLst/>
          </a:prstGeom>
          <a:noFill/>
        </p:spPr>
        <p:txBody>
          <a:bodyPr wrap="square">
            <a:spAutoFit/>
          </a:bodyPr>
          <a:lstStyle/>
          <a:p>
            <a:pPr>
              <a:buNone/>
            </a:pPr>
            <a:r>
              <a:rPr lang="en-US" sz="2400" b="1" dirty="0"/>
              <a:t>Categorization of Polymorphism Techniques in C++</a:t>
            </a:r>
          </a:p>
          <a:p>
            <a:pPr>
              <a:buNone/>
            </a:pPr>
            <a:r>
              <a:rPr lang="en-US" sz="2400" dirty="0"/>
              <a:t>Polymorphism means </a:t>
            </a:r>
            <a:r>
              <a:rPr lang="en-US" sz="2400" b="1" dirty="0"/>
              <a:t>one name, many forms</a:t>
            </a:r>
            <a:r>
              <a:rPr lang="en-US" sz="2400" dirty="0"/>
              <a:t>.</a:t>
            </a:r>
            <a:br>
              <a:rPr lang="en-US" sz="2400" dirty="0"/>
            </a:br>
            <a:r>
              <a:rPr lang="en-US" sz="2400" dirty="0"/>
              <a:t>In C++, polymorphism is mainly categorized into </a:t>
            </a:r>
            <a:r>
              <a:rPr lang="en-US" sz="2400" b="1" dirty="0"/>
              <a:t>two broad types</a:t>
            </a:r>
            <a:r>
              <a:rPr lang="en-US" sz="2400" dirty="0"/>
              <a:t>:</a:t>
            </a:r>
          </a:p>
        </p:txBody>
      </p:sp>
      <p:sp>
        <p:nvSpPr>
          <p:cNvPr id="4" name="TextBox 3">
            <a:extLst>
              <a:ext uri="{FF2B5EF4-FFF2-40B4-BE49-F238E27FC236}">
                <a16:creationId xmlns:a16="http://schemas.microsoft.com/office/drawing/2014/main" id="{068E4A96-2A54-CDC9-0811-5A0372D4A693}"/>
              </a:ext>
            </a:extLst>
          </p:cNvPr>
          <p:cNvSpPr txBox="1"/>
          <p:nvPr/>
        </p:nvSpPr>
        <p:spPr>
          <a:xfrm>
            <a:off x="0" y="1420194"/>
            <a:ext cx="12044516" cy="3416320"/>
          </a:xfrm>
          <a:prstGeom prst="rect">
            <a:avLst/>
          </a:prstGeom>
          <a:noFill/>
        </p:spPr>
        <p:txBody>
          <a:bodyPr wrap="square">
            <a:spAutoFit/>
          </a:bodyPr>
          <a:lstStyle/>
          <a:p>
            <a:pPr>
              <a:buNone/>
            </a:pPr>
            <a:r>
              <a:rPr lang="en-US" sz="2400" b="1" dirty="0"/>
              <a:t>1. Compile-Time Polymorphism (Early Binding / Static Binding)</a:t>
            </a:r>
          </a:p>
          <a:p>
            <a:pPr>
              <a:buNone/>
            </a:pPr>
            <a:r>
              <a:rPr lang="en-US" sz="2400" dirty="0"/>
              <a:t>The function call is resolved </a:t>
            </a:r>
            <a:r>
              <a:rPr lang="en-US" sz="2400" b="1" dirty="0"/>
              <a:t>during compilation</a:t>
            </a:r>
            <a:r>
              <a:rPr lang="en-US" sz="2400" dirty="0"/>
              <a:t>.</a:t>
            </a:r>
          </a:p>
          <a:p>
            <a:pPr>
              <a:buNone/>
            </a:pPr>
            <a:r>
              <a:rPr lang="en-US" sz="2400" b="1" dirty="0"/>
              <a:t>Techniques</a:t>
            </a:r>
          </a:p>
          <a:p>
            <a:pPr>
              <a:buNone/>
            </a:pPr>
            <a:r>
              <a:rPr lang="en-US" sz="2400" b="1" dirty="0"/>
              <a:t>a) Function Overloading</a:t>
            </a:r>
          </a:p>
          <a:p>
            <a:pPr>
              <a:buFont typeface="Arial" panose="020B0604020202020204" pitchFamily="34" charset="0"/>
              <a:buChar char="•"/>
            </a:pPr>
            <a:r>
              <a:rPr lang="en-US" sz="2400" dirty="0"/>
              <a:t>Same function name, different parameter list.</a:t>
            </a:r>
          </a:p>
          <a:p>
            <a:pPr>
              <a:buFont typeface="Arial" panose="020B0604020202020204" pitchFamily="34" charset="0"/>
              <a:buChar char="•"/>
            </a:pPr>
            <a:r>
              <a:rPr lang="en-US" sz="2400" dirty="0"/>
              <a:t>Decided at compile time.</a:t>
            </a:r>
          </a:p>
          <a:p>
            <a:pPr>
              <a:buNone/>
            </a:pPr>
            <a:r>
              <a:rPr lang="en-US" sz="2400" b="1" dirty="0"/>
              <a:t>b) Operator Overloading</a:t>
            </a:r>
          </a:p>
          <a:p>
            <a:pPr>
              <a:buFont typeface="Arial" panose="020B0604020202020204" pitchFamily="34" charset="0"/>
              <a:buChar char="•"/>
            </a:pPr>
            <a:r>
              <a:rPr lang="en-US" sz="2400" dirty="0"/>
              <a:t>Operators behave differently for user-defined types.</a:t>
            </a:r>
          </a:p>
          <a:p>
            <a:pPr>
              <a:buFont typeface="Arial" panose="020B0604020202020204" pitchFamily="34" charset="0"/>
              <a:buChar char="•"/>
            </a:pPr>
            <a:r>
              <a:rPr lang="en-US" sz="2400" dirty="0"/>
              <a:t>Example: </a:t>
            </a:r>
            <a:r>
              <a:rPr lang="en-US" sz="2400" dirty="0">
                <a:latin typeface="Courier New" panose="02070309020205020404" pitchFamily="49" charset="0"/>
              </a:rPr>
              <a:t>+</a:t>
            </a:r>
            <a:r>
              <a:rPr lang="en-US" sz="2400" dirty="0"/>
              <a:t> used for adding two objects.</a:t>
            </a:r>
          </a:p>
        </p:txBody>
      </p:sp>
    </p:spTree>
    <p:extLst>
      <p:ext uri="{BB962C8B-B14F-4D97-AF65-F5344CB8AC3E}">
        <p14:creationId xmlns:p14="http://schemas.microsoft.com/office/powerpoint/2010/main" val="106124011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69AF57-21A1-3343-90B2-5918353938CF}"/>
              </a:ext>
            </a:extLst>
          </p:cNvPr>
          <p:cNvSpPr txBox="1"/>
          <p:nvPr/>
        </p:nvSpPr>
        <p:spPr>
          <a:xfrm>
            <a:off x="68826" y="0"/>
            <a:ext cx="11828206" cy="923330"/>
          </a:xfrm>
          <a:prstGeom prst="rect">
            <a:avLst/>
          </a:prstGeom>
          <a:noFill/>
        </p:spPr>
        <p:txBody>
          <a:bodyPr wrap="square">
            <a:spAutoFit/>
          </a:bodyPr>
          <a:lstStyle/>
          <a:p>
            <a:pPr>
              <a:buNone/>
            </a:pPr>
            <a:r>
              <a:rPr lang="en-US" b="1" dirty="0"/>
              <a:t>A) Function Overloading</a:t>
            </a:r>
          </a:p>
          <a:p>
            <a:pPr>
              <a:buNone/>
            </a:pPr>
            <a:r>
              <a:rPr lang="en-US" b="1" dirty="0"/>
              <a:t>Definition:</a:t>
            </a:r>
            <a:br>
              <a:rPr lang="en-US" dirty="0"/>
            </a:br>
            <a:r>
              <a:rPr lang="en-US" dirty="0"/>
              <a:t>Same function name, different parameters. Compiler decides which function to call.</a:t>
            </a:r>
          </a:p>
        </p:txBody>
      </p:sp>
      <p:sp>
        <p:nvSpPr>
          <p:cNvPr id="5" name="TextBox 4">
            <a:extLst>
              <a:ext uri="{FF2B5EF4-FFF2-40B4-BE49-F238E27FC236}">
                <a16:creationId xmlns:a16="http://schemas.microsoft.com/office/drawing/2014/main" id="{4C311534-1D79-9F70-4112-6F4BEFFD6688}"/>
              </a:ext>
            </a:extLst>
          </p:cNvPr>
          <p:cNvSpPr txBox="1"/>
          <p:nvPr/>
        </p:nvSpPr>
        <p:spPr>
          <a:xfrm>
            <a:off x="265471" y="1004524"/>
            <a:ext cx="11729884" cy="5681412"/>
          </a:xfrm>
          <a:prstGeom prst="rect">
            <a:avLst/>
          </a:prstGeom>
          <a:noFill/>
        </p:spPr>
        <p:txBody>
          <a:bodyPr wrap="square" numCol="2">
            <a:spAutoFit/>
          </a:bodyPr>
          <a:lstStyle/>
          <a:p>
            <a:r>
              <a:rPr lang="en-IN" sz="2400" dirty="0"/>
              <a:t>#include &lt;iostream&gt;</a:t>
            </a:r>
          </a:p>
          <a:p>
            <a:r>
              <a:rPr lang="en-IN" sz="2400" dirty="0"/>
              <a:t>using namespace std;</a:t>
            </a:r>
          </a:p>
          <a:p>
            <a:endParaRPr lang="en-IN" sz="2400" dirty="0"/>
          </a:p>
          <a:p>
            <a:r>
              <a:rPr lang="en-IN" sz="2400" dirty="0"/>
              <a:t>class Math {</a:t>
            </a:r>
          </a:p>
          <a:p>
            <a:r>
              <a:rPr lang="en-IN" sz="2400" dirty="0"/>
              <a:t>public:</a:t>
            </a:r>
          </a:p>
          <a:p>
            <a:r>
              <a:rPr lang="en-IN" sz="2400" dirty="0"/>
              <a:t>    void add(int a, int b) {</a:t>
            </a:r>
          </a:p>
          <a:p>
            <a:r>
              <a:rPr lang="en-IN" sz="2400" dirty="0"/>
              <a:t>        </a:t>
            </a:r>
            <a:r>
              <a:rPr lang="en-IN" sz="2400" dirty="0" err="1"/>
              <a:t>cout</a:t>
            </a:r>
            <a:r>
              <a:rPr lang="en-IN" sz="2400" dirty="0"/>
              <a:t> &lt;&lt; "Sum (int): " &lt;&lt; a + b &lt;&lt; </a:t>
            </a:r>
            <a:r>
              <a:rPr lang="en-IN" sz="2400" dirty="0" err="1"/>
              <a:t>endl</a:t>
            </a:r>
            <a:r>
              <a:rPr lang="en-IN" sz="2400" dirty="0"/>
              <a:t>;</a:t>
            </a:r>
          </a:p>
          <a:p>
            <a:r>
              <a:rPr lang="en-IN" sz="2400" dirty="0"/>
              <a:t>    }</a:t>
            </a:r>
          </a:p>
          <a:p>
            <a:endParaRPr lang="en-IN" sz="2400" dirty="0"/>
          </a:p>
          <a:p>
            <a:r>
              <a:rPr lang="en-IN" sz="2400" dirty="0"/>
              <a:t>    void add(double a, double b) {</a:t>
            </a:r>
          </a:p>
          <a:p>
            <a:r>
              <a:rPr lang="en-IN" sz="2400" dirty="0"/>
              <a:t>        </a:t>
            </a:r>
            <a:r>
              <a:rPr lang="en-IN" sz="2400" dirty="0" err="1"/>
              <a:t>cout</a:t>
            </a:r>
            <a:r>
              <a:rPr lang="en-IN" sz="2400" dirty="0"/>
              <a:t> &lt;&lt; "Sum (double): " &lt;&lt; a + b &lt;&lt; </a:t>
            </a:r>
            <a:r>
              <a:rPr lang="en-IN" sz="2400" dirty="0" err="1"/>
              <a:t>endl</a:t>
            </a:r>
            <a:r>
              <a:rPr lang="en-IN" sz="2400" dirty="0"/>
              <a:t>;</a:t>
            </a:r>
          </a:p>
          <a:p>
            <a:r>
              <a:rPr lang="en-IN" sz="2400" dirty="0"/>
              <a:t>    }</a:t>
            </a:r>
          </a:p>
          <a:p>
            <a:r>
              <a:rPr lang="en-IN" sz="2400" dirty="0"/>
              <a:t>};</a:t>
            </a:r>
          </a:p>
          <a:p>
            <a:endParaRPr lang="en-IN" sz="2400" dirty="0"/>
          </a:p>
          <a:p>
            <a:r>
              <a:rPr lang="en-IN" sz="2400" dirty="0"/>
              <a:t>int main() {</a:t>
            </a:r>
          </a:p>
          <a:p>
            <a:r>
              <a:rPr lang="en-IN" sz="2400" dirty="0"/>
              <a:t>    Math m;</a:t>
            </a:r>
          </a:p>
          <a:p>
            <a:r>
              <a:rPr lang="en-IN" sz="2400" dirty="0"/>
              <a:t>    </a:t>
            </a:r>
            <a:r>
              <a:rPr lang="en-IN" sz="2400" dirty="0" err="1"/>
              <a:t>m.add</a:t>
            </a:r>
            <a:r>
              <a:rPr lang="en-IN" sz="2400" dirty="0"/>
              <a:t>(5, 3);        // calls int version</a:t>
            </a:r>
          </a:p>
          <a:p>
            <a:r>
              <a:rPr lang="en-IN" sz="2400" dirty="0"/>
              <a:t>    </a:t>
            </a:r>
            <a:r>
              <a:rPr lang="en-IN" sz="2400" dirty="0" err="1"/>
              <a:t>m.add</a:t>
            </a:r>
            <a:r>
              <a:rPr lang="en-IN" sz="2400" dirty="0"/>
              <a:t>(2.5, 3.1);    // calls double version</a:t>
            </a:r>
          </a:p>
          <a:p>
            <a:r>
              <a:rPr lang="en-IN" sz="2400" dirty="0"/>
              <a:t>}</a:t>
            </a:r>
          </a:p>
        </p:txBody>
      </p:sp>
    </p:spTree>
    <p:extLst>
      <p:ext uri="{BB962C8B-B14F-4D97-AF65-F5344CB8AC3E}">
        <p14:creationId xmlns:p14="http://schemas.microsoft.com/office/powerpoint/2010/main" val="31306466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10F9E9-8998-B9B9-CBC6-A0753E168E2B}"/>
              </a:ext>
            </a:extLst>
          </p:cNvPr>
          <p:cNvSpPr txBox="1"/>
          <p:nvPr/>
        </p:nvSpPr>
        <p:spPr>
          <a:xfrm>
            <a:off x="0" y="169295"/>
            <a:ext cx="6096000" cy="461665"/>
          </a:xfrm>
          <a:prstGeom prst="rect">
            <a:avLst/>
          </a:prstGeom>
          <a:noFill/>
        </p:spPr>
        <p:txBody>
          <a:bodyPr wrap="square">
            <a:spAutoFit/>
          </a:bodyPr>
          <a:lstStyle/>
          <a:p>
            <a:r>
              <a:rPr lang="en-IN" sz="2400" dirty="0"/>
              <a:t>Syntax of Operator Overloading</a:t>
            </a:r>
          </a:p>
        </p:txBody>
      </p:sp>
      <p:sp>
        <p:nvSpPr>
          <p:cNvPr id="5" name="TextBox 4">
            <a:extLst>
              <a:ext uri="{FF2B5EF4-FFF2-40B4-BE49-F238E27FC236}">
                <a16:creationId xmlns:a16="http://schemas.microsoft.com/office/drawing/2014/main" id="{124DB9AB-08B4-0D5F-7924-A875E5F3C5AA}"/>
              </a:ext>
            </a:extLst>
          </p:cNvPr>
          <p:cNvSpPr txBox="1"/>
          <p:nvPr/>
        </p:nvSpPr>
        <p:spPr>
          <a:xfrm>
            <a:off x="162231" y="1554290"/>
            <a:ext cx="5933769" cy="1200329"/>
          </a:xfrm>
          <a:prstGeom prst="rect">
            <a:avLst/>
          </a:prstGeom>
          <a:noFill/>
        </p:spPr>
        <p:txBody>
          <a:bodyPr wrap="square">
            <a:spAutoFit/>
          </a:bodyPr>
          <a:lstStyle/>
          <a:p>
            <a:r>
              <a:rPr lang="en-IN" sz="2400" dirty="0" err="1"/>
              <a:t>returnType</a:t>
            </a:r>
            <a:r>
              <a:rPr lang="en-IN" sz="2400" dirty="0"/>
              <a:t> operator+(parameters) {</a:t>
            </a:r>
          </a:p>
          <a:p>
            <a:r>
              <a:rPr lang="en-IN" sz="2400" dirty="0"/>
              <a:t>    // code</a:t>
            </a:r>
          </a:p>
          <a:p>
            <a:r>
              <a:rPr lang="en-IN" sz="2400" dirty="0"/>
              <a:t>}</a:t>
            </a:r>
          </a:p>
        </p:txBody>
      </p:sp>
      <p:sp>
        <p:nvSpPr>
          <p:cNvPr id="6" name="TextBox 5">
            <a:extLst>
              <a:ext uri="{FF2B5EF4-FFF2-40B4-BE49-F238E27FC236}">
                <a16:creationId xmlns:a16="http://schemas.microsoft.com/office/drawing/2014/main" id="{1AACCCD4-DDC0-4D39-8DF8-DCDE9F5D2F9D}"/>
              </a:ext>
            </a:extLst>
          </p:cNvPr>
          <p:cNvSpPr txBox="1"/>
          <p:nvPr/>
        </p:nvSpPr>
        <p:spPr>
          <a:xfrm>
            <a:off x="73743" y="2696032"/>
            <a:ext cx="11956026" cy="4154984"/>
          </a:xfrm>
          <a:prstGeom prst="rect">
            <a:avLst/>
          </a:prstGeom>
          <a:noFill/>
        </p:spPr>
        <p:txBody>
          <a:bodyPr wrap="square">
            <a:spAutoFit/>
          </a:bodyPr>
          <a:lstStyle/>
          <a:p>
            <a:pPr>
              <a:buNone/>
            </a:pPr>
            <a:r>
              <a:rPr lang="en-US" sz="2400" b="1" dirty="0"/>
              <a:t>Why Operator Overloading Is Useful?</a:t>
            </a:r>
          </a:p>
          <a:p>
            <a:pPr>
              <a:buNone/>
            </a:pPr>
            <a:r>
              <a:rPr lang="en-US" sz="2400" dirty="0"/>
              <a:t>Because it lets objects behave like basic data types.</a:t>
            </a:r>
          </a:p>
          <a:p>
            <a:pPr>
              <a:buNone/>
            </a:pPr>
            <a:r>
              <a:rPr lang="en-US" sz="2400" dirty="0"/>
              <a:t>Example:</a:t>
            </a:r>
          </a:p>
          <a:p>
            <a:pPr>
              <a:buFont typeface="Arial" panose="020B0604020202020204" pitchFamily="34" charset="0"/>
              <a:buChar char="•"/>
            </a:pPr>
            <a:r>
              <a:rPr lang="en-US" sz="2400" dirty="0"/>
              <a:t>Adding two objects → </a:t>
            </a:r>
            <a:r>
              <a:rPr lang="en-US" sz="2400" dirty="0">
                <a:latin typeface="Courier New" panose="02070309020205020404" pitchFamily="49" charset="0"/>
              </a:rPr>
              <a:t>obj1 + obj2</a:t>
            </a:r>
            <a:endParaRPr lang="en-US" sz="2400" dirty="0"/>
          </a:p>
          <a:p>
            <a:pPr>
              <a:buFont typeface="Arial" panose="020B0604020202020204" pitchFamily="34" charset="0"/>
              <a:buChar char="•"/>
            </a:pPr>
            <a:r>
              <a:rPr lang="en-US" sz="2400" dirty="0"/>
              <a:t>Comparing objects → </a:t>
            </a:r>
            <a:r>
              <a:rPr lang="en-US" sz="2400" dirty="0">
                <a:latin typeface="Courier New" panose="02070309020205020404" pitchFamily="49" charset="0"/>
              </a:rPr>
              <a:t>obj1 == obj2</a:t>
            </a:r>
            <a:endParaRPr lang="en-US" sz="2400" dirty="0"/>
          </a:p>
          <a:p>
            <a:pPr>
              <a:buFont typeface="Arial" panose="020B0604020202020204" pitchFamily="34" charset="0"/>
              <a:buChar char="•"/>
            </a:pPr>
            <a:r>
              <a:rPr lang="en-US" sz="2400" dirty="0"/>
              <a:t>Printing objects → </a:t>
            </a:r>
            <a:r>
              <a:rPr lang="en-US" sz="2400" dirty="0" err="1">
                <a:latin typeface="Courier New" panose="02070309020205020404" pitchFamily="49" charset="0"/>
              </a:rPr>
              <a:t>cout</a:t>
            </a:r>
            <a:r>
              <a:rPr lang="en-US" sz="2400" dirty="0">
                <a:latin typeface="Courier New" panose="02070309020205020404" pitchFamily="49" charset="0"/>
              </a:rPr>
              <a:t> &lt;&lt; obj1</a:t>
            </a:r>
            <a:br>
              <a:rPr lang="en-US" sz="2400" dirty="0"/>
            </a:br>
            <a:endParaRPr lang="en-US" sz="2400" dirty="0"/>
          </a:p>
          <a:p>
            <a:pPr>
              <a:buNone/>
            </a:pPr>
            <a:r>
              <a:rPr lang="en-US" sz="2400" b="1" dirty="0"/>
              <a:t>Operator Overloading Rules</a:t>
            </a:r>
          </a:p>
          <a:p>
            <a:pPr>
              <a:buFont typeface="Arial" panose="020B0604020202020204" pitchFamily="34" charset="0"/>
              <a:buChar char="•"/>
            </a:pPr>
            <a:r>
              <a:rPr lang="en-US" sz="2400" dirty="0"/>
              <a:t>Cannot overload: </a:t>
            </a:r>
            <a:r>
              <a:rPr lang="en-US" sz="2400" dirty="0">
                <a:latin typeface="Courier New" panose="02070309020205020404" pitchFamily="49" charset="0"/>
              </a:rPr>
              <a:t>::</a:t>
            </a:r>
            <a:r>
              <a:rPr lang="en-US" sz="2400" dirty="0"/>
              <a:t>, </a:t>
            </a:r>
            <a:r>
              <a:rPr lang="en-US" sz="2400" dirty="0">
                <a:latin typeface="Courier New" panose="02070309020205020404" pitchFamily="49" charset="0"/>
              </a:rPr>
              <a:t>.?</a:t>
            </a:r>
            <a:r>
              <a:rPr lang="en-US" sz="2400" dirty="0"/>
              <a:t>, </a:t>
            </a:r>
            <a:r>
              <a:rPr lang="en-US" sz="2400" dirty="0">
                <a:latin typeface="Courier New" panose="02070309020205020404" pitchFamily="49" charset="0"/>
              </a:rPr>
              <a:t>.*</a:t>
            </a:r>
            <a:r>
              <a:rPr lang="en-US" sz="2400" dirty="0"/>
              <a:t>, </a:t>
            </a:r>
            <a:r>
              <a:rPr lang="en-US" sz="2400" dirty="0" err="1">
                <a:latin typeface="Courier New" panose="02070309020205020404" pitchFamily="49" charset="0"/>
              </a:rPr>
              <a:t>sizeof</a:t>
            </a:r>
            <a:endParaRPr lang="en-US" sz="2400" dirty="0"/>
          </a:p>
          <a:p>
            <a:pPr>
              <a:buFont typeface="Arial" panose="020B0604020202020204" pitchFamily="34" charset="0"/>
              <a:buChar char="•"/>
            </a:pPr>
            <a:r>
              <a:rPr lang="en-US" sz="2400" dirty="0"/>
              <a:t>You cannot change operator priority</a:t>
            </a:r>
          </a:p>
          <a:p>
            <a:pPr>
              <a:buFont typeface="Arial" panose="020B0604020202020204" pitchFamily="34" charset="0"/>
              <a:buChar char="•"/>
            </a:pPr>
            <a:r>
              <a:rPr lang="en-US" sz="2400" dirty="0"/>
              <a:t>Operator must work with </a:t>
            </a:r>
            <a:r>
              <a:rPr lang="en-US" sz="2400" b="1" dirty="0"/>
              <a:t>at least one user-defined type</a:t>
            </a:r>
            <a:endParaRPr lang="en-US" sz="2400" dirty="0"/>
          </a:p>
        </p:txBody>
      </p:sp>
      <p:sp>
        <p:nvSpPr>
          <p:cNvPr id="2" name="TextBox 1">
            <a:extLst>
              <a:ext uri="{FF2B5EF4-FFF2-40B4-BE49-F238E27FC236}">
                <a16:creationId xmlns:a16="http://schemas.microsoft.com/office/drawing/2014/main" id="{29585BBE-F0CF-9C36-AF75-DBCF07821523}"/>
              </a:ext>
            </a:extLst>
          </p:cNvPr>
          <p:cNvSpPr txBox="1"/>
          <p:nvPr/>
        </p:nvSpPr>
        <p:spPr>
          <a:xfrm>
            <a:off x="73743" y="630960"/>
            <a:ext cx="11985523" cy="923330"/>
          </a:xfrm>
          <a:prstGeom prst="rect">
            <a:avLst/>
          </a:prstGeom>
          <a:noFill/>
        </p:spPr>
        <p:txBody>
          <a:bodyPr wrap="square">
            <a:spAutoFit/>
          </a:bodyPr>
          <a:lstStyle/>
          <a:p>
            <a:pPr>
              <a:buNone/>
            </a:pPr>
            <a:r>
              <a:rPr lang="en-US" b="1" dirty="0"/>
              <a:t>B) Operator Overloading</a:t>
            </a:r>
          </a:p>
          <a:p>
            <a:pPr>
              <a:buNone/>
            </a:pPr>
            <a:r>
              <a:rPr lang="en-US" b="1" dirty="0"/>
              <a:t>Definition:</a:t>
            </a:r>
            <a:br>
              <a:rPr lang="en-US" dirty="0"/>
            </a:br>
            <a:r>
              <a:rPr lang="en-US" dirty="0"/>
              <a:t>Operators behave differently for objects.</a:t>
            </a:r>
          </a:p>
        </p:txBody>
      </p:sp>
    </p:spTree>
    <p:extLst>
      <p:ext uri="{BB962C8B-B14F-4D97-AF65-F5344CB8AC3E}">
        <p14:creationId xmlns:p14="http://schemas.microsoft.com/office/powerpoint/2010/main" val="22416785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75B4CF-F1EB-DFB5-D1F3-68EBABAB868A}"/>
              </a:ext>
            </a:extLst>
          </p:cNvPr>
          <p:cNvSpPr txBox="1"/>
          <p:nvPr/>
        </p:nvSpPr>
        <p:spPr>
          <a:xfrm>
            <a:off x="103239" y="510827"/>
            <a:ext cx="11985522" cy="5614670"/>
          </a:xfrm>
          <a:prstGeom prst="rect">
            <a:avLst/>
          </a:prstGeom>
          <a:noFill/>
        </p:spPr>
        <p:txBody>
          <a:bodyPr wrap="square" numCol="2">
            <a:spAutoFit/>
          </a:bodyPr>
          <a:lstStyle/>
          <a:p>
            <a:r>
              <a:rPr lang="en-IN" sz="2400" dirty="0"/>
              <a:t>#include &lt;iostream&gt;</a:t>
            </a:r>
          </a:p>
          <a:p>
            <a:r>
              <a:rPr lang="en-IN" sz="2400" dirty="0"/>
              <a:t>using namespace std;</a:t>
            </a:r>
          </a:p>
          <a:p>
            <a:endParaRPr lang="en-IN" sz="2400" dirty="0"/>
          </a:p>
          <a:p>
            <a:r>
              <a:rPr lang="en-IN" sz="2400" dirty="0"/>
              <a:t>class Complex {</a:t>
            </a:r>
          </a:p>
          <a:p>
            <a:r>
              <a:rPr lang="en-IN" sz="2400" dirty="0"/>
              <a:t>public:</a:t>
            </a:r>
          </a:p>
          <a:p>
            <a:r>
              <a:rPr lang="en-IN" sz="2400" dirty="0"/>
              <a:t>    int real, </a:t>
            </a:r>
            <a:r>
              <a:rPr lang="en-IN" sz="2400" dirty="0" err="1"/>
              <a:t>imag</a:t>
            </a:r>
            <a:r>
              <a:rPr lang="en-IN" sz="2400" dirty="0"/>
              <a:t>;</a:t>
            </a:r>
          </a:p>
          <a:p>
            <a:r>
              <a:rPr lang="en-IN" sz="2400" dirty="0"/>
              <a:t>    </a:t>
            </a:r>
          </a:p>
          <a:p>
            <a:r>
              <a:rPr lang="en-IN" sz="2400" dirty="0"/>
              <a:t>    Complex(int r, int </a:t>
            </a:r>
            <a:r>
              <a:rPr lang="en-IN" sz="2400" dirty="0" err="1"/>
              <a:t>i</a:t>
            </a:r>
            <a:r>
              <a:rPr lang="en-IN" sz="2400" dirty="0"/>
              <a:t>) : real(r), </a:t>
            </a:r>
            <a:r>
              <a:rPr lang="en-IN" sz="2400" dirty="0" err="1"/>
              <a:t>imag</a:t>
            </a:r>
            <a:r>
              <a:rPr lang="en-IN" sz="2400" dirty="0"/>
              <a:t>(</a:t>
            </a:r>
            <a:r>
              <a:rPr lang="en-IN" sz="2400" dirty="0" err="1"/>
              <a:t>i</a:t>
            </a:r>
            <a:r>
              <a:rPr lang="en-IN" sz="2400" dirty="0"/>
              <a:t>) {}</a:t>
            </a:r>
          </a:p>
          <a:p>
            <a:endParaRPr lang="en-IN" sz="2400" dirty="0"/>
          </a:p>
          <a:p>
            <a:r>
              <a:rPr lang="en-IN" sz="2400" dirty="0"/>
              <a:t>    // Overloading +</a:t>
            </a:r>
          </a:p>
          <a:p>
            <a:r>
              <a:rPr lang="en-IN" sz="2400" dirty="0"/>
              <a:t>    Complex operator+(</a:t>
            </a:r>
            <a:r>
              <a:rPr lang="en-IN" sz="2400" dirty="0" err="1"/>
              <a:t>const</a:t>
            </a:r>
            <a:r>
              <a:rPr lang="en-IN" sz="2400" dirty="0"/>
              <a:t> Complex &amp;c) {</a:t>
            </a:r>
          </a:p>
          <a:p>
            <a:r>
              <a:rPr lang="en-IN" sz="2400" dirty="0"/>
              <a:t>        return Complex(real + </a:t>
            </a:r>
            <a:r>
              <a:rPr lang="en-IN" sz="2400" dirty="0" err="1"/>
              <a:t>c.real</a:t>
            </a:r>
            <a:r>
              <a:rPr lang="en-IN" sz="2400" dirty="0"/>
              <a:t>, </a:t>
            </a:r>
            <a:r>
              <a:rPr lang="en-IN" sz="2400" dirty="0" err="1"/>
              <a:t>imag</a:t>
            </a:r>
            <a:r>
              <a:rPr lang="en-IN" sz="2400" dirty="0"/>
              <a:t> + </a:t>
            </a:r>
            <a:r>
              <a:rPr lang="en-IN" sz="2400" dirty="0" err="1"/>
              <a:t>c.imag</a:t>
            </a:r>
            <a:r>
              <a:rPr lang="en-IN" sz="2400" dirty="0"/>
              <a:t>);</a:t>
            </a:r>
          </a:p>
          <a:p>
            <a:r>
              <a:rPr lang="en-IN" sz="2400" dirty="0"/>
              <a:t>    }</a:t>
            </a:r>
          </a:p>
          <a:p>
            <a:r>
              <a:rPr lang="en-IN" sz="2400" dirty="0"/>
              <a:t>};</a:t>
            </a:r>
          </a:p>
          <a:p>
            <a:endParaRPr lang="en-IN" sz="2400" dirty="0"/>
          </a:p>
          <a:p>
            <a:r>
              <a:rPr lang="en-IN" sz="2400" dirty="0"/>
              <a:t>int main() {</a:t>
            </a:r>
          </a:p>
          <a:p>
            <a:r>
              <a:rPr lang="en-IN" sz="2400" dirty="0"/>
              <a:t>    Complex c1(3, 4), c2(1, 2);</a:t>
            </a:r>
          </a:p>
          <a:p>
            <a:r>
              <a:rPr lang="en-IN" sz="2400" dirty="0"/>
              <a:t>    Complex result = c1 + c2;</a:t>
            </a:r>
          </a:p>
          <a:p>
            <a:r>
              <a:rPr lang="en-IN" sz="2400" dirty="0"/>
              <a:t>    </a:t>
            </a:r>
            <a:r>
              <a:rPr lang="en-IN" sz="2400" dirty="0" err="1"/>
              <a:t>cout</a:t>
            </a:r>
            <a:r>
              <a:rPr lang="en-IN" sz="2400" dirty="0"/>
              <a:t> &lt;&lt; "Result = " &lt;&lt; </a:t>
            </a:r>
            <a:r>
              <a:rPr lang="en-IN" sz="2400" dirty="0" err="1"/>
              <a:t>result.real</a:t>
            </a:r>
            <a:r>
              <a:rPr lang="en-IN" sz="2400" dirty="0"/>
              <a:t> &lt;&lt; " + " &lt;&lt; </a:t>
            </a:r>
            <a:r>
              <a:rPr lang="en-IN" sz="2400" dirty="0" err="1"/>
              <a:t>result.imag</a:t>
            </a:r>
            <a:r>
              <a:rPr lang="en-IN" sz="2400" dirty="0"/>
              <a:t> &lt;&lt; "</a:t>
            </a:r>
            <a:r>
              <a:rPr lang="en-IN" sz="2400" dirty="0" err="1"/>
              <a:t>i</a:t>
            </a:r>
            <a:r>
              <a:rPr lang="en-IN" sz="2400" dirty="0"/>
              <a:t>";</a:t>
            </a:r>
          </a:p>
          <a:p>
            <a:r>
              <a:rPr lang="en-IN" sz="2400" dirty="0"/>
              <a:t>}</a:t>
            </a:r>
          </a:p>
        </p:txBody>
      </p:sp>
    </p:spTree>
    <p:extLst>
      <p:ext uri="{BB962C8B-B14F-4D97-AF65-F5344CB8AC3E}">
        <p14:creationId xmlns:p14="http://schemas.microsoft.com/office/powerpoint/2010/main" val="12082706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774E63-5092-F6D3-35D6-6AB8C61CB1FB}"/>
              </a:ext>
            </a:extLst>
          </p:cNvPr>
          <p:cNvSpPr txBox="1"/>
          <p:nvPr/>
        </p:nvSpPr>
        <p:spPr>
          <a:xfrm>
            <a:off x="285135" y="552240"/>
            <a:ext cx="11602065" cy="2677656"/>
          </a:xfrm>
          <a:prstGeom prst="rect">
            <a:avLst/>
          </a:prstGeom>
          <a:noFill/>
        </p:spPr>
        <p:txBody>
          <a:bodyPr wrap="square">
            <a:spAutoFit/>
          </a:bodyPr>
          <a:lstStyle/>
          <a:p>
            <a:pPr algn="ctr">
              <a:buNone/>
            </a:pPr>
            <a:r>
              <a:rPr lang="en-US" sz="2400" b="1" dirty="0"/>
              <a:t>2. Run-Time Polymorphism (Late Binding / Dynamic Binding)</a:t>
            </a:r>
          </a:p>
          <a:p>
            <a:pPr>
              <a:buNone/>
            </a:pPr>
            <a:r>
              <a:rPr lang="en-US" sz="2400" dirty="0"/>
              <a:t>The function call is resolved </a:t>
            </a:r>
            <a:r>
              <a:rPr lang="en-US" sz="2400" b="1" dirty="0"/>
              <a:t>at runtime</a:t>
            </a:r>
            <a:r>
              <a:rPr lang="en-US" sz="2400" dirty="0"/>
              <a:t>.</a:t>
            </a:r>
          </a:p>
          <a:p>
            <a:pPr>
              <a:buNone/>
            </a:pPr>
            <a:r>
              <a:rPr lang="en-US" sz="2400" b="1" dirty="0"/>
              <a:t>Technique</a:t>
            </a:r>
          </a:p>
          <a:p>
            <a:pPr>
              <a:buNone/>
            </a:pPr>
            <a:r>
              <a:rPr lang="en-US" sz="2400" b="1" dirty="0"/>
              <a:t>a) Function Overriding</a:t>
            </a:r>
          </a:p>
          <a:p>
            <a:pPr>
              <a:buFont typeface="Arial" panose="020B0604020202020204" pitchFamily="34" charset="0"/>
              <a:buChar char="•"/>
            </a:pPr>
            <a:r>
              <a:rPr lang="en-US" sz="2400" dirty="0"/>
              <a:t>Same function name and same parameters in base and derived class.</a:t>
            </a:r>
          </a:p>
          <a:p>
            <a:pPr>
              <a:buFont typeface="Arial" panose="020B0604020202020204" pitchFamily="34" charset="0"/>
              <a:buChar char="•"/>
            </a:pPr>
            <a:r>
              <a:rPr lang="en-US" sz="2400" dirty="0"/>
              <a:t>Achieved using </a:t>
            </a:r>
            <a:r>
              <a:rPr lang="en-US" sz="2400" b="1" dirty="0"/>
              <a:t>virtual functions</a:t>
            </a:r>
            <a:r>
              <a:rPr lang="en-US" sz="2400" dirty="0"/>
              <a:t>.</a:t>
            </a:r>
          </a:p>
          <a:p>
            <a:pPr>
              <a:buFont typeface="Arial" panose="020B0604020202020204" pitchFamily="34" charset="0"/>
              <a:buChar char="•"/>
            </a:pPr>
            <a:r>
              <a:rPr lang="en-US" sz="2400" dirty="0"/>
              <a:t>Decided at runtime using </a:t>
            </a:r>
            <a:r>
              <a:rPr lang="en-US" sz="2400" b="1" dirty="0" err="1"/>
              <a:t>vtable</a:t>
            </a:r>
            <a:r>
              <a:rPr lang="en-US" sz="2400" b="1" dirty="0"/>
              <a:t> &amp; </a:t>
            </a:r>
            <a:r>
              <a:rPr lang="en-US" sz="2400" b="1" dirty="0" err="1"/>
              <a:t>vpointer</a:t>
            </a:r>
            <a:r>
              <a:rPr lang="en-US" sz="2400" dirty="0"/>
              <a:t>.</a:t>
            </a:r>
          </a:p>
        </p:txBody>
      </p:sp>
    </p:spTree>
    <p:extLst>
      <p:ext uri="{BB962C8B-B14F-4D97-AF65-F5344CB8AC3E}">
        <p14:creationId xmlns:p14="http://schemas.microsoft.com/office/powerpoint/2010/main" val="415116844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845574-05DA-C68B-9DD4-8C6B71720E5D}"/>
              </a:ext>
            </a:extLst>
          </p:cNvPr>
          <p:cNvSpPr txBox="1"/>
          <p:nvPr/>
        </p:nvSpPr>
        <p:spPr>
          <a:xfrm>
            <a:off x="98323" y="147484"/>
            <a:ext cx="11926529" cy="6607277"/>
          </a:xfrm>
          <a:prstGeom prst="rect">
            <a:avLst/>
          </a:prstGeom>
          <a:noFill/>
        </p:spPr>
        <p:txBody>
          <a:bodyPr wrap="square" numCol="2">
            <a:spAutoFit/>
          </a:bodyPr>
          <a:lstStyle/>
          <a:p>
            <a:r>
              <a:rPr lang="en-IN" dirty="0"/>
              <a:t>#include &lt;iostream&gt;</a:t>
            </a:r>
          </a:p>
          <a:p>
            <a:r>
              <a:rPr lang="en-IN" dirty="0"/>
              <a:t>using namespace std;</a:t>
            </a:r>
          </a:p>
          <a:p>
            <a:endParaRPr lang="en-IN" dirty="0"/>
          </a:p>
          <a:p>
            <a:r>
              <a:rPr lang="en-IN" dirty="0"/>
              <a:t>class Animal {</a:t>
            </a:r>
          </a:p>
          <a:p>
            <a:r>
              <a:rPr lang="en-IN" dirty="0"/>
              <a:t>public:</a:t>
            </a:r>
          </a:p>
          <a:p>
            <a:r>
              <a:rPr lang="en-IN" dirty="0"/>
              <a:t>    virtual void sound() {   // virtual function</a:t>
            </a:r>
          </a:p>
          <a:p>
            <a:r>
              <a:rPr lang="en-IN" dirty="0"/>
              <a:t>        </a:t>
            </a:r>
            <a:r>
              <a:rPr lang="en-IN" dirty="0" err="1"/>
              <a:t>cout</a:t>
            </a:r>
            <a:r>
              <a:rPr lang="en-IN" dirty="0"/>
              <a:t> &lt;&lt; "Animal makes a sound" &lt;&lt; </a:t>
            </a:r>
            <a:r>
              <a:rPr lang="en-IN" dirty="0" err="1"/>
              <a:t>endl</a:t>
            </a:r>
            <a:r>
              <a:rPr lang="en-IN" dirty="0"/>
              <a:t>;</a:t>
            </a:r>
          </a:p>
          <a:p>
            <a:r>
              <a:rPr lang="en-IN" dirty="0"/>
              <a:t>    }</a:t>
            </a:r>
          </a:p>
          <a:p>
            <a:r>
              <a:rPr lang="en-IN" dirty="0"/>
              <a:t>};</a:t>
            </a:r>
          </a:p>
          <a:p>
            <a:endParaRPr lang="en-IN" dirty="0"/>
          </a:p>
          <a:p>
            <a:r>
              <a:rPr lang="en-IN" dirty="0"/>
              <a:t>class Dog : public Animal {</a:t>
            </a:r>
          </a:p>
          <a:p>
            <a:r>
              <a:rPr lang="en-IN" dirty="0"/>
              <a:t>public:</a:t>
            </a:r>
          </a:p>
          <a:p>
            <a:r>
              <a:rPr lang="en-IN" dirty="0"/>
              <a:t>    void sound() override {  // overriding</a:t>
            </a:r>
          </a:p>
          <a:p>
            <a:r>
              <a:rPr lang="en-IN" dirty="0"/>
              <a:t>        </a:t>
            </a:r>
            <a:r>
              <a:rPr lang="en-IN" dirty="0" err="1"/>
              <a:t>cout</a:t>
            </a:r>
            <a:r>
              <a:rPr lang="en-IN" dirty="0"/>
              <a:t> &lt;&lt; "Dog barks" &lt;&lt; </a:t>
            </a:r>
            <a:r>
              <a:rPr lang="en-IN" dirty="0" err="1"/>
              <a:t>endl</a:t>
            </a:r>
            <a:r>
              <a:rPr lang="en-IN" dirty="0"/>
              <a:t>;</a:t>
            </a:r>
          </a:p>
          <a:p>
            <a:r>
              <a:rPr lang="en-IN" dirty="0"/>
              <a:t>    }</a:t>
            </a:r>
          </a:p>
          <a:p>
            <a:r>
              <a:rPr lang="en-IN" dirty="0"/>
              <a:t>};</a:t>
            </a:r>
          </a:p>
          <a:p>
            <a:endParaRPr lang="en-IN" dirty="0"/>
          </a:p>
          <a:p>
            <a:r>
              <a:rPr lang="en-IN" dirty="0"/>
              <a:t>class Cat : public Animal {</a:t>
            </a:r>
          </a:p>
          <a:p>
            <a:r>
              <a:rPr lang="en-IN" dirty="0"/>
              <a:t>public:</a:t>
            </a:r>
          </a:p>
          <a:p>
            <a:r>
              <a:rPr lang="en-IN" dirty="0"/>
              <a:t>    void sound() override {</a:t>
            </a:r>
          </a:p>
          <a:p>
            <a:r>
              <a:rPr lang="en-IN" dirty="0"/>
              <a:t>        </a:t>
            </a:r>
            <a:r>
              <a:rPr lang="en-IN" dirty="0" err="1"/>
              <a:t>cout</a:t>
            </a:r>
            <a:r>
              <a:rPr lang="en-IN" dirty="0"/>
              <a:t> &lt;&lt; "Cat meows" &lt;&lt; </a:t>
            </a:r>
            <a:r>
              <a:rPr lang="en-IN" dirty="0" err="1"/>
              <a:t>endl</a:t>
            </a:r>
            <a:r>
              <a:rPr lang="en-IN" dirty="0"/>
              <a:t>;</a:t>
            </a:r>
          </a:p>
          <a:p>
            <a:r>
              <a:rPr lang="en-IN" dirty="0"/>
              <a:t>    }</a:t>
            </a:r>
          </a:p>
          <a:p>
            <a:r>
              <a:rPr lang="en-IN" dirty="0"/>
              <a:t>};</a:t>
            </a:r>
          </a:p>
          <a:p>
            <a:endParaRPr lang="en-IN" dirty="0"/>
          </a:p>
          <a:p>
            <a:r>
              <a:rPr lang="en-IN" dirty="0"/>
              <a:t>int main() {</a:t>
            </a:r>
          </a:p>
          <a:p>
            <a:r>
              <a:rPr lang="en-IN" dirty="0"/>
              <a:t>    Animal* a;</a:t>
            </a:r>
          </a:p>
          <a:p>
            <a:endParaRPr lang="en-IN" dirty="0"/>
          </a:p>
          <a:p>
            <a:r>
              <a:rPr lang="en-IN" dirty="0"/>
              <a:t>    a = new Dog();</a:t>
            </a:r>
          </a:p>
          <a:p>
            <a:r>
              <a:rPr lang="en-IN" dirty="0"/>
              <a:t>    a-&gt;sound();      // runtime — calls Dog sound()</a:t>
            </a:r>
          </a:p>
          <a:p>
            <a:endParaRPr lang="en-IN" dirty="0"/>
          </a:p>
          <a:p>
            <a:r>
              <a:rPr lang="en-IN" dirty="0"/>
              <a:t>    a = new Cat();</a:t>
            </a:r>
          </a:p>
          <a:p>
            <a:r>
              <a:rPr lang="en-IN" dirty="0"/>
              <a:t>    a-&gt;sound();      // runtime — calls Cat sound()</a:t>
            </a:r>
          </a:p>
          <a:p>
            <a:endParaRPr lang="en-IN" dirty="0"/>
          </a:p>
          <a:p>
            <a:r>
              <a:rPr lang="en-IN" dirty="0"/>
              <a:t>    return 0;</a:t>
            </a:r>
          </a:p>
          <a:p>
            <a:r>
              <a:rPr lang="en-IN" dirty="0"/>
              <a:t>}</a:t>
            </a:r>
          </a:p>
        </p:txBody>
      </p:sp>
    </p:spTree>
    <p:extLst>
      <p:ext uri="{BB962C8B-B14F-4D97-AF65-F5344CB8AC3E}">
        <p14:creationId xmlns:p14="http://schemas.microsoft.com/office/powerpoint/2010/main" val="267005547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4C4D53-40EF-21BD-9F01-791B40D62F92}"/>
              </a:ext>
            </a:extLst>
          </p:cNvPr>
          <p:cNvSpPr txBox="1"/>
          <p:nvPr/>
        </p:nvSpPr>
        <p:spPr>
          <a:xfrm>
            <a:off x="-1" y="69277"/>
            <a:ext cx="11995355" cy="892552"/>
          </a:xfrm>
          <a:prstGeom prst="rect">
            <a:avLst/>
          </a:prstGeom>
          <a:noFill/>
        </p:spPr>
        <p:txBody>
          <a:bodyPr wrap="square">
            <a:spAutoFit/>
          </a:bodyPr>
          <a:lstStyle/>
          <a:p>
            <a:r>
              <a:rPr lang="en-US" sz="2800" b="1" dirty="0"/>
              <a:t>Templates</a:t>
            </a:r>
          </a:p>
          <a:p>
            <a:r>
              <a:rPr lang="en-US" sz="2400" dirty="0"/>
              <a:t>Templates let you write a function or class that works with different data types.</a:t>
            </a:r>
            <a:endParaRPr lang="en-IN" sz="2400" dirty="0"/>
          </a:p>
        </p:txBody>
      </p:sp>
      <p:sp>
        <p:nvSpPr>
          <p:cNvPr id="5" name="TextBox 4">
            <a:extLst>
              <a:ext uri="{FF2B5EF4-FFF2-40B4-BE49-F238E27FC236}">
                <a16:creationId xmlns:a16="http://schemas.microsoft.com/office/drawing/2014/main" id="{C8D015C6-725A-938A-51E5-5D75AB59BFE9}"/>
              </a:ext>
            </a:extLst>
          </p:cNvPr>
          <p:cNvSpPr txBox="1"/>
          <p:nvPr/>
        </p:nvSpPr>
        <p:spPr>
          <a:xfrm>
            <a:off x="78658" y="1293392"/>
            <a:ext cx="11916696" cy="892552"/>
          </a:xfrm>
          <a:prstGeom prst="rect">
            <a:avLst/>
          </a:prstGeom>
          <a:noFill/>
        </p:spPr>
        <p:txBody>
          <a:bodyPr wrap="square">
            <a:spAutoFit/>
          </a:bodyPr>
          <a:lstStyle/>
          <a:p>
            <a:r>
              <a:rPr lang="en-US" sz="2800" b="1" dirty="0"/>
              <a:t>Function Templates</a:t>
            </a:r>
          </a:p>
          <a:p>
            <a:r>
              <a:rPr lang="en-US" sz="2400" dirty="0"/>
              <a:t>You can create a function template by using the template keyword:</a:t>
            </a:r>
            <a:endParaRPr lang="en-IN" sz="2400" dirty="0"/>
          </a:p>
        </p:txBody>
      </p:sp>
      <p:sp>
        <p:nvSpPr>
          <p:cNvPr id="7" name="TextBox 6">
            <a:extLst>
              <a:ext uri="{FF2B5EF4-FFF2-40B4-BE49-F238E27FC236}">
                <a16:creationId xmlns:a16="http://schemas.microsoft.com/office/drawing/2014/main" id="{46BF7002-F054-56A8-3E27-7D9BAC74BB34}"/>
              </a:ext>
            </a:extLst>
          </p:cNvPr>
          <p:cNvSpPr txBox="1"/>
          <p:nvPr/>
        </p:nvSpPr>
        <p:spPr>
          <a:xfrm>
            <a:off x="78658" y="2413422"/>
            <a:ext cx="9018638" cy="1569660"/>
          </a:xfrm>
          <a:prstGeom prst="rect">
            <a:avLst/>
          </a:prstGeom>
          <a:noFill/>
        </p:spPr>
        <p:txBody>
          <a:bodyPr wrap="square">
            <a:spAutoFit/>
          </a:bodyPr>
          <a:lstStyle/>
          <a:p>
            <a:r>
              <a:rPr lang="en-IN" sz="2400" dirty="0"/>
              <a:t>template &lt;</a:t>
            </a:r>
            <a:r>
              <a:rPr lang="en-IN" sz="2400" dirty="0" err="1"/>
              <a:t>typename</a:t>
            </a:r>
            <a:r>
              <a:rPr lang="en-IN" sz="2400" dirty="0"/>
              <a:t> T&gt;</a:t>
            </a:r>
          </a:p>
          <a:p>
            <a:r>
              <a:rPr lang="en-IN" sz="2400" dirty="0" err="1"/>
              <a:t>return_type</a:t>
            </a:r>
            <a:r>
              <a:rPr lang="en-IN" sz="2400" dirty="0"/>
              <a:t> </a:t>
            </a:r>
            <a:r>
              <a:rPr lang="en-IN" sz="2400" dirty="0" err="1"/>
              <a:t>function_name</a:t>
            </a:r>
            <a:r>
              <a:rPr lang="en-IN" sz="2400" dirty="0"/>
              <a:t>(T parameter) {</a:t>
            </a:r>
          </a:p>
          <a:p>
            <a:r>
              <a:rPr lang="en-IN" sz="2400" dirty="0"/>
              <a:t>  // code</a:t>
            </a:r>
          </a:p>
          <a:p>
            <a:r>
              <a:rPr lang="en-IN" sz="2400" dirty="0"/>
              <a:t>} </a:t>
            </a:r>
          </a:p>
        </p:txBody>
      </p:sp>
      <p:sp>
        <p:nvSpPr>
          <p:cNvPr id="9" name="TextBox 8">
            <a:extLst>
              <a:ext uri="{FF2B5EF4-FFF2-40B4-BE49-F238E27FC236}">
                <a16:creationId xmlns:a16="http://schemas.microsoft.com/office/drawing/2014/main" id="{EB2EE705-5060-B0BA-8593-2A3E6FE3F63A}"/>
              </a:ext>
            </a:extLst>
          </p:cNvPr>
          <p:cNvSpPr txBox="1"/>
          <p:nvPr/>
        </p:nvSpPr>
        <p:spPr>
          <a:xfrm>
            <a:off x="142567" y="4210560"/>
            <a:ext cx="11788877" cy="830997"/>
          </a:xfrm>
          <a:prstGeom prst="rect">
            <a:avLst/>
          </a:prstGeom>
          <a:noFill/>
        </p:spPr>
        <p:txBody>
          <a:bodyPr wrap="square">
            <a:spAutoFit/>
          </a:bodyPr>
          <a:lstStyle/>
          <a:p>
            <a:r>
              <a:rPr lang="en-US" sz="2400" dirty="0"/>
              <a:t>T is a placeholder for a data type (like int, float, etc.).</a:t>
            </a:r>
          </a:p>
          <a:p>
            <a:r>
              <a:rPr lang="en-US" sz="2400" dirty="0"/>
              <a:t>You can use any name instead of T, but T is common.</a:t>
            </a:r>
            <a:endParaRPr lang="en-IN" sz="2400" dirty="0"/>
          </a:p>
        </p:txBody>
      </p:sp>
    </p:spTree>
    <p:extLst>
      <p:ext uri="{BB962C8B-B14F-4D97-AF65-F5344CB8AC3E}">
        <p14:creationId xmlns:p14="http://schemas.microsoft.com/office/powerpoint/2010/main" val="9558984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A76ADC-3E81-4EEA-78A3-DF02831F05F5}"/>
              </a:ext>
            </a:extLst>
          </p:cNvPr>
          <p:cNvSpPr txBox="1"/>
          <p:nvPr/>
        </p:nvSpPr>
        <p:spPr>
          <a:xfrm>
            <a:off x="275303" y="368142"/>
            <a:ext cx="11729883" cy="5632311"/>
          </a:xfrm>
          <a:prstGeom prst="rect">
            <a:avLst/>
          </a:prstGeom>
          <a:noFill/>
        </p:spPr>
        <p:txBody>
          <a:bodyPr wrap="square">
            <a:spAutoFit/>
          </a:bodyPr>
          <a:lstStyle/>
          <a:p>
            <a:r>
              <a:rPr lang="en-IN" sz="3600" dirty="0"/>
              <a:t>template &lt;</a:t>
            </a:r>
            <a:r>
              <a:rPr lang="en-IN" sz="3600" dirty="0" err="1"/>
              <a:t>typename</a:t>
            </a:r>
            <a:r>
              <a:rPr lang="en-IN" sz="3600" dirty="0"/>
              <a:t> T&gt;</a:t>
            </a:r>
          </a:p>
          <a:p>
            <a:r>
              <a:rPr lang="en-IN" sz="3600" dirty="0"/>
              <a:t>T add(T a, T b) {</a:t>
            </a:r>
          </a:p>
          <a:p>
            <a:r>
              <a:rPr lang="en-IN" sz="3600" dirty="0"/>
              <a:t>  return a + b;</a:t>
            </a:r>
          </a:p>
          <a:p>
            <a:r>
              <a:rPr lang="en-IN" sz="3600" dirty="0"/>
              <a:t>}</a:t>
            </a:r>
          </a:p>
          <a:p>
            <a:endParaRPr lang="en-IN" sz="3600" dirty="0"/>
          </a:p>
          <a:p>
            <a:r>
              <a:rPr lang="en-IN" sz="3600" dirty="0"/>
              <a:t>int main() {</a:t>
            </a:r>
          </a:p>
          <a:p>
            <a:r>
              <a:rPr lang="en-IN" sz="3600" dirty="0"/>
              <a:t>  </a:t>
            </a:r>
            <a:r>
              <a:rPr lang="en-IN" sz="3600" dirty="0" err="1"/>
              <a:t>cout</a:t>
            </a:r>
            <a:r>
              <a:rPr lang="en-IN" sz="3600" dirty="0"/>
              <a:t> &lt;&lt; add&lt;int&gt;(5, 3) &lt;&lt; "\n";</a:t>
            </a:r>
          </a:p>
          <a:p>
            <a:r>
              <a:rPr lang="en-IN" sz="3600" dirty="0"/>
              <a:t>  </a:t>
            </a:r>
            <a:r>
              <a:rPr lang="en-IN" sz="3600" dirty="0" err="1"/>
              <a:t>cout</a:t>
            </a:r>
            <a:r>
              <a:rPr lang="en-IN" sz="3600" dirty="0"/>
              <a:t> &lt;&lt; add&lt;double&gt;(2.5, 1.5) &lt;&lt; "\n";</a:t>
            </a:r>
          </a:p>
          <a:p>
            <a:r>
              <a:rPr lang="en-IN" sz="3600" dirty="0"/>
              <a:t>  return 0;</a:t>
            </a:r>
          </a:p>
          <a:p>
            <a:r>
              <a:rPr lang="en-IN" sz="3600" dirty="0"/>
              <a:t>}</a:t>
            </a:r>
          </a:p>
        </p:txBody>
      </p:sp>
    </p:spTree>
    <p:extLst>
      <p:ext uri="{BB962C8B-B14F-4D97-AF65-F5344CB8AC3E}">
        <p14:creationId xmlns:p14="http://schemas.microsoft.com/office/powerpoint/2010/main" val="9558721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E245C5-6ADD-3134-8712-FCBF6D3F349A}"/>
              </a:ext>
            </a:extLst>
          </p:cNvPr>
          <p:cNvSpPr txBox="1"/>
          <p:nvPr/>
        </p:nvSpPr>
        <p:spPr>
          <a:xfrm>
            <a:off x="167148" y="105624"/>
            <a:ext cx="11867535" cy="1672253"/>
          </a:xfrm>
          <a:prstGeom prst="rect">
            <a:avLst/>
          </a:prstGeom>
          <a:noFill/>
        </p:spPr>
        <p:txBody>
          <a:bodyPr wrap="square">
            <a:spAutoFit/>
          </a:bodyPr>
          <a:lstStyle/>
          <a:p>
            <a:pPr algn="l">
              <a:spcBef>
                <a:spcPts val="750"/>
              </a:spcBef>
              <a:spcAft>
                <a:spcPts val="750"/>
              </a:spcAft>
              <a:buNone/>
            </a:pPr>
            <a:r>
              <a:rPr lang="en-US" sz="2400" b="0" i="0" dirty="0">
                <a:solidFill>
                  <a:srgbClr val="000000"/>
                </a:solidFill>
                <a:effectLst/>
                <a:latin typeface="Segoe UI" panose="020B0502040204020203" pitchFamily="34" charset="0"/>
              </a:rPr>
              <a:t>Files</a:t>
            </a:r>
          </a:p>
          <a:p>
            <a:pPr algn="l">
              <a:buNone/>
            </a:pPr>
            <a:r>
              <a:rPr lang="en-US" sz="2400" b="0" i="0" dirty="0">
                <a:solidFill>
                  <a:srgbClr val="000000"/>
                </a:solidFill>
                <a:effectLst/>
                <a:latin typeface="Segoe UI" panose="020B0502040204020203" pitchFamily="34" charset="0"/>
              </a:rPr>
              <a:t>The </a:t>
            </a:r>
            <a:r>
              <a:rPr lang="en-US" sz="2400" b="0" i="0" dirty="0" err="1">
                <a:solidFill>
                  <a:srgbClr val="DC143C"/>
                </a:solidFill>
                <a:effectLst/>
                <a:latin typeface="Consolas" panose="020B0609020204030204" pitchFamily="49" charset="0"/>
              </a:rPr>
              <a:t>fstream</a:t>
            </a:r>
            <a:r>
              <a:rPr lang="en-US" sz="2400" b="0" i="0" dirty="0">
                <a:solidFill>
                  <a:srgbClr val="000000"/>
                </a:solidFill>
                <a:effectLst/>
                <a:latin typeface="Segoe UI" panose="020B0502040204020203" pitchFamily="34" charset="0"/>
              </a:rPr>
              <a:t> library allows us to work with files.</a:t>
            </a:r>
          </a:p>
          <a:p>
            <a:pPr algn="l">
              <a:buNone/>
            </a:pPr>
            <a:r>
              <a:rPr lang="en-US" sz="2400" b="0" i="0" dirty="0">
                <a:solidFill>
                  <a:srgbClr val="000000"/>
                </a:solidFill>
                <a:effectLst/>
                <a:latin typeface="Segoe UI" panose="020B0502040204020203" pitchFamily="34" charset="0"/>
              </a:rPr>
              <a:t>To use the </a:t>
            </a:r>
            <a:r>
              <a:rPr lang="en-US" sz="2400" b="0" i="0" dirty="0" err="1">
                <a:solidFill>
                  <a:srgbClr val="DC143C"/>
                </a:solidFill>
                <a:effectLst/>
                <a:latin typeface="Consolas" panose="020B0609020204030204" pitchFamily="49" charset="0"/>
              </a:rPr>
              <a:t>fstream</a:t>
            </a:r>
            <a:r>
              <a:rPr lang="en-US" sz="2400" b="0" i="0" dirty="0">
                <a:solidFill>
                  <a:srgbClr val="000000"/>
                </a:solidFill>
                <a:effectLst/>
                <a:latin typeface="Segoe UI" panose="020B0502040204020203" pitchFamily="34" charset="0"/>
              </a:rPr>
              <a:t> library, include both the standard </a:t>
            </a:r>
            <a:r>
              <a:rPr lang="en-US" sz="2400" b="0" i="0" dirty="0">
                <a:solidFill>
                  <a:srgbClr val="DC143C"/>
                </a:solidFill>
                <a:effectLst/>
                <a:latin typeface="Consolas" panose="020B0609020204030204" pitchFamily="49" charset="0"/>
              </a:rPr>
              <a:t>&lt;iostream&gt;</a:t>
            </a:r>
            <a:r>
              <a:rPr lang="en-US" sz="2400" b="0" i="0" dirty="0">
                <a:solidFill>
                  <a:srgbClr val="000000"/>
                </a:solidFill>
                <a:effectLst/>
                <a:latin typeface="Segoe UI" panose="020B0502040204020203" pitchFamily="34" charset="0"/>
              </a:rPr>
              <a:t> </a:t>
            </a:r>
            <a:r>
              <a:rPr lang="en-US" sz="2400" b="1" i="0" dirty="0">
                <a:solidFill>
                  <a:srgbClr val="000000"/>
                </a:solidFill>
                <a:effectLst/>
                <a:latin typeface="Segoe UI" panose="020B0502040204020203" pitchFamily="34" charset="0"/>
              </a:rPr>
              <a:t>AND</a:t>
            </a:r>
            <a:r>
              <a:rPr lang="en-US" sz="2400" b="0" i="0" dirty="0">
                <a:solidFill>
                  <a:srgbClr val="000000"/>
                </a:solidFill>
                <a:effectLst/>
                <a:latin typeface="Segoe UI" panose="020B0502040204020203" pitchFamily="34" charset="0"/>
              </a:rPr>
              <a:t> the </a:t>
            </a:r>
            <a:r>
              <a:rPr lang="en-US" sz="2400" b="0" i="0" dirty="0">
                <a:solidFill>
                  <a:srgbClr val="DC143C"/>
                </a:solidFill>
                <a:effectLst/>
                <a:latin typeface="Consolas" panose="020B0609020204030204" pitchFamily="49" charset="0"/>
              </a:rPr>
              <a:t>&lt;</a:t>
            </a:r>
            <a:r>
              <a:rPr lang="en-US" sz="2400" b="0" i="0" dirty="0" err="1">
                <a:solidFill>
                  <a:srgbClr val="DC143C"/>
                </a:solidFill>
                <a:effectLst/>
                <a:latin typeface="Consolas" panose="020B0609020204030204" pitchFamily="49" charset="0"/>
              </a:rPr>
              <a:t>fstream</a:t>
            </a:r>
            <a:r>
              <a:rPr lang="en-US" sz="2400" b="0" i="0" dirty="0">
                <a:solidFill>
                  <a:srgbClr val="DC143C"/>
                </a:solidFill>
                <a:effectLst/>
                <a:latin typeface="Consolas" panose="020B0609020204030204" pitchFamily="49" charset="0"/>
              </a:rPr>
              <a:t>&gt;</a:t>
            </a:r>
            <a:r>
              <a:rPr lang="en-US" sz="2400" b="0" i="0" dirty="0">
                <a:solidFill>
                  <a:srgbClr val="000000"/>
                </a:solidFill>
                <a:effectLst/>
                <a:latin typeface="Segoe UI" panose="020B0502040204020203" pitchFamily="34" charset="0"/>
              </a:rPr>
              <a:t> header file:</a:t>
            </a:r>
          </a:p>
        </p:txBody>
      </p:sp>
      <p:sp>
        <p:nvSpPr>
          <p:cNvPr id="5" name="TextBox 4">
            <a:extLst>
              <a:ext uri="{FF2B5EF4-FFF2-40B4-BE49-F238E27FC236}">
                <a16:creationId xmlns:a16="http://schemas.microsoft.com/office/drawing/2014/main" id="{63058A4F-925B-E9F9-2A26-B3550B257D22}"/>
              </a:ext>
            </a:extLst>
          </p:cNvPr>
          <p:cNvSpPr txBox="1"/>
          <p:nvPr/>
        </p:nvSpPr>
        <p:spPr>
          <a:xfrm>
            <a:off x="167148" y="1948087"/>
            <a:ext cx="4817807" cy="830997"/>
          </a:xfrm>
          <a:prstGeom prst="rect">
            <a:avLst/>
          </a:prstGeom>
          <a:noFill/>
        </p:spPr>
        <p:txBody>
          <a:bodyPr wrap="square">
            <a:spAutoFit/>
          </a:bodyPr>
          <a:lstStyle/>
          <a:p>
            <a:r>
              <a:rPr lang="en-IN" sz="2400" dirty="0"/>
              <a:t>#include &lt;iostream&gt;</a:t>
            </a:r>
          </a:p>
          <a:p>
            <a:r>
              <a:rPr lang="en-IN" sz="2400" dirty="0"/>
              <a:t>#include &lt;</a:t>
            </a:r>
            <a:r>
              <a:rPr lang="en-IN" sz="2400" dirty="0" err="1"/>
              <a:t>fstream</a:t>
            </a:r>
            <a:r>
              <a:rPr lang="en-IN" sz="2400" dirty="0"/>
              <a:t>&gt;</a:t>
            </a:r>
          </a:p>
        </p:txBody>
      </p:sp>
      <p:sp>
        <p:nvSpPr>
          <p:cNvPr id="7" name="TextBox 6">
            <a:extLst>
              <a:ext uri="{FF2B5EF4-FFF2-40B4-BE49-F238E27FC236}">
                <a16:creationId xmlns:a16="http://schemas.microsoft.com/office/drawing/2014/main" id="{7CB5451F-B05C-ABF9-B04A-FA66A73A1359}"/>
              </a:ext>
            </a:extLst>
          </p:cNvPr>
          <p:cNvSpPr txBox="1"/>
          <p:nvPr/>
        </p:nvSpPr>
        <p:spPr>
          <a:xfrm>
            <a:off x="78658" y="2949294"/>
            <a:ext cx="12034683" cy="830997"/>
          </a:xfrm>
          <a:prstGeom prst="rect">
            <a:avLst/>
          </a:prstGeom>
          <a:noFill/>
        </p:spPr>
        <p:txBody>
          <a:bodyPr wrap="square">
            <a:spAutoFit/>
          </a:bodyPr>
          <a:lstStyle/>
          <a:p>
            <a:r>
              <a:rPr lang="en-US" sz="2400" b="0" i="0" dirty="0">
                <a:solidFill>
                  <a:srgbClr val="000000"/>
                </a:solidFill>
                <a:effectLst/>
                <a:latin typeface="Segoe UI" panose="020B0502040204020203" pitchFamily="34" charset="0"/>
              </a:rPr>
              <a:t>There are three classes included in the </a:t>
            </a:r>
            <a:r>
              <a:rPr lang="en-US" sz="2400" b="0" i="0" dirty="0" err="1">
                <a:solidFill>
                  <a:srgbClr val="DC143C"/>
                </a:solidFill>
                <a:effectLst/>
                <a:latin typeface="Consolas" panose="020B0609020204030204" pitchFamily="49" charset="0"/>
              </a:rPr>
              <a:t>fstream</a:t>
            </a:r>
            <a:r>
              <a:rPr lang="en-US" sz="2400" b="0" i="0" dirty="0">
                <a:solidFill>
                  <a:srgbClr val="000000"/>
                </a:solidFill>
                <a:effectLst/>
                <a:latin typeface="Segoe UI" panose="020B0502040204020203" pitchFamily="34" charset="0"/>
              </a:rPr>
              <a:t> library, which are used to create, write or read files:</a:t>
            </a:r>
            <a:endParaRPr lang="en-IN" sz="2400" dirty="0"/>
          </a:p>
        </p:txBody>
      </p:sp>
      <p:pic>
        <p:nvPicPr>
          <p:cNvPr id="9" name="Picture 8">
            <a:extLst>
              <a:ext uri="{FF2B5EF4-FFF2-40B4-BE49-F238E27FC236}">
                <a16:creationId xmlns:a16="http://schemas.microsoft.com/office/drawing/2014/main" id="{32D1277E-D3D6-A2D4-DB4D-C05C676BF8CF}"/>
              </a:ext>
            </a:extLst>
          </p:cNvPr>
          <p:cNvPicPr>
            <a:picLocks noChangeAspect="1"/>
          </p:cNvPicPr>
          <p:nvPr/>
        </p:nvPicPr>
        <p:blipFill>
          <a:blip r:embed="rId2"/>
          <a:stretch>
            <a:fillRect/>
          </a:stretch>
        </p:blipFill>
        <p:spPr>
          <a:xfrm>
            <a:off x="-1" y="4050634"/>
            <a:ext cx="12192000" cy="2316009"/>
          </a:xfrm>
          <a:prstGeom prst="rect">
            <a:avLst/>
          </a:prstGeom>
        </p:spPr>
      </p:pic>
    </p:spTree>
    <p:extLst>
      <p:ext uri="{BB962C8B-B14F-4D97-AF65-F5344CB8AC3E}">
        <p14:creationId xmlns:p14="http://schemas.microsoft.com/office/powerpoint/2010/main" val="228537390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974264-A60D-F079-96B4-A9E66409D9D3}"/>
              </a:ext>
            </a:extLst>
          </p:cNvPr>
          <p:cNvSpPr txBox="1"/>
          <p:nvPr/>
        </p:nvSpPr>
        <p:spPr>
          <a:xfrm>
            <a:off x="137650" y="115457"/>
            <a:ext cx="12054350" cy="1672253"/>
          </a:xfrm>
          <a:prstGeom prst="rect">
            <a:avLst/>
          </a:prstGeom>
          <a:noFill/>
        </p:spPr>
        <p:txBody>
          <a:bodyPr wrap="square">
            <a:spAutoFit/>
          </a:bodyPr>
          <a:lstStyle/>
          <a:p>
            <a:pPr algn="l">
              <a:spcBef>
                <a:spcPts val="750"/>
              </a:spcBef>
              <a:spcAft>
                <a:spcPts val="750"/>
              </a:spcAft>
              <a:buNone/>
            </a:pPr>
            <a:r>
              <a:rPr lang="en-US" sz="2400" b="0" i="0" dirty="0">
                <a:solidFill>
                  <a:srgbClr val="000000"/>
                </a:solidFill>
                <a:effectLst/>
                <a:latin typeface="Segoe UI" panose="020B0502040204020203" pitchFamily="34" charset="0"/>
              </a:rPr>
              <a:t>Create and Write To a File</a:t>
            </a:r>
          </a:p>
          <a:p>
            <a:pPr algn="l">
              <a:buNone/>
            </a:pPr>
            <a:r>
              <a:rPr lang="en-US" sz="2400" b="0" i="0" dirty="0">
                <a:solidFill>
                  <a:srgbClr val="000000"/>
                </a:solidFill>
                <a:effectLst/>
                <a:latin typeface="Segoe UI" panose="020B0502040204020203" pitchFamily="34" charset="0"/>
              </a:rPr>
              <a:t>To create a file, use either the </a:t>
            </a:r>
            <a:r>
              <a:rPr lang="en-US" sz="2400" b="0" i="0" dirty="0" err="1">
                <a:solidFill>
                  <a:srgbClr val="DC143C"/>
                </a:solidFill>
                <a:effectLst/>
                <a:latin typeface="Consolas" panose="020B0609020204030204" pitchFamily="49" charset="0"/>
              </a:rPr>
              <a:t>ofstream</a:t>
            </a:r>
            <a:r>
              <a:rPr lang="en-US" sz="2400" b="0" i="0" dirty="0">
                <a:solidFill>
                  <a:srgbClr val="000000"/>
                </a:solidFill>
                <a:effectLst/>
                <a:latin typeface="Segoe UI" panose="020B0502040204020203" pitchFamily="34" charset="0"/>
              </a:rPr>
              <a:t> or </a:t>
            </a:r>
            <a:r>
              <a:rPr lang="en-US" sz="2400" b="0" i="0" dirty="0" err="1">
                <a:solidFill>
                  <a:srgbClr val="DC143C"/>
                </a:solidFill>
                <a:effectLst/>
                <a:latin typeface="Consolas" panose="020B0609020204030204" pitchFamily="49" charset="0"/>
              </a:rPr>
              <a:t>fstream</a:t>
            </a:r>
            <a:r>
              <a:rPr lang="en-US" sz="2400" b="0" i="0" dirty="0">
                <a:solidFill>
                  <a:srgbClr val="000000"/>
                </a:solidFill>
                <a:effectLst/>
                <a:latin typeface="Segoe UI" panose="020B0502040204020203" pitchFamily="34" charset="0"/>
              </a:rPr>
              <a:t> class, and specify the name of the file.</a:t>
            </a:r>
          </a:p>
          <a:p>
            <a:pPr algn="l">
              <a:buNone/>
            </a:pPr>
            <a:r>
              <a:rPr lang="en-US" sz="2400" b="0" i="0" dirty="0">
                <a:solidFill>
                  <a:srgbClr val="000000"/>
                </a:solidFill>
                <a:effectLst/>
                <a:latin typeface="Segoe UI" panose="020B0502040204020203" pitchFamily="34" charset="0"/>
              </a:rPr>
              <a:t>To write to the file, use the insertion operator (</a:t>
            </a:r>
            <a:r>
              <a:rPr lang="en-US" sz="2400" b="0" i="0" dirty="0">
                <a:solidFill>
                  <a:srgbClr val="DC143C"/>
                </a:solidFill>
                <a:effectLst/>
                <a:latin typeface="Consolas" panose="020B0609020204030204" pitchFamily="49" charset="0"/>
              </a:rPr>
              <a:t>&lt;&lt;</a:t>
            </a:r>
            <a:r>
              <a:rPr lang="en-US" sz="2400" b="0" i="0" dirty="0">
                <a:solidFill>
                  <a:srgbClr val="000000"/>
                </a:solidFill>
                <a:effectLst/>
                <a:latin typeface="Segoe UI" panose="020B0502040204020203" pitchFamily="34" charset="0"/>
              </a:rPr>
              <a:t>).</a:t>
            </a:r>
          </a:p>
        </p:txBody>
      </p:sp>
      <p:sp>
        <p:nvSpPr>
          <p:cNvPr id="5" name="TextBox 4">
            <a:extLst>
              <a:ext uri="{FF2B5EF4-FFF2-40B4-BE49-F238E27FC236}">
                <a16:creationId xmlns:a16="http://schemas.microsoft.com/office/drawing/2014/main" id="{2AF07C12-3465-885F-BA52-2BA965C7809D}"/>
              </a:ext>
            </a:extLst>
          </p:cNvPr>
          <p:cNvSpPr txBox="1"/>
          <p:nvPr/>
        </p:nvSpPr>
        <p:spPr>
          <a:xfrm>
            <a:off x="137649" y="1946896"/>
            <a:ext cx="11847874" cy="4660381"/>
          </a:xfrm>
          <a:prstGeom prst="rect">
            <a:avLst/>
          </a:prstGeom>
          <a:noFill/>
        </p:spPr>
        <p:txBody>
          <a:bodyPr wrap="square" numCol="2">
            <a:spAutoFit/>
          </a:bodyPr>
          <a:lstStyle/>
          <a:p>
            <a:r>
              <a:rPr lang="en-US" sz="2400" b="0" i="0" dirty="0">
                <a:solidFill>
                  <a:srgbClr val="000000"/>
                </a:solidFill>
                <a:effectLst/>
                <a:latin typeface="Consolas" panose="020B0609020204030204" pitchFamily="49" charset="0"/>
              </a:rPr>
              <a:t>#include &lt;iostream&gt;</a:t>
            </a:r>
            <a:br>
              <a:rPr lang="en-US" sz="2400" dirty="0"/>
            </a:br>
            <a:r>
              <a:rPr lang="en-US" sz="2400" b="0" i="0" dirty="0">
                <a:solidFill>
                  <a:srgbClr val="000000"/>
                </a:solidFill>
                <a:effectLst/>
                <a:latin typeface="Consolas" panose="020B0609020204030204" pitchFamily="49" charset="0"/>
              </a:rPr>
              <a:t>#include &lt;</a:t>
            </a:r>
            <a:r>
              <a:rPr lang="en-US" sz="2400" b="0" i="0" dirty="0" err="1">
                <a:solidFill>
                  <a:srgbClr val="000000"/>
                </a:solidFill>
                <a:effectLst/>
                <a:latin typeface="Consolas" panose="020B0609020204030204" pitchFamily="49" charset="0"/>
              </a:rPr>
              <a:t>fstream</a:t>
            </a:r>
            <a:r>
              <a:rPr lang="en-US" sz="2400" b="0" i="0" dirty="0">
                <a:solidFill>
                  <a:srgbClr val="000000"/>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using namespace std;</a:t>
            </a:r>
            <a:br>
              <a:rPr lang="en-US" sz="2400" dirty="0"/>
            </a:br>
            <a:br>
              <a:rPr lang="en-US" sz="2400" dirty="0"/>
            </a:br>
            <a:r>
              <a:rPr lang="en-US" sz="2400" b="0" i="0" dirty="0">
                <a:solidFill>
                  <a:srgbClr val="005CC5"/>
                </a:solidFill>
                <a:effectLst/>
                <a:latin typeface="Consolas" panose="020B0609020204030204" pitchFamily="49" charset="0"/>
              </a:rPr>
              <a:t>int</a:t>
            </a:r>
            <a:r>
              <a:rPr lang="en-US" sz="2400" b="0" i="0" dirty="0">
                <a:solidFill>
                  <a:srgbClr val="000000"/>
                </a:solidFill>
                <a:effectLst/>
                <a:latin typeface="Consolas" panose="020B0609020204030204" pitchFamily="49" charset="0"/>
              </a:rPr>
              <a:t> main() {</a:t>
            </a:r>
            <a:br>
              <a:rPr lang="en-US" sz="2400" dirty="0"/>
            </a:br>
            <a:r>
              <a:rPr lang="en-US" sz="2400" b="0" i="0" dirty="0">
                <a:solidFill>
                  <a:srgbClr val="000000"/>
                </a:solidFill>
                <a:effectLst/>
                <a:latin typeface="Consolas" panose="020B0609020204030204" pitchFamily="49" charset="0"/>
              </a:rPr>
              <a:t>  </a:t>
            </a:r>
            <a:r>
              <a:rPr lang="en-US" sz="2400" b="0" i="0" dirty="0">
                <a:solidFill>
                  <a:srgbClr val="708090"/>
                </a:solidFill>
                <a:effectLst/>
                <a:latin typeface="Consolas" panose="020B0609020204030204" pitchFamily="49" charset="0"/>
              </a:rPr>
              <a:t>// Create and open a text file</a:t>
            </a:r>
            <a:br>
              <a:rPr lang="en-US" sz="2400" b="0" i="0" dirty="0">
                <a:solidFill>
                  <a:srgbClr val="708090"/>
                </a:solidFill>
                <a:effectLst/>
                <a:latin typeface="Consolas" panose="020B0609020204030204" pitchFamily="49" charset="0"/>
              </a:rPr>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ofstream</a:t>
            </a: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MyFile</a:t>
            </a:r>
            <a:r>
              <a:rPr lang="en-US" sz="2400" b="0" i="0" dirty="0">
                <a:solidFill>
                  <a:srgbClr val="000000"/>
                </a:solidFill>
                <a:effectLst/>
                <a:latin typeface="Consolas" panose="020B0609020204030204" pitchFamily="49" charset="0"/>
              </a:rPr>
              <a:t>(</a:t>
            </a:r>
            <a:r>
              <a:rPr lang="en-US" sz="2400" b="0" i="0" dirty="0">
                <a:solidFill>
                  <a:srgbClr val="008000"/>
                </a:solidFill>
                <a:effectLst/>
                <a:latin typeface="Consolas" panose="020B0609020204030204" pitchFamily="49" charset="0"/>
              </a:rPr>
              <a:t>"filename.txt"</a:t>
            </a:r>
            <a:r>
              <a:rPr lang="en-US" sz="2400" b="0" i="0" dirty="0">
                <a:solidFill>
                  <a:srgbClr val="000000"/>
                </a:solidFill>
                <a:effectLst/>
                <a:latin typeface="Consolas" panose="020B0609020204030204" pitchFamily="49" charset="0"/>
              </a:rPr>
              <a:t>);</a:t>
            </a:r>
            <a:br>
              <a:rPr lang="en-US" sz="2400" dirty="0"/>
            </a:br>
            <a:br>
              <a:rPr lang="en-US" sz="2400" dirty="0"/>
            </a:br>
            <a:r>
              <a:rPr lang="en-US" sz="2400" b="0" i="0" dirty="0">
                <a:solidFill>
                  <a:srgbClr val="000000"/>
                </a:solidFill>
                <a:effectLst/>
                <a:latin typeface="Consolas" panose="020B0609020204030204" pitchFamily="49" charset="0"/>
              </a:rPr>
              <a:t>  </a:t>
            </a:r>
            <a:r>
              <a:rPr lang="en-US" sz="2400" b="0" i="0" dirty="0">
                <a:solidFill>
                  <a:srgbClr val="708090"/>
                </a:solidFill>
                <a:effectLst/>
                <a:latin typeface="Consolas" panose="020B0609020204030204" pitchFamily="49" charset="0"/>
              </a:rPr>
              <a:t>// Write to the file</a:t>
            </a:r>
            <a:br>
              <a:rPr lang="en-US" sz="2400" b="0" i="0" dirty="0">
                <a:solidFill>
                  <a:srgbClr val="708090"/>
                </a:solidFill>
                <a:effectLst/>
                <a:latin typeface="Consolas" panose="020B0609020204030204" pitchFamily="49" charset="0"/>
              </a:rPr>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MyFile</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"Files can be tricky, but it is fun enough!"</a:t>
            </a:r>
            <a:r>
              <a:rPr lang="en-US" sz="2400" b="0" i="0" dirty="0">
                <a:solidFill>
                  <a:srgbClr val="000000"/>
                </a:solidFill>
                <a:effectLst/>
                <a:latin typeface="Consolas" panose="020B0609020204030204" pitchFamily="49" charset="0"/>
              </a:rPr>
              <a:t>;</a:t>
            </a:r>
            <a:br>
              <a:rPr lang="en-US" sz="2400" dirty="0"/>
            </a:br>
            <a:br>
              <a:rPr lang="en-US" sz="2400" dirty="0"/>
            </a:br>
            <a:r>
              <a:rPr lang="en-US" sz="2400" b="0" i="0" dirty="0">
                <a:solidFill>
                  <a:srgbClr val="000000"/>
                </a:solidFill>
                <a:effectLst/>
                <a:latin typeface="Consolas" panose="020B0609020204030204" pitchFamily="49" charset="0"/>
              </a:rPr>
              <a:t>  </a:t>
            </a:r>
            <a:r>
              <a:rPr lang="en-US" sz="2400" b="0" i="0" dirty="0">
                <a:solidFill>
                  <a:srgbClr val="708090"/>
                </a:solidFill>
                <a:effectLst/>
                <a:latin typeface="Consolas" panose="020B0609020204030204" pitchFamily="49" charset="0"/>
              </a:rPr>
              <a:t>// Close the file</a:t>
            </a:r>
            <a:br>
              <a:rPr lang="en-US" sz="2400" b="0" i="0" dirty="0">
                <a:solidFill>
                  <a:srgbClr val="708090"/>
                </a:solidFill>
                <a:effectLst/>
                <a:latin typeface="Consolas" panose="020B0609020204030204" pitchFamily="49" charset="0"/>
              </a:rPr>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MyFile.close</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a:t>
            </a:r>
            <a:endParaRPr lang="en-IN" sz="2400" dirty="0"/>
          </a:p>
        </p:txBody>
      </p:sp>
    </p:spTree>
    <p:extLst>
      <p:ext uri="{BB962C8B-B14F-4D97-AF65-F5344CB8AC3E}">
        <p14:creationId xmlns:p14="http://schemas.microsoft.com/office/powerpoint/2010/main" val="78696580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D269C3-1949-53C9-FE08-00AA0073FF69}"/>
              </a:ext>
            </a:extLst>
          </p:cNvPr>
          <p:cNvSpPr txBox="1"/>
          <p:nvPr/>
        </p:nvSpPr>
        <p:spPr>
          <a:xfrm>
            <a:off x="0" y="252699"/>
            <a:ext cx="12054348" cy="1938992"/>
          </a:xfrm>
          <a:prstGeom prst="rect">
            <a:avLst/>
          </a:prstGeom>
          <a:noFill/>
        </p:spPr>
        <p:txBody>
          <a:bodyPr wrap="square">
            <a:spAutoFit/>
          </a:bodyPr>
          <a:lstStyle/>
          <a:p>
            <a:r>
              <a:rPr lang="en-US" sz="2400" dirty="0"/>
              <a:t>Read a File</a:t>
            </a:r>
          </a:p>
          <a:p>
            <a:r>
              <a:rPr lang="en-US" sz="2400" dirty="0"/>
              <a:t>To read from a file, use either the </a:t>
            </a:r>
            <a:r>
              <a:rPr lang="en-US" sz="2400" dirty="0" err="1"/>
              <a:t>ifstream</a:t>
            </a:r>
            <a:r>
              <a:rPr lang="en-US" sz="2400" dirty="0"/>
              <a:t> or </a:t>
            </a:r>
            <a:r>
              <a:rPr lang="en-US" sz="2400" dirty="0" err="1"/>
              <a:t>fstream</a:t>
            </a:r>
            <a:r>
              <a:rPr lang="en-US" sz="2400" dirty="0"/>
              <a:t> class, and the name of the file.</a:t>
            </a:r>
          </a:p>
          <a:p>
            <a:endParaRPr lang="en-US" sz="2400" dirty="0"/>
          </a:p>
          <a:p>
            <a:r>
              <a:rPr lang="en-US" sz="2400" dirty="0"/>
              <a:t>Note that we also use a while loop together with the </a:t>
            </a:r>
            <a:r>
              <a:rPr lang="en-US" sz="2400" dirty="0" err="1"/>
              <a:t>getline</a:t>
            </a:r>
            <a:r>
              <a:rPr lang="en-US" sz="2400" dirty="0"/>
              <a:t>() function (which belongs to the </a:t>
            </a:r>
            <a:r>
              <a:rPr lang="en-US" sz="2400" dirty="0" err="1"/>
              <a:t>ifstream</a:t>
            </a:r>
            <a:r>
              <a:rPr lang="en-US" sz="2400" dirty="0"/>
              <a:t> class) to read the file line by line, and to print the content of the file:</a:t>
            </a:r>
            <a:endParaRPr lang="en-IN" sz="2400" dirty="0"/>
          </a:p>
        </p:txBody>
      </p:sp>
      <p:sp>
        <p:nvSpPr>
          <p:cNvPr id="5" name="TextBox 4">
            <a:extLst>
              <a:ext uri="{FF2B5EF4-FFF2-40B4-BE49-F238E27FC236}">
                <a16:creationId xmlns:a16="http://schemas.microsoft.com/office/drawing/2014/main" id="{E0450382-1012-9C11-CA64-5F527A1AB71F}"/>
              </a:ext>
            </a:extLst>
          </p:cNvPr>
          <p:cNvSpPr txBox="1"/>
          <p:nvPr/>
        </p:nvSpPr>
        <p:spPr>
          <a:xfrm>
            <a:off x="137652" y="2191691"/>
            <a:ext cx="11916696" cy="4708981"/>
          </a:xfrm>
          <a:prstGeom prst="rect">
            <a:avLst/>
          </a:prstGeom>
          <a:noFill/>
        </p:spPr>
        <p:txBody>
          <a:bodyPr wrap="square">
            <a:spAutoFit/>
          </a:bodyPr>
          <a:lstStyle/>
          <a:p>
            <a:r>
              <a:rPr lang="en-US" sz="2000" b="0" i="0" dirty="0">
                <a:solidFill>
                  <a:srgbClr val="708090"/>
                </a:solidFill>
                <a:effectLst/>
                <a:latin typeface="Consolas" panose="020B0609020204030204" pitchFamily="49" charset="0"/>
              </a:rPr>
              <a:t>// Create a text string, which is used to output the text file</a:t>
            </a:r>
            <a:br>
              <a:rPr lang="en-US" sz="2000" b="0" i="0" dirty="0">
                <a:solidFill>
                  <a:srgbClr val="708090"/>
                </a:solidFill>
                <a:effectLst/>
                <a:latin typeface="Consolas" panose="020B0609020204030204" pitchFamily="49" charset="0"/>
              </a:rPr>
            </a:br>
            <a:r>
              <a:rPr lang="en-US" sz="2000" b="0" i="0" dirty="0">
                <a:solidFill>
                  <a:srgbClr val="000000"/>
                </a:solidFill>
                <a:effectLst/>
                <a:latin typeface="Consolas" panose="020B0609020204030204" pitchFamily="49" charset="0"/>
              </a:rPr>
              <a:t>string </a:t>
            </a:r>
            <a:r>
              <a:rPr lang="en-US" sz="2000" b="0" i="0" dirty="0" err="1">
                <a:solidFill>
                  <a:srgbClr val="000000"/>
                </a:solidFill>
                <a:effectLst/>
                <a:latin typeface="Consolas" panose="020B0609020204030204" pitchFamily="49" charset="0"/>
              </a:rPr>
              <a:t>myText</a:t>
            </a: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708090"/>
                </a:solidFill>
                <a:effectLst/>
                <a:latin typeface="Consolas" panose="020B0609020204030204" pitchFamily="49" charset="0"/>
              </a:rPr>
              <a:t>// Read from the text file</a:t>
            </a:r>
            <a:br>
              <a:rPr lang="en-US" sz="2000" b="0" i="0" dirty="0">
                <a:solidFill>
                  <a:srgbClr val="708090"/>
                </a:solidFill>
                <a:effectLst/>
                <a:latin typeface="Consolas" panose="020B0609020204030204" pitchFamily="49" charset="0"/>
              </a:rPr>
            </a:br>
            <a:r>
              <a:rPr lang="en-US" sz="2000" b="0" i="0" dirty="0" err="1">
                <a:solidFill>
                  <a:srgbClr val="000000"/>
                </a:solidFill>
                <a:effectLst/>
                <a:latin typeface="Consolas" panose="020B0609020204030204" pitchFamily="49" charset="0"/>
              </a:rPr>
              <a:t>ifstream</a:t>
            </a:r>
            <a:r>
              <a:rPr lang="en-US" sz="2000" b="0" i="0" dirty="0">
                <a:solidFill>
                  <a:srgbClr val="000000"/>
                </a:solidFill>
                <a:effectLst/>
                <a:latin typeface="Consolas" panose="020B0609020204030204" pitchFamily="49" charset="0"/>
              </a:rPr>
              <a:t> </a:t>
            </a:r>
            <a:r>
              <a:rPr lang="en-US" sz="2000" b="0" i="0" dirty="0" err="1">
                <a:solidFill>
                  <a:srgbClr val="000000"/>
                </a:solidFill>
                <a:effectLst/>
                <a:latin typeface="Consolas" panose="020B0609020204030204" pitchFamily="49" charset="0"/>
              </a:rPr>
              <a:t>MyReadFile</a:t>
            </a:r>
            <a:r>
              <a:rPr lang="en-US" sz="2000" b="0" i="0" dirty="0">
                <a:solidFill>
                  <a:srgbClr val="000000"/>
                </a:solidFill>
                <a:effectLst/>
                <a:latin typeface="Consolas" panose="020B0609020204030204" pitchFamily="49" charset="0"/>
              </a:rPr>
              <a:t>(</a:t>
            </a:r>
            <a:r>
              <a:rPr lang="en-US" sz="2000" b="0" i="0" dirty="0">
                <a:solidFill>
                  <a:srgbClr val="008000"/>
                </a:solidFill>
                <a:effectLst/>
                <a:latin typeface="Consolas" panose="020B0609020204030204" pitchFamily="49" charset="0"/>
              </a:rPr>
              <a:t>"filename.txt"</a:t>
            </a: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708090"/>
                </a:solidFill>
                <a:effectLst/>
                <a:latin typeface="Consolas" panose="020B0609020204030204" pitchFamily="49" charset="0"/>
              </a:rPr>
              <a:t>// Use a while loop together with the </a:t>
            </a:r>
            <a:r>
              <a:rPr lang="en-US" sz="2000" b="0" i="0" dirty="0" err="1">
                <a:solidFill>
                  <a:srgbClr val="708090"/>
                </a:solidFill>
                <a:effectLst/>
                <a:latin typeface="Consolas" panose="020B0609020204030204" pitchFamily="49" charset="0"/>
              </a:rPr>
              <a:t>getline</a:t>
            </a:r>
            <a:r>
              <a:rPr lang="en-US" sz="2000" b="0" i="0" dirty="0">
                <a:solidFill>
                  <a:srgbClr val="708090"/>
                </a:solidFill>
                <a:effectLst/>
                <a:latin typeface="Consolas" panose="020B0609020204030204" pitchFamily="49" charset="0"/>
              </a:rPr>
              <a:t>() function to read the file line by line</a:t>
            </a:r>
            <a:br>
              <a:rPr lang="en-US" sz="2000" b="0" i="0" dirty="0">
                <a:solidFill>
                  <a:srgbClr val="708090"/>
                </a:solidFill>
                <a:effectLst/>
                <a:latin typeface="Consolas" panose="020B0609020204030204" pitchFamily="49" charset="0"/>
              </a:rPr>
            </a:br>
            <a:r>
              <a:rPr lang="en-US" sz="2000" b="0" i="0" dirty="0">
                <a:solidFill>
                  <a:srgbClr val="005CC5"/>
                </a:solidFill>
                <a:effectLst/>
                <a:latin typeface="Consolas" panose="020B0609020204030204" pitchFamily="49" charset="0"/>
              </a:rPr>
              <a:t>while</a:t>
            </a:r>
            <a:r>
              <a:rPr lang="en-US" sz="2000" b="0" i="0" dirty="0">
                <a:solidFill>
                  <a:srgbClr val="000000"/>
                </a:solidFill>
                <a:effectLst/>
                <a:latin typeface="Consolas" panose="020B0609020204030204" pitchFamily="49" charset="0"/>
              </a:rPr>
              <a:t> (</a:t>
            </a:r>
            <a:r>
              <a:rPr lang="en-US" sz="2000" b="0" i="0" dirty="0" err="1">
                <a:solidFill>
                  <a:srgbClr val="000000"/>
                </a:solidFill>
                <a:effectLst/>
                <a:latin typeface="Consolas" panose="020B0609020204030204" pitchFamily="49" charset="0"/>
              </a:rPr>
              <a:t>getline</a:t>
            </a:r>
            <a:r>
              <a:rPr lang="en-US" sz="2000" b="0" i="0" dirty="0">
                <a:solidFill>
                  <a:srgbClr val="000000"/>
                </a:solidFill>
                <a:effectLst/>
                <a:latin typeface="Consolas" panose="020B0609020204030204" pitchFamily="49" charset="0"/>
              </a:rPr>
              <a:t> (</a:t>
            </a:r>
            <a:r>
              <a:rPr lang="en-US" sz="2000" b="0" i="0" dirty="0" err="1">
                <a:solidFill>
                  <a:srgbClr val="000000"/>
                </a:solidFill>
                <a:effectLst/>
                <a:latin typeface="Consolas" panose="020B0609020204030204" pitchFamily="49" charset="0"/>
              </a:rPr>
              <a:t>MyReadFile</a:t>
            </a:r>
            <a:r>
              <a:rPr lang="en-US" sz="2000" b="0" i="0" dirty="0">
                <a:solidFill>
                  <a:srgbClr val="000000"/>
                </a:solidFill>
                <a:effectLst/>
                <a:latin typeface="Consolas" panose="020B0609020204030204" pitchFamily="49" charset="0"/>
              </a:rPr>
              <a:t>, </a:t>
            </a:r>
            <a:r>
              <a:rPr lang="en-US" sz="2000" b="0" i="0" dirty="0" err="1">
                <a:solidFill>
                  <a:srgbClr val="000000"/>
                </a:solidFill>
                <a:effectLst/>
                <a:latin typeface="Consolas" panose="020B0609020204030204" pitchFamily="49" charset="0"/>
              </a:rPr>
              <a:t>myText</a:t>
            </a:r>
            <a:r>
              <a:rPr lang="en-US" sz="2000" b="0" i="0" dirty="0">
                <a:solidFill>
                  <a:srgbClr val="000000"/>
                </a:solidFill>
                <a:effectLst/>
                <a:latin typeface="Consolas" panose="020B0609020204030204" pitchFamily="49" charset="0"/>
              </a:rPr>
              <a:t>)) {</a:t>
            </a:r>
            <a:br>
              <a:rPr lang="en-US" sz="2000" dirty="0"/>
            </a:br>
            <a:r>
              <a:rPr lang="en-US" sz="2000" b="0" i="0" dirty="0">
                <a:solidFill>
                  <a:srgbClr val="000000"/>
                </a:solidFill>
                <a:effectLst/>
                <a:latin typeface="Consolas" panose="020B0609020204030204" pitchFamily="49" charset="0"/>
              </a:rPr>
              <a:t>  </a:t>
            </a:r>
            <a:r>
              <a:rPr lang="en-US" sz="2000" b="0" i="0" dirty="0">
                <a:solidFill>
                  <a:srgbClr val="708090"/>
                </a:solidFill>
                <a:effectLst/>
                <a:latin typeface="Consolas" panose="020B0609020204030204" pitchFamily="49" charset="0"/>
              </a:rPr>
              <a:t>// Output the text from the file</a:t>
            </a:r>
            <a:br>
              <a:rPr lang="en-US" sz="2000" b="0" i="0" dirty="0">
                <a:solidFill>
                  <a:srgbClr val="708090"/>
                </a:solidFill>
                <a:effectLst/>
                <a:latin typeface="Consolas" panose="020B0609020204030204" pitchFamily="49" charset="0"/>
              </a:rPr>
            </a:br>
            <a:r>
              <a:rPr lang="en-US" sz="2000" b="0" i="0" dirty="0">
                <a:solidFill>
                  <a:srgbClr val="000000"/>
                </a:solidFill>
                <a:effectLst/>
                <a:latin typeface="Consolas" panose="020B0609020204030204" pitchFamily="49" charset="0"/>
              </a:rPr>
              <a:t>  </a:t>
            </a:r>
            <a:r>
              <a:rPr lang="en-US" sz="2000" b="0" i="0" dirty="0" err="1">
                <a:solidFill>
                  <a:srgbClr val="000000"/>
                </a:solidFill>
                <a:effectLst/>
                <a:latin typeface="Consolas" panose="020B0609020204030204" pitchFamily="49" charset="0"/>
              </a:rPr>
              <a:t>cout</a:t>
            </a:r>
            <a:r>
              <a:rPr lang="en-US" sz="2000" b="0" i="0" dirty="0">
                <a:solidFill>
                  <a:srgbClr val="000000"/>
                </a:solidFill>
                <a:effectLst/>
                <a:latin typeface="Consolas" panose="020B0609020204030204" pitchFamily="49" charset="0"/>
              </a:rPr>
              <a:t> &lt;&lt; </a:t>
            </a:r>
            <a:r>
              <a:rPr lang="en-US" sz="2000" b="0" i="0" dirty="0" err="1">
                <a:solidFill>
                  <a:srgbClr val="000000"/>
                </a:solidFill>
                <a:effectLst/>
                <a:latin typeface="Consolas" panose="020B0609020204030204" pitchFamily="49" charset="0"/>
              </a:rPr>
              <a:t>myText</a:t>
            </a:r>
            <a:r>
              <a:rPr lang="en-US" sz="2000" b="0" i="0" dirty="0">
                <a:solidFill>
                  <a:srgbClr val="000000"/>
                </a:solidFill>
                <a:effectLst/>
                <a:latin typeface="Consolas" panose="020B0609020204030204" pitchFamily="49" charset="0"/>
              </a:rPr>
              <a:t>;</a:t>
            </a:r>
            <a:br>
              <a:rPr lang="en-US" sz="2000" dirty="0"/>
            </a:b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708090"/>
                </a:solidFill>
                <a:effectLst/>
                <a:latin typeface="Consolas" panose="020B0609020204030204" pitchFamily="49" charset="0"/>
              </a:rPr>
              <a:t>// Close the file</a:t>
            </a:r>
            <a:br>
              <a:rPr lang="en-US" sz="2000" b="0" i="0" dirty="0">
                <a:solidFill>
                  <a:srgbClr val="708090"/>
                </a:solidFill>
                <a:effectLst/>
                <a:latin typeface="Consolas" panose="020B0609020204030204" pitchFamily="49" charset="0"/>
              </a:rPr>
            </a:br>
            <a:r>
              <a:rPr lang="en-US" sz="2000" b="0" i="0" dirty="0" err="1">
                <a:solidFill>
                  <a:srgbClr val="000000"/>
                </a:solidFill>
                <a:effectLst/>
                <a:latin typeface="Consolas" panose="020B0609020204030204" pitchFamily="49" charset="0"/>
              </a:rPr>
              <a:t>MyReadFile.close</a:t>
            </a:r>
            <a:r>
              <a:rPr lang="en-US" sz="2000" b="0" i="0" dirty="0">
                <a:solidFill>
                  <a:srgbClr val="000000"/>
                </a:solidFill>
                <a:effectLst/>
                <a:latin typeface="Consolas" panose="020B0609020204030204" pitchFamily="49" charset="0"/>
              </a:rPr>
              <a:t>();</a:t>
            </a:r>
            <a:endParaRPr lang="en-IN" sz="2000" dirty="0"/>
          </a:p>
        </p:txBody>
      </p:sp>
    </p:spTree>
    <p:extLst>
      <p:ext uri="{BB962C8B-B14F-4D97-AF65-F5344CB8AC3E}">
        <p14:creationId xmlns:p14="http://schemas.microsoft.com/office/powerpoint/2010/main" val="401935572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4B0D6F-0EC7-48CB-E7EA-E1587B3DC8BA}"/>
              </a:ext>
            </a:extLst>
          </p:cNvPr>
          <p:cNvSpPr txBox="1"/>
          <p:nvPr/>
        </p:nvSpPr>
        <p:spPr>
          <a:xfrm>
            <a:off x="176980" y="169296"/>
            <a:ext cx="1936954" cy="523220"/>
          </a:xfrm>
          <a:prstGeom prst="rect">
            <a:avLst/>
          </a:prstGeom>
          <a:noFill/>
        </p:spPr>
        <p:txBody>
          <a:bodyPr wrap="square">
            <a:spAutoFit/>
          </a:bodyPr>
          <a:lstStyle/>
          <a:p>
            <a:pPr algn="l">
              <a:spcBef>
                <a:spcPts val="750"/>
              </a:spcBef>
              <a:spcAft>
                <a:spcPts val="750"/>
              </a:spcAft>
              <a:buNone/>
            </a:pPr>
            <a:r>
              <a:rPr lang="en-IN" sz="2800" b="1" i="0" dirty="0">
                <a:solidFill>
                  <a:srgbClr val="000000"/>
                </a:solidFill>
                <a:effectLst/>
                <a:latin typeface="Segoe UI" panose="020B0502040204020203" pitchFamily="34" charset="0"/>
              </a:rPr>
              <a:t>Errors</a:t>
            </a:r>
          </a:p>
        </p:txBody>
      </p:sp>
      <p:sp>
        <p:nvSpPr>
          <p:cNvPr id="5" name="TextBox 4">
            <a:extLst>
              <a:ext uri="{FF2B5EF4-FFF2-40B4-BE49-F238E27FC236}">
                <a16:creationId xmlns:a16="http://schemas.microsoft.com/office/drawing/2014/main" id="{BD34A033-4DF7-7845-3330-1A82115E5E15}"/>
              </a:ext>
            </a:extLst>
          </p:cNvPr>
          <p:cNvSpPr txBox="1"/>
          <p:nvPr/>
        </p:nvSpPr>
        <p:spPr>
          <a:xfrm>
            <a:off x="98322" y="692516"/>
            <a:ext cx="11916698" cy="3149580"/>
          </a:xfrm>
          <a:prstGeom prst="rect">
            <a:avLst/>
          </a:prstGeom>
          <a:noFill/>
        </p:spPr>
        <p:txBody>
          <a:bodyPr wrap="square">
            <a:spAutoFit/>
          </a:bodyPr>
          <a:lstStyle/>
          <a:p>
            <a:pPr algn="l">
              <a:spcBef>
                <a:spcPts val="750"/>
              </a:spcBef>
              <a:spcAft>
                <a:spcPts val="750"/>
              </a:spcAft>
              <a:buNone/>
            </a:pPr>
            <a:r>
              <a:rPr lang="en-US" sz="2400" b="0" i="0" dirty="0">
                <a:solidFill>
                  <a:srgbClr val="000000"/>
                </a:solidFill>
                <a:effectLst/>
                <a:latin typeface="Segoe UI" panose="020B0502040204020203" pitchFamily="34" charset="0"/>
              </a:rPr>
              <a:t>Common Compile-Time Errors</a:t>
            </a:r>
          </a:p>
          <a:p>
            <a:pPr algn="l">
              <a:buNone/>
            </a:pPr>
            <a:r>
              <a:rPr lang="en-US" sz="2400" b="0" i="0" dirty="0">
                <a:solidFill>
                  <a:srgbClr val="000000"/>
                </a:solidFill>
                <a:effectLst/>
                <a:latin typeface="Segoe UI" panose="020B0502040204020203" pitchFamily="34" charset="0"/>
              </a:rPr>
              <a:t>Compile-time errors are mistakes that prevent your program from compiling.</a:t>
            </a:r>
          </a:p>
          <a:p>
            <a:pPr marL="342900" indent="-342900" algn="l">
              <a:buAutoNum type="arabicParenR"/>
            </a:pPr>
            <a:r>
              <a:rPr lang="en-US" sz="2400" b="1" i="0" dirty="0">
                <a:solidFill>
                  <a:srgbClr val="000000"/>
                </a:solidFill>
                <a:effectLst/>
                <a:latin typeface="Segoe UI" panose="020B0502040204020203" pitchFamily="34" charset="0"/>
              </a:rPr>
              <a:t>Missing semicolon:</a:t>
            </a:r>
          </a:p>
          <a:p>
            <a:r>
              <a:rPr lang="en-US" sz="2400" dirty="0">
                <a:solidFill>
                  <a:srgbClr val="000000"/>
                </a:solidFill>
                <a:latin typeface="Segoe UI" panose="020B0502040204020203" pitchFamily="34" charset="0"/>
              </a:rPr>
              <a:t>	</a:t>
            </a:r>
            <a:r>
              <a:rPr lang="en-IN" sz="2400" dirty="0"/>
              <a:t>int x = 5</a:t>
            </a:r>
          </a:p>
          <a:p>
            <a:r>
              <a:rPr lang="en-IN" sz="2400" b="1" dirty="0"/>
              <a:t>2) Using undeclared variables:</a:t>
            </a:r>
          </a:p>
          <a:p>
            <a:r>
              <a:rPr lang="en-IN" sz="2400" b="0" i="0" dirty="0">
                <a:solidFill>
                  <a:srgbClr val="000000"/>
                </a:solidFill>
                <a:effectLst/>
                <a:latin typeface="Segoe UI" panose="020B0502040204020203" pitchFamily="34" charset="0"/>
              </a:rPr>
              <a:t>	</a:t>
            </a:r>
            <a:r>
              <a:rPr lang="en-IN" sz="2400" dirty="0" err="1"/>
              <a:t>cout</a:t>
            </a:r>
            <a:r>
              <a:rPr lang="en-IN" sz="2400" dirty="0"/>
              <a:t> &lt;&lt; </a:t>
            </a:r>
            <a:r>
              <a:rPr lang="en-IN" sz="2400" dirty="0" err="1"/>
              <a:t>myVar</a:t>
            </a:r>
            <a:r>
              <a:rPr lang="en-IN" sz="2400" dirty="0"/>
              <a:t>;</a:t>
            </a:r>
          </a:p>
          <a:p>
            <a:r>
              <a:rPr lang="en-US" sz="2400" b="1" dirty="0"/>
              <a:t>3) Mismatched types (e.g. trying to assign a string to an int):</a:t>
            </a:r>
          </a:p>
          <a:p>
            <a:r>
              <a:rPr lang="en-US" sz="2400" b="0" i="0" dirty="0">
                <a:solidFill>
                  <a:srgbClr val="000000"/>
                </a:solidFill>
                <a:effectLst/>
                <a:latin typeface="Segoe UI" panose="020B0502040204020203" pitchFamily="34" charset="0"/>
              </a:rPr>
              <a:t>	</a:t>
            </a:r>
            <a:r>
              <a:rPr lang="en-IN" sz="2400" dirty="0"/>
              <a:t>int x = "Hello";</a:t>
            </a:r>
            <a:endParaRPr lang="en-US" sz="2400"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16640480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C95BF9-7560-5E83-7B13-828EA8F96D25}"/>
              </a:ext>
            </a:extLst>
          </p:cNvPr>
          <p:cNvSpPr txBox="1"/>
          <p:nvPr/>
        </p:nvSpPr>
        <p:spPr>
          <a:xfrm>
            <a:off x="68826" y="164616"/>
            <a:ext cx="11965857" cy="5365571"/>
          </a:xfrm>
          <a:prstGeom prst="rect">
            <a:avLst/>
          </a:prstGeom>
          <a:noFill/>
        </p:spPr>
        <p:txBody>
          <a:bodyPr wrap="square">
            <a:spAutoFit/>
          </a:bodyPr>
          <a:lstStyle/>
          <a:p>
            <a:pPr algn="l">
              <a:spcBef>
                <a:spcPts val="750"/>
              </a:spcBef>
              <a:spcAft>
                <a:spcPts val="750"/>
              </a:spcAft>
              <a:buNone/>
            </a:pPr>
            <a:r>
              <a:rPr lang="en-US" sz="2400" b="0" i="0" dirty="0">
                <a:solidFill>
                  <a:srgbClr val="000000"/>
                </a:solidFill>
                <a:effectLst/>
                <a:latin typeface="Segoe UI" panose="020B0502040204020203" pitchFamily="34" charset="0"/>
              </a:rPr>
              <a:t>Common Runtime Errors</a:t>
            </a:r>
          </a:p>
          <a:p>
            <a:pPr algn="l">
              <a:buNone/>
            </a:pPr>
            <a:r>
              <a:rPr lang="en-US" sz="2400" b="0" i="0" dirty="0">
                <a:solidFill>
                  <a:srgbClr val="000000"/>
                </a:solidFill>
                <a:effectLst/>
                <a:latin typeface="Segoe UI" panose="020B0502040204020203" pitchFamily="34" charset="0"/>
              </a:rPr>
              <a:t>Runtime errors occur when the program compiles but crashes or behaves unexpectedly.</a:t>
            </a:r>
          </a:p>
          <a:p>
            <a:pPr marL="342900" indent="-342900" algn="l">
              <a:buAutoNum type="arabicParenR"/>
            </a:pPr>
            <a:r>
              <a:rPr lang="en-US" sz="2400" b="1" i="0" dirty="0">
                <a:solidFill>
                  <a:srgbClr val="000000"/>
                </a:solidFill>
                <a:effectLst/>
                <a:latin typeface="Segoe UI" panose="020B0502040204020203" pitchFamily="34" charset="0"/>
              </a:rPr>
              <a:t>Dividing by zero:</a:t>
            </a:r>
          </a:p>
          <a:p>
            <a:r>
              <a:rPr lang="en-US" sz="2400" b="1" dirty="0">
                <a:solidFill>
                  <a:srgbClr val="000000"/>
                </a:solidFill>
                <a:latin typeface="Segoe UI" panose="020B0502040204020203" pitchFamily="34" charset="0"/>
              </a:rPr>
              <a:t>	</a:t>
            </a:r>
            <a:r>
              <a:rPr lang="en-US" sz="2400" dirty="0"/>
              <a:t>int a = 10;</a:t>
            </a:r>
            <a:br>
              <a:rPr lang="en-US" sz="2400" dirty="0"/>
            </a:br>
            <a:r>
              <a:rPr lang="en-US" sz="2400" dirty="0"/>
              <a:t>	int b = 0;</a:t>
            </a:r>
            <a:br>
              <a:rPr lang="en-US" sz="2400" dirty="0"/>
            </a:br>
            <a:r>
              <a:rPr lang="en-US" sz="2400" dirty="0"/>
              <a:t>	int result = a / b;  // not possible</a:t>
            </a:r>
            <a:br>
              <a:rPr lang="en-US" sz="2400" dirty="0"/>
            </a:br>
            <a:r>
              <a:rPr lang="en-US" sz="2400" dirty="0"/>
              <a:t>	</a:t>
            </a:r>
            <a:r>
              <a:rPr lang="en-US" sz="2400" dirty="0" err="1"/>
              <a:t>cout</a:t>
            </a:r>
            <a:r>
              <a:rPr lang="en-US" sz="2400" dirty="0"/>
              <a:t> &lt;&lt; result;</a:t>
            </a:r>
          </a:p>
          <a:p>
            <a:r>
              <a:rPr lang="en-US" sz="2400" b="1" dirty="0"/>
              <a:t>2) Accessing out-of-bounds array elements:</a:t>
            </a:r>
          </a:p>
          <a:p>
            <a:r>
              <a:rPr lang="en-US" sz="2400" b="1" i="0" dirty="0">
                <a:solidFill>
                  <a:srgbClr val="000000"/>
                </a:solidFill>
                <a:effectLst/>
                <a:latin typeface="Segoe UI" panose="020B0502040204020203" pitchFamily="34" charset="0"/>
              </a:rPr>
              <a:t>	</a:t>
            </a:r>
            <a:r>
              <a:rPr lang="en-US" sz="2400" dirty="0"/>
              <a:t>int numbers[3] = {1, 2, 3};</a:t>
            </a:r>
            <a:br>
              <a:rPr lang="en-US" sz="2400" dirty="0"/>
            </a:br>
            <a:r>
              <a:rPr lang="en-US" sz="2400" dirty="0"/>
              <a:t>	</a:t>
            </a:r>
            <a:r>
              <a:rPr lang="en-US" sz="2400" dirty="0" err="1"/>
              <a:t>cout</a:t>
            </a:r>
            <a:r>
              <a:rPr lang="en-US" sz="2400" dirty="0"/>
              <a:t> &lt;&lt; numbers[8];  // element does not exist</a:t>
            </a:r>
          </a:p>
          <a:p>
            <a:r>
              <a:rPr lang="en-US" sz="2400" b="1" dirty="0"/>
              <a:t>3) Using deleted memory (dangling pointer):</a:t>
            </a:r>
            <a:endParaRPr lang="en-US" sz="2400" dirty="0"/>
          </a:p>
          <a:p>
            <a:pPr lvl="2"/>
            <a:r>
              <a:rPr lang="en-US" sz="2400" dirty="0"/>
              <a:t>int* </a:t>
            </a:r>
            <a:r>
              <a:rPr lang="en-US" sz="2400" dirty="0" err="1"/>
              <a:t>ptr</a:t>
            </a:r>
            <a:r>
              <a:rPr lang="en-US" sz="2400" dirty="0"/>
              <a:t> = new int(10);</a:t>
            </a:r>
            <a:br>
              <a:rPr lang="en-US" sz="2400" dirty="0"/>
            </a:br>
            <a:r>
              <a:rPr lang="en-US" sz="2400" dirty="0"/>
              <a:t>delete </a:t>
            </a:r>
            <a:r>
              <a:rPr lang="en-US" sz="2400" dirty="0" err="1"/>
              <a:t>ptr</a:t>
            </a:r>
            <a:r>
              <a:rPr lang="en-US" sz="2400" dirty="0"/>
              <a:t>;</a:t>
            </a:r>
            <a:br>
              <a:rPr lang="en-US" sz="2400" dirty="0"/>
            </a:br>
            <a:r>
              <a:rPr lang="en-US" sz="2400" dirty="0" err="1"/>
              <a:t>cout</a:t>
            </a:r>
            <a:r>
              <a:rPr lang="en-US" sz="2400" dirty="0"/>
              <a:t> &lt;&lt; *</a:t>
            </a:r>
            <a:r>
              <a:rPr lang="en-US" sz="2400" dirty="0" err="1"/>
              <a:t>ptr</a:t>
            </a:r>
            <a:r>
              <a:rPr lang="en-US" sz="2400" dirty="0"/>
              <a:t>;  // invalid</a:t>
            </a:r>
          </a:p>
        </p:txBody>
      </p:sp>
    </p:spTree>
    <p:extLst>
      <p:ext uri="{BB962C8B-B14F-4D97-AF65-F5344CB8AC3E}">
        <p14:creationId xmlns:p14="http://schemas.microsoft.com/office/powerpoint/2010/main" val="14865813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E7F45F-7039-1BF8-0C07-DF114EE31CCA}"/>
              </a:ext>
            </a:extLst>
          </p:cNvPr>
          <p:cNvSpPr txBox="1"/>
          <p:nvPr/>
        </p:nvSpPr>
        <p:spPr>
          <a:xfrm>
            <a:off x="255637" y="100469"/>
            <a:ext cx="2458065" cy="523220"/>
          </a:xfrm>
          <a:prstGeom prst="rect">
            <a:avLst/>
          </a:prstGeom>
          <a:noFill/>
        </p:spPr>
        <p:txBody>
          <a:bodyPr wrap="square">
            <a:spAutoFit/>
          </a:bodyPr>
          <a:lstStyle/>
          <a:p>
            <a:pPr algn="l">
              <a:spcBef>
                <a:spcPts val="750"/>
              </a:spcBef>
              <a:spcAft>
                <a:spcPts val="750"/>
              </a:spcAft>
              <a:buNone/>
            </a:pPr>
            <a:r>
              <a:rPr lang="en-IN" sz="2800" b="1" i="0" dirty="0">
                <a:solidFill>
                  <a:srgbClr val="000000"/>
                </a:solidFill>
                <a:effectLst/>
                <a:latin typeface="Segoe UI" panose="020B0502040204020203" pitchFamily="34" charset="0"/>
              </a:rPr>
              <a:t>Exceptions</a:t>
            </a:r>
          </a:p>
        </p:txBody>
      </p:sp>
      <p:sp>
        <p:nvSpPr>
          <p:cNvPr id="5" name="TextBox 4">
            <a:extLst>
              <a:ext uri="{FF2B5EF4-FFF2-40B4-BE49-F238E27FC236}">
                <a16:creationId xmlns:a16="http://schemas.microsoft.com/office/drawing/2014/main" id="{65206F0A-CE68-892A-252A-7EC99E62F47D}"/>
              </a:ext>
            </a:extLst>
          </p:cNvPr>
          <p:cNvSpPr txBox="1"/>
          <p:nvPr/>
        </p:nvSpPr>
        <p:spPr>
          <a:xfrm>
            <a:off x="142567" y="638492"/>
            <a:ext cx="11906865" cy="3990836"/>
          </a:xfrm>
          <a:prstGeom prst="rect">
            <a:avLst/>
          </a:prstGeom>
          <a:noFill/>
        </p:spPr>
        <p:txBody>
          <a:bodyPr wrap="square">
            <a:spAutoFit/>
          </a:bodyPr>
          <a:lstStyle/>
          <a:p>
            <a:pPr algn="l">
              <a:buNone/>
            </a:pPr>
            <a:r>
              <a:rPr lang="en-US" sz="2400" b="0" i="0" dirty="0">
                <a:solidFill>
                  <a:srgbClr val="000000"/>
                </a:solidFill>
                <a:effectLst/>
                <a:latin typeface="Segoe UI" panose="020B0502040204020203" pitchFamily="34" charset="0"/>
              </a:rPr>
              <a:t>When an error occurs, C++ will normally stop and generate an error message. The technical term for this is: C++ will throw an </a:t>
            </a:r>
            <a:r>
              <a:rPr lang="en-US" sz="2400" b="1" i="0" dirty="0">
                <a:solidFill>
                  <a:srgbClr val="000000"/>
                </a:solidFill>
                <a:effectLst/>
                <a:latin typeface="Segoe UI" panose="020B0502040204020203" pitchFamily="34" charset="0"/>
              </a:rPr>
              <a:t>exception</a:t>
            </a:r>
            <a:r>
              <a:rPr lang="en-US" sz="2400" b="0" i="0" dirty="0">
                <a:solidFill>
                  <a:srgbClr val="000000"/>
                </a:solidFill>
                <a:effectLst/>
                <a:latin typeface="Segoe UI" panose="020B0502040204020203" pitchFamily="34" charset="0"/>
              </a:rPr>
              <a:t> (throw an error).</a:t>
            </a:r>
          </a:p>
          <a:p>
            <a:pPr>
              <a:buNone/>
            </a:pPr>
            <a:endParaRPr lang="en-US" sz="2400" dirty="0"/>
          </a:p>
          <a:p>
            <a:pPr algn="l">
              <a:spcBef>
                <a:spcPts val="750"/>
              </a:spcBef>
              <a:spcAft>
                <a:spcPts val="750"/>
              </a:spcAft>
              <a:buNone/>
            </a:pPr>
            <a:r>
              <a:rPr lang="en-US" sz="2400" b="1" i="0" dirty="0">
                <a:solidFill>
                  <a:srgbClr val="000000"/>
                </a:solidFill>
                <a:effectLst/>
                <a:latin typeface="Segoe UI" panose="020B0502040204020203" pitchFamily="34" charset="0"/>
              </a:rPr>
              <a:t>Exception Handling (try and catch)</a:t>
            </a:r>
          </a:p>
          <a:p>
            <a:pPr algn="l">
              <a:buNone/>
            </a:pPr>
            <a:r>
              <a:rPr lang="en-US" sz="2400" b="0" i="0" dirty="0">
                <a:solidFill>
                  <a:srgbClr val="000000"/>
                </a:solidFill>
                <a:effectLst/>
                <a:latin typeface="Segoe UI" panose="020B0502040204020203" pitchFamily="34" charset="0"/>
              </a:rPr>
              <a:t>Exception handling lets you </a:t>
            </a:r>
            <a:r>
              <a:rPr lang="en-US" sz="2400" b="1" i="0" dirty="0">
                <a:solidFill>
                  <a:srgbClr val="000000"/>
                </a:solidFill>
                <a:effectLst/>
                <a:latin typeface="Segoe UI" panose="020B0502040204020203" pitchFamily="34" charset="0"/>
              </a:rPr>
              <a:t>catch and handle errors</a:t>
            </a:r>
            <a:r>
              <a:rPr lang="en-US" sz="2400" b="0" i="0" dirty="0">
                <a:solidFill>
                  <a:srgbClr val="000000"/>
                </a:solidFill>
                <a:effectLst/>
                <a:latin typeface="Segoe UI" panose="020B0502040204020203" pitchFamily="34" charset="0"/>
              </a:rPr>
              <a:t> during runtime - so your program doesn't crash.</a:t>
            </a:r>
          </a:p>
          <a:p>
            <a:pPr algn="l">
              <a:buNone/>
            </a:pPr>
            <a:r>
              <a:rPr lang="en-US" sz="2400" b="0" i="0" dirty="0">
                <a:solidFill>
                  <a:srgbClr val="000000"/>
                </a:solidFill>
                <a:effectLst/>
                <a:latin typeface="Segoe UI" panose="020B0502040204020203" pitchFamily="34" charset="0"/>
              </a:rPr>
              <a:t>It uses three keywords:</a:t>
            </a:r>
          </a:p>
          <a:p>
            <a:pPr algn="l">
              <a:buFont typeface="Arial" panose="020B0604020202020204" pitchFamily="34" charset="0"/>
              <a:buChar char="•"/>
            </a:pPr>
            <a:r>
              <a:rPr lang="en-US" sz="2400" b="0" i="0" dirty="0">
                <a:solidFill>
                  <a:srgbClr val="DC143C"/>
                </a:solidFill>
                <a:effectLst/>
                <a:latin typeface="Consolas" panose="020B0609020204030204" pitchFamily="49" charset="0"/>
              </a:rPr>
              <a:t>try</a:t>
            </a:r>
            <a:r>
              <a:rPr lang="en-US" sz="2400" b="0" i="0" dirty="0">
                <a:solidFill>
                  <a:srgbClr val="000000"/>
                </a:solidFill>
                <a:effectLst/>
                <a:latin typeface="Segoe UI" panose="020B0502040204020203" pitchFamily="34" charset="0"/>
              </a:rPr>
              <a:t> - defines the code to test</a:t>
            </a:r>
          </a:p>
          <a:p>
            <a:pPr algn="l">
              <a:buFont typeface="Arial" panose="020B0604020202020204" pitchFamily="34" charset="0"/>
              <a:buChar char="•"/>
            </a:pPr>
            <a:r>
              <a:rPr lang="en-US" sz="2400" b="0" i="0" dirty="0">
                <a:solidFill>
                  <a:srgbClr val="DC143C"/>
                </a:solidFill>
                <a:effectLst/>
                <a:latin typeface="Consolas" panose="020B0609020204030204" pitchFamily="49" charset="0"/>
              </a:rPr>
              <a:t>throw</a:t>
            </a:r>
            <a:r>
              <a:rPr lang="en-US" sz="2400" b="0" i="0" dirty="0">
                <a:solidFill>
                  <a:srgbClr val="000000"/>
                </a:solidFill>
                <a:effectLst/>
                <a:latin typeface="Segoe UI" panose="020B0502040204020203" pitchFamily="34" charset="0"/>
              </a:rPr>
              <a:t> - triggers an exception</a:t>
            </a:r>
          </a:p>
          <a:p>
            <a:pPr algn="l">
              <a:buFont typeface="Arial" panose="020B0604020202020204" pitchFamily="34" charset="0"/>
              <a:buChar char="•"/>
            </a:pPr>
            <a:r>
              <a:rPr lang="en-US" sz="2400" b="0" i="0" dirty="0">
                <a:solidFill>
                  <a:srgbClr val="DC143C"/>
                </a:solidFill>
                <a:effectLst/>
                <a:latin typeface="Consolas" panose="020B0609020204030204" pitchFamily="49" charset="0"/>
              </a:rPr>
              <a:t>catch</a:t>
            </a:r>
            <a:r>
              <a:rPr lang="en-US" sz="2400" b="0" i="0" dirty="0">
                <a:solidFill>
                  <a:srgbClr val="000000"/>
                </a:solidFill>
                <a:effectLst/>
                <a:latin typeface="Segoe UI" panose="020B0502040204020203" pitchFamily="34" charset="0"/>
              </a:rPr>
              <a:t> - handles the error</a:t>
            </a:r>
          </a:p>
        </p:txBody>
      </p:sp>
    </p:spTree>
    <p:extLst>
      <p:ext uri="{BB962C8B-B14F-4D97-AF65-F5344CB8AC3E}">
        <p14:creationId xmlns:p14="http://schemas.microsoft.com/office/powerpoint/2010/main" val="406112257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880B1C-327E-891A-4542-74596BC92B29}"/>
              </a:ext>
            </a:extLst>
          </p:cNvPr>
          <p:cNvSpPr txBox="1"/>
          <p:nvPr/>
        </p:nvSpPr>
        <p:spPr>
          <a:xfrm>
            <a:off x="196644" y="154377"/>
            <a:ext cx="11602065" cy="2677656"/>
          </a:xfrm>
          <a:prstGeom prst="rect">
            <a:avLst/>
          </a:prstGeom>
          <a:noFill/>
        </p:spPr>
        <p:txBody>
          <a:bodyPr wrap="square">
            <a:spAutoFit/>
          </a:bodyPr>
          <a:lstStyle/>
          <a:p>
            <a:r>
              <a:rPr lang="en-US" sz="2400" b="0" i="0" dirty="0">
                <a:solidFill>
                  <a:srgbClr val="005CC5"/>
                </a:solidFill>
                <a:effectLst/>
                <a:latin typeface="Consolas" panose="020B0609020204030204" pitchFamily="49" charset="0"/>
              </a:rPr>
              <a:t>try</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a:solidFill>
                  <a:srgbClr val="708090"/>
                </a:solidFill>
                <a:effectLst/>
                <a:latin typeface="Consolas" panose="020B0609020204030204" pitchFamily="49" charset="0"/>
              </a:rPr>
              <a:t>// Code that may throw an exception</a:t>
            </a:r>
            <a:br>
              <a:rPr lang="en-US" sz="2400" b="0" i="0" dirty="0">
                <a:solidFill>
                  <a:srgbClr val="708090"/>
                </a:solidFill>
                <a:effectLst/>
                <a:latin typeface="Consolas" panose="020B0609020204030204" pitchFamily="49" charset="0"/>
              </a:rPr>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throw</a:t>
            </a:r>
            <a:r>
              <a:rPr lang="en-US" sz="2400" b="0" i="0" dirty="0">
                <a:solidFill>
                  <a:srgbClr val="000000"/>
                </a:solidFill>
                <a:effectLst/>
                <a:latin typeface="Consolas" panose="020B0609020204030204" pitchFamily="49" charset="0"/>
              </a:rPr>
              <a:t> </a:t>
            </a:r>
            <a:r>
              <a:rPr lang="en-US" sz="2400" b="0" i="0" dirty="0">
                <a:solidFill>
                  <a:srgbClr val="990055"/>
                </a:solidFill>
                <a:effectLst/>
                <a:latin typeface="Consolas" panose="020B0609020204030204" pitchFamily="49" charset="0"/>
              </a:rPr>
              <a:t>505</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a:t>
            </a:r>
            <a:br>
              <a:rPr lang="en-US" sz="2400" dirty="0"/>
            </a:br>
            <a:r>
              <a:rPr lang="en-US" sz="2400" b="0" i="0" dirty="0">
                <a:solidFill>
                  <a:srgbClr val="005CC5"/>
                </a:solidFill>
                <a:effectLst/>
                <a:latin typeface="Consolas" panose="020B0609020204030204" pitchFamily="49" charset="0"/>
              </a:rPr>
              <a:t>catch</a:t>
            </a: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int</a:t>
            </a: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errorCode</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"Error occurred: "</a:t>
            </a:r>
            <a:r>
              <a:rPr lang="en-US" sz="2400" b="0" i="0" dirty="0">
                <a:solidFill>
                  <a:srgbClr val="000000"/>
                </a:solidFill>
                <a:effectLst/>
                <a:latin typeface="Consolas" panose="020B0609020204030204" pitchFamily="49" charset="0"/>
              </a:rPr>
              <a:t> &lt;&lt; </a:t>
            </a:r>
            <a:r>
              <a:rPr lang="en-US" sz="2400" b="0" i="0" dirty="0" err="1">
                <a:solidFill>
                  <a:srgbClr val="000000"/>
                </a:solidFill>
                <a:effectLst/>
                <a:latin typeface="Consolas" panose="020B0609020204030204" pitchFamily="49" charset="0"/>
              </a:rPr>
              <a:t>errorCode</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a:t>
            </a:r>
            <a:endParaRPr lang="en-IN" sz="2400" dirty="0"/>
          </a:p>
        </p:txBody>
      </p:sp>
    </p:spTree>
    <p:extLst>
      <p:ext uri="{BB962C8B-B14F-4D97-AF65-F5344CB8AC3E}">
        <p14:creationId xmlns:p14="http://schemas.microsoft.com/office/powerpoint/2010/main" val="175064691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BD6D6A-D77A-1356-9512-12130D29D91F}"/>
              </a:ext>
            </a:extLst>
          </p:cNvPr>
          <p:cNvSpPr txBox="1"/>
          <p:nvPr/>
        </p:nvSpPr>
        <p:spPr>
          <a:xfrm>
            <a:off x="108155" y="177431"/>
            <a:ext cx="11936361" cy="830997"/>
          </a:xfrm>
          <a:prstGeom prst="rect">
            <a:avLst/>
          </a:prstGeom>
          <a:noFill/>
        </p:spPr>
        <p:txBody>
          <a:bodyPr wrap="square">
            <a:spAutoFit/>
          </a:bodyPr>
          <a:lstStyle/>
          <a:p>
            <a:r>
              <a:rPr lang="en-US" sz="2400" b="0" i="0" dirty="0">
                <a:solidFill>
                  <a:srgbClr val="000000"/>
                </a:solidFill>
                <a:effectLst/>
                <a:latin typeface="Segoe UI" panose="020B0502040204020203" pitchFamily="34" charset="0"/>
              </a:rPr>
              <a:t>You can also use the </a:t>
            </a:r>
            <a:r>
              <a:rPr lang="en-US" sz="2400" b="0" i="0" dirty="0">
                <a:solidFill>
                  <a:srgbClr val="DC143C"/>
                </a:solidFill>
                <a:effectLst/>
                <a:latin typeface="Consolas" panose="020B0609020204030204" pitchFamily="49" charset="0"/>
              </a:rPr>
              <a:t>throw</a:t>
            </a:r>
            <a:r>
              <a:rPr lang="en-US" sz="2400" b="0" i="0" dirty="0">
                <a:solidFill>
                  <a:srgbClr val="000000"/>
                </a:solidFill>
                <a:effectLst/>
                <a:latin typeface="Segoe UI" panose="020B0502040204020203" pitchFamily="34" charset="0"/>
              </a:rPr>
              <a:t> keyword to output a reference number, like a custom error number/code for organizing purposes (</a:t>
            </a:r>
            <a:r>
              <a:rPr lang="en-US" sz="2400" b="0" i="0" dirty="0">
                <a:solidFill>
                  <a:srgbClr val="DC143C"/>
                </a:solidFill>
                <a:effectLst/>
                <a:latin typeface="Consolas" panose="020B0609020204030204" pitchFamily="49" charset="0"/>
              </a:rPr>
              <a:t>505</a:t>
            </a:r>
            <a:r>
              <a:rPr lang="en-US" sz="2400" b="0" i="0" dirty="0">
                <a:solidFill>
                  <a:srgbClr val="000000"/>
                </a:solidFill>
                <a:effectLst/>
                <a:latin typeface="Segoe UI" panose="020B0502040204020203" pitchFamily="34" charset="0"/>
              </a:rPr>
              <a:t> in our example):</a:t>
            </a:r>
            <a:endParaRPr lang="en-IN" sz="2400" dirty="0"/>
          </a:p>
        </p:txBody>
      </p:sp>
      <p:sp>
        <p:nvSpPr>
          <p:cNvPr id="5" name="TextBox 4">
            <a:extLst>
              <a:ext uri="{FF2B5EF4-FFF2-40B4-BE49-F238E27FC236}">
                <a16:creationId xmlns:a16="http://schemas.microsoft.com/office/drawing/2014/main" id="{121887A1-91AA-F8D5-407B-2D044CB58FDA}"/>
              </a:ext>
            </a:extLst>
          </p:cNvPr>
          <p:cNvSpPr txBox="1"/>
          <p:nvPr/>
        </p:nvSpPr>
        <p:spPr>
          <a:xfrm>
            <a:off x="314632" y="1446299"/>
            <a:ext cx="11729884" cy="4524315"/>
          </a:xfrm>
          <a:prstGeom prst="rect">
            <a:avLst/>
          </a:prstGeom>
          <a:noFill/>
        </p:spPr>
        <p:txBody>
          <a:bodyPr wrap="square">
            <a:spAutoFit/>
          </a:bodyPr>
          <a:lstStyle/>
          <a:p>
            <a:r>
              <a:rPr lang="en-US" sz="2400" b="0" i="0" dirty="0">
                <a:solidFill>
                  <a:srgbClr val="005CC5"/>
                </a:solidFill>
                <a:effectLst/>
                <a:latin typeface="Consolas" panose="020B0609020204030204" pitchFamily="49" charset="0"/>
              </a:rPr>
              <a:t>try</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int</a:t>
            </a:r>
            <a:r>
              <a:rPr lang="en-US" sz="2400" b="0" i="0" dirty="0">
                <a:solidFill>
                  <a:srgbClr val="000000"/>
                </a:solidFill>
                <a:effectLst/>
                <a:latin typeface="Consolas" panose="020B0609020204030204" pitchFamily="49" charset="0"/>
              </a:rPr>
              <a:t> age = </a:t>
            </a:r>
            <a:r>
              <a:rPr lang="en-US" sz="2400" b="0" i="0" dirty="0">
                <a:solidFill>
                  <a:srgbClr val="990055"/>
                </a:solidFill>
                <a:effectLst/>
                <a:latin typeface="Consolas" panose="020B0609020204030204" pitchFamily="49" charset="0"/>
              </a:rPr>
              <a:t>15</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if</a:t>
            </a:r>
            <a:r>
              <a:rPr lang="en-US" sz="2400" b="0" i="0" dirty="0">
                <a:solidFill>
                  <a:srgbClr val="000000"/>
                </a:solidFill>
                <a:effectLst/>
                <a:latin typeface="Consolas" panose="020B0609020204030204" pitchFamily="49" charset="0"/>
              </a:rPr>
              <a:t> (age &gt;= </a:t>
            </a:r>
            <a:r>
              <a:rPr lang="en-US" sz="2400" b="0" i="0" dirty="0">
                <a:solidFill>
                  <a:srgbClr val="990055"/>
                </a:solidFill>
                <a:effectLst/>
                <a:latin typeface="Consolas" panose="020B0609020204030204" pitchFamily="49" charset="0"/>
              </a:rPr>
              <a:t>18</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"Access granted - you are old enough."</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  } </a:t>
            </a:r>
            <a:r>
              <a:rPr lang="en-US" sz="2400" b="0" i="0" dirty="0">
                <a:solidFill>
                  <a:srgbClr val="005CC5"/>
                </a:solidFill>
                <a:effectLst/>
                <a:latin typeface="Consolas" panose="020B0609020204030204" pitchFamily="49" charset="0"/>
              </a:rPr>
              <a:t>else</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throw</a:t>
            </a:r>
            <a:r>
              <a:rPr lang="en-US" sz="2400" b="0" i="0" dirty="0">
                <a:solidFill>
                  <a:srgbClr val="000000"/>
                </a:solidFill>
                <a:effectLst/>
                <a:latin typeface="Consolas" panose="020B0609020204030204" pitchFamily="49" charset="0"/>
              </a:rPr>
              <a:t> </a:t>
            </a:r>
            <a:r>
              <a:rPr lang="en-US" sz="2400" b="0" i="0" dirty="0">
                <a:solidFill>
                  <a:srgbClr val="990055"/>
                </a:solidFill>
                <a:effectLst/>
                <a:latin typeface="Consolas" panose="020B0609020204030204" pitchFamily="49" charset="0"/>
              </a:rPr>
              <a:t>505</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a:t>
            </a:r>
            <a:br>
              <a:rPr lang="en-US" sz="2400" dirty="0"/>
            </a:br>
            <a:r>
              <a:rPr lang="en-US" sz="2400" b="0" i="0" dirty="0">
                <a:solidFill>
                  <a:srgbClr val="005CC5"/>
                </a:solidFill>
                <a:effectLst/>
                <a:latin typeface="Consolas" panose="020B0609020204030204" pitchFamily="49" charset="0"/>
              </a:rPr>
              <a:t>catch</a:t>
            </a: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int</a:t>
            </a: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myNum</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"Access denied - You must be at least 18 years old.\n"</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"Error number: "</a:t>
            </a:r>
            <a:r>
              <a:rPr lang="en-US" sz="2400" b="0" i="0" dirty="0">
                <a:solidFill>
                  <a:srgbClr val="000000"/>
                </a:solidFill>
                <a:effectLst/>
                <a:latin typeface="Consolas" panose="020B0609020204030204" pitchFamily="49" charset="0"/>
              </a:rPr>
              <a:t> &lt;&lt; </a:t>
            </a:r>
            <a:r>
              <a:rPr lang="en-US" sz="2400" b="0" i="0" dirty="0" err="1">
                <a:solidFill>
                  <a:srgbClr val="000000"/>
                </a:solidFill>
                <a:effectLst/>
                <a:latin typeface="Consolas" panose="020B0609020204030204" pitchFamily="49" charset="0"/>
              </a:rPr>
              <a:t>myNum</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a:t>
            </a:r>
            <a:endParaRPr lang="en-IN" sz="2400" dirty="0"/>
          </a:p>
        </p:txBody>
      </p:sp>
    </p:spTree>
    <p:extLst>
      <p:ext uri="{BB962C8B-B14F-4D97-AF65-F5344CB8AC3E}">
        <p14:creationId xmlns:p14="http://schemas.microsoft.com/office/powerpoint/2010/main" val="283458813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2813FA-D1F1-4374-3CCF-A39E8A26A10C}"/>
              </a:ext>
            </a:extLst>
          </p:cNvPr>
          <p:cNvSpPr txBox="1"/>
          <p:nvPr/>
        </p:nvSpPr>
        <p:spPr>
          <a:xfrm>
            <a:off x="0" y="194114"/>
            <a:ext cx="11965858" cy="1302921"/>
          </a:xfrm>
          <a:prstGeom prst="rect">
            <a:avLst/>
          </a:prstGeom>
          <a:noFill/>
        </p:spPr>
        <p:txBody>
          <a:bodyPr wrap="square">
            <a:spAutoFit/>
          </a:bodyPr>
          <a:lstStyle/>
          <a:p>
            <a:pPr algn="l">
              <a:spcBef>
                <a:spcPts val="750"/>
              </a:spcBef>
              <a:spcAft>
                <a:spcPts val="750"/>
              </a:spcAft>
              <a:buNone/>
            </a:pPr>
            <a:r>
              <a:rPr lang="en-US" sz="2400" b="0" i="0" dirty="0">
                <a:solidFill>
                  <a:srgbClr val="000000"/>
                </a:solidFill>
                <a:effectLst/>
                <a:latin typeface="Segoe UI" panose="020B0502040204020203" pitchFamily="34" charset="0"/>
              </a:rPr>
              <a:t>Handle Any Type of Exceptions (...)</a:t>
            </a:r>
          </a:p>
          <a:p>
            <a:pPr algn="l">
              <a:buNone/>
            </a:pPr>
            <a:r>
              <a:rPr lang="en-US" sz="2400" b="0" i="0" dirty="0">
                <a:solidFill>
                  <a:srgbClr val="000000"/>
                </a:solidFill>
                <a:effectLst/>
                <a:latin typeface="Segoe UI" panose="020B0502040204020203" pitchFamily="34" charset="0"/>
              </a:rPr>
              <a:t>If you do not know the </a:t>
            </a:r>
            <a:r>
              <a:rPr lang="en-US" sz="2400" b="0" i="0" dirty="0">
                <a:solidFill>
                  <a:srgbClr val="DC143C"/>
                </a:solidFill>
                <a:effectLst/>
                <a:latin typeface="Consolas" panose="020B0609020204030204" pitchFamily="49" charset="0"/>
              </a:rPr>
              <a:t>throw</a:t>
            </a:r>
            <a:r>
              <a:rPr lang="en-US" sz="2400" b="0" i="0" dirty="0">
                <a:solidFill>
                  <a:srgbClr val="000000"/>
                </a:solidFill>
                <a:effectLst/>
                <a:latin typeface="Segoe UI" panose="020B0502040204020203" pitchFamily="34" charset="0"/>
              </a:rPr>
              <a:t> </a:t>
            </a:r>
            <a:r>
              <a:rPr lang="en-US" sz="2400" b="1" i="0" dirty="0">
                <a:solidFill>
                  <a:srgbClr val="000000"/>
                </a:solidFill>
                <a:effectLst/>
                <a:latin typeface="Segoe UI" panose="020B0502040204020203" pitchFamily="34" charset="0"/>
              </a:rPr>
              <a:t>type</a:t>
            </a:r>
            <a:r>
              <a:rPr lang="en-US" sz="2400" b="0" i="0" dirty="0">
                <a:solidFill>
                  <a:srgbClr val="000000"/>
                </a:solidFill>
                <a:effectLst/>
                <a:latin typeface="Segoe UI" panose="020B0502040204020203" pitchFamily="34" charset="0"/>
              </a:rPr>
              <a:t> used in the </a:t>
            </a:r>
            <a:r>
              <a:rPr lang="en-US" sz="2400" b="0" i="0" dirty="0">
                <a:solidFill>
                  <a:srgbClr val="DC143C"/>
                </a:solidFill>
                <a:effectLst/>
                <a:latin typeface="Consolas" panose="020B0609020204030204" pitchFamily="49" charset="0"/>
              </a:rPr>
              <a:t>try</a:t>
            </a:r>
            <a:r>
              <a:rPr lang="en-US" sz="2400" b="0" i="0" dirty="0">
                <a:solidFill>
                  <a:srgbClr val="000000"/>
                </a:solidFill>
                <a:effectLst/>
                <a:latin typeface="Segoe UI" panose="020B0502040204020203" pitchFamily="34" charset="0"/>
              </a:rPr>
              <a:t> block, you can use the "three dots" syntax (</a:t>
            </a:r>
            <a:r>
              <a:rPr lang="en-US" sz="2400" b="0" i="0" dirty="0">
                <a:solidFill>
                  <a:srgbClr val="DC143C"/>
                </a:solidFill>
                <a:effectLst/>
                <a:latin typeface="Consolas" panose="020B0609020204030204" pitchFamily="49" charset="0"/>
              </a:rPr>
              <a:t>...</a:t>
            </a:r>
            <a:r>
              <a:rPr lang="en-US" sz="2400" b="0" i="0" dirty="0">
                <a:solidFill>
                  <a:srgbClr val="000000"/>
                </a:solidFill>
                <a:effectLst/>
                <a:latin typeface="Segoe UI" panose="020B0502040204020203" pitchFamily="34" charset="0"/>
              </a:rPr>
              <a:t>) inside the </a:t>
            </a:r>
            <a:r>
              <a:rPr lang="en-US" sz="2400" b="0" i="0" dirty="0">
                <a:solidFill>
                  <a:srgbClr val="DC143C"/>
                </a:solidFill>
                <a:effectLst/>
                <a:latin typeface="Consolas" panose="020B0609020204030204" pitchFamily="49" charset="0"/>
              </a:rPr>
              <a:t>catch</a:t>
            </a:r>
            <a:r>
              <a:rPr lang="en-US" sz="2400" b="0" i="0" dirty="0">
                <a:solidFill>
                  <a:srgbClr val="000000"/>
                </a:solidFill>
                <a:effectLst/>
                <a:latin typeface="Segoe UI" panose="020B0502040204020203" pitchFamily="34" charset="0"/>
              </a:rPr>
              <a:t> block, which will handle any type of exception:</a:t>
            </a:r>
          </a:p>
        </p:txBody>
      </p:sp>
      <p:sp>
        <p:nvSpPr>
          <p:cNvPr id="5" name="TextBox 4">
            <a:extLst>
              <a:ext uri="{FF2B5EF4-FFF2-40B4-BE49-F238E27FC236}">
                <a16:creationId xmlns:a16="http://schemas.microsoft.com/office/drawing/2014/main" id="{B6953347-89CB-EFD9-73BB-9EAF0C628687}"/>
              </a:ext>
            </a:extLst>
          </p:cNvPr>
          <p:cNvSpPr txBox="1"/>
          <p:nvPr/>
        </p:nvSpPr>
        <p:spPr>
          <a:xfrm>
            <a:off x="88490" y="1899431"/>
            <a:ext cx="11877368" cy="4154984"/>
          </a:xfrm>
          <a:prstGeom prst="rect">
            <a:avLst/>
          </a:prstGeom>
          <a:noFill/>
        </p:spPr>
        <p:txBody>
          <a:bodyPr wrap="square">
            <a:spAutoFit/>
          </a:bodyPr>
          <a:lstStyle/>
          <a:p>
            <a:r>
              <a:rPr lang="en-US" sz="2400" b="0" i="0" dirty="0">
                <a:solidFill>
                  <a:srgbClr val="005CC5"/>
                </a:solidFill>
                <a:effectLst/>
                <a:latin typeface="Consolas" panose="020B0609020204030204" pitchFamily="49" charset="0"/>
              </a:rPr>
              <a:t>try</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int</a:t>
            </a:r>
            <a:r>
              <a:rPr lang="en-US" sz="2400" b="0" i="0" dirty="0">
                <a:solidFill>
                  <a:srgbClr val="000000"/>
                </a:solidFill>
                <a:effectLst/>
                <a:latin typeface="Consolas" panose="020B0609020204030204" pitchFamily="49" charset="0"/>
              </a:rPr>
              <a:t> age = </a:t>
            </a:r>
            <a:r>
              <a:rPr lang="en-US" sz="2400" b="0" i="0" dirty="0">
                <a:solidFill>
                  <a:srgbClr val="990055"/>
                </a:solidFill>
                <a:effectLst/>
                <a:latin typeface="Consolas" panose="020B0609020204030204" pitchFamily="49" charset="0"/>
              </a:rPr>
              <a:t>15</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if</a:t>
            </a:r>
            <a:r>
              <a:rPr lang="en-US" sz="2400" b="0" i="0" dirty="0">
                <a:solidFill>
                  <a:srgbClr val="000000"/>
                </a:solidFill>
                <a:effectLst/>
                <a:latin typeface="Consolas" panose="020B0609020204030204" pitchFamily="49" charset="0"/>
              </a:rPr>
              <a:t> (age &gt;= </a:t>
            </a:r>
            <a:r>
              <a:rPr lang="en-US" sz="2400" b="0" i="0" dirty="0">
                <a:solidFill>
                  <a:srgbClr val="990055"/>
                </a:solidFill>
                <a:effectLst/>
                <a:latin typeface="Consolas" panose="020B0609020204030204" pitchFamily="49" charset="0"/>
              </a:rPr>
              <a:t>18</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"Access granted - you are old enough."</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  } </a:t>
            </a:r>
            <a:r>
              <a:rPr lang="en-US" sz="2400" b="0" i="0" dirty="0">
                <a:solidFill>
                  <a:srgbClr val="005CC5"/>
                </a:solidFill>
                <a:effectLst/>
                <a:latin typeface="Consolas" panose="020B0609020204030204" pitchFamily="49" charset="0"/>
              </a:rPr>
              <a:t>else</a:t>
            </a: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5CC5"/>
                </a:solidFill>
                <a:effectLst/>
                <a:latin typeface="Consolas" panose="020B0609020204030204" pitchFamily="49" charset="0"/>
              </a:rPr>
              <a:t>throw</a:t>
            </a:r>
            <a:r>
              <a:rPr lang="en-US" sz="2400" b="0" i="0" dirty="0">
                <a:solidFill>
                  <a:srgbClr val="000000"/>
                </a:solidFill>
                <a:effectLst/>
                <a:latin typeface="Consolas" panose="020B0609020204030204" pitchFamily="49" charset="0"/>
              </a:rPr>
              <a:t> </a:t>
            </a:r>
            <a:r>
              <a:rPr lang="en-US" sz="2400" b="0" i="0" dirty="0">
                <a:solidFill>
                  <a:srgbClr val="990055"/>
                </a:solidFill>
                <a:effectLst/>
                <a:latin typeface="Consolas" panose="020B0609020204030204" pitchFamily="49" charset="0"/>
              </a:rPr>
              <a:t>505</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  }</a:t>
            </a:r>
            <a:br>
              <a:rPr lang="en-US" sz="2400" dirty="0"/>
            </a:br>
            <a:r>
              <a:rPr lang="en-US" sz="2400" b="0" i="0" dirty="0">
                <a:solidFill>
                  <a:srgbClr val="000000"/>
                </a:solidFill>
                <a:effectLst/>
                <a:latin typeface="Consolas" panose="020B0609020204030204" pitchFamily="49" charset="0"/>
              </a:rPr>
              <a:t>}</a:t>
            </a:r>
            <a:br>
              <a:rPr lang="en-US" sz="2400" dirty="0"/>
            </a:br>
            <a:r>
              <a:rPr lang="en-US" sz="2400" b="0" i="0" dirty="0">
                <a:solidFill>
                  <a:srgbClr val="005CC5"/>
                </a:solidFill>
                <a:effectLst/>
                <a:latin typeface="Consolas" panose="020B0609020204030204" pitchFamily="49" charset="0"/>
              </a:rPr>
              <a:t>catch</a:t>
            </a:r>
            <a:r>
              <a:rPr lang="en-US" sz="2400" b="0" i="0" dirty="0">
                <a:solidFill>
                  <a:srgbClr val="000000"/>
                </a:solidFill>
                <a:effectLst/>
                <a:latin typeface="Consolas" panose="020B0609020204030204" pitchFamily="49" charset="0"/>
              </a:rPr>
              <a:t> (...) {</a:t>
            </a:r>
            <a:br>
              <a:rPr lang="en-US" sz="2400" dirty="0"/>
            </a:br>
            <a:r>
              <a:rPr lang="en-US" sz="2400" b="0" i="0" dirty="0">
                <a:solidFill>
                  <a:srgbClr val="000000"/>
                </a:solidFill>
                <a:effectLst/>
                <a:latin typeface="Consolas" panose="020B0609020204030204" pitchFamily="49" charset="0"/>
              </a:rPr>
              <a:t>  </a:t>
            </a:r>
            <a:r>
              <a:rPr lang="en-US" sz="2400" b="0" i="0" dirty="0" err="1">
                <a:solidFill>
                  <a:srgbClr val="000000"/>
                </a:solidFill>
                <a:effectLst/>
                <a:latin typeface="Consolas" panose="020B0609020204030204" pitchFamily="49" charset="0"/>
              </a:rPr>
              <a:t>cout</a:t>
            </a:r>
            <a:r>
              <a:rPr lang="en-US" sz="2400" b="0" i="0" dirty="0">
                <a:solidFill>
                  <a:srgbClr val="000000"/>
                </a:solidFill>
                <a:effectLst/>
                <a:latin typeface="Consolas" panose="020B0609020204030204" pitchFamily="49" charset="0"/>
              </a:rPr>
              <a:t> &lt;&lt; </a:t>
            </a:r>
            <a:r>
              <a:rPr lang="en-US" sz="2400" b="0" i="0" dirty="0">
                <a:solidFill>
                  <a:srgbClr val="008000"/>
                </a:solidFill>
                <a:effectLst/>
                <a:latin typeface="Consolas" panose="020B0609020204030204" pitchFamily="49" charset="0"/>
              </a:rPr>
              <a:t>"Access denied - You must be at least 18 years old.\n"</a:t>
            </a:r>
            <a:r>
              <a:rPr lang="en-US" sz="2400" b="0" i="0" dirty="0">
                <a:solidFill>
                  <a:srgbClr val="000000"/>
                </a:solidFill>
                <a:effectLst/>
                <a:latin typeface="Consolas" panose="020B0609020204030204" pitchFamily="49" charset="0"/>
              </a:rPr>
              <a:t>;</a:t>
            </a:r>
            <a:br>
              <a:rPr lang="en-US" sz="2400" dirty="0"/>
            </a:br>
            <a:r>
              <a:rPr lang="en-US" sz="2400" b="0" i="0" dirty="0">
                <a:solidFill>
                  <a:srgbClr val="000000"/>
                </a:solidFill>
                <a:effectLst/>
                <a:latin typeface="Consolas" panose="020B0609020204030204" pitchFamily="49" charset="0"/>
              </a:rPr>
              <a:t>}</a:t>
            </a:r>
            <a:endParaRPr lang="en-IN" sz="2400" dirty="0"/>
          </a:p>
        </p:txBody>
      </p:sp>
    </p:spTree>
    <p:extLst>
      <p:ext uri="{BB962C8B-B14F-4D97-AF65-F5344CB8AC3E}">
        <p14:creationId xmlns:p14="http://schemas.microsoft.com/office/powerpoint/2010/main" val="328129373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C92B0A7-4FAB-02DB-5CC8-3FAF1119B9C9}"/>
              </a:ext>
            </a:extLst>
          </p:cNvPr>
          <p:cNvGraphicFramePr>
            <a:graphicFrameLocks noGrp="1"/>
          </p:cNvGraphicFramePr>
          <p:nvPr>
            <p:extLst>
              <p:ext uri="{D42A27DB-BD31-4B8C-83A1-F6EECF244321}">
                <p14:modId xmlns:p14="http://schemas.microsoft.com/office/powerpoint/2010/main" val="3176289270"/>
              </p:ext>
            </p:extLst>
          </p:nvPr>
        </p:nvGraphicFramePr>
        <p:xfrm>
          <a:off x="206476" y="353961"/>
          <a:ext cx="11847870" cy="6410635"/>
        </p:xfrm>
        <a:graphic>
          <a:graphicData uri="http://schemas.openxmlformats.org/drawingml/2006/table">
            <a:tbl>
              <a:tblPr/>
              <a:tblGrid>
                <a:gridCol w="3949290">
                  <a:extLst>
                    <a:ext uri="{9D8B030D-6E8A-4147-A177-3AD203B41FA5}">
                      <a16:colId xmlns:a16="http://schemas.microsoft.com/office/drawing/2014/main" val="1458464581"/>
                    </a:ext>
                  </a:extLst>
                </a:gridCol>
                <a:gridCol w="3949290">
                  <a:extLst>
                    <a:ext uri="{9D8B030D-6E8A-4147-A177-3AD203B41FA5}">
                      <a16:colId xmlns:a16="http://schemas.microsoft.com/office/drawing/2014/main" val="1249626338"/>
                    </a:ext>
                  </a:extLst>
                </a:gridCol>
                <a:gridCol w="3949290">
                  <a:extLst>
                    <a:ext uri="{9D8B030D-6E8A-4147-A177-3AD203B41FA5}">
                      <a16:colId xmlns:a16="http://schemas.microsoft.com/office/drawing/2014/main" val="1499784466"/>
                    </a:ext>
                  </a:extLst>
                </a:gridCol>
              </a:tblGrid>
              <a:tr h="915805">
                <a:tc>
                  <a:txBody>
                    <a:bodyPr/>
                    <a:lstStyle/>
                    <a:p>
                      <a:pPr algn="ctr">
                        <a:buNone/>
                      </a:pPr>
                      <a:r>
                        <a:rPr lang="en-IN" b="1" dirty="0"/>
                        <a:t>Aspect</a:t>
                      </a:r>
                    </a:p>
                  </a:txBody>
                  <a:tcPr anchor="ctr">
                    <a:lnL>
                      <a:noFill/>
                    </a:lnL>
                    <a:lnR>
                      <a:noFill/>
                    </a:lnR>
                    <a:lnT>
                      <a:noFill/>
                    </a:lnT>
                    <a:lnB>
                      <a:noFill/>
                    </a:lnB>
                    <a:noFill/>
                  </a:tcPr>
                </a:tc>
                <a:tc>
                  <a:txBody>
                    <a:bodyPr/>
                    <a:lstStyle/>
                    <a:p>
                      <a:pPr algn="ctr">
                        <a:buNone/>
                      </a:pPr>
                      <a:r>
                        <a:rPr lang="en-IN" b="1" dirty="0"/>
                        <a:t>Without </a:t>
                      </a:r>
                      <a:r>
                        <a:rPr lang="en-IN" b="1" dirty="0">
                          <a:latin typeface="Courier New" panose="02070309020205020404" pitchFamily="49" charset="0"/>
                        </a:rPr>
                        <a:t>new</a:t>
                      </a:r>
                      <a:endParaRPr lang="en-IN" b="1" dirty="0"/>
                    </a:p>
                  </a:txBody>
                  <a:tcPr anchor="ctr">
                    <a:lnL>
                      <a:noFill/>
                    </a:lnL>
                    <a:lnR>
                      <a:noFill/>
                    </a:lnR>
                    <a:lnT>
                      <a:noFill/>
                    </a:lnT>
                    <a:lnB>
                      <a:noFill/>
                    </a:lnB>
                    <a:noFill/>
                  </a:tcPr>
                </a:tc>
                <a:tc>
                  <a:txBody>
                    <a:bodyPr/>
                    <a:lstStyle/>
                    <a:p>
                      <a:pPr algn="ctr">
                        <a:buNone/>
                      </a:pPr>
                      <a:r>
                        <a:rPr lang="en-IN" b="1" dirty="0"/>
                        <a:t>With </a:t>
                      </a:r>
                      <a:r>
                        <a:rPr lang="en-IN" b="1" dirty="0">
                          <a:latin typeface="Courier New" panose="02070309020205020404" pitchFamily="49" charset="0"/>
                        </a:rPr>
                        <a:t>new</a:t>
                      </a:r>
                      <a:endParaRPr lang="en-IN" b="1" dirty="0"/>
                    </a:p>
                  </a:txBody>
                  <a:tcPr anchor="ctr">
                    <a:lnL>
                      <a:noFill/>
                    </a:lnL>
                    <a:lnR>
                      <a:noFill/>
                    </a:lnR>
                    <a:lnT>
                      <a:noFill/>
                    </a:lnT>
                    <a:lnB>
                      <a:noFill/>
                    </a:lnB>
                    <a:noFill/>
                  </a:tcPr>
                </a:tc>
                <a:extLst>
                  <a:ext uri="{0D108BD9-81ED-4DB2-BD59-A6C34878D82A}">
                    <a16:rowId xmlns:a16="http://schemas.microsoft.com/office/drawing/2014/main" val="3582672587"/>
                  </a:ext>
                </a:extLst>
              </a:tr>
              <a:tr h="915805">
                <a:tc>
                  <a:txBody>
                    <a:bodyPr/>
                    <a:lstStyle/>
                    <a:p>
                      <a:pPr algn="ctr">
                        <a:buNone/>
                      </a:pPr>
                      <a:r>
                        <a:rPr lang="en-IN" dirty="0"/>
                        <a:t>Allocation</a:t>
                      </a:r>
                    </a:p>
                  </a:txBody>
                  <a:tcPr anchor="ctr">
                    <a:lnL>
                      <a:noFill/>
                    </a:lnL>
                    <a:lnR>
                      <a:noFill/>
                    </a:lnR>
                    <a:lnT>
                      <a:noFill/>
                    </a:lnT>
                    <a:lnB>
                      <a:noFill/>
                    </a:lnB>
                    <a:noFill/>
                  </a:tcPr>
                </a:tc>
                <a:tc>
                  <a:txBody>
                    <a:bodyPr/>
                    <a:lstStyle/>
                    <a:p>
                      <a:pPr algn="ctr">
                        <a:buNone/>
                      </a:pPr>
                      <a:r>
                        <a:rPr lang="en-IN"/>
                        <a:t>Stack</a:t>
                      </a:r>
                    </a:p>
                  </a:txBody>
                  <a:tcPr anchor="ctr">
                    <a:lnL>
                      <a:noFill/>
                    </a:lnL>
                    <a:lnR>
                      <a:noFill/>
                    </a:lnR>
                    <a:lnT>
                      <a:noFill/>
                    </a:lnT>
                    <a:lnB>
                      <a:noFill/>
                    </a:lnB>
                    <a:noFill/>
                  </a:tcPr>
                </a:tc>
                <a:tc>
                  <a:txBody>
                    <a:bodyPr/>
                    <a:lstStyle/>
                    <a:p>
                      <a:pPr algn="ctr">
                        <a:buNone/>
                      </a:pPr>
                      <a:r>
                        <a:rPr lang="en-IN"/>
                        <a:t>Heap</a:t>
                      </a:r>
                    </a:p>
                  </a:txBody>
                  <a:tcPr anchor="ctr">
                    <a:lnL>
                      <a:noFill/>
                    </a:lnL>
                    <a:lnR>
                      <a:noFill/>
                    </a:lnR>
                    <a:lnT>
                      <a:noFill/>
                    </a:lnT>
                    <a:lnB>
                      <a:noFill/>
                    </a:lnB>
                    <a:noFill/>
                  </a:tcPr>
                </a:tc>
                <a:extLst>
                  <a:ext uri="{0D108BD9-81ED-4DB2-BD59-A6C34878D82A}">
                    <a16:rowId xmlns:a16="http://schemas.microsoft.com/office/drawing/2014/main" val="408380926"/>
                  </a:ext>
                </a:extLst>
              </a:tr>
              <a:tr h="915805">
                <a:tc>
                  <a:txBody>
                    <a:bodyPr/>
                    <a:lstStyle/>
                    <a:p>
                      <a:pPr algn="ctr">
                        <a:buNone/>
                      </a:pPr>
                      <a:r>
                        <a:rPr lang="en-IN" dirty="0"/>
                        <a:t>Memory management</a:t>
                      </a:r>
                    </a:p>
                  </a:txBody>
                  <a:tcPr anchor="ctr">
                    <a:lnL>
                      <a:noFill/>
                    </a:lnL>
                    <a:lnR>
                      <a:noFill/>
                    </a:lnR>
                    <a:lnT>
                      <a:noFill/>
                    </a:lnT>
                    <a:lnB>
                      <a:noFill/>
                    </a:lnB>
                    <a:noFill/>
                  </a:tcPr>
                </a:tc>
                <a:tc>
                  <a:txBody>
                    <a:bodyPr/>
                    <a:lstStyle/>
                    <a:p>
                      <a:pPr algn="ctr">
                        <a:buNone/>
                      </a:pPr>
                      <a:r>
                        <a:rPr lang="en-IN" dirty="0"/>
                        <a:t>Automatic</a:t>
                      </a:r>
                    </a:p>
                  </a:txBody>
                  <a:tcPr anchor="ctr">
                    <a:lnL>
                      <a:noFill/>
                    </a:lnL>
                    <a:lnR>
                      <a:noFill/>
                    </a:lnR>
                    <a:lnT>
                      <a:noFill/>
                    </a:lnT>
                    <a:lnB>
                      <a:noFill/>
                    </a:lnB>
                    <a:noFill/>
                  </a:tcPr>
                </a:tc>
                <a:tc>
                  <a:txBody>
                    <a:bodyPr/>
                    <a:lstStyle/>
                    <a:p>
                      <a:pPr algn="ctr">
                        <a:buNone/>
                      </a:pPr>
                      <a:r>
                        <a:rPr lang="en-IN"/>
                        <a:t>Manual (</a:t>
                      </a:r>
                      <a:r>
                        <a:rPr lang="en-IN">
                          <a:latin typeface="Courier New" panose="02070309020205020404" pitchFamily="49" charset="0"/>
                        </a:rPr>
                        <a:t>delete</a:t>
                      </a:r>
                      <a:r>
                        <a:rPr lang="en-IN"/>
                        <a:t>)</a:t>
                      </a:r>
                    </a:p>
                  </a:txBody>
                  <a:tcPr anchor="ctr">
                    <a:lnL>
                      <a:noFill/>
                    </a:lnL>
                    <a:lnR>
                      <a:noFill/>
                    </a:lnR>
                    <a:lnT>
                      <a:noFill/>
                    </a:lnT>
                    <a:lnB>
                      <a:noFill/>
                    </a:lnB>
                    <a:noFill/>
                  </a:tcPr>
                </a:tc>
                <a:extLst>
                  <a:ext uri="{0D108BD9-81ED-4DB2-BD59-A6C34878D82A}">
                    <a16:rowId xmlns:a16="http://schemas.microsoft.com/office/drawing/2014/main" val="5419265"/>
                  </a:ext>
                </a:extLst>
              </a:tr>
              <a:tr h="915805">
                <a:tc>
                  <a:txBody>
                    <a:bodyPr/>
                    <a:lstStyle/>
                    <a:p>
                      <a:pPr algn="ctr">
                        <a:buNone/>
                      </a:pPr>
                      <a:r>
                        <a:rPr lang="en-IN"/>
                        <a:t>Lifetime</a:t>
                      </a:r>
                    </a:p>
                  </a:txBody>
                  <a:tcPr anchor="ctr">
                    <a:lnL>
                      <a:noFill/>
                    </a:lnL>
                    <a:lnR>
                      <a:noFill/>
                    </a:lnR>
                    <a:lnT>
                      <a:noFill/>
                    </a:lnT>
                    <a:lnB>
                      <a:noFill/>
                    </a:lnB>
                    <a:noFill/>
                  </a:tcPr>
                </a:tc>
                <a:tc>
                  <a:txBody>
                    <a:bodyPr/>
                    <a:lstStyle/>
                    <a:p>
                      <a:pPr algn="ctr">
                        <a:buNone/>
                      </a:pPr>
                      <a:r>
                        <a:rPr lang="en-IN" dirty="0"/>
                        <a:t>Limited to scope</a:t>
                      </a:r>
                    </a:p>
                  </a:txBody>
                  <a:tcPr anchor="ctr">
                    <a:lnL>
                      <a:noFill/>
                    </a:lnL>
                    <a:lnR>
                      <a:noFill/>
                    </a:lnR>
                    <a:lnT>
                      <a:noFill/>
                    </a:lnT>
                    <a:lnB>
                      <a:noFill/>
                    </a:lnB>
                    <a:noFill/>
                  </a:tcPr>
                </a:tc>
                <a:tc>
                  <a:txBody>
                    <a:bodyPr/>
                    <a:lstStyle/>
                    <a:p>
                      <a:pPr algn="ctr">
                        <a:buNone/>
                      </a:pPr>
                      <a:r>
                        <a:rPr lang="en-IN"/>
                        <a:t>Until manually deleted</a:t>
                      </a:r>
                    </a:p>
                  </a:txBody>
                  <a:tcPr anchor="ctr">
                    <a:lnL>
                      <a:noFill/>
                    </a:lnL>
                    <a:lnR>
                      <a:noFill/>
                    </a:lnR>
                    <a:lnT>
                      <a:noFill/>
                    </a:lnT>
                    <a:lnB>
                      <a:noFill/>
                    </a:lnB>
                    <a:noFill/>
                  </a:tcPr>
                </a:tc>
                <a:extLst>
                  <a:ext uri="{0D108BD9-81ED-4DB2-BD59-A6C34878D82A}">
                    <a16:rowId xmlns:a16="http://schemas.microsoft.com/office/drawing/2014/main" val="3007405514"/>
                  </a:ext>
                </a:extLst>
              </a:tr>
              <a:tr h="915805">
                <a:tc>
                  <a:txBody>
                    <a:bodyPr/>
                    <a:lstStyle/>
                    <a:p>
                      <a:pPr algn="ctr">
                        <a:buNone/>
                      </a:pPr>
                      <a:r>
                        <a:rPr lang="en-IN"/>
                        <a:t>Access</a:t>
                      </a:r>
                    </a:p>
                  </a:txBody>
                  <a:tcPr anchor="ctr">
                    <a:lnL>
                      <a:noFill/>
                    </a:lnL>
                    <a:lnR>
                      <a:noFill/>
                    </a:lnR>
                    <a:lnT>
                      <a:noFill/>
                    </a:lnT>
                    <a:lnB>
                      <a:noFill/>
                    </a:lnB>
                    <a:noFill/>
                  </a:tcPr>
                </a:tc>
                <a:tc>
                  <a:txBody>
                    <a:bodyPr/>
                    <a:lstStyle/>
                    <a:p>
                      <a:pPr algn="ctr">
                        <a:buNone/>
                      </a:pPr>
                      <a:r>
                        <a:rPr lang="en-IN" dirty="0"/>
                        <a:t>Direct (</a:t>
                      </a:r>
                      <a:r>
                        <a:rPr lang="en-IN" dirty="0" err="1">
                          <a:latin typeface="Courier New" panose="02070309020205020404" pitchFamily="49" charset="0"/>
                        </a:rPr>
                        <a:t>obj.method</a:t>
                      </a:r>
                      <a:r>
                        <a:rPr lang="en-IN" dirty="0">
                          <a:latin typeface="Courier New" panose="02070309020205020404" pitchFamily="49" charset="0"/>
                        </a:rPr>
                        <a:t>()</a:t>
                      </a:r>
                      <a:r>
                        <a:rPr lang="en-IN" dirty="0"/>
                        <a:t>)</a:t>
                      </a:r>
                    </a:p>
                  </a:txBody>
                  <a:tcPr anchor="ctr">
                    <a:lnL>
                      <a:noFill/>
                    </a:lnL>
                    <a:lnR>
                      <a:noFill/>
                    </a:lnR>
                    <a:lnT>
                      <a:noFill/>
                    </a:lnT>
                    <a:lnB>
                      <a:noFill/>
                    </a:lnB>
                    <a:noFill/>
                  </a:tcPr>
                </a:tc>
                <a:tc>
                  <a:txBody>
                    <a:bodyPr/>
                    <a:lstStyle/>
                    <a:p>
                      <a:pPr algn="ctr">
                        <a:buNone/>
                      </a:pPr>
                      <a:r>
                        <a:rPr lang="en-IN" dirty="0"/>
                        <a:t>Pointer (</a:t>
                      </a:r>
                      <a:r>
                        <a:rPr lang="en-IN" dirty="0" err="1">
                          <a:latin typeface="Courier New" panose="02070309020205020404" pitchFamily="49" charset="0"/>
                        </a:rPr>
                        <a:t>ptr</a:t>
                      </a:r>
                      <a:r>
                        <a:rPr lang="en-IN" dirty="0">
                          <a:latin typeface="Courier New" panose="02070309020205020404" pitchFamily="49" charset="0"/>
                        </a:rPr>
                        <a:t>-&gt;method()</a:t>
                      </a:r>
                      <a:r>
                        <a:rPr lang="en-IN" dirty="0"/>
                        <a:t>)</a:t>
                      </a:r>
                    </a:p>
                  </a:txBody>
                  <a:tcPr anchor="ctr">
                    <a:lnL>
                      <a:noFill/>
                    </a:lnL>
                    <a:lnR>
                      <a:noFill/>
                    </a:lnR>
                    <a:lnT>
                      <a:noFill/>
                    </a:lnT>
                    <a:lnB>
                      <a:noFill/>
                    </a:lnB>
                    <a:noFill/>
                  </a:tcPr>
                </a:tc>
                <a:extLst>
                  <a:ext uri="{0D108BD9-81ED-4DB2-BD59-A6C34878D82A}">
                    <a16:rowId xmlns:a16="http://schemas.microsoft.com/office/drawing/2014/main" val="1624700627"/>
                  </a:ext>
                </a:extLst>
              </a:tr>
              <a:tr h="915805">
                <a:tc>
                  <a:txBody>
                    <a:bodyPr/>
                    <a:lstStyle/>
                    <a:p>
                      <a:pPr algn="ctr">
                        <a:buNone/>
                      </a:pPr>
                      <a:r>
                        <a:rPr lang="en-IN"/>
                        <a:t>Speed</a:t>
                      </a:r>
                    </a:p>
                  </a:txBody>
                  <a:tcPr anchor="ctr">
                    <a:lnL>
                      <a:noFill/>
                    </a:lnL>
                    <a:lnR>
                      <a:noFill/>
                    </a:lnR>
                    <a:lnT>
                      <a:noFill/>
                    </a:lnT>
                    <a:lnB>
                      <a:noFill/>
                    </a:lnB>
                    <a:noFill/>
                  </a:tcPr>
                </a:tc>
                <a:tc>
                  <a:txBody>
                    <a:bodyPr/>
                    <a:lstStyle/>
                    <a:p>
                      <a:pPr algn="ctr">
                        <a:buNone/>
                      </a:pPr>
                      <a:r>
                        <a:rPr lang="en-IN"/>
                        <a:t>Faster</a:t>
                      </a:r>
                    </a:p>
                  </a:txBody>
                  <a:tcPr anchor="ctr">
                    <a:lnL>
                      <a:noFill/>
                    </a:lnL>
                    <a:lnR>
                      <a:noFill/>
                    </a:lnR>
                    <a:lnT>
                      <a:noFill/>
                    </a:lnT>
                    <a:lnB>
                      <a:noFill/>
                    </a:lnB>
                    <a:noFill/>
                  </a:tcPr>
                </a:tc>
                <a:tc>
                  <a:txBody>
                    <a:bodyPr/>
                    <a:lstStyle/>
                    <a:p>
                      <a:pPr algn="ctr">
                        <a:buNone/>
                      </a:pPr>
                      <a:r>
                        <a:rPr lang="en-IN" dirty="0"/>
                        <a:t>Slower</a:t>
                      </a:r>
                    </a:p>
                  </a:txBody>
                  <a:tcPr anchor="ctr">
                    <a:lnL>
                      <a:noFill/>
                    </a:lnL>
                    <a:lnR>
                      <a:noFill/>
                    </a:lnR>
                    <a:lnT>
                      <a:noFill/>
                    </a:lnT>
                    <a:lnB>
                      <a:noFill/>
                    </a:lnB>
                    <a:noFill/>
                  </a:tcPr>
                </a:tc>
                <a:extLst>
                  <a:ext uri="{0D108BD9-81ED-4DB2-BD59-A6C34878D82A}">
                    <a16:rowId xmlns:a16="http://schemas.microsoft.com/office/drawing/2014/main" val="1685842028"/>
                  </a:ext>
                </a:extLst>
              </a:tr>
              <a:tr h="915805">
                <a:tc>
                  <a:txBody>
                    <a:bodyPr/>
                    <a:lstStyle/>
                    <a:p>
                      <a:pPr algn="ctr">
                        <a:buNone/>
                      </a:pPr>
                      <a:r>
                        <a:rPr lang="en-IN"/>
                        <a:t>Risk of memory leak</a:t>
                      </a:r>
                    </a:p>
                  </a:txBody>
                  <a:tcPr anchor="ctr">
                    <a:lnL>
                      <a:noFill/>
                    </a:lnL>
                    <a:lnR>
                      <a:noFill/>
                    </a:lnR>
                    <a:lnT>
                      <a:noFill/>
                    </a:lnT>
                    <a:lnB>
                      <a:noFill/>
                    </a:lnB>
                    <a:noFill/>
                  </a:tcPr>
                </a:tc>
                <a:tc>
                  <a:txBody>
                    <a:bodyPr/>
                    <a:lstStyle/>
                    <a:p>
                      <a:pPr algn="ctr">
                        <a:buNone/>
                      </a:pPr>
                      <a:r>
                        <a:rPr lang="en-IN"/>
                        <a:t>No</a:t>
                      </a:r>
                    </a:p>
                  </a:txBody>
                  <a:tcPr anchor="ctr">
                    <a:lnL>
                      <a:noFill/>
                    </a:lnL>
                    <a:lnR>
                      <a:noFill/>
                    </a:lnR>
                    <a:lnT>
                      <a:noFill/>
                    </a:lnT>
                    <a:lnB>
                      <a:noFill/>
                    </a:lnB>
                    <a:noFill/>
                  </a:tcPr>
                </a:tc>
                <a:tc>
                  <a:txBody>
                    <a:bodyPr/>
                    <a:lstStyle/>
                    <a:p>
                      <a:pPr algn="ctr">
                        <a:buNone/>
                      </a:pPr>
                      <a:r>
                        <a:rPr lang="en-IN" dirty="0"/>
                        <a:t>Yes (if </a:t>
                      </a:r>
                      <a:r>
                        <a:rPr lang="en-IN" dirty="0">
                          <a:latin typeface="Courier New" panose="02070309020205020404" pitchFamily="49" charset="0"/>
                        </a:rPr>
                        <a:t>delete</a:t>
                      </a:r>
                      <a:r>
                        <a:rPr lang="en-IN" dirty="0"/>
                        <a:t> missing)</a:t>
                      </a:r>
                    </a:p>
                  </a:txBody>
                  <a:tcPr anchor="ctr">
                    <a:lnL>
                      <a:noFill/>
                    </a:lnL>
                    <a:lnR>
                      <a:noFill/>
                    </a:lnR>
                    <a:lnT>
                      <a:noFill/>
                    </a:lnT>
                    <a:lnB>
                      <a:noFill/>
                    </a:lnB>
                    <a:noFill/>
                  </a:tcPr>
                </a:tc>
                <a:extLst>
                  <a:ext uri="{0D108BD9-81ED-4DB2-BD59-A6C34878D82A}">
                    <a16:rowId xmlns:a16="http://schemas.microsoft.com/office/drawing/2014/main" val="688815679"/>
                  </a:ext>
                </a:extLst>
              </a:tr>
            </a:tbl>
          </a:graphicData>
        </a:graphic>
      </p:graphicFrame>
    </p:spTree>
    <p:extLst>
      <p:ext uri="{BB962C8B-B14F-4D97-AF65-F5344CB8AC3E}">
        <p14:creationId xmlns:p14="http://schemas.microsoft.com/office/powerpoint/2010/main" val="57470002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691CF5B-8094-7C57-EA14-F749AB93DE19}"/>
              </a:ext>
            </a:extLst>
          </p:cNvPr>
          <p:cNvGraphicFramePr>
            <a:graphicFrameLocks noGrp="1"/>
          </p:cNvGraphicFramePr>
          <p:nvPr>
            <p:extLst>
              <p:ext uri="{D42A27DB-BD31-4B8C-83A1-F6EECF244321}">
                <p14:modId xmlns:p14="http://schemas.microsoft.com/office/powerpoint/2010/main" val="1148890590"/>
              </p:ext>
            </p:extLst>
          </p:nvPr>
        </p:nvGraphicFramePr>
        <p:xfrm>
          <a:off x="294968" y="275303"/>
          <a:ext cx="11602065" cy="6459792"/>
        </p:xfrm>
        <a:graphic>
          <a:graphicData uri="http://schemas.openxmlformats.org/drawingml/2006/table">
            <a:tbl>
              <a:tblPr/>
              <a:tblGrid>
                <a:gridCol w="3867355">
                  <a:extLst>
                    <a:ext uri="{9D8B030D-6E8A-4147-A177-3AD203B41FA5}">
                      <a16:colId xmlns:a16="http://schemas.microsoft.com/office/drawing/2014/main" val="3157246668"/>
                    </a:ext>
                  </a:extLst>
                </a:gridCol>
                <a:gridCol w="3867355">
                  <a:extLst>
                    <a:ext uri="{9D8B030D-6E8A-4147-A177-3AD203B41FA5}">
                      <a16:colId xmlns:a16="http://schemas.microsoft.com/office/drawing/2014/main" val="3588269350"/>
                    </a:ext>
                  </a:extLst>
                </a:gridCol>
                <a:gridCol w="3867355">
                  <a:extLst>
                    <a:ext uri="{9D8B030D-6E8A-4147-A177-3AD203B41FA5}">
                      <a16:colId xmlns:a16="http://schemas.microsoft.com/office/drawing/2014/main" val="382045618"/>
                    </a:ext>
                  </a:extLst>
                </a:gridCol>
              </a:tblGrid>
              <a:tr h="487531">
                <a:tc>
                  <a:txBody>
                    <a:bodyPr/>
                    <a:lstStyle/>
                    <a:p>
                      <a:pPr>
                        <a:buNone/>
                      </a:pPr>
                      <a:r>
                        <a:rPr lang="en-IN" sz="2000" b="1"/>
                        <a:t>Feature</a:t>
                      </a:r>
                      <a:endParaRPr lang="en-IN" sz="2000"/>
                    </a:p>
                  </a:txBody>
                  <a:tcPr marL="82101" marR="82101" marT="41050" marB="41050" anchor="ctr">
                    <a:lnL>
                      <a:noFill/>
                    </a:lnL>
                    <a:lnR>
                      <a:noFill/>
                    </a:lnR>
                    <a:lnT>
                      <a:noFill/>
                    </a:lnT>
                    <a:lnB>
                      <a:noFill/>
                    </a:lnB>
                    <a:noFill/>
                  </a:tcPr>
                </a:tc>
                <a:tc>
                  <a:txBody>
                    <a:bodyPr/>
                    <a:lstStyle/>
                    <a:p>
                      <a:pPr>
                        <a:buNone/>
                      </a:pPr>
                      <a:r>
                        <a:rPr lang="en-IN" sz="2000" b="1"/>
                        <a:t>struct</a:t>
                      </a:r>
                      <a:endParaRPr lang="en-IN" sz="2000"/>
                    </a:p>
                  </a:txBody>
                  <a:tcPr marL="82101" marR="82101" marT="41050" marB="41050" anchor="ctr">
                    <a:lnL>
                      <a:noFill/>
                    </a:lnL>
                    <a:lnR>
                      <a:noFill/>
                    </a:lnR>
                    <a:lnT>
                      <a:noFill/>
                    </a:lnT>
                    <a:lnB>
                      <a:noFill/>
                    </a:lnB>
                    <a:noFill/>
                  </a:tcPr>
                </a:tc>
                <a:tc>
                  <a:txBody>
                    <a:bodyPr/>
                    <a:lstStyle/>
                    <a:p>
                      <a:pPr>
                        <a:buNone/>
                      </a:pPr>
                      <a:r>
                        <a:rPr lang="en-IN" sz="2000" b="1"/>
                        <a:t>class</a:t>
                      </a:r>
                      <a:endParaRPr lang="en-IN" sz="2000"/>
                    </a:p>
                  </a:txBody>
                  <a:tcPr marL="82101" marR="82101" marT="41050" marB="41050" anchor="ctr">
                    <a:lnL>
                      <a:noFill/>
                    </a:lnL>
                    <a:lnR>
                      <a:noFill/>
                    </a:lnR>
                    <a:lnT>
                      <a:noFill/>
                    </a:lnT>
                    <a:lnB>
                      <a:noFill/>
                    </a:lnB>
                    <a:noFill/>
                  </a:tcPr>
                </a:tc>
                <a:extLst>
                  <a:ext uri="{0D108BD9-81ED-4DB2-BD59-A6C34878D82A}">
                    <a16:rowId xmlns:a16="http://schemas.microsoft.com/office/drawing/2014/main" val="1984949492"/>
                  </a:ext>
                </a:extLst>
              </a:tr>
              <a:tr h="487531">
                <a:tc>
                  <a:txBody>
                    <a:bodyPr/>
                    <a:lstStyle/>
                    <a:p>
                      <a:pPr>
                        <a:buNone/>
                      </a:pPr>
                      <a:r>
                        <a:rPr lang="en-IN" sz="2000" b="1"/>
                        <a:t>Default Access Specifier</a:t>
                      </a:r>
                      <a:endParaRPr lang="en-IN" sz="2000"/>
                    </a:p>
                  </a:txBody>
                  <a:tcPr marL="82101" marR="82101" marT="41050" marB="41050" anchor="ctr">
                    <a:lnL>
                      <a:noFill/>
                    </a:lnL>
                    <a:lnR>
                      <a:noFill/>
                    </a:lnR>
                    <a:lnT>
                      <a:noFill/>
                    </a:lnT>
                    <a:lnB>
                      <a:noFill/>
                    </a:lnB>
                    <a:noFill/>
                  </a:tcPr>
                </a:tc>
                <a:tc>
                  <a:txBody>
                    <a:bodyPr/>
                    <a:lstStyle/>
                    <a:p>
                      <a:pPr>
                        <a:buNone/>
                      </a:pPr>
                      <a:r>
                        <a:rPr lang="en-US" sz="2000"/>
                        <a:t>Members are </a:t>
                      </a:r>
                      <a:r>
                        <a:rPr lang="en-US" sz="2000" b="1"/>
                        <a:t>public</a:t>
                      </a:r>
                      <a:r>
                        <a:rPr lang="en-US" sz="2000"/>
                        <a:t> by default.</a:t>
                      </a:r>
                    </a:p>
                  </a:txBody>
                  <a:tcPr marL="82101" marR="82101" marT="41050" marB="41050" anchor="ctr">
                    <a:lnL>
                      <a:noFill/>
                    </a:lnL>
                    <a:lnR>
                      <a:noFill/>
                    </a:lnR>
                    <a:lnT>
                      <a:noFill/>
                    </a:lnT>
                    <a:lnB>
                      <a:noFill/>
                    </a:lnB>
                    <a:noFill/>
                  </a:tcPr>
                </a:tc>
                <a:tc>
                  <a:txBody>
                    <a:bodyPr/>
                    <a:lstStyle/>
                    <a:p>
                      <a:pPr>
                        <a:buNone/>
                      </a:pPr>
                      <a:r>
                        <a:rPr lang="en-US" sz="2000"/>
                        <a:t>Members are </a:t>
                      </a:r>
                      <a:r>
                        <a:rPr lang="en-US" sz="2000" b="1"/>
                        <a:t>private</a:t>
                      </a:r>
                      <a:r>
                        <a:rPr lang="en-US" sz="2000"/>
                        <a:t> by default.</a:t>
                      </a:r>
                    </a:p>
                  </a:txBody>
                  <a:tcPr marL="82101" marR="82101" marT="41050" marB="41050" anchor="ctr">
                    <a:lnL>
                      <a:noFill/>
                    </a:lnL>
                    <a:lnR>
                      <a:noFill/>
                    </a:lnR>
                    <a:lnT>
                      <a:noFill/>
                    </a:lnT>
                    <a:lnB>
                      <a:noFill/>
                    </a:lnB>
                    <a:noFill/>
                  </a:tcPr>
                </a:tc>
                <a:extLst>
                  <a:ext uri="{0D108BD9-81ED-4DB2-BD59-A6C34878D82A}">
                    <a16:rowId xmlns:a16="http://schemas.microsoft.com/office/drawing/2014/main" val="3798747121"/>
                  </a:ext>
                </a:extLst>
              </a:tr>
              <a:tr h="487531">
                <a:tc>
                  <a:txBody>
                    <a:bodyPr/>
                    <a:lstStyle/>
                    <a:p>
                      <a:pPr>
                        <a:buNone/>
                      </a:pPr>
                      <a:r>
                        <a:rPr lang="en-IN" sz="2000" b="1"/>
                        <a:t>Default Inheritance Type</a:t>
                      </a:r>
                      <a:endParaRPr lang="en-IN" sz="2000"/>
                    </a:p>
                  </a:txBody>
                  <a:tcPr marL="82101" marR="82101" marT="41050" marB="41050" anchor="ctr">
                    <a:lnL>
                      <a:noFill/>
                    </a:lnL>
                    <a:lnR>
                      <a:noFill/>
                    </a:lnR>
                    <a:lnT>
                      <a:noFill/>
                    </a:lnT>
                    <a:lnB>
                      <a:noFill/>
                    </a:lnB>
                    <a:noFill/>
                  </a:tcPr>
                </a:tc>
                <a:tc>
                  <a:txBody>
                    <a:bodyPr/>
                    <a:lstStyle/>
                    <a:p>
                      <a:pPr>
                        <a:buNone/>
                      </a:pPr>
                      <a:r>
                        <a:rPr lang="en-IN" sz="2000" b="1"/>
                        <a:t>Public</a:t>
                      </a:r>
                      <a:r>
                        <a:rPr lang="en-IN" sz="2000"/>
                        <a:t> inheritance by default.</a:t>
                      </a:r>
                    </a:p>
                  </a:txBody>
                  <a:tcPr marL="82101" marR="82101" marT="41050" marB="41050" anchor="ctr">
                    <a:lnL>
                      <a:noFill/>
                    </a:lnL>
                    <a:lnR>
                      <a:noFill/>
                    </a:lnR>
                    <a:lnT>
                      <a:noFill/>
                    </a:lnT>
                    <a:lnB>
                      <a:noFill/>
                    </a:lnB>
                    <a:noFill/>
                  </a:tcPr>
                </a:tc>
                <a:tc>
                  <a:txBody>
                    <a:bodyPr/>
                    <a:lstStyle/>
                    <a:p>
                      <a:pPr>
                        <a:buNone/>
                      </a:pPr>
                      <a:r>
                        <a:rPr lang="en-IN" sz="2000" b="1"/>
                        <a:t>Private</a:t>
                      </a:r>
                      <a:r>
                        <a:rPr lang="en-IN" sz="2000"/>
                        <a:t> inheritance by default.</a:t>
                      </a:r>
                    </a:p>
                  </a:txBody>
                  <a:tcPr marL="82101" marR="82101" marT="41050" marB="41050" anchor="ctr">
                    <a:lnL>
                      <a:noFill/>
                    </a:lnL>
                    <a:lnR>
                      <a:noFill/>
                    </a:lnR>
                    <a:lnT>
                      <a:noFill/>
                    </a:lnT>
                    <a:lnB>
                      <a:noFill/>
                    </a:lnB>
                    <a:noFill/>
                  </a:tcPr>
                </a:tc>
                <a:extLst>
                  <a:ext uri="{0D108BD9-81ED-4DB2-BD59-A6C34878D82A}">
                    <a16:rowId xmlns:a16="http://schemas.microsoft.com/office/drawing/2014/main" val="1698062028"/>
                  </a:ext>
                </a:extLst>
              </a:tr>
              <a:tr h="1218829">
                <a:tc>
                  <a:txBody>
                    <a:bodyPr/>
                    <a:lstStyle/>
                    <a:p>
                      <a:pPr>
                        <a:buNone/>
                      </a:pPr>
                      <a:r>
                        <a:rPr lang="en-IN" sz="2000" b="1"/>
                        <a:t>Usage Purpose</a:t>
                      </a:r>
                      <a:endParaRPr lang="en-IN" sz="2000"/>
                    </a:p>
                  </a:txBody>
                  <a:tcPr marL="82101" marR="82101" marT="41050" marB="41050" anchor="ctr">
                    <a:lnL>
                      <a:noFill/>
                    </a:lnL>
                    <a:lnR>
                      <a:noFill/>
                    </a:lnR>
                    <a:lnT>
                      <a:noFill/>
                    </a:lnT>
                    <a:lnB>
                      <a:noFill/>
                    </a:lnB>
                    <a:noFill/>
                  </a:tcPr>
                </a:tc>
                <a:tc>
                  <a:txBody>
                    <a:bodyPr/>
                    <a:lstStyle/>
                    <a:p>
                      <a:pPr>
                        <a:buNone/>
                      </a:pPr>
                      <a:r>
                        <a:rPr lang="en-US" sz="2000"/>
                        <a:t>Generally used for </a:t>
                      </a:r>
                      <a:r>
                        <a:rPr lang="en-US" sz="2000" b="1"/>
                        <a:t>plain data structures</a:t>
                      </a:r>
                      <a:r>
                        <a:rPr lang="en-US" sz="2000"/>
                        <a:t> (like records).</a:t>
                      </a:r>
                    </a:p>
                  </a:txBody>
                  <a:tcPr marL="82101" marR="82101" marT="41050" marB="41050" anchor="ctr">
                    <a:lnL>
                      <a:noFill/>
                    </a:lnL>
                    <a:lnR>
                      <a:noFill/>
                    </a:lnR>
                    <a:lnT>
                      <a:noFill/>
                    </a:lnT>
                    <a:lnB>
                      <a:noFill/>
                    </a:lnB>
                    <a:noFill/>
                  </a:tcPr>
                </a:tc>
                <a:tc>
                  <a:txBody>
                    <a:bodyPr/>
                    <a:lstStyle/>
                    <a:p>
                      <a:pPr>
                        <a:buNone/>
                      </a:pPr>
                      <a:r>
                        <a:rPr lang="en-US" sz="2000"/>
                        <a:t>Used for </a:t>
                      </a:r>
                      <a:r>
                        <a:rPr lang="en-US" sz="2000" b="1"/>
                        <a:t>object-oriented programming</a:t>
                      </a:r>
                      <a:r>
                        <a:rPr lang="en-US" sz="2000"/>
                        <a:t> (encapsulation, inheritance, polymorphism).</a:t>
                      </a:r>
                    </a:p>
                  </a:txBody>
                  <a:tcPr marL="82101" marR="82101" marT="41050" marB="41050" anchor="ctr">
                    <a:lnL>
                      <a:noFill/>
                    </a:lnL>
                    <a:lnR>
                      <a:noFill/>
                    </a:lnR>
                    <a:lnT>
                      <a:noFill/>
                    </a:lnT>
                    <a:lnB>
                      <a:noFill/>
                    </a:lnB>
                    <a:noFill/>
                  </a:tcPr>
                </a:tc>
                <a:extLst>
                  <a:ext uri="{0D108BD9-81ED-4DB2-BD59-A6C34878D82A}">
                    <a16:rowId xmlns:a16="http://schemas.microsoft.com/office/drawing/2014/main" val="1047335482"/>
                  </a:ext>
                </a:extLst>
              </a:tr>
              <a:tr h="1218829">
                <a:tc>
                  <a:txBody>
                    <a:bodyPr/>
                    <a:lstStyle/>
                    <a:p>
                      <a:pPr>
                        <a:buNone/>
                      </a:pPr>
                      <a:r>
                        <a:rPr lang="en-IN" sz="2000" b="1"/>
                        <a:t>Encapsulation</a:t>
                      </a:r>
                      <a:endParaRPr lang="en-IN" sz="2000"/>
                    </a:p>
                  </a:txBody>
                  <a:tcPr marL="82101" marR="82101" marT="41050" marB="41050" anchor="ctr">
                    <a:lnL>
                      <a:noFill/>
                    </a:lnL>
                    <a:lnR>
                      <a:noFill/>
                    </a:lnR>
                    <a:lnT>
                      <a:noFill/>
                    </a:lnT>
                    <a:lnB>
                      <a:noFill/>
                    </a:lnB>
                    <a:noFill/>
                  </a:tcPr>
                </a:tc>
                <a:tc>
                  <a:txBody>
                    <a:bodyPr/>
                    <a:lstStyle/>
                    <a:p>
                      <a:pPr>
                        <a:buNone/>
                      </a:pPr>
                      <a:r>
                        <a:rPr lang="en-US" sz="2000"/>
                        <a:t>Not ideal for encapsulation; members are public unless specified otherwise.</a:t>
                      </a:r>
                    </a:p>
                  </a:txBody>
                  <a:tcPr marL="82101" marR="82101" marT="41050" marB="41050" anchor="ctr">
                    <a:lnL>
                      <a:noFill/>
                    </a:lnL>
                    <a:lnR>
                      <a:noFill/>
                    </a:lnR>
                    <a:lnT>
                      <a:noFill/>
                    </a:lnT>
                    <a:lnB>
                      <a:noFill/>
                    </a:lnB>
                    <a:noFill/>
                  </a:tcPr>
                </a:tc>
                <a:tc>
                  <a:txBody>
                    <a:bodyPr/>
                    <a:lstStyle/>
                    <a:p>
                      <a:pPr>
                        <a:buNone/>
                      </a:pPr>
                      <a:r>
                        <a:rPr lang="en-US" sz="2000"/>
                        <a:t>Supports encapsulation; members are private unless made public.</a:t>
                      </a:r>
                    </a:p>
                  </a:txBody>
                  <a:tcPr marL="82101" marR="82101" marT="41050" marB="41050" anchor="ctr">
                    <a:lnL>
                      <a:noFill/>
                    </a:lnL>
                    <a:lnR>
                      <a:noFill/>
                    </a:lnR>
                    <a:lnT>
                      <a:noFill/>
                    </a:lnT>
                    <a:lnB>
                      <a:noFill/>
                    </a:lnB>
                    <a:noFill/>
                  </a:tcPr>
                </a:tc>
                <a:extLst>
                  <a:ext uri="{0D108BD9-81ED-4DB2-BD59-A6C34878D82A}">
                    <a16:rowId xmlns:a16="http://schemas.microsoft.com/office/drawing/2014/main" val="85293297"/>
                  </a:ext>
                </a:extLst>
              </a:tr>
              <a:tr h="853181">
                <a:tc>
                  <a:txBody>
                    <a:bodyPr/>
                    <a:lstStyle/>
                    <a:p>
                      <a:pPr>
                        <a:buNone/>
                      </a:pPr>
                      <a:r>
                        <a:rPr lang="en-IN" sz="2000" b="1" dirty="0"/>
                        <a:t>Member Functions</a:t>
                      </a:r>
                      <a:endParaRPr lang="en-IN" sz="2000" dirty="0"/>
                    </a:p>
                  </a:txBody>
                  <a:tcPr marL="82101" marR="82101" marT="41050" marB="41050" anchor="ctr">
                    <a:lnL>
                      <a:noFill/>
                    </a:lnL>
                    <a:lnR>
                      <a:noFill/>
                    </a:lnR>
                    <a:lnT>
                      <a:noFill/>
                    </a:lnT>
                    <a:lnB>
                      <a:noFill/>
                    </a:lnB>
                    <a:noFill/>
                  </a:tcPr>
                </a:tc>
                <a:tc>
                  <a:txBody>
                    <a:bodyPr/>
                    <a:lstStyle/>
                    <a:p>
                      <a:pPr>
                        <a:buNone/>
                      </a:pPr>
                      <a:r>
                        <a:rPr lang="en-US" sz="2000"/>
                        <a:t>Can contain member functions (though usually used for data).</a:t>
                      </a:r>
                    </a:p>
                  </a:txBody>
                  <a:tcPr marL="82101" marR="82101" marT="41050" marB="41050" anchor="ctr">
                    <a:lnL>
                      <a:noFill/>
                    </a:lnL>
                    <a:lnR>
                      <a:noFill/>
                    </a:lnR>
                    <a:lnT>
                      <a:noFill/>
                    </a:lnT>
                    <a:lnB>
                      <a:noFill/>
                    </a:lnB>
                    <a:noFill/>
                  </a:tcPr>
                </a:tc>
                <a:tc>
                  <a:txBody>
                    <a:bodyPr/>
                    <a:lstStyle/>
                    <a:p>
                      <a:pPr>
                        <a:buNone/>
                      </a:pPr>
                      <a:r>
                        <a:rPr lang="en-US" sz="2000"/>
                        <a:t>Commonly used to define both data and behavior (functions).</a:t>
                      </a:r>
                    </a:p>
                  </a:txBody>
                  <a:tcPr marL="82101" marR="82101" marT="41050" marB="41050" anchor="ctr">
                    <a:lnL>
                      <a:noFill/>
                    </a:lnL>
                    <a:lnR>
                      <a:noFill/>
                    </a:lnR>
                    <a:lnT>
                      <a:noFill/>
                    </a:lnT>
                    <a:lnB>
                      <a:noFill/>
                    </a:lnB>
                    <a:noFill/>
                  </a:tcPr>
                </a:tc>
                <a:extLst>
                  <a:ext uri="{0D108BD9-81ED-4DB2-BD59-A6C34878D82A}">
                    <a16:rowId xmlns:a16="http://schemas.microsoft.com/office/drawing/2014/main" val="2365453066"/>
                  </a:ext>
                </a:extLst>
              </a:tr>
              <a:tr h="487531">
                <a:tc>
                  <a:txBody>
                    <a:bodyPr/>
                    <a:lstStyle/>
                    <a:p>
                      <a:pPr>
                        <a:buNone/>
                      </a:pPr>
                      <a:r>
                        <a:rPr lang="en-IN" sz="2000" b="1"/>
                        <a:t>Inheritance Control</a:t>
                      </a:r>
                      <a:endParaRPr lang="en-IN" sz="2000"/>
                    </a:p>
                  </a:txBody>
                  <a:tcPr marL="82101" marR="82101" marT="41050" marB="41050" anchor="ctr">
                    <a:lnL>
                      <a:noFill/>
                    </a:lnL>
                    <a:lnR>
                      <a:noFill/>
                    </a:lnR>
                    <a:lnT>
                      <a:noFill/>
                    </a:lnT>
                    <a:lnB>
                      <a:noFill/>
                    </a:lnB>
                    <a:noFill/>
                  </a:tcPr>
                </a:tc>
                <a:tc>
                  <a:txBody>
                    <a:bodyPr/>
                    <a:lstStyle/>
                    <a:p>
                      <a:pPr>
                        <a:buNone/>
                      </a:pPr>
                      <a:r>
                        <a:rPr lang="en-IN" sz="2000"/>
                        <a:t>Inherits publicly by default.</a:t>
                      </a:r>
                    </a:p>
                  </a:txBody>
                  <a:tcPr marL="82101" marR="82101" marT="41050" marB="41050" anchor="ctr">
                    <a:lnL>
                      <a:noFill/>
                    </a:lnL>
                    <a:lnR>
                      <a:noFill/>
                    </a:lnR>
                    <a:lnT>
                      <a:noFill/>
                    </a:lnT>
                    <a:lnB>
                      <a:noFill/>
                    </a:lnB>
                    <a:noFill/>
                  </a:tcPr>
                </a:tc>
                <a:tc>
                  <a:txBody>
                    <a:bodyPr/>
                    <a:lstStyle/>
                    <a:p>
                      <a:pPr>
                        <a:buNone/>
                      </a:pPr>
                      <a:r>
                        <a:rPr lang="en-IN" sz="2000"/>
                        <a:t>Inherits privately by default.</a:t>
                      </a:r>
                    </a:p>
                  </a:txBody>
                  <a:tcPr marL="82101" marR="82101" marT="41050" marB="41050" anchor="ctr">
                    <a:lnL>
                      <a:noFill/>
                    </a:lnL>
                    <a:lnR>
                      <a:noFill/>
                    </a:lnR>
                    <a:lnT>
                      <a:noFill/>
                    </a:lnT>
                    <a:lnB>
                      <a:noFill/>
                    </a:lnB>
                    <a:noFill/>
                  </a:tcPr>
                </a:tc>
                <a:extLst>
                  <a:ext uri="{0D108BD9-81ED-4DB2-BD59-A6C34878D82A}">
                    <a16:rowId xmlns:a16="http://schemas.microsoft.com/office/drawing/2014/main" val="307438854"/>
                  </a:ext>
                </a:extLst>
              </a:tr>
              <a:tr h="1218829">
                <a:tc>
                  <a:txBody>
                    <a:bodyPr/>
                    <a:lstStyle/>
                    <a:p>
                      <a:pPr>
                        <a:buNone/>
                      </a:pPr>
                      <a:r>
                        <a:rPr lang="en-IN" sz="2000" b="1"/>
                        <a:t>Origin</a:t>
                      </a:r>
                      <a:endParaRPr lang="en-IN" sz="2000"/>
                    </a:p>
                  </a:txBody>
                  <a:tcPr marL="82101" marR="82101" marT="41050" marB="41050" anchor="ctr">
                    <a:lnL>
                      <a:noFill/>
                    </a:lnL>
                    <a:lnR>
                      <a:noFill/>
                    </a:lnR>
                    <a:lnT>
                      <a:noFill/>
                    </a:lnT>
                    <a:lnB>
                      <a:noFill/>
                    </a:lnB>
                    <a:noFill/>
                  </a:tcPr>
                </a:tc>
                <a:tc>
                  <a:txBody>
                    <a:bodyPr/>
                    <a:lstStyle/>
                    <a:p>
                      <a:pPr>
                        <a:buNone/>
                      </a:pPr>
                      <a:r>
                        <a:rPr lang="en-US" sz="2000"/>
                        <a:t>Originated from the </a:t>
                      </a:r>
                      <a:r>
                        <a:rPr lang="en-US" sz="2000" b="1"/>
                        <a:t>C language</a:t>
                      </a:r>
                      <a:r>
                        <a:rPr lang="en-US" sz="2000"/>
                        <a:t> (C structs could not have functions).</a:t>
                      </a:r>
                    </a:p>
                  </a:txBody>
                  <a:tcPr marL="82101" marR="82101" marT="41050" marB="41050" anchor="ctr">
                    <a:lnL>
                      <a:noFill/>
                    </a:lnL>
                    <a:lnR>
                      <a:noFill/>
                    </a:lnR>
                    <a:lnT>
                      <a:noFill/>
                    </a:lnT>
                    <a:lnB>
                      <a:noFill/>
                    </a:lnB>
                    <a:noFill/>
                  </a:tcPr>
                </a:tc>
                <a:tc>
                  <a:txBody>
                    <a:bodyPr/>
                    <a:lstStyle/>
                    <a:p>
                      <a:pPr>
                        <a:buNone/>
                      </a:pPr>
                      <a:r>
                        <a:rPr lang="en-US" sz="2000" dirty="0"/>
                        <a:t>Introduced in </a:t>
                      </a:r>
                      <a:r>
                        <a:rPr lang="en-US" sz="2000" b="1" dirty="0"/>
                        <a:t>C++</a:t>
                      </a:r>
                      <a:r>
                        <a:rPr lang="en-US" sz="2000" dirty="0"/>
                        <a:t> specifically for OOP features.</a:t>
                      </a:r>
                    </a:p>
                  </a:txBody>
                  <a:tcPr marL="82101" marR="82101" marT="41050" marB="41050" anchor="ctr">
                    <a:lnL>
                      <a:noFill/>
                    </a:lnL>
                    <a:lnR>
                      <a:noFill/>
                    </a:lnR>
                    <a:lnT>
                      <a:noFill/>
                    </a:lnT>
                    <a:lnB>
                      <a:noFill/>
                    </a:lnB>
                    <a:noFill/>
                  </a:tcPr>
                </a:tc>
                <a:extLst>
                  <a:ext uri="{0D108BD9-81ED-4DB2-BD59-A6C34878D82A}">
                    <a16:rowId xmlns:a16="http://schemas.microsoft.com/office/drawing/2014/main" val="2666149226"/>
                  </a:ext>
                </a:extLst>
              </a:tr>
            </a:tbl>
          </a:graphicData>
        </a:graphic>
      </p:graphicFrame>
    </p:spTree>
    <p:extLst>
      <p:ext uri="{BB962C8B-B14F-4D97-AF65-F5344CB8AC3E}">
        <p14:creationId xmlns:p14="http://schemas.microsoft.com/office/powerpoint/2010/main" val="426547668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E98A06C-CAB2-76D0-8E64-16B88E20765F}"/>
              </a:ext>
            </a:extLst>
          </p:cNvPr>
          <p:cNvSpPr txBox="1"/>
          <p:nvPr/>
        </p:nvSpPr>
        <p:spPr>
          <a:xfrm>
            <a:off x="132735" y="273212"/>
            <a:ext cx="11926529" cy="5016758"/>
          </a:xfrm>
          <a:prstGeom prst="rect">
            <a:avLst/>
          </a:prstGeom>
          <a:noFill/>
        </p:spPr>
        <p:txBody>
          <a:bodyPr wrap="square">
            <a:spAutoFit/>
          </a:bodyPr>
          <a:lstStyle/>
          <a:p>
            <a:r>
              <a:rPr lang="en-US" sz="3200" dirty="0"/>
              <a:t>Order of constructor / destructor calls</a:t>
            </a:r>
          </a:p>
          <a:p>
            <a:endParaRPr lang="en-US" sz="3200" dirty="0"/>
          </a:p>
          <a:p>
            <a:r>
              <a:rPr lang="en-US" sz="3200" dirty="0"/>
              <a:t>For single/multilevel/hierarchical: constructors run from base → derived.</a:t>
            </a:r>
          </a:p>
          <a:p>
            <a:endParaRPr lang="en-US" sz="3200" dirty="0"/>
          </a:p>
          <a:p>
            <a:r>
              <a:rPr lang="en-US" sz="3200" dirty="0"/>
              <a:t>Destructors run in reverse: derived → base.</a:t>
            </a:r>
          </a:p>
          <a:p>
            <a:endParaRPr lang="en-US" sz="3200" dirty="0"/>
          </a:p>
          <a:p>
            <a:r>
              <a:rPr lang="en-US" sz="3200" dirty="0"/>
              <a:t>For multiple inheritance, all direct base class constructors run before the </a:t>
            </a:r>
            <a:r>
              <a:rPr lang="en-US" sz="3200" dirty="0" err="1"/>
              <a:t>derived’s</a:t>
            </a:r>
            <a:r>
              <a:rPr lang="en-US" sz="3200" dirty="0"/>
              <a:t> constructor; order is the order of inheritance in the class declaration.</a:t>
            </a:r>
            <a:endParaRPr lang="en-IN" sz="3200" dirty="0"/>
          </a:p>
        </p:txBody>
      </p:sp>
    </p:spTree>
    <p:extLst>
      <p:ext uri="{BB962C8B-B14F-4D97-AF65-F5344CB8AC3E}">
        <p14:creationId xmlns:p14="http://schemas.microsoft.com/office/powerpoint/2010/main" val="4009922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7705</TotalTime>
  <Words>12327</Words>
  <Application>Microsoft Office PowerPoint</Application>
  <PresentationFormat>Widescreen</PresentationFormat>
  <Paragraphs>1822</Paragraphs>
  <Slides>136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136</vt:i4>
      </vt:variant>
    </vt:vector>
  </HeadingPairs>
  <TitlesOfParts>
    <vt:vector size="143" baseType="lpstr">
      <vt:lpstr>Aptos</vt:lpstr>
      <vt:lpstr>Aptos Display</vt:lpstr>
      <vt:lpstr>Arial</vt:lpstr>
      <vt:lpstr>Consolas</vt:lpstr>
      <vt:lpstr>Courier New</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KAARTIK SHUKLA</dc:creator>
  <cp:lastModifiedBy>KAARTIK SHUKLA</cp:lastModifiedBy>
  <cp:revision>321</cp:revision>
  <dcterms:created xsi:type="dcterms:W3CDTF">2025-10-30T04:16:13Z</dcterms:created>
  <dcterms:modified xsi:type="dcterms:W3CDTF">2025-11-20T08:28:16Z</dcterms:modified>
</cp:coreProperties>
</file>