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66" r:id="rId3"/>
    <p:sldId id="262" r:id="rId4"/>
    <p:sldId id="267" r:id="rId5"/>
    <p:sldId id="263" r:id="rId6"/>
    <p:sldId id="268" r:id="rId7"/>
    <p:sldId id="269" r:id="rId8"/>
    <p:sldId id="259" r:id="rId9"/>
    <p:sldId id="260" r:id="rId10"/>
    <p:sldId id="273" r:id="rId11"/>
    <p:sldId id="264" r:id="rId12"/>
    <p:sldId id="274" r:id="rId13"/>
    <p:sldId id="265" r:id="rId14"/>
    <p:sldId id="275" r:id="rId15"/>
    <p:sldId id="276" r:id="rId16"/>
    <p:sldId id="277" r:id="rId17"/>
    <p:sldId id="280" r:id="rId18"/>
    <p:sldId id="281" r:id="rId19"/>
    <p:sldId id="278" r:id="rId20"/>
    <p:sldId id="279" r:id="rId21"/>
    <p:sldId id="282" r:id="rId22"/>
    <p:sldId id="283" r:id="rId23"/>
    <p:sldId id="284" r:id="rId24"/>
    <p:sldId id="285" r:id="rId25"/>
    <p:sldId id="286" r:id="rId26"/>
    <p:sldId id="287" r:id="rId27"/>
    <p:sldId id="288" r:id="rId28"/>
    <p:sldId id="304" r:id="rId29"/>
    <p:sldId id="289" r:id="rId30"/>
    <p:sldId id="290" r:id="rId31"/>
    <p:sldId id="291" r:id="rId32"/>
    <p:sldId id="292" r:id="rId33"/>
    <p:sldId id="293" r:id="rId34"/>
    <p:sldId id="294" r:id="rId35"/>
    <p:sldId id="295" r:id="rId36"/>
    <p:sldId id="305" r:id="rId37"/>
    <p:sldId id="296" r:id="rId38"/>
    <p:sldId id="297" r:id="rId39"/>
    <p:sldId id="298" r:id="rId40"/>
    <p:sldId id="299" r:id="rId41"/>
    <p:sldId id="300" r:id="rId42"/>
    <p:sldId id="301" r:id="rId43"/>
    <p:sldId id="302" r:id="rId44"/>
    <p:sldId id="303" r:id="rId45"/>
    <p:sldId id="306" r:id="rId46"/>
    <p:sldId id="307" r:id="rId47"/>
    <p:sldId id="308" r:id="rId48"/>
    <p:sldId id="309" r:id="rId49"/>
    <p:sldId id="310" r:id="rId50"/>
    <p:sldId id="311" r:id="rId51"/>
    <p:sldId id="312" r:id="rId52"/>
    <p:sldId id="313" r:id="rId53"/>
    <p:sldId id="314" r:id="rId54"/>
    <p:sldId id="328" r:id="rId55"/>
    <p:sldId id="315" r:id="rId56"/>
    <p:sldId id="316" r:id="rId57"/>
    <p:sldId id="317" r:id="rId58"/>
    <p:sldId id="318" r:id="rId59"/>
    <p:sldId id="319" r:id="rId60"/>
    <p:sldId id="320" r:id="rId61"/>
    <p:sldId id="321" r:id="rId62"/>
    <p:sldId id="322" r:id="rId63"/>
    <p:sldId id="323" r:id="rId64"/>
    <p:sldId id="324" r:id="rId65"/>
    <p:sldId id="329" r:id="rId66"/>
    <p:sldId id="325" r:id="rId67"/>
    <p:sldId id="326" r:id="rId68"/>
    <p:sldId id="327" r:id="rId69"/>
    <p:sldId id="330" r:id="rId70"/>
    <p:sldId id="331" r:id="rId71"/>
    <p:sldId id="332" r:id="rId72"/>
    <p:sldId id="333" r:id="rId73"/>
    <p:sldId id="334" r:id="rId74"/>
    <p:sldId id="335" r:id="rId75"/>
    <p:sldId id="336" r:id="rId76"/>
    <p:sldId id="337" r:id="rId77"/>
    <p:sldId id="338" r:id="rId78"/>
    <p:sldId id="339" r:id="rId79"/>
    <p:sldId id="340" r:id="rId80"/>
    <p:sldId id="341" r:id="rId81"/>
    <p:sldId id="342" r:id="rId82"/>
    <p:sldId id="343" r:id="rId83"/>
    <p:sldId id="344" r:id="rId84"/>
    <p:sldId id="345" r:id="rId85"/>
    <p:sldId id="346" r:id="rId86"/>
    <p:sldId id="347" r:id="rId87"/>
    <p:sldId id="348" r:id="rId88"/>
    <p:sldId id="349" r:id="rId89"/>
    <p:sldId id="350" r:id="rId90"/>
    <p:sldId id="351" r:id="rId91"/>
    <p:sldId id="352" r:id="rId92"/>
    <p:sldId id="353" r:id="rId93"/>
    <p:sldId id="354" r:id="rId94"/>
    <p:sldId id="357" r:id="rId95"/>
    <p:sldId id="358" r:id="rId96"/>
    <p:sldId id="355" r:id="rId97"/>
    <p:sldId id="356" r:id="rId9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tableStyles" Target="tableStyle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presProps" Target="presProps.xml"/><Relationship Id="rId10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02526-8781-1446-9B69-17BBE88446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C1687C-4792-A5A6-D677-1F5173D5E9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DD8A8C-A681-A208-1CED-2B7285C59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5D68F-9774-4869-AAB5-9EFFE474F5C9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A77928-8365-3C77-EC23-2A11FC229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8A243C-E778-7140-2654-AC5368E74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81F02-0B64-4E37-ACBE-AB3FBD7699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30290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17C2B-D70B-B4AB-F83B-4F1E2190E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F9EC59-E417-4410-523E-B4CA47AEDD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21A9C2-CDD3-ECA7-255C-5463072E42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5D68F-9774-4869-AAB5-9EFFE474F5C9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139A43-FD8B-9796-B471-007C7D321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00F071-F10F-68E2-2F61-A4AEF337C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81F02-0B64-4E37-ACBE-AB3FBD7699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3110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E2322-29C7-399A-68FF-1077C98106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07FB4A-83B8-B9C6-03B6-255D531C2A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E0BE1F-1392-EE1B-AEDC-56DDA50E0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5D68F-9774-4869-AAB5-9EFFE474F5C9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7E726-FDFE-1703-6DC0-454CA3155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A6C40F-7BFF-EAAB-1EAB-0EE6AF7E3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81F02-0B64-4E37-ACBE-AB3FBD7699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95647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04AC50-00FF-18C6-8F58-F273C3482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7BCEB7-9CF7-F3AC-BA72-09D7BB4D2F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C0D351-E634-109F-ED8E-61A0A2F955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58E630-E553-D8BE-AD21-1DAAEA23FB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5D68F-9774-4869-AAB5-9EFFE474F5C9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601224-449B-99BD-F20E-EF9996B3D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7CA48B-F32D-4F8C-183E-00E39F956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81F02-0B64-4E37-ACBE-AB3FBD7699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02373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DC459-9D21-5933-641D-51DCB1B039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06E6E7-93D8-C7F2-528D-2F7731544A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06F98C-1BFA-A677-513A-D569598123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86F477-5EB1-7536-8CF1-B5290E6E84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85AF05A-E8D5-D62A-8076-2D5884F715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06B3D88-AD89-8631-68AE-1A8F20061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5D68F-9774-4869-AAB5-9EFFE474F5C9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DD30F2-A735-B6D6-1B3F-9DF338A0D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AD0531D-C188-B58E-FB25-2F7ED410C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81F02-0B64-4E37-ACBE-AB3FBD7699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7917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B03FA-4217-DE72-F70E-A4BB9304C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BE692D-A2FB-C519-BC2F-D54C1F7417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5D68F-9774-4869-AAB5-9EFFE474F5C9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CF340C-89D2-24B1-E34F-446625BFF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A9C122-DF09-1058-EBC8-0961F43C0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81F02-0B64-4E37-ACBE-AB3FBD7699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91035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328E79-D82C-2757-E394-4E2024E49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5D68F-9774-4869-AAB5-9EFFE474F5C9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B151C9-92A4-240D-91FB-C33F78459E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DCB4B6-1BEA-601F-00E8-9FC071A5E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81F02-0B64-4E37-ACBE-AB3FBD7699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3340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9C4E8-10D0-E0AE-2820-DA19E8B90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2BCB0E-BB7D-7C4C-BDA6-331D3760E1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59C57A-6C83-74C0-4897-727F8EDB2E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2BBA06-745B-9F2D-F73A-F64E52814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5D68F-9774-4869-AAB5-9EFFE474F5C9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0DB8DF-DC0C-0633-C0FB-EBEF9AF10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FA280D-56A6-B957-CA29-A71D1ECD5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81F02-0B64-4E37-ACBE-AB3FBD7699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24868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7E25C-4BC3-7B8C-BFB6-B88B8ABBE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5732832-0726-ED1B-E84B-C8BFBC260B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2ED69C-FF1A-792D-7ACF-19C02A3731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1D8400-D4CA-3B24-B82A-65958A02CB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5D68F-9774-4869-AAB5-9EFFE474F5C9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A81B89-5837-23EC-8517-7D6006887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EDDEE0-2572-A14C-4CA9-701B95D79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81F02-0B64-4E37-ACBE-AB3FBD7699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05662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0158E-A6F4-A124-5D50-D5A49EE21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C66B66-0547-E017-8B9D-63F017680E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E0B155-414C-8731-7B48-0DA9B6D7F7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5D68F-9774-4869-AAB5-9EFFE474F5C9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E9F558-86CB-D33A-9780-227E703AF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A59B60-9A8C-9135-5F28-55921D5F9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81F02-0B64-4E37-ACBE-AB3FBD7699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178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A25571-EED9-997F-2341-7D3E384F9C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EEB893-232B-9339-6AEB-B90DA8DB3F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6B2F07-7403-8D5A-E6E9-1CC00767D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5D68F-9774-4869-AAB5-9EFFE474F5C9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BB68CC-5686-4266-FF1C-EA62048B1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D1B7CC-8662-BD89-2E1A-84D4E2578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81F02-0B64-4E37-ACBE-AB3FBD7699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3547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BFBA60-B630-06E7-5192-1D1CCF27F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B8718F-61D5-04E3-514C-0640CF6DFB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9A5769-2072-0AE5-FC36-92DFE87206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75D68F-9774-4869-AAB5-9EFFE474F5C9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ABEC16-7734-64A7-57A2-32A93D4435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78BCFC-9832-B4C5-018A-B5A5C169E2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C81F02-0B64-4E37-ACBE-AB3FBD7699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7484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22480F8-2F3E-5032-11D4-678A64A2FC5C}"/>
              </a:ext>
            </a:extLst>
          </p:cNvPr>
          <p:cNvSpPr txBox="1"/>
          <p:nvPr/>
        </p:nvSpPr>
        <p:spPr>
          <a:xfrm>
            <a:off x="639097" y="1588531"/>
            <a:ext cx="9920748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Brute Force Approach</a:t>
            </a:r>
          </a:p>
          <a:p>
            <a:pPr>
              <a:buNone/>
            </a:pPr>
            <a:r>
              <a:rPr lang="en-US" sz="2400" b="1" dirty="0"/>
              <a:t>Steps</a:t>
            </a:r>
          </a:p>
          <a:p>
            <a:pPr>
              <a:buFont typeface="+mj-lt"/>
              <a:buAutoNum type="arabicPeriod"/>
            </a:pPr>
            <a:r>
              <a:rPr lang="en-US" sz="2400" dirty="0"/>
              <a:t>Start with a variable </a:t>
            </a:r>
            <a:r>
              <a:rPr lang="en-US" sz="2400" dirty="0" err="1">
                <a:latin typeface="Courier New" panose="02070309020205020404" pitchFamily="49" charset="0"/>
              </a:rPr>
              <a:t>maxLen</a:t>
            </a:r>
            <a:r>
              <a:rPr lang="en-US" sz="2400" dirty="0">
                <a:latin typeface="Courier New" panose="02070309020205020404" pitchFamily="49" charset="0"/>
              </a:rPr>
              <a:t> = 0</a:t>
            </a:r>
            <a:r>
              <a:rPr lang="en-US" sz="2400" dirty="0"/>
              <a:t>.</a:t>
            </a:r>
          </a:p>
          <a:p>
            <a:pPr>
              <a:buFont typeface="+mj-lt"/>
              <a:buAutoNum type="arabicPeriod"/>
            </a:pPr>
            <a:r>
              <a:rPr lang="en-US" sz="2400" dirty="0"/>
              <a:t>Use two loops: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400" dirty="0"/>
              <a:t>Outer loop selects starting index </a:t>
            </a:r>
            <a:r>
              <a:rPr lang="en-US" sz="2400" dirty="0" err="1">
                <a:latin typeface="Courier New" panose="02070309020205020404" pitchFamily="49" charset="0"/>
              </a:rPr>
              <a:t>i</a:t>
            </a:r>
            <a:r>
              <a:rPr lang="en-US" sz="2400" dirty="0"/>
              <a:t>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400" dirty="0"/>
              <a:t>Inner loop selects ending index </a:t>
            </a:r>
            <a:r>
              <a:rPr lang="en-US" sz="2400" dirty="0">
                <a:latin typeface="Courier New" panose="02070309020205020404" pitchFamily="49" charset="0"/>
              </a:rPr>
              <a:t>j</a:t>
            </a:r>
            <a:r>
              <a:rPr lang="en-US" sz="2400" dirty="0"/>
              <a:t>.</a:t>
            </a:r>
          </a:p>
          <a:p>
            <a:pPr>
              <a:buFont typeface="+mj-lt"/>
              <a:buAutoNum type="arabicPeriod"/>
            </a:pPr>
            <a:r>
              <a:rPr lang="en-US" sz="2400" dirty="0"/>
              <a:t>For each substring from </a:t>
            </a:r>
            <a:r>
              <a:rPr lang="en-US" sz="2400" dirty="0" err="1">
                <a:latin typeface="Courier New" panose="02070309020205020404" pitchFamily="49" charset="0"/>
              </a:rPr>
              <a:t>i</a:t>
            </a:r>
            <a:r>
              <a:rPr lang="en-US" sz="2400" dirty="0"/>
              <a:t> to </a:t>
            </a:r>
            <a:r>
              <a:rPr lang="en-US" sz="2400" dirty="0">
                <a:latin typeface="Courier New" panose="02070309020205020404" pitchFamily="49" charset="0"/>
              </a:rPr>
              <a:t>j</a:t>
            </a:r>
            <a:r>
              <a:rPr lang="en-US" sz="2400" dirty="0"/>
              <a:t>, maintain a </a:t>
            </a:r>
            <a:r>
              <a:rPr lang="en-US" sz="2400" b="1" dirty="0"/>
              <a:t>frequency array or set</a:t>
            </a:r>
            <a:r>
              <a:rPr lang="en-US" sz="2400" dirty="0"/>
              <a:t>.</a:t>
            </a:r>
          </a:p>
          <a:p>
            <a:pPr>
              <a:buFont typeface="+mj-lt"/>
              <a:buAutoNum type="arabicPeriod"/>
            </a:pPr>
            <a:r>
              <a:rPr lang="en-US" sz="2400" dirty="0"/>
              <a:t>Check if the current character is already present (means repeating).</a:t>
            </a:r>
          </a:p>
          <a:p>
            <a:pPr>
              <a:buFont typeface="+mj-lt"/>
              <a:buAutoNum type="arabicPeriod"/>
            </a:pPr>
            <a:r>
              <a:rPr lang="en-US" sz="2400" dirty="0"/>
              <a:t>If not repeating, increase substring length and update </a:t>
            </a:r>
            <a:r>
              <a:rPr lang="en-US" sz="2400" dirty="0" err="1">
                <a:latin typeface="Courier New" panose="02070309020205020404" pitchFamily="49" charset="0"/>
              </a:rPr>
              <a:t>maxLen</a:t>
            </a:r>
            <a:r>
              <a:rPr lang="en-US" sz="2400" dirty="0"/>
              <a:t>.</a:t>
            </a:r>
          </a:p>
          <a:p>
            <a:pPr>
              <a:buFont typeface="+mj-lt"/>
              <a:buAutoNum type="arabicPeriod"/>
            </a:pPr>
            <a:r>
              <a:rPr lang="en-US" sz="2400" dirty="0"/>
              <a:t>If repeating, stop extending this substring and move to next </a:t>
            </a:r>
            <a:r>
              <a:rPr lang="en-US" sz="2400" dirty="0" err="1">
                <a:latin typeface="Courier New" panose="02070309020205020404" pitchFamily="49" charset="0"/>
              </a:rPr>
              <a:t>i</a:t>
            </a:r>
            <a:r>
              <a:rPr lang="en-US" sz="2400" dirty="0"/>
              <a:t>.</a:t>
            </a:r>
          </a:p>
          <a:p>
            <a:pPr>
              <a:buFont typeface="+mj-lt"/>
              <a:buAutoNum type="arabicPeriod"/>
            </a:pPr>
            <a:r>
              <a:rPr lang="en-US" sz="2400" dirty="0"/>
              <a:t>After checking all possible substrings, return </a:t>
            </a:r>
            <a:r>
              <a:rPr lang="en-US" sz="2400" dirty="0" err="1">
                <a:latin typeface="Courier New" panose="02070309020205020404" pitchFamily="49" charset="0"/>
              </a:rPr>
              <a:t>maxLen</a:t>
            </a:r>
            <a:r>
              <a:rPr lang="en-US" sz="2400" dirty="0"/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6A3108-89C1-B420-DE94-050DF1C75E93}"/>
              </a:ext>
            </a:extLst>
          </p:cNvPr>
          <p:cNvSpPr txBox="1"/>
          <p:nvPr/>
        </p:nvSpPr>
        <p:spPr>
          <a:xfrm>
            <a:off x="639097" y="353961"/>
            <a:ext cx="104320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Longest Substring Without Repeating Characters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23589894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B5C9A98-3C67-9A05-DEDB-D76913A68891}"/>
              </a:ext>
            </a:extLst>
          </p:cNvPr>
          <p:cNvSpPr txBox="1"/>
          <p:nvPr/>
        </p:nvSpPr>
        <p:spPr>
          <a:xfrm>
            <a:off x="491613" y="596828"/>
            <a:ext cx="1135625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Time Complexity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Outer loop → O(n)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Inner loop → O(n)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Checking unique characters → O(n)</a:t>
            </a:r>
          </a:p>
          <a:p>
            <a:pPr>
              <a:buNone/>
            </a:pPr>
            <a:r>
              <a:rPr lang="en-US" sz="2400" dirty="0"/>
              <a:t>Total: </a:t>
            </a:r>
            <a:r>
              <a:rPr lang="en-US" sz="2400" b="1" dirty="0"/>
              <a:t>O(n³)</a:t>
            </a:r>
            <a:r>
              <a:rPr lang="en-US" sz="2400" dirty="0"/>
              <a:t> (Worst case)</a:t>
            </a:r>
          </a:p>
          <a:p>
            <a:pPr>
              <a:buNone/>
            </a:pPr>
            <a:r>
              <a:rPr lang="en-US" sz="2400" b="1" dirty="0"/>
              <a:t>Space Complexity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O(n) (for checking characters)</a:t>
            </a:r>
          </a:p>
        </p:txBody>
      </p:sp>
    </p:spTree>
    <p:extLst>
      <p:ext uri="{BB962C8B-B14F-4D97-AF65-F5344CB8AC3E}">
        <p14:creationId xmlns:p14="http://schemas.microsoft.com/office/powerpoint/2010/main" val="9681894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DBB5660-DE1A-935D-8F81-3B5AD6779D79}"/>
                  </a:ext>
                </a:extLst>
              </p:cNvPr>
              <p:cNvSpPr txBox="1"/>
              <p:nvPr/>
            </p:nvSpPr>
            <p:spPr>
              <a:xfrm>
                <a:off x="127817" y="425098"/>
                <a:ext cx="11857705" cy="56015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sz="2000" b="1" dirty="0"/>
                  <a:t>Optimized Sliding Window — Steps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sz="2000" dirty="0"/>
                  <a:t>Create a frequency array </a:t>
                </a:r>
                <a:r>
                  <a:rPr lang="en-US" sz="2000" dirty="0">
                    <a:latin typeface="Courier New" panose="02070309020205020404" pitchFamily="49" charset="0"/>
                  </a:rPr>
                  <a:t>count</a:t>
                </a:r>
                <a:r>
                  <a:rPr lang="en-US" sz="2000" dirty="0"/>
                  <a:t> of size 256 initialized to 0 (for all ASCII characters).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sz="2000" dirty="0"/>
                  <a:t>Initialize two pointers:</a:t>
                </a:r>
              </a:p>
              <a:p>
                <a:pPr marL="742950" lvl="1" indent="-285750">
                  <a:buFont typeface="+mj-lt"/>
                  <a:buAutoNum type="arabicPeriod"/>
                </a:pPr>
                <a:r>
                  <a:rPr lang="en-US" sz="2000" dirty="0">
                    <a:latin typeface="Courier New" panose="02070309020205020404" pitchFamily="49" charset="0"/>
                  </a:rPr>
                  <a:t>l = 0</a:t>
                </a:r>
                <a:r>
                  <a:rPr lang="en-US" sz="2000" dirty="0"/>
                  <a:t> (left side of window)</a:t>
                </a:r>
              </a:p>
              <a:p>
                <a:pPr marL="742950" lvl="1" indent="-285750">
                  <a:buFont typeface="+mj-lt"/>
                  <a:buAutoNum type="arabicPeriod"/>
                </a:pPr>
                <a:r>
                  <a:rPr lang="en-US" sz="2000" dirty="0">
                    <a:latin typeface="Courier New" panose="02070309020205020404" pitchFamily="49" charset="0"/>
                  </a:rPr>
                  <a:t>r = 0</a:t>
                </a:r>
                <a:r>
                  <a:rPr lang="en-US" sz="2000" dirty="0"/>
                  <a:t> (right side of window)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sz="2000" dirty="0"/>
                  <a:t>Start expanding the window by moving pointer </a:t>
                </a:r>
                <a:r>
                  <a:rPr lang="en-US" sz="2000" dirty="0">
                    <a:latin typeface="Courier New" panose="02070309020205020404" pitchFamily="49" charset="0"/>
                  </a:rPr>
                  <a:t>r</a:t>
                </a:r>
                <a:r>
                  <a:rPr lang="en-US" sz="2000" dirty="0"/>
                  <a:t> to the right.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sz="2000" dirty="0"/>
                  <a:t>Increase the frequency of the character </a:t>
                </a:r>
                <a:r>
                  <a:rPr lang="en-US" sz="2000" dirty="0">
                    <a:latin typeface="Courier New" panose="02070309020205020404" pitchFamily="49" charset="0"/>
                  </a:rPr>
                  <a:t>s[r]</a:t>
                </a:r>
                <a:r>
                  <a:rPr lang="en-US" sz="2000" dirty="0"/>
                  <a:t> in </a:t>
                </a:r>
                <a:r>
                  <a:rPr lang="en-US" sz="2000" dirty="0">
                    <a:latin typeface="Courier New" panose="02070309020205020404" pitchFamily="49" charset="0"/>
                  </a:rPr>
                  <a:t>count</a:t>
                </a:r>
                <a:r>
                  <a:rPr lang="en-US" sz="2000" dirty="0"/>
                  <a:t>.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sz="2000" dirty="0"/>
                  <a:t>If the frequency of the current character becomes </a:t>
                </a:r>
                <a:r>
                  <a:rPr lang="en-US" sz="2000" b="1" dirty="0"/>
                  <a:t>greater than 1</a:t>
                </a:r>
                <a:r>
                  <a:rPr lang="en-US" sz="2000" dirty="0"/>
                  <a:t>,</a:t>
                </a:r>
                <a:br>
                  <a:rPr lang="en-US" sz="2000" dirty="0"/>
                </a:br>
                <a:r>
                  <a:rPr lang="en-US" sz="2000" dirty="0"/>
                  <a:t>this means we found a </a:t>
                </a:r>
                <a:r>
                  <a:rPr lang="en-US" sz="2000" b="1" dirty="0"/>
                  <a:t>duplicate</a:t>
                </a:r>
                <a:r>
                  <a:rPr lang="en-US" sz="2000" dirty="0"/>
                  <a:t>.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sz="2000" dirty="0"/>
                  <a:t>Shrink the window from the left:</a:t>
                </a:r>
              </a:p>
              <a:p>
                <a:pPr marL="742950" lvl="1" indent="-285750">
                  <a:buFont typeface="+mj-lt"/>
                  <a:buAutoNum type="arabicPeriod"/>
                </a:pPr>
                <a:r>
                  <a:rPr lang="en-US" sz="2000" dirty="0"/>
                  <a:t>Decrease </a:t>
                </a:r>
                <a:r>
                  <a:rPr lang="en-US" sz="2000" dirty="0">
                    <a:latin typeface="Courier New" panose="02070309020205020404" pitchFamily="49" charset="0"/>
                  </a:rPr>
                  <a:t>count[s[l]]</a:t>
                </a:r>
                <a:endParaRPr lang="en-US" sz="2000" dirty="0"/>
              </a:p>
              <a:p>
                <a:pPr marL="742950" lvl="1" indent="-285750">
                  <a:buFont typeface="+mj-lt"/>
                  <a:buAutoNum type="arabicPeriod"/>
                </a:pPr>
                <a:r>
                  <a:rPr lang="en-US" sz="2000" dirty="0"/>
                  <a:t>Move </a:t>
                </a:r>
                <a:r>
                  <a:rPr lang="en-US" sz="2000" dirty="0">
                    <a:latin typeface="Courier New" panose="02070309020205020404" pitchFamily="49" charset="0"/>
                  </a:rPr>
                  <a:t>l</a:t>
                </a:r>
                <a:r>
                  <a:rPr lang="en-US" sz="2000" dirty="0"/>
                  <a:t> forward</a:t>
                </a:r>
              </a:p>
              <a:p>
                <a:pPr marL="742950" lvl="1" indent="-285750">
                  <a:buFont typeface="+mj-lt"/>
                  <a:buAutoNum type="arabicPeriod"/>
                </a:pPr>
                <a:r>
                  <a:rPr lang="en-US" sz="2000" dirty="0"/>
                  <a:t>Repeat until the duplicate is removed.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sz="2000" dirty="0"/>
                  <a:t>After removing duplicates, calculate the current window size: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000" b="0"/>
                        <m:t>current</m:t>
                      </m:r>
                      <m:r>
                        <m:rPr>
                          <m:nor/>
                        </m:rPr>
                        <a:rPr lang="en-US" sz="2000" b="0" i="1"/>
                        <m:t> </m:t>
                      </m:r>
                      <m:r>
                        <m:rPr>
                          <m:nor/>
                        </m:rPr>
                        <a:rPr lang="en-US" sz="2000" b="0" i="1"/>
                        <m:t>length</m:t>
                      </m:r>
                      <m:r>
                        <a:rPr lang="en-US" sz="2000" b="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2000" b="0" i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000" b="0" i="1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sz="2000" b="0" i="0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US" sz="2000" b="0" dirty="0"/>
              </a:p>
              <a:p>
                <a:pPr>
                  <a:buFont typeface="+mj-lt"/>
                  <a:buAutoNum type="arabicPeriod"/>
                </a:pPr>
                <a:r>
                  <a:rPr lang="en-US" sz="2000" dirty="0"/>
                  <a:t>Update </a:t>
                </a:r>
                <a:r>
                  <a:rPr lang="en-US" sz="2000" dirty="0" err="1">
                    <a:latin typeface="Courier New" panose="02070309020205020404" pitchFamily="49" charset="0"/>
                  </a:rPr>
                  <a:t>maxLen</a:t>
                </a:r>
                <a:r>
                  <a:rPr lang="en-US" sz="2000" dirty="0"/>
                  <a:t> with the maximum window size found so far.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sz="2000" dirty="0"/>
                  <a:t>Move </a:t>
                </a:r>
                <a:r>
                  <a:rPr lang="en-US" sz="2000" dirty="0">
                    <a:latin typeface="Courier New" panose="02070309020205020404" pitchFamily="49" charset="0"/>
                  </a:rPr>
                  <a:t>r</a:t>
                </a:r>
                <a:r>
                  <a:rPr lang="en-US" sz="2000" dirty="0"/>
                  <a:t> forward and continue until the end of string.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sz="2000" dirty="0"/>
                  <a:t>Return </a:t>
                </a:r>
                <a:r>
                  <a:rPr lang="en-US" sz="2000" dirty="0" err="1">
                    <a:latin typeface="Courier New" panose="02070309020205020404" pitchFamily="49" charset="0"/>
                  </a:rPr>
                  <a:t>maxLen</a:t>
                </a:r>
                <a:r>
                  <a:rPr lang="en-US" sz="2000" dirty="0"/>
                  <a:t> as the longest substring without repeating characters.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DBB5660-DE1A-935D-8F81-3B5AD6779D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817" y="425098"/>
                <a:ext cx="11857705" cy="5601533"/>
              </a:xfrm>
              <a:prstGeom prst="rect">
                <a:avLst/>
              </a:prstGeom>
              <a:blipFill>
                <a:blip r:embed="rId2"/>
                <a:stretch>
                  <a:fillRect l="-566" t="-653" b="-163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110804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303178A-B04A-8DE5-26FD-DC731B3243C2}"/>
              </a:ext>
            </a:extLst>
          </p:cNvPr>
          <p:cNvSpPr txBox="1"/>
          <p:nvPr/>
        </p:nvSpPr>
        <p:spPr>
          <a:xfrm>
            <a:off x="501444" y="429681"/>
            <a:ext cx="10314039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Time Complexity</a:t>
            </a:r>
          </a:p>
          <a:p>
            <a:pPr>
              <a:buNone/>
            </a:pPr>
            <a:r>
              <a:rPr lang="en-US" sz="2400" dirty="0"/>
              <a:t>Sliding Window processes each character </a:t>
            </a:r>
            <a:r>
              <a:rPr lang="en-US" sz="2400" b="1" dirty="0"/>
              <a:t>at most 2 times</a:t>
            </a:r>
            <a:r>
              <a:rPr lang="en-US" sz="2400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Courier New" panose="02070309020205020404" pitchFamily="49" charset="0"/>
              </a:rPr>
              <a:t>r</a:t>
            </a:r>
            <a:r>
              <a:rPr lang="en-US" sz="2400" dirty="0"/>
              <a:t> moves n times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Courier New" panose="02070309020205020404" pitchFamily="49" charset="0"/>
              </a:rPr>
              <a:t>l</a:t>
            </a:r>
            <a:r>
              <a:rPr lang="en-US" sz="2400" dirty="0"/>
              <a:t> moves n times</a:t>
            </a:r>
          </a:p>
          <a:p>
            <a:pPr>
              <a:buNone/>
            </a:pPr>
            <a:r>
              <a:rPr lang="en-US" sz="2400" dirty="0"/>
              <a:t>So: </a:t>
            </a:r>
            <a:r>
              <a:rPr lang="en-US" sz="2400" b="1" dirty="0"/>
              <a:t>O(n)</a:t>
            </a:r>
            <a:endParaRPr lang="en-US" sz="2400" dirty="0"/>
          </a:p>
          <a:p>
            <a:pPr>
              <a:buNone/>
            </a:pPr>
            <a:r>
              <a:rPr lang="en-US" sz="2400" b="1" dirty="0"/>
              <a:t>Space Complexity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count array = </a:t>
            </a:r>
            <a:r>
              <a:rPr lang="en-US" sz="2400" b="1" dirty="0"/>
              <a:t>O(1)</a:t>
            </a:r>
            <a:r>
              <a:rPr lang="en-US" sz="2400" dirty="0"/>
              <a:t> fixed size 256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F0587AA-EC45-2A99-E0C3-28C25ED68C14}"/>
              </a:ext>
            </a:extLst>
          </p:cNvPr>
          <p:cNvGraphicFramePr>
            <a:graphicFrameLocks noGrp="1"/>
          </p:cNvGraphicFramePr>
          <p:nvPr/>
        </p:nvGraphicFramePr>
        <p:xfrm>
          <a:off x="570269" y="4393991"/>
          <a:ext cx="10515600" cy="16459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397306676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58776840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80327859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70127668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Approach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Time Complexity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Space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Explanation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81174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Brute Force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O(n³)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O(n)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Check all substrings and verify uniqueness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96552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Sliding Window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O(n)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O(1)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Always maintain a non-repeating window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423551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3BCD2C7-B6EC-1DD1-BB56-9DE8FD8390C5}"/>
              </a:ext>
            </a:extLst>
          </p:cNvPr>
          <p:cNvSpPr txBox="1"/>
          <p:nvPr/>
        </p:nvSpPr>
        <p:spPr>
          <a:xfrm>
            <a:off x="501444" y="3489054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/>
              <a:t>Final Comparison Table</a:t>
            </a:r>
          </a:p>
        </p:txBody>
      </p:sp>
    </p:spTree>
    <p:extLst>
      <p:ext uri="{BB962C8B-B14F-4D97-AF65-F5344CB8AC3E}">
        <p14:creationId xmlns:p14="http://schemas.microsoft.com/office/powerpoint/2010/main" val="36824843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8630D98-7E24-76CD-2F78-C4303C663CC1}"/>
              </a:ext>
            </a:extLst>
          </p:cNvPr>
          <p:cNvSpPr txBox="1"/>
          <p:nvPr/>
        </p:nvSpPr>
        <p:spPr>
          <a:xfrm>
            <a:off x="324464" y="247954"/>
            <a:ext cx="1149391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974. Subarray Sums Divisible by K</a:t>
            </a:r>
            <a:endParaRPr lang="en-IN" sz="32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2BDD8F-3413-31F8-37DA-60FEFECC9D28}"/>
              </a:ext>
            </a:extLst>
          </p:cNvPr>
          <p:cNvSpPr txBox="1"/>
          <p:nvPr/>
        </p:nvSpPr>
        <p:spPr>
          <a:xfrm>
            <a:off x="324463" y="960622"/>
            <a:ext cx="11356259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Brute Force Approach — Steps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Convert the array into prefix sum form.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Count how many prefix sums are divisible by k.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Check every pair of prefix sums (</a:t>
            </a:r>
            <a:r>
              <a:rPr lang="en-US" sz="2000" dirty="0" err="1"/>
              <a:t>i</a:t>
            </a:r>
            <a:r>
              <a:rPr lang="en-US" sz="2000" dirty="0"/>
              <a:t>, j).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If difference of the two prefix sums is divisible by k, increase count.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Return count.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FCAD60-0886-1720-21B4-F38E2FE518FF}"/>
              </a:ext>
            </a:extLst>
          </p:cNvPr>
          <p:cNvSpPr txBox="1"/>
          <p:nvPr/>
        </p:nvSpPr>
        <p:spPr>
          <a:xfrm>
            <a:off x="196644" y="3027507"/>
            <a:ext cx="1174955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Brute Force Approach (Using Prefix Sums + Checking All Pairs)</a:t>
            </a:r>
          </a:p>
          <a:p>
            <a:pPr>
              <a:buNone/>
            </a:pPr>
            <a:r>
              <a:rPr lang="en-IN" b="1" dirty="0"/>
              <a:t>Time Complexity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Step 1: Building prefix sum → </a:t>
            </a:r>
            <a:r>
              <a:rPr lang="en-IN" b="1" dirty="0"/>
              <a:t>O(n)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Step 2: Counting prefix sum divisible by k → </a:t>
            </a:r>
            <a:r>
              <a:rPr lang="en-IN" b="1" dirty="0"/>
              <a:t>O(n)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Step 3: Checking every pair (</a:t>
            </a:r>
            <a:r>
              <a:rPr lang="en-IN" dirty="0" err="1"/>
              <a:t>i</a:t>
            </a:r>
            <a:r>
              <a:rPr lang="en-IN" dirty="0"/>
              <a:t>, j) → </a:t>
            </a:r>
            <a:r>
              <a:rPr lang="en-IN" b="1" dirty="0"/>
              <a:t>O(n²)</a:t>
            </a:r>
            <a:br>
              <a:rPr lang="en-IN" dirty="0"/>
            </a:br>
            <a:r>
              <a:rPr lang="en-IN" dirty="0"/>
              <a:t>This is because there are ≈ n(n−1)/2 pairs.</a:t>
            </a:r>
          </a:p>
          <a:p>
            <a:pPr>
              <a:buNone/>
            </a:pPr>
            <a:r>
              <a:rPr lang="en-IN" b="1" dirty="0"/>
              <a:t>Total Time Complexity = O(n²)</a:t>
            </a:r>
          </a:p>
          <a:p>
            <a:pPr>
              <a:buNone/>
            </a:pPr>
            <a:r>
              <a:rPr lang="en-IN" b="1" dirty="0"/>
              <a:t>Space Complexity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Prefix array: </a:t>
            </a:r>
            <a:r>
              <a:rPr lang="en-IN" b="1" dirty="0"/>
              <a:t>O(n)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No extra significant space.</a:t>
            </a:r>
          </a:p>
          <a:p>
            <a:pPr>
              <a:buNone/>
            </a:pPr>
            <a:r>
              <a:rPr lang="en-IN" b="1" dirty="0"/>
              <a:t>Total Space Complexity = O(n)</a:t>
            </a:r>
          </a:p>
        </p:txBody>
      </p:sp>
    </p:spTree>
    <p:extLst>
      <p:ext uri="{BB962C8B-B14F-4D97-AF65-F5344CB8AC3E}">
        <p14:creationId xmlns:p14="http://schemas.microsoft.com/office/powerpoint/2010/main" val="33092708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4827B11-73CC-9D25-1088-4A493E844960}"/>
              </a:ext>
            </a:extLst>
          </p:cNvPr>
          <p:cNvSpPr txBox="1"/>
          <p:nvPr/>
        </p:nvSpPr>
        <p:spPr>
          <a:xfrm>
            <a:off x="157315" y="142288"/>
            <a:ext cx="11543074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Optimal Approach — Steps (Prefix Sum + </a:t>
            </a:r>
            <a:r>
              <a:rPr lang="en-US" sz="2000" b="1" dirty="0" err="1"/>
              <a:t>Hashmap</a:t>
            </a:r>
            <a:r>
              <a:rPr lang="en-US" sz="2000" b="1" dirty="0"/>
              <a:t>)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Start with sum = 0 and result = 0.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Store remainder 0 with frequency 1 in the </a:t>
            </a:r>
            <a:r>
              <a:rPr lang="en-US" sz="2000" dirty="0" err="1"/>
              <a:t>hashmap</a:t>
            </a:r>
            <a:r>
              <a:rPr lang="en-US" sz="2000" dirty="0"/>
              <a:t>.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For every element in the array: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000" dirty="0"/>
              <a:t>Add the element to sum.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000" dirty="0"/>
              <a:t>Find remainder of sum when divided by k.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000" dirty="0"/>
              <a:t>If remainder is negative, make it positive by adding k.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000" dirty="0"/>
              <a:t>Add the frequency of this remainder to result.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000" dirty="0"/>
              <a:t>Increase the frequency of this remainder in </a:t>
            </a:r>
            <a:r>
              <a:rPr lang="en-US" sz="2000" dirty="0" err="1"/>
              <a:t>hashmap</a:t>
            </a:r>
            <a:r>
              <a:rPr lang="en-US" sz="2000" dirty="0"/>
              <a:t>.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Return result.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92C15A-FDFE-431D-69AB-642C20B4AB84}"/>
              </a:ext>
            </a:extLst>
          </p:cNvPr>
          <p:cNvSpPr txBox="1"/>
          <p:nvPr/>
        </p:nvSpPr>
        <p:spPr>
          <a:xfrm>
            <a:off x="304800" y="3312387"/>
            <a:ext cx="11661058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Optimal Approach — Prefix Sum + </a:t>
            </a:r>
            <a:r>
              <a:rPr lang="en-IN" b="1" dirty="0" err="1"/>
              <a:t>Hashmap</a:t>
            </a:r>
            <a:r>
              <a:rPr lang="en-IN" b="1" dirty="0"/>
              <a:t> (Remainder Frequency)</a:t>
            </a:r>
          </a:p>
          <a:p>
            <a:pPr>
              <a:buNone/>
            </a:pPr>
            <a:r>
              <a:rPr lang="en-IN" b="1" dirty="0"/>
              <a:t>Time Complexity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You traverse the array once → </a:t>
            </a:r>
            <a:r>
              <a:rPr lang="en-IN" b="1" dirty="0"/>
              <a:t>O(n)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All operations (add, mod, </a:t>
            </a:r>
            <a:r>
              <a:rPr lang="en-IN" dirty="0" err="1"/>
              <a:t>hashmap</a:t>
            </a:r>
            <a:r>
              <a:rPr lang="en-IN" dirty="0"/>
              <a:t> lookup, update) = </a:t>
            </a:r>
            <a:r>
              <a:rPr lang="en-IN" b="1" dirty="0"/>
              <a:t>O(1)</a:t>
            </a:r>
            <a:r>
              <a:rPr lang="en-IN" dirty="0"/>
              <a:t> average.</a:t>
            </a:r>
          </a:p>
          <a:p>
            <a:pPr>
              <a:buNone/>
            </a:pPr>
            <a:r>
              <a:rPr lang="en-IN" b="1" dirty="0"/>
              <a:t>Total Time Complexity = O(n)</a:t>
            </a:r>
          </a:p>
          <a:p>
            <a:pPr>
              <a:buNone/>
            </a:pPr>
            <a:r>
              <a:rPr lang="en-IN" b="1" dirty="0"/>
              <a:t>Space Complexity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 err="1"/>
              <a:t>Hashmap</a:t>
            </a:r>
            <a:r>
              <a:rPr lang="en-IN" dirty="0"/>
              <a:t> stores at most </a:t>
            </a:r>
            <a:r>
              <a:rPr lang="en-IN" b="1" dirty="0"/>
              <a:t>k</a:t>
            </a:r>
            <a:r>
              <a:rPr lang="en-IN" dirty="0"/>
              <a:t> remainders (0 to k−1)</a:t>
            </a:r>
          </a:p>
          <a:p>
            <a:pPr>
              <a:buNone/>
            </a:pPr>
            <a:r>
              <a:rPr lang="en-IN" b="1" dirty="0"/>
              <a:t>Space Complexity = O(k)</a:t>
            </a:r>
          </a:p>
          <a:p>
            <a:pPr>
              <a:buNone/>
            </a:pPr>
            <a:r>
              <a:rPr lang="en-IN" dirty="0"/>
              <a:t>(If k is constant compared to n, this becomes </a:t>
            </a:r>
            <a:r>
              <a:rPr lang="en-IN" b="1" dirty="0"/>
              <a:t>O(1)</a:t>
            </a:r>
            <a:r>
              <a:rPr lang="en-IN" dirty="0"/>
              <a:t>.)</a:t>
            </a:r>
          </a:p>
        </p:txBody>
      </p:sp>
    </p:spTree>
    <p:extLst>
      <p:ext uri="{BB962C8B-B14F-4D97-AF65-F5344CB8AC3E}">
        <p14:creationId xmlns:p14="http://schemas.microsoft.com/office/powerpoint/2010/main" val="41511331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544C577-3FA4-45F4-6FF0-35B461ED7705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1761505"/>
          <a:ext cx="10515600" cy="10972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338811534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657423886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82655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Approach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Time Complexity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Space Complexity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19539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Brute Force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O(n²)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O(n)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37795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Optimal (Prefix + Hashmap)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O(n)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O(k)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497658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41FBAA9D-0B01-B7B2-8357-7F1C909E0939}"/>
              </a:ext>
            </a:extLst>
          </p:cNvPr>
          <p:cNvSpPr txBox="1"/>
          <p:nvPr/>
        </p:nvSpPr>
        <p:spPr>
          <a:xfrm>
            <a:off x="1081549" y="788728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Final Answer</a:t>
            </a:r>
          </a:p>
        </p:txBody>
      </p:sp>
    </p:spTree>
    <p:extLst>
      <p:ext uri="{BB962C8B-B14F-4D97-AF65-F5344CB8AC3E}">
        <p14:creationId xmlns:p14="http://schemas.microsoft.com/office/powerpoint/2010/main" val="29233277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B423B6D-3921-416F-CAFD-BF52BC26C07F}"/>
              </a:ext>
            </a:extLst>
          </p:cNvPr>
          <p:cNvSpPr txBox="1"/>
          <p:nvPr/>
        </p:nvSpPr>
        <p:spPr>
          <a:xfrm>
            <a:off x="206476" y="1063979"/>
            <a:ext cx="11783961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1. Brute-Force Approach — Steps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Start from the first element of the array.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For each element </a:t>
            </a:r>
            <a:r>
              <a:rPr lang="en-US" sz="2000" dirty="0" err="1">
                <a:latin typeface="Courier New" panose="02070309020205020404" pitchFamily="49" charset="0"/>
              </a:rPr>
              <a:t>arr</a:t>
            </a:r>
            <a:r>
              <a:rPr lang="en-US" sz="2000" dirty="0">
                <a:latin typeface="Courier New" panose="02070309020205020404" pitchFamily="49" charset="0"/>
              </a:rPr>
              <a:t>[</a:t>
            </a:r>
            <a:r>
              <a:rPr lang="en-US" sz="2000" dirty="0" err="1">
                <a:latin typeface="Courier New" panose="02070309020205020404" pitchFamily="49" charset="0"/>
              </a:rPr>
              <a:t>i</a:t>
            </a:r>
            <a:r>
              <a:rPr lang="en-US" sz="2000" dirty="0">
                <a:latin typeface="Courier New" panose="02070309020205020404" pitchFamily="49" charset="0"/>
              </a:rPr>
              <a:t>]</a:t>
            </a:r>
            <a:r>
              <a:rPr lang="en-US" sz="2000" dirty="0"/>
              <a:t>, compare it with every element after it (</a:t>
            </a:r>
            <a:r>
              <a:rPr lang="en-US" sz="2000" dirty="0" err="1">
                <a:latin typeface="Courier New" panose="02070309020205020404" pitchFamily="49" charset="0"/>
              </a:rPr>
              <a:t>arr</a:t>
            </a:r>
            <a:r>
              <a:rPr lang="en-US" sz="2000" dirty="0">
                <a:latin typeface="Courier New" panose="02070309020205020404" pitchFamily="49" charset="0"/>
              </a:rPr>
              <a:t>[j]</a:t>
            </a:r>
            <a:r>
              <a:rPr lang="en-US" sz="2000" dirty="0"/>
              <a:t>).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Calculate </a:t>
            </a:r>
            <a:r>
              <a:rPr lang="en-US" sz="2000" dirty="0">
                <a:latin typeface="Courier New" panose="02070309020205020404" pitchFamily="49" charset="0"/>
              </a:rPr>
              <a:t>abs(</a:t>
            </a:r>
            <a:r>
              <a:rPr lang="en-US" sz="2000" dirty="0" err="1">
                <a:latin typeface="Courier New" panose="02070309020205020404" pitchFamily="49" charset="0"/>
              </a:rPr>
              <a:t>arr</a:t>
            </a:r>
            <a:r>
              <a:rPr lang="en-US" sz="2000" dirty="0">
                <a:latin typeface="Courier New" panose="02070309020205020404" pitchFamily="49" charset="0"/>
              </a:rPr>
              <a:t>[j] – </a:t>
            </a:r>
            <a:r>
              <a:rPr lang="en-US" sz="2000" dirty="0" err="1">
                <a:latin typeface="Courier New" panose="02070309020205020404" pitchFamily="49" charset="0"/>
              </a:rPr>
              <a:t>arr</a:t>
            </a:r>
            <a:r>
              <a:rPr lang="en-US" sz="2000" dirty="0">
                <a:latin typeface="Courier New" panose="02070309020205020404" pitchFamily="49" charset="0"/>
              </a:rPr>
              <a:t>[</a:t>
            </a:r>
            <a:r>
              <a:rPr lang="en-US" sz="2000" dirty="0" err="1">
                <a:latin typeface="Courier New" panose="02070309020205020404" pitchFamily="49" charset="0"/>
              </a:rPr>
              <a:t>i</a:t>
            </a:r>
            <a:r>
              <a:rPr lang="en-US" sz="2000" dirty="0">
                <a:latin typeface="Courier New" panose="02070309020205020404" pitchFamily="49" charset="0"/>
              </a:rPr>
              <a:t>])</a:t>
            </a:r>
            <a:r>
              <a:rPr lang="en-US" sz="2000" dirty="0"/>
              <a:t>.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If the result is equal to </a:t>
            </a:r>
            <a:r>
              <a:rPr lang="en-US" sz="2000" dirty="0">
                <a:latin typeface="Courier New" panose="02070309020205020404" pitchFamily="49" charset="0"/>
              </a:rPr>
              <a:t>x</a:t>
            </a:r>
            <a:r>
              <a:rPr lang="en-US" sz="2000" dirty="0"/>
              <a:t>, return </a:t>
            </a:r>
            <a:r>
              <a:rPr lang="en-US" sz="2000" b="1" dirty="0"/>
              <a:t>true</a:t>
            </a:r>
            <a:r>
              <a:rPr lang="en-US" sz="2000" dirty="0"/>
              <a:t> (pair found).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If all pairs are checked and no match is found, return </a:t>
            </a:r>
            <a:r>
              <a:rPr lang="en-US" sz="2000" b="1" dirty="0"/>
              <a:t>false</a:t>
            </a:r>
            <a:r>
              <a:rPr lang="en-US" sz="2000" dirty="0"/>
              <a:t>.</a:t>
            </a:r>
          </a:p>
          <a:p>
            <a:pPr>
              <a:buNone/>
            </a:pPr>
            <a:endParaRPr lang="en-US" sz="2000" dirty="0"/>
          </a:p>
          <a:p>
            <a:pPr>
              <a:buNone/>
            </a:pPr>
            <a:r>
              <a:rPr lang="en-US" sz="2000" b="1" dirty="0"/>
              <a:t>2. Two-Pointer Approach (Optimized) — Steps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Sort the array in increasing order.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Initialize two pointers: </a:t>
            </a:r>
            <a:r>
              <a:rPr lang="en-US" sz="2000" dirty="0" err="1">
                <a:latin typeface="Courier New" panose="02070309020205020404" pitchFamily="49" charset="0"/>
              </a:rPr>
              <a:t>i</a:t>
            </a:r>
            <a:r>
              <a:rPr lang="en-US" sz="2000" dirty="0">
                <a:latin typeface="Courier New" panose="02070309020205020404" pitchFamily="49" charset="0"/>
              </a:rPr>
              <a:t> = 0</a:t>
            </a:r>
            <a:r>
              <a:rPr lang="en-US" sz="2000" dirty="0"/>
              <a:t> and </a:t>
            </a:r>
            <a:r>
              <a:rPr lang="en-US" sz="2000" dirty="0">
                <a:latin typeface="Courier New" panose="02070309020205020404" pitchFamily="49" charset="0"/>
              </a:rPr>
              <a:t>j = 1</a:t>
            </a:r>
            <a:r>
              <a:rPr lang="en-US" sz="2000" dirty="0"/>
              <a:t>.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While pointer </a:t>
            </a:r>
            <a:r>
              <a:rPr lang="en-US" sz="2000" dirty="0">
                <a:latin typeface="Courier New" panose="02070309020205020404" pitchFamily="49" charset="0"/>
              </a:rPr>
              <a:t>j</a:t>
            </a:r>
            <a:r>
              <a:rPr lang="en-US" sz="2000" dirty="0"/>
              <a:t> is within the array: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000" dirty="0"/>
              <a:t>Compute the difference </a:t>
            </a:r>
            <a:r>
              <a:rPr lang="en-US" sz="2000" dirty="0" err="1">
                <a:latin typeface="Courier New" panose="02070309020205020404" pitchFamily="49" charset="0"/>
              </a:rPr>
              <a:t>arr</a:t>
            </a:r>
            <a:r>
              <a:rPr lang="en-US" sz="2000" dirty="0">
                <a:latin typeface="Courier New" panose="02070309020205020404" pitchFamily="49" charset="0"/>
              </a:rPr>
              <a:t>[j] – </a:t>
            </a:r>
            <a:r>
              <a:rPr lang="en-US" sz="2000" dirty="0" err="1">
                <a:latin typeface="Courier New" panose="02070309020205020404" pitchFamily="49" charset="0"/>
              </a:rPr>
              <a:t>arr</a:t>
            </a:r>
            <a:r>
              <a:rPr lang="en-US" sz="2000" dirty="0">
                <a:latin typeface="Courier New" panose="02070309020205020404" pitchFamily="49" charset="0"/>
              </a:rPr>
              <a:t>[</a:t>
            </a:r>
            <a:r>
              <a:rPr lang="en-US" sz="2000" dirty="0" err="1">
                <a:latin typeface="Courier New" panose="02070309020205020404" pitchFamily="49" charset="0"/>
              </a:rPr>
              <a:t>i</a:t>
            </a:r>
            <a:r>
              <a:rPr lang="en-US" sz="2000" dirty="0">
                <a:latin typeface="Courier New" panose="02070309020205020404" pitchFamily="49" charset="0"/>
              </a:rPr>
              <a:t>]</a:t>
            </a:r>
            <a:r>
              <a:rPr lang="en-US" sz="2000" dirty="0"/>
              <a:t>.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If the difference equals </a:t>
            </a:r>
            <a:r>
              <a:rPr lang="en-US" sz="2000" dirty="0">
                <a:latin typeface="Courier New" panose="02070309020205020404" pitchFamily="49" charset="0"/>
              </a:rPr>
              <a:t>x</a:t>
            </a:r>
            <a:r>
              <a:rPr lang="en-US" sz="2000" dirty="0"/>
              <a:t>, return </a:t>
            </a:r>
            <a:r>
              <a:rPr lang="en-US" sz="2000" b="1" dirty="0"/>
              <a:t>true</a:t>
            </a:r>
            <a:r>
              <a:rPr lang="en-US" sz="2000" dirty="0"/>
              <a:t>.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If the difference is </a:t>
            </a:r>
            <a:r>
              <a:rPr lang="en-US" sz="2000" b="1" dirty="0"/>
              <a:t>greater</a:t>
            </a:r>
            <a:r>
              <a:rPr lang="en-US" sz="2000" dirty="0"/>
              <a:t> than </a:t>
            </a:r>
            <a:r>
              <a:rPr lang="en-US" sz="2000" dirty="0">
                <a:latin typeface="Courier New" panose="02070309020205020404" pitchFamily="49" charset="0"/>
              </a:rPr>
              <a:t>x</a:t>
            </a:r>
            <a:r>
              <a:rPr lang="en-US" sz="2000" dirty="0"/>
              <a:t>, move the </a:t>
            </a:r>
            <a:r>
              <a:rPr lang="en-US" sz="2000" b="1" dirty="0" err="1"/>
              <a:t>i</a:t>
            </a:r>
            <a:r>
              <a:rPr lang="en-US" sz="2000" b="1" dirty="0"/>
              <a:t> pointer</a:t>
            </a:r>
            <a:r>
              <a:rPr lang="en-US" sz="2000" dirty="0"/>
              <a:t> forward.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If the difference is </a:t>
            </a:r>
            <a:r>
              <a:rPr lang="en-US" sz="2000" b="1" dirty="0"/>
              <a:t>less</a:t>
            </a:r>
            <a:r>
              <a:rPr lang="en-US" sz="2000" dirty="0"/>
              <a:t> than </a:t>
            </a:r>
            <a:r>
              <a:rPr lang="en-US" sz="2000" dirty="0">
                <a:latin typeface="Courier New" panose="02070309020205020404" pitchFamily="49" charset="0"/>
              </a:rPr>
              <a:t>x</a:t>
            </a:r>
            <a:r>
              <a:rPr lang="en-US" sz="2000" dirty="0"/>
              <a:t>, move the </a:t>
            </a:r>
            <a:r>
              <a:rPr lang="en-US" sz="2000" b="1" dirty="0"/>
              <a:t>j pointer</a:t>
            </a:r>
            <a:r>
              <a:rPr lang="en-US" sz="2000" dirty="0"/>
              <a:t> forward.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Ensure </a:t>
            </a:r>
            <a:r>
              <a:rPr lang="en-US" sz="2000" dirty="0" err="1">
                <a:latin typeface="Courier New" panose="02070309020205020404" pitchFamily="49" charset="0"/>
              </a:rPr>
              <a:t>i</a:t>
            </a:r>
            <a:r>
              <a:rPr lang="en-US" sz="2000" dirty="0"/>
              <a:t> never becomes equal to </a:t>
            </a:r>
            <a:r>
              <a:rPr lang="en-US" sz="2000" dirty="0">
                <a:latin typeface="Courier New" panose="02070309020205020404" pitchFamily="49" charset="0"/>
              </a:rPr>
              <a:t>j</a:t>
            </a:r>
            <a:r>
              <a:rPr lang="en-US" sz="2000" dirty="0"/>
              <a:t>; if it does, increase </a:t>
            </a:r>
            <a:r>
              <a:rPr lang="en-US" sz="2000" dirty="0">
                <a:latin typeface="Courier New" panose="02070309020205020404" pitchFamily="49" charset="0"/>
              </a:rPr>
              <a:t>j</a:t>
            </a:r>
            <a:r>
              <a:rPr lang="en-US" sz="2000" dirty="0"/>
              <a:t>.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If no pair is found, return </a:t>
            </a:r>
            <a:r>
              <a:rPr lang="en-US" sz="2000" b="1" dirty="0"/>
              <a:t>false</a:t>
            </a:r>
            <a:r>
              <a:rPr lang="en-US" sz="2000" dirty="0"/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A12052-D5F6-C4D6-CB26-0C83CF5CCD35}"/>
              </a:ext>
            </a:extLst>
          </p:cNvPr>
          <p:cNvSpPr txBox="1"/>
          <p:nvPr/>
        </p:nvSpPr>
        <p:spPr>
          <a:xfrm rot="10800000" flipH="1" flipV="1">
            <a:off x="460034" y="417647"/>
            <a:ext cx="63930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/>
              <a:t>Find Pair Given Difference</a:t>
            </a:r>
          </a:p>
        </p:txBody>
      </p:sp>
    </p:spTree>
    <p:extLst>
      <p:ext uri="{BB962C8B-B14F-4D97-AF65-F5344CB8AC3E}">
        <p14:creationId xmlns:p14="http://schemas.microsoft.com/office/powerpoint/2010/main" val="21308229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2995912-13E4-6432-A9F1-2B20208F04E9}"/>
              </a:ext>
            </a:extLst>
          </p:cNvPr>
          <p:cNvSpPr txBox="1"/>
          <p:nvPr/>
        </p:nvSpPr>
        <p:spPr>
          <a:xfrm>
            <a:off x="245807" y="231339"/>
            <a:ext cx="999940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3. </a:t>
            </a:r>
            <a:r>
              <a:rPr lang="en-US" sz="2000" b="1" dirty="0" err="1"/>
              <a:t>Hashmap</a:t>
            </a:r>
            <a:r>
              <a:rPr lang="en-US" sz="2000" b="1" dirty="0"/>
              <a:t> Approach (Most Efficient) — Steps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Create an empty </a:t>
            </a:r>
            <a:r>
              <a:rPr lang="en-US" sz="2000" dirty="0" err="1"/>
              <a:t>hashmap</a:t>
            </a:r>
            <a:r>
              <a:rPr lang="en-US" sz="2000" dirty="0"/>
              <a:t>.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Traverse the array from left to right.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For every element </a:t>
            </a:r>
            <a:r>
              <a:rPr lang="en-US" sz="2000" dirty="0" err="1">
                <a:latin typeface="Courier New" panose="02070309020205020404" pitchFamily="49" charset="0"/>
              </a:rPr>
              <a:t>arr</a:t>
            </a:r>
            <a:r>
              <a:rPr lang="en-US" sz="2000" dirty="0">
                <a:latin typeface="Courier New" panose="02070309020205020404" pitchFamily="49" charset="0"/>
              </a:rPr>
              <a:t>[</a:t>
            </a:r>
            <a:r>
              <a:rPr lang="en-US" sz="2000" dirty="0" err="1">
                <a:latin typeface="Courier New" panose="02070309020205020404" pitchFamily="49" charset="0"/>
              </a:rPr>
              <a:t>i</a:t>
            </a:r>
            <a:r>
              <a:rPr lang="en-US" sz="2000" dirty="0">
                <a:latin typeface="Courier New" panose="02070309020205020404" pitchFamily="49" charset="0"/>
              </a:rPr>
              <a:t>]</a:t>
            </a:r>
            <a:r>
              <a:rPr lang="en-US" sz="2000" dirty="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000" dirty="0"/>
              <a:t>Check if </a:t>
            </a:r>
            <a:r>
              <a:rPr lang="en-US" sz="2000" dirty="0" err="1">
                <a:latin typeface="Courier New" panose="02070309020205020404" pitchFamily="49" charset="0"/>
              </a:rPr>
              <a:t>arr</a:t>
            </a:r>
            <a:r>
              <a:rPr lang="en-US" sz="2000" dirty="0">
                <a:latin typeface="Courier New" panose="02070309020205020404" pitchFamily="49" charset="0"/>
              </a:rPr>
              <a:t>[</a:t>
            </a:r>
            <a:r>
              <a:rPr lang="en-US" sz="2000" dirty="0" err="1">
                <a:latin typeface="Courier New" panose="02070309020205020404" pitchFamily="49" charset="0"/>
              </a:rPr>
              <a:t>i</a:t>
            </a:r>
            <a:r>
              <a:rPr lang="en-US" sz="2000" dirty="0">
                <a:latin typeface="Courier New" panose="02070309020205020404" pitchFamily="49" charset="0"/>
              </a:rPr>
              <a:t>] + x</a:t>
            </a:r>
            <a:r>
              <a:rPr lang="en-US" sz="2000" dirty="0"/>
              <a:t> exists in the map.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000" dirty="0"/>
              <a:t>Check if </a:t>
            </a:r>
            <a:r>
              <a:rPr lang="en-US" sz="2000" dirty="0" err="1">
                <a:latin typeface="Courier New" panose="02070309020205020404" pitchFamily="49" charset="0"/>
              </a:rPr>
              <a:t>arr</a:t>
            </a:r>
            <a:r>
              <a:rPr lang="en-US" sz="2000" dirty="0">
                <a:latin typeface="Courier New" panose="02070309020205020404" pitchFamily="49" charset="0"/>
              </a:rPr>
              <a:t>[</a:t>
            </a:r>
            <a:r>
              <a:rPr lang="en-US" sz="2000" dirty="0" err="1">
                <a:latin typeface="Courier New" panose="02070309020205020404" pitchFamily="49" charset="0"/>
              </a:rPr>
              <a:t>i</a:t>
            </a:r>
            <a:r>
              <a:rPr lang="en-US" sz="2000" dirty="0">
                <a:latin typeface="Courier New" panose="02070309020205020404" pitchFamily="49" charset="0"/>
              </a:rPr>
              <a:t>] - x</a:t>
            </a:r>
            <a:r>
              <a:rPr lang="en-US" sz="2000" dirty="0"/>
              <a:t> exists in the map.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If any of the above exists, return </a:t>
            </a:r>
            <a:r>
              <a:rPr lang="en-US" sz="2000" b="1" dirty="0"/>
              <a:t>true</a:t>
            </a:r>
            <a:r>
              <a:rPr lang="en-US" sz="2000" dirty="0"/>
              <a:t> (pair found).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If not found, insert the current element into the map.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If the loop ends and no valid pair appears, return </a:t>
            </a:r>
            <a:r>
              <a:rPr lang="en-US" sz="2000" b="1" dirty="0"/>
              <a:t>false</a:t>
            </a:r>
            <a:r>
              <a:rPr lang="en-US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666339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8D10797-AE2C-4EE4-1F2C-A9BA1A584DBA}"/>
              </a:ext>
            </a:extLst>
          </p:cNvPr>
          <p:cNvSpPr txBox="1"/>
          <p:nvPr/>
        </p:nvSpPr>
        <p:spPr>
          <a:xfrm>
            <a:off x="245807" y="419286"/>
            <a:ext cx="11523405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1. Brute Force — O(n²) Time, O(1) Space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For every element, you compare it with </a:t>
            </a:r>
            <a:r>
              <a:rPr lang="en-US" b="1" dirty="0"/>
              <a:t>every other element</a:t>
            </a:r>
            <a:r>
              <a:rPr lang="en-US" dirty="0"/>
              <a:t> → two nested loops.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Nested loops = </a:t>
            </a:r>
            <a:r>
              <a:rPr lang="en-US" b="1" dirty="0"/>
              <a:t>n × n = O(n²)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No extra data structure used → </a:t>
            </a:r>
            <a:r>
              <a:rPr lang="en-US" b="1" dirty="0"/>
              <a:t>O(1) space</a:t>
            </a:r>
            <a:r>
              <a:rPr lang="en-US" dirty="0"/>
              <a:t>.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b="1" dirty="0"/>
              <a:t>2. Two-Pointer Approach — O(n log n) Time, O(1) Space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First step is </a:t>
            </a:r>
            <a:r>
              <a:rPr lang="en-US" b="1" dirty="0"/>
              <a:t>sorting</a:t>
            </a:r>
            <a:r>
              <a:rPr lang="en-US" dirty="0"/>
              <a:t>, which takes </a:t>
            </a:r>
            <a:r>
              <a:rPr lang="en-US" b="1" dirty="0"/>
              <a:t>O(n log n)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After sorting, the two pointers move only forward → </a:t>
            </a:r>
            <a:r>
              <a:rPr lang="en-US" b="1" dirty="0"/>
              <a:t>O(n)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Overall dominated by sorting → </a:t>
            </a:r>
            <a:r>
              <a:rPr lang="en-US" b="1" dirty="0"/>
              <a:t>O(n log n)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Only few variables used → </a:t>
            </a:r>
            <a:r>
              <a:rPr lang="en-US" b="1" dirty="0"/>
              <a:t>O(1) space</a:t>
            </a:r>
            <a:r>
              <a:rPr lang="en-US" dirty="0"/>
              <a:t>.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b="1" dirty="0"/>
              <a:t>3. </a:t>
            </a:r>
            <a:r>
              <a:rPr lang="en-US" b="1" dirty="0" err="1"/>
              <a:t>Hashmap</a:t>
            </a:r>
            <a:r>
              <a:rPr lang="en-US" b="1" dirty="0"/>
              <a:t> Approach — O(n) Time, O(n) Space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You traverse the array once → </a:t>
            </a:r>
            <a:r>
              <a:rPr lang="en-US" b="1" dirty="0"/>
              <a:t>O(n)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Each lookup and insert in </a:t>
            </a:r>
            <a:r>
              <a:rPr lang="en-US" dirty="0" err="1"/>
              <a:t>hashmap</a:t>
            </a:r>
            <a:r>
              <a:rPr lang="en-US" dirty="0"/>
              <a:t> takes </a:t>
            </a:r>
            <a:r>
              <a:rPr lang="en-US" b="1" dirty="0"/>
              <a:t>O(1)</a:t>
            </a:r>
            <a:r>
              <a:rPr lang="en-US" dirty="0"/>
              <a:t> average time.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You store elements in the </a:t>
            </a:r>
            <a:r>
              <a:rPr lang="en-US" dirty="0" err="1"/>
              <a:t>hashmap</a:t>
            </a:r>
            <a:r>
              <a:rPr lang="en-US" dirty="0"/>
              <a:t> → needs </a:t>
            </a:r>
            <a:r>
              <a:rPr lang="en-US" b="1" dirty="0"/>
              <a:t>O(n)</a:t>
            </a:r>
            <a:r>
              <a:rPr lang="en-US" dirty="0"/>
              <a:t> space.</a:t>
            </a:r>
          </a:p>
        </p:txBody>
      </p:sp>
    </p:spTree>
    <p:extLst>
      <p:ext uri="{BB962C8B-B14F-4D97-AF65-F5344CB8AC3E}">
        <p14:creationId xmlns:p14="http://schemas.microsoft.com/office/powerpoint/2010/main" val="19167986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D34CF4A-9643-B729-1913-B0791041BE4D}"/>
              </a:ext>
            </a:extLst>
          </p:cNvPr>
          <p:cNvGraphicFramePr>
            <a:graphicFrameLocks noGrp="1"/>
          </p:cNvGraphicFramePr>
          <p:nvPr/>
        </p:nvGraphicFramePr>
        <p:xfrm>
          <a:off x="156905" y="174420"/>
          <a:ext cx="6076745" cy="5562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76745">
                  <a:extLst>
                    <a:ext uri="{9D8B030D-6E8A-4147-A177-3AD203B41FA5}">
                      <a16:colId xmlns:a16="http://schemas.microsoft.com/office/drawing/2014/main" val="273445740"/>
                    </a:ext>
                  </a:extLst>
                </a:gridCol>
              </a:tblGrid>
              <a:tr h="19812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3600" u="none" strike="noStrike" dirty="0">
                          <a:effectLst/>
                        </a:rPr>
                        <a:t>Swap two numbers</a:t>
                      </a:r>
                      <a:endParaRPr lang="en-IN" sz="3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495698075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02B6F9F3-FD93-4003-9D25-3D971072665B}"/>
              </a:ext>
            </a:extLst>
          </p:cNvPr>
          <p:cNvSpPr txBox="1"/>
          <p:nvPr/>
        </p:nvSpPr>
        <p:spPr>
          <a:xfrm>
            <a:off x="156906" y="894734"/>
            <a:ext cx="11681134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Swap using temp variable (simple method)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Take two numbers </a:t>
            </a:r>
            <a:r>
              <a:rPr lang="en-US" sz="2000" dirty="0">
                <a:latin typeface="Courier New" panose="02070309020205020404" pitchFamily="49" charset="0"/>
              </a:rPr>
              <a:t>a</a:t>
            </a:r>
            <a:r>
              <a:rPr lang="en-US" sz="2000" dirty="0"/>
              <a:t> and </a:t>
            </a:r>
            <a:r>
              <a:rPr lang="en-US" sz="2000" dirty="0">
                <a:latin typeface="Courier New" panose="02070309020205020404" pitchFamily="49" charset="0"/>
              </a:rPr>
              <a:t>b</a:t>
            </a:r>
            <a:r>
              <a:rPr lang="en-US" sz="2000" dirty="0"/>
              <a:t>.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Store </a:t>
            </a:r>
            <a:r>
              <a:rPr lang="en-US" sz="2000" dirty="0">
                <a:latin typeface="Courier New" panose="02070309020205020404" pitchFamily="49" charset="0"/>
              </a:rPr>
              <a:t>a</a:t>
            </a:r>
            <a:r>
              <a:rPr lang="en-US" sz="2000" dirty="0"/>
              <a:t> in a temporary variable </a:t>
            </a:r>
            <a:r>
              <a:rPr lang="en-US" sz="2000" dirty="0">
                <a:latin typeface="Courier New" panose="02070309020205020404" pitchFamily="49" charset="0"/>
              </a:rPr>
              <a:t>temp</a:t>
            </a:r>
            <a:r>
              <a:rPr lang="en-US" sz="2000" dirty="0"/>
              <a:t>.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Assign </a:t>
            </a:r>
            <a:r>
              <a:rPr lang="en-US" sz="2000" dirty="0">
                <a:latin typeface="Courier New" panose="02070309020205020404" pitchFamily="49" charset="0"/>
              </a:rPr>
              <a:t>b</a:t>
            </a:r>
            <a:r>
              <a:rPr lang="en-US" sz="2000" dirty="0"/>
              <a:t> to </a:t>
            </a:r>
            <a:r>
              <a:rPr lang="en-US" sz="2000" dirty="0">
                <a:latin typeface="Courier New" panose="02070309020205020404" pitchFamily="49" charset="0"/>
              </a:rPr>
              <a:t>a</a:t>
            </a:r>
            <a:r>
              <a:rPr lang="en-US" sz="2000" dirty="0"/>
              <a:t>.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Assign </a:t>
            </a:r>
            <a:r>
              <a:rPr lang="en-US" sz="2000" dirty="0">
                <a:latin typeface="Courier New" panose="02070309020205020404" pitchFamily="49" charset="0"/>
              </a:rPr>
              <a:t>temp</a:t>
            </a:r>
            <a:r>
              <a:rPr lang="en-US" sz="2000" dirty="0"/>
              <a:t> to </a:t>
            </a:r>
            <a:r>
              <a:rPr lang="en-US" sz="2000" dirty="0">
                <a:latin typeface="Courier New" panose="02070309020205020404" pitchFamily="49" charset="0"/>
              </a:rPr>
              <a:t>b</a:t>
            </a:r>
            <a:r>
              <a:rPr lang="en-US" sz="2000" dirty="0"/>
              <a:t>.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Return the new values of </a:t>
            </a:r>
            <a:r>
              <a:rPr lang="en-US" sz="2000" dirty="0">
                <a:latin typeface="Courier New" panose="02070309020205020404" pitchFamily="49" charset="0"/>
              </a:rPr>
              <a:t>a</a:t>
            </a:r>
            <a:r>
              <a:rPr lang="en-US" sz="2000" dirty="0"/>
              <a:t> and </a:t>
            </a:r>
            <a:r>
              <a:rPr lang="en-US" sz="2000" dirty="0">
                <a:latin typeface="Courier New" panose="02070309020205020404" pitchFamily="49" charset="0"/>
              </a:rPr>
              <a:t>b</a:t>
            </a:r>
            <a:r>
              <a:rPr lang="en-US" sz="2000" dirty="0"/>
              <a:t>.</a:t>
            </a:r>
          </a:p>
          <a:p>
            <a:pPr>
              <a:buNone/>
            </a:pPr>
            <a:endParaRPr lang="en-US" sz="2000" dirty="0"/>
          </a:p>
          <a:p>
            <a:pPr>
              <a:buNone/>
            </a:pPr>
            <a:r>
              <a:rPr lang="en-US" sz="2000" b="1" dirty="0"/>
              <a:t>Swap using addition–subtraction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Add </a:t>
            </a:r>
            <a:r>
              <a:rPr lang="en-US" sz="2000" dirty="0">
                <a:latin typeface="Courier New" panose="02070309020205020404" pitchFamily="49" charset="0"/>
              </a:rPr>
              <a:t>a</a:t>
            </a:r>
            <a:r>
              <a:rPr lang="en-US" sz="2000" dirty="0"/>
              <a:t> and </a:t>
            </a:r>
            <a:r>
              <a:rPr lang="en-US" sz="2000" dirty="0">
                <a:latin typeface="Courier New" panose="02070309020205020404" pitchFamily="49" charset="0"/>
              </a:rPr>
              <a:t>b</a:t>
            </a:r>
            <a:r>
              <a:rPr lang="en-US" sz="2000" dirty="0"/>
              <a:t> and store the result in </a:t>
            </a:r>
            <a:r>
              <a:rPr lang="en-US" sz="2000" dirty="0">
                <a:latin typeface="Courier New" panose="02070309020205020404" pitchFamily="49" charset="0"/>
              </a:rPr>
              <a:t>a</a:t>
            </a:r>
            <a:r>
              <a:rPr lang="en-US" sz="2000" dirty="0"/>
              <a:t>.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Subtract the new value of </a:t>
            </a:r>
            <a:r>
              <a:rPr lang="en-US" sz="2000" dirty="0">
                <a:latin typeface="Courier New" panose="02070309020205020404" pitchFamily="49" charset="0"/>
              </a:rPr>
              <a:t>a</a:t>
            </a:r>
            <a:r>
              <a:rPr lang="en-US" sz="2000" dirty="0"/>
              <a:t> (which is </a:t>
            </a:r>
            <a:r>
              <a:rPr lang="en-US" sz="2000" dirty="0" err="1"/>
              <a:t>a+b</a:t>
            </a:r>
            <a:r>
              <a:rPr lang="en-US" sz="2000" dirty="0"/>
              <a:t>) with </a:t>
            </a:r>
            <a:r>
              <a:rPr lang="en-US" sz="2000" dirty="0">
                <a:latin typeface="Courier New" panose="02070309020205020404" pitchFamily="49" charset="0"/>
              </a:rPr>
              <a:t>b</a:t>
            </a:r>
            <a:r>
              <a:rPr lang="en-US" sz="2000" dirty="0"/>
              <a:t> to get original </a:t>
            </a:r>
            <a:r>
              <a:rPr lang="en-US" sz="2000" dirty="0">
                <a:latin typeface="Courier New" panose="02070309020205020404" pitchFamily="49" charset="0"/>
              </a:rPr>
              <a:t>a</a:t>
            </a:r>
            <a:r>
              <a:rPr lang="en-US" sz="2000" dirty="0"/>
              <a:t>, and store it in </a:t>
            </a:r>
            <a:r>
              <a:rPr lang="en-US" sz="2000" dirty="0">
                <a:latin typeface="Courier New" panose="02070309020205020404" pitchFamily="49" charset="0"/>
              </a:rPr>
              <a:t>b</a:t>
            </a:r>
            <a:r>
              <a:rPr lang="en-US" sz="2000" dirty="0"/>
              <a:t>.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Subtract the new value of </a:t>
            </a:r>
            <a:r>
              <a:rPr lang="en-US" sz="2000" dirty="0">
                <a:latin typeface="Courier New" panose="02070309020205020404" pitchFamily="49" charset="0"/>
              </a:rPr>
              <a:t>b</a:t>
            </a:r>
            <a:r>
              <a:rPr lang="en-US" sz="2000" dirty="0"/>
              <a:t> from the new value of </a:t>
            </a:r>
            <a:r>
              <a:rPr lang="en-US" sz="2000" dirty="0">
                <a:latin typeface="Courier New" panose="02070309020205020404" pitchFamily="49" charset="0"/>
              </a:rPr>
              <a:t>a</a:t>
            </a:r>
            <a:r>
              <a:rPr lang="en-US" sz="2000" dirty="0"/>
              <a:t> to get original </a:t>
            </a:r>
            <a:r>
              <a:rPr lang="en-US" sz="2000" dirty="0">
                <a:latin typeface="Courier New" panose="02070309020205020404" pitchFamily="49" charset="0"/>
              </a:rPr>
              <a:t>b</a:t>
            </a:r>
            <a:r>
              <a:rPr lang="en-US" sz="2000" dirty="0"/>
              <a:t>, and store it in </a:t>
            </a:r>
            <a:r>
              <a:rPr lang="en-US" sz="2000" dirty="0">
                <a:latin typeface="Courier New" panose="02070309020205020404" pitchFamily="49" charset="0"/>
              </a:rPr>
              <a:t>a</a:t>
            </a:r>
            <a:r>
              <a:rPr lang="en-US" sz="2000" dirty="0"/>
              <a:t>.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Return the swapped values.</a:t>
            </a:r>
          </a:p>
          <a:p>
            <a:pPr>
              <a:buNone/>
            </a:pPr>
            <a:br>
              <a:rPr lang="en-US" sz="2000" dirty="0"/>
            </a:br>
            <a:r>
              <a:rPr lang="en-US" sz="2000" b="1" dirty="0"/>
              <a:t>Swap using XOR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XOR </a:t>
            </a:r>
            <a:r>
              <a:rPr lang="en-US" sz="2000" dirty="0">
                <a:latin typeface="Courier New" panose="02070309020205020404" pitchFamily="49" charset="0"/>
              </a:rPr>
              <a:t>a</a:t>
            </a:r>
            <a:r>
              <a:rPr lang="en-US" sz="2000" dirty="0"/>
              <a:t> with </a:t>
            </a:r>
            <a:r>
              <a:rPr lang="en-US" sz="2000" dirty="0">
                <a:latin typeface="Courier New" panose="02070309020205020404" pitchFamily="49" charset="0"/>
              </a:rPr>
              <a:t>b</a:t>
            </a:r>
            <a:r>
              <a:rPr lang="en-US" sz="2000" dirty="0"/>
              <a:t> and store in </a:t>
            </a:r>
            <a:r>
              <a:rPr lang="en-US" sz="2000" dirty="0">
                <a:latin typeface="Courier New" panose="02070309020205020404" pitchFamily="49" charset="0"/>
              </a:rPr>
              <a:t>a</a:t>
            </a:r>
            <a:r>
              <a:rPr lang="en-US" sz="2000" dirty="0"/>
              <a:t>.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XOR the new value of </a:t>
            </a:r>
            <a:r>
              <a:rPr lang="en-US" sz="2000" dirty="0">
                <a:latin typeface="Courier New" panose="02070309020205020404" pitchFamily="49" charset="0"/>
              </a:rPr>
              <a:t>a</a:t>
            </a:r>
            <a:r>
              <a:rPr lang="en-US" sz="2000" dirty="0"/>
              <a:t> with </a:t>
            </a:r>
            <a:r>
              <a:rPr lang="en-US" sz="2000" dirty="0">
                <a:latin typeface="Courier New" panose="02070309020205020404" pitchFamily="49" charset="0"/>
              </a:rPr>
              <a:t>b</a:t>
            </a:r>
            <a:r>
              <a:rPr lang="en-US" sz="2000" dirty="0"/>
              <a:t> and store the result in </a:t>
            </a:r>
            <a:r>
              <a:rPr lang="en-US" sz="2000" dirty="0">
                <a:latin typeface="Courier New" panose="02070309020205020404" pitchFamily="49" charset="0"/>
              </a:rPr>
              <a:t>b</a:t>
            </a:r>
            <a:r>
              <a:rPr lang="en-US" sz="2000" dirty="0"/>
              <a:t>.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XOR the new value of </a:t>
            </a:r>
            <a:r>
              <a:rPr lang="en-US" sz="2000" dirty="0">
                <a:latin typeface="Courier New" panose="02070309020205020404" pitchFamily="49" charset="0"/>
              </a:rPr>
              <a:t>a</a:t>
            </a:r>
            <a:r>
              <a:rPr lang="en-US" sz="2000" dirty="0"/>
              <a:t> with the new value of </a:t>
            </a:r>
            <a:r>
              <a:rPr lang="en-US" sz="2000" dirty="0">
                <a:latin typeface="Courier New" panose="02070309020205020404" pitchFamily="49" charset="0"/>
              </a:rPr>
              <a:t>b</a:t>
            </a:r>
            <a:r>
              <a:rPr lang="en-US" sz="2000" dirty="0"/>
              <a:t> and store in </a:t>
            </a:r>
            <a:r>
              <a:rPr lang="en-US" sz="2000" dirty="0">
                <a:latin typeface="Courier New" panose="02070309020205020404" pitchFamily="49" charset="0"/>
              </a:rPr>
              <a:t>a</a:t>
            </a:r>
            <a:r>
              <a:rPr lang="en-US" sz="2000" dirty="0"/>
              <a:t>.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Return the swapped values.</a:t>
            </a:r>
          </a:p>
        </p:txBody>
      </p:sp>
    </p:spTree>
    <p:extLst>
      <p:ext uri="{BB962C8B-B14F-4D97-AF65-F5344CB8AC3E}">
        <p14:creationId xmlns:p14="http://schemas.microsoft.com/office/powerpoint/2010/main" val="32453384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A253CED-EB71-DC2A-DCDA-854CD5736B3A}"/>
              </a:ext>
            </a:extLst>
          </p:cNvPr>
          <p:cNvSpPr txBox="1"/>
          <p:nvPr/>
        </p:nvSpPr>
        <p:spPr>
          <a:xfrm>
            <a:off x="747252" y="1191509"/>
            <a:ext cx="9930580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/>
              <a:t>Addition–Subtraction Swap</a:t>
            </a:r>
          </a:p>
          <a:p>
            <a:pPr>
              <a:buNone/>
            </a:pPr>
            <a:r>
              <a:rPr lang="en-IN" sz="2000" b="1" dirty="0"/>
              <a:t>Time Complexity:</a:t>
            </a:r>
            <a:r>
              <a:rPr lang="en-IN" sz="2000" dirty="0"/>
              <a:t> </a:t>
            </a:r>
            <a:r>
              <a:rPr lang="en-IN" sz="2000" b="1" dirty="0"/>
              <a:t>O(1)</a:t>
            </a:r>
            <a:br>
              <a:rPr lang="en-IN" sz="2000" dirty="0"/>
            </a:br>
            <a:r>
              <a:rPr lang="en-IN" sz="2000" b="1" dirty="0"/>
              <a:t>Space Complexity:</a:t>
            </a:r>
            <a:r>
              <a:rPr lang="en-IN" sz="2000" dirty="0"/>
              <a:t> </a:t>
            </a:r>
            <a:r>
              <a:rPr lang="en-IN" sz="2000" b="1" dirty="0"/>
              <a:t>O(1)</a:t>
            </a:r>
            <a:endParaRPr lang="en-IN" sz="2000" dirty="0"/>
          </a:p>
          <a:p>
            <a:pPr>
              <a:buNone/>
            </a:pPr>
            <a:r>
              <a:rPr lang="en-IN" sz="2000" dirty="0"/>
              <a:t>Only uses constant number of arithmetic operations</a:t>
            </a:r>
            <a:br>
              <a:rPr lang="en-IN" sz="2000" dirty="0"/>
            </a:br>
            <a:r>
              <a:rPr lang="en-IN" sz="2000" dirty="0"/>
              <a:t>No loop, no extra memory</a:t>
            </a:r>
          </a:p>
          <a:p>
            <a:pPr>
              <a:buNone/>
            </a:pPr>
            <a:br>
              <a:rPr lang="en-IN" sz="2000" dirty="0"/>
            </a:br>
            <a:endParaRPr lang="en-IN" sz="2000" dirty="0"/>
          </a:p>
          <a:p>
            <a:pPr>
              <a:buNone/>
            </a:pPr>
            <a:r>
              <a:rPr lang="en-IN" sz="2000" b="1" dirty="0"/>
              <a:t>2. XOR Swap</a:t>
            </a:r>
          </a:p>
          <a:p>
            <a:pPr>
              <a:buNone/>
            </a:pPr>
            <a:r>
              <a:rPr lang="en-IN" sz="2000" b="1" dirty="0"/>
              <a:t>Time Complexity:</a:t>
            </a:r>
            <a:r>
              <a:rPr lang="en-IN" sz="2000" dirty="0"/>
              <a:t> </a:t>
            </a:r>
            <a:r>
              <a:rPr lang="en-IN" sz="2000" b="1" dirty="0"/>
              <a:t>O(1)</a:t>
            </a:r>
            <a:br>
              <a:rPr lang="en-IN" sz="2000" dirty="0"/>
            </a:br>
            <a:r>
              <a:rPr lang="en-IN" sz="2000" b="1" dirty="0"/>
              <a:t>Space Complexity:</a:t>
            </a:r>
            <a:r>
              <a:rPr lang="en-IN" sz="2000" dirty="0"/>
              <a:t> </a:t>
            </a:r>
            <a:r>
              <a:rPr lang="en-IN" sz="2000" b="1" dirty="0"/>
              <a:t>O(1)</a:t>
            </a:r>
            <a:endParaRPr lang="en-IN" sz="2000" dirty="0"/>
          </a:p>
          <a:p>
            <a:pPr>
              <a:buNone/>
            </a:pPr>
            <a:r>
              <a:rPr lang="en-IN" sz="2000" dirty="0"/>
              <a:t>	Only bitwise operations (XOR)</a:t>
            </a:r>
            <a:br>
              <a:rPr lang="en-IN" sz="2000" dirty="0"/>
            </a:br>
            <a:r>
              <a:rPr lang="en-IN" sz="2000" dirty="0"/>
              <a:t>	No extra variable needed</a:t>
            </a:r>
            <a:br>
              <a:rPr lang="en-IN" sz="2000" dirty="0"/>
            </a:br>
            <a:r>
              <a:rPr lang="en-IN" sz="2000" dirty="0"/>
              <a:t>	Constant work</a:t>
            </a:r>
          </a:p>
        </p:txBody>
      </p:sp>
    </p:spTree>
    <p:extLst>
      <p:ext uri="{BB962C8B-B14F-4D97-AF65-F5344CB8AC3E}">
        <p14:creationId xmlns:p14="http://schemas.microsoft.com/office/powerpoint/2010/main" val="12019819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0962673-2CBF-982B-E30B-444334A4A4B1}"/>
              </a:ext>
            </a:extLst>
          </p:cNvPr>
          <p:cNvSpPr txBox="1"/>
          <p:nvPr/>
        </p:nvSpPr>
        <p:spPr>
          <a:xfrm>
            <a:off x="314632" y="238121"/>
            <a:ext cx="598784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3600" b="1" i="0" dirty="0">
                <a:effectLst/>
                <a:latin typeface="Source Sans 3"/>
              </a:rPr>
              <a:t>Toggle bits in the given range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9987C0-2AD0-648B-D32F-31512099CE23}"/>
              </a:ext>
            </a:extLst>
          </p:cNvPr>
          <p:cNvSpPr txBox="1"/>
          <p:nvPr/>
        </p:nvSpPr>
        <p:spPr>
          <a:xfrm>
            <a:off x="393290" y="1101213"/>
            <a:ext cx="863272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/>
              <a:t>Step 1:- Create a mask</a:t>
            </a:r>
          </a:p>
          <a:p>
            <a:r>
              <a:rPr lang="en-IN" sz="3600" dirty="0"/>
              <a:t>	[1&lt;&lt;(r-l+1)]-1</a:t>
            </a:r>
          </a:p>
          <a:p>
            <a:r>
              <a:rPr lang="en-IN" sz="3600" dirty="0"/>
              <a:t>Step 2:- Update mask</a:t>
            </a:r>
          </a:p>
          <a:p>
            <a:r>
              <a:rPr lang="en-IN" sz="3600" dirty="0"/>
              <a:t>	mask = mask &lt;&lt; (l-1)</a:t>
            </a:r>
          </a:p>
          <a:p>
            <a:r>
              <a:rPr lang="en-IN" sz="3600" dirty="0"/>
              <a:t>Step 3:- Find result</a:t>
            </a:r>
          </a:p>
          <a:p>
            <a:r>
              <a:rPr lang="en-IN" sz="3600" dirty="0"/>
              <a:t>	result = n ^mask</a:t>
            </a:r>
          </a:p>
        </p:txBody>
      </p:sp>
    </p:spTree>
    <p:extLst>
      <p:ext uri="{BB962C8B-B14F-4D97-AF65-F5344CB8AC3E}">
        <p14:creationId xmlns:p14="http://schemas.microsoft.com/office/powerpoint/2010/main" val="19519687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278CFD4-F300-5A6C-7A99-BF5E062A3FEC}"/>
              </a:ext>
            </a:extLst>
          </p:cNvPr>
          <p:cNvSpPr txBox="1"/>
          <p:nvPr/>
        </p:nvSpPr>
        <p:spPr>
          <a:xfrm>
            <a:off x="1415845" y="1076913"/>
            <a:ext cx="8829368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Time Complexity: O(1)</a:t>
            </a:r>
          </a:p>
          <a:p>
            <a:pPr>
              <a:buNone/>
            </a:pPr>
            <a:r>
              <a:rPr lang="en-US" sz="2000" dirty="0"/>
              <a:t>Only a few bitwise operations</a:t>
            </a:r>
            <a:br>
              <a:rPr lang="en-US" sz="2000" dirty="0"/>
            </a:br>
            <a:r>
              <a:rPr lang="en-US" sz="2000" dirty="0"/>
              <a:t>No loop</a:t>
            </a:r>
            <a:br>
              <a:rPr lang="en-US" sz="2000" dirty="0"/>
            </a:br>
            <a:r>
              <a:rPr lang="en-US" sz="2000" dirty="0"/>
              <a:t>Constant-time shifting and XOR</a:t>
            </a:r>
          </a:p>
          <a:p>
            <a:pPr>
              <a:buNone/>
            </a:pPr>
            <a:endParaRPr lang="en-US" sz="2000" dirty="0"/>
          </a:p>
          <a:p>
            <a:pPr>
              <a:buNone/>
            </a:pPr>
            <a:r>
              <a:rPr lang="en-US" sz="2000" b="1" dirty="0"/>
              <a:t>Space Complexity: O(1)</a:t>
            </a:r>
          </a:p>
          <a:p>
            <a:pPr>
              <a:buNone/>
            </a:pPr>
            <a:r>
              <a:rPr lang="en-US" sz="2000" dirty="0"/>
              <a:t>Only a few integer variables</a:t>
            </a:r>
            <a:br>
              <a:rPr lang="en-US" sz="2000" dirty="0"/>
            </a:br>
            <a:r>
              <a:rPr lang="en-US" sz="2000" dirty="0"/>
              <a:t>No extra array or data structure used</a:t>
            </a:r>
          </a:p>
        </p:txBody>
      </p:sp>
    </p:spTree>
    <p:extLst>
      <p:ext uri="{BB962C8B-B14F-4D97-AF65-F5344CB8AC3E}">
        <p14:creationId xmlns:p14="http://schemas.microsoft.com/office/powerpoint/2010/main" val="29242422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2328AC7-DC0F-5AF5-CB90-B6D6A69BEC0E}"/>
              </a:ext>
            </a:extLst>
          </p:cNvPr>
          <p:cNvGraphicFramePr>
            <a:graphicFrameLocks noGrp="1"/>
          </p:cNvGraphicFramePr>
          <p:nvPr/>
        </p:nvGraphicFramePr>
        <p:xfrm>
          <a:off x="451875" y="302239"/>
          <a:ext cx="5054190" cy="4343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054190">
                  <a:extLst>
                    <a:ext uri="{9D8B030D-6E8A-4147-A177-3AD203B41FA5}">
                      <a16:colId xmlns:a16="http://schemas.microsoft.com/office/drawing/2014/main" val="2375762443"/>
                    </a:ext>
                  </a:extLst>
                </a:gridCol>
              </a:tblGrid>
              <a:tr h="19812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800" b="1" u="none" strike="noStrike" dirty="0">
                          <a:effectLst/>
                        </a:rPr>
                        <a:t>Number is sparse or not</a:t>
                      </a:r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280906518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387B55FC-C1CF-2787-7723-0AEFCC31334B}"/>
              </a:ext>
            </a:extLst>
          </p:cNvPr>
          <p:cNvSpPr txBox="1"/>
          <p:nvPr/>
        </p:nvSpPr>
        <p:spPr>
          <a:xfrm>
            <a:off x="333888" y="1014528"/>
            <a:ext cx="11484486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Approach 1: Brute Force (Check Adjacent Bits by Shifting Right One-by-One)</a:t>
            </a:r>
          </a:p>
          <a:p>
            <a:pPr>
              <a:buNone/>
            </a:pPr>
            <a:r>
              <a:rPr lang="en-US" sz="2000" b="1" dirty="0"/>
              <a:t>Logic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Take the number </a:t>
            </a:r>
            <a:r>
              <a:rPr lang="en-US" sz="2000" dirty="0">
                <a:latin typeface="Courier New" panose="02070309020205020404" pitchFamily="49" charset="0"/>
              </a:rPr>
              <a:t>n</a:t>
            </a:r>
            <a:r>
              <a:rPr lang="en-US" sz="2000" dirty="0"/>
              <a:t>.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Repeatedly check the last two bits using </a:t>
            </a:r>
            <a:r>
              <a:rPr lang="en-US" sz="2000" dirty="0">
                <a:latin typeface="Courier New" panose="02070309020205020404" pitchFamily="49" charset="0"/>
              </a:rPr>
              <a:t>n &amp; 3</a:t>
            </a:r>
            <a:r>
              <a:rPr lang="en-US" sz="2000" dirty="0"/>
              <a:t>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000" dirty="0">
                <a:latin typeface="Courier New" panose="02070309020205020404" pitchFamily="49" charset="0"/>
              </a:rPr>
              <a:t>3</a:t>
            </a:r>
            <a:r>
              <a:rPr lang="en-US" sz="2000" dirty="0"/>
              <a:t> in binary is </a:t>
            </a:r>
            <a:r>
              <a:rPr lang="en-US" sz="2000" dirty="0">
                <a:latin typeface="Courier New" panose="02070309020205020404" pitchFamily="49" charset="0"/>
              </a:rPr>
              <a:t>11</a:t>
            </a:r>
            <a:r>
              <a:rPr lang="en-US" sz="2000" dirty="0"/>
              <a:t>, so </a:t>
            </a:r>
            <a:r>
              <a:rPr lang="en-US" sz="2000" dirty="0">
                <a:latin typeface="Courier New" panose="02070309020205020404" pitchFamily="49" charset="0"/>
              </a:rPr>
              <a:t>n &amp; 3</a:t>
            </a:r>
            <a:r>
              <a:rPr lang="en-US" sz="2000" dirty="0"/>
              <a:t> checks two adjacent bits at once.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If </a:t>
            </a:r>
            <a:r>
              <a:rPr lang="en-US" sz="2000" dirty="0">
                <a:latin typeface="Courier New" panose="02070309020205020404" pitchFamily="49" charset="0"/>
              </a:rPr>
              <a:t>(n &amp; 3) == 3</a:t>
            </a:r>
            <a:r>
              <a:rPr lang="en-US" sz="2000" dirty="0"/>
              <a:t>, then two consecutive 1s → </a:t>
            </a:r>
            <a:r>
              <a:rPr lang="en-US" sz="2000" b="1" dirty="0"/>
              <a:t>not sparse</a:t>
            </a:r>
            <a:r>
              <a:rPr lang="en-US" sz="2000" dirty="0"/>
              <a:t>.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Right shift </a:t>
            </a:r>
            <a:r>
              <a:rPr lang="en-US" sz="2000" dirty="0">
                <a:latin typeface="Courier New" panose="02070309020205020404" pitchFamily="49" charset="0"/>
              </a:rPr>
              <a:t>n</a:t>
            </a:r>
            <a:r>
              <a:rPr lang="en-US" sz="2000" dirty="0"/>
              <a:t> by 1 bit and continue.</a:t>
            </a:r>
          </a:p>
          <a:p>
            <a:pPr>
              <a:buNone/>
            </a:pPr>
            <a:r>
              <a:rPr lang="en-US" sz="2000" b="1" dirty="0"/>
              <a:t>Time Complexity: O(log n)</a:t>
            </a:r>
          </a:p>
          <a:p>
            <a:pPr>
              <a:buNone/>
            </a:pPr>
            <a:r>
              <a:rPr lang="en-US" sz="2000" dirty="0"/>
              <a:t>Because you check each bit once.</a:t>
            </a:r>
          </a:p>
          <a:p>
            <a:pPr>
              <a:buNone/>
            </a:pPr>
            <a:r>
              <a:rPr lang="en-US" sz="2000" b="1" dirty="0"/>
              <a:t>Space Complexity: O(1)</a:t>
            </a:r>
          </a:p>
          <a:p>
            <a:pPr>
              <a:buNone/>
            </a:pPr>
            <a:r>
              <a:rPr lang="en-US" sz="2000" dirty="0"/>
              <a:t>Only variable used.</a:t>
            </a:r>
          </a:p>
        </p:txBody>
      </p:sp>
    </p:spTree>
    <p:extLst>
      <p:ext uri="{BB962C8B-B14F-4D97-AF65-F5344CB8AC3E}">
        <p14:creationId xmlns:p14="http://schemas.microsoft.com/office/powerpoint/2010/main" val="12790175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90AA3DF-AB79-37A4-CA2C-E7D737CCC9E2}"/>
              </a:ext>
            </a:extLst>
          </p:cNvPr>
          <p:cNvSpPr txBox="1"/>
          <p:nvPr/>
        </p:nvSpPr>
        <p:spPr>
          <a:xfrm>
            <a:off x="285136" y="412218"/>
            <a:ext cx="10943303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Approach 2: Optimized Using (n &amp; (n &gt;&gt; 1))</a:t>
            </a:r>
          </a:p>
          <a:p>
            <a:pPr>
              <a:buNone/>
            </a:pPr>
            <a:r>
              <a:rPr lang="en-US" sz="2000" b="1" dirty="0"/>
              <a:t>Logic</a:t>
            </a:r>
          </a:p>
          <a:p>
            <a:pPr>
              <a:buNone/>
            </a:pPr>
            <a:r>
              <a:rPr lang="en-US" sz="2000" dirty="0"/>
              <a:t>This is the most efficient and most popular method.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If a number has consecutive 1s, then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US" sz="2000" dirty="0">
                <a:latin typeface="Courier New" panose="02070309020205020404" pitchFamily="49" charset="0"/>
              </a:rPr>
              <a:t>n &amp; (n &gt;&gt; 1)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will produce a non-zero value.</a:t>
            </a:r>
          </a:p>
          <a:p>
            <a:pPr>
              <a:buNone/>
            </a:pPr>
            <a:r>
              <a:rPr lang="en-US" sz="2000" dirty="0"/>
              <a:t>Because shifting right aligns adjacent bits, and </a:t>
            </a:r>
            <a:r>
              <a:rPr lang="en-US" sz="2000" dirty="0" err="1"/>
              <a:t>AND</a:t>
            </a:r>
            <a:r>
              <a:rPr lang="en-US" sz="2000" dirty="0"/>
              <a:t> reveals where both are 1.</a:t>
            </a:r>
          </a:p>
          <a:p>
            <a:pPr>
              <a:buNone/>
            </a:pPr>
            <a:r>
              <a:rPr lang="en-US" sz="2000" dirty="0"/>
              <a:t>Example:</a:t>
            </a:r>
            <a:br>
              <a:rPr lang="en-US" sz="2000" dirty="0"/>
            </a:br>
            <a:r>
              <a:rPr lang="en-US" sz="2000" dirty="0"/>
              <a:t>n = 12 → 1100</a:t>
            </a:r>
            <a:br>
              <a:rPr lang="en-US" sz="2000" dirty="0"/>
            </a:br>
            <a:r>
              <a:rPr lang="en-US" sz="2000" dirty="0"/>
              <a:t>n &gt;&gt; 1 = 0110</a:t>
            </a:r>
            <a:br>
              <a:rPr lang="en-US" sz="2000" dirty="0"/>
            </a:br>
            <a:r>
              <a:rPr lang="en-US" sz="2000" dirty="0"/>
              <a:t>n &amp; (n &gt;&gt; 1) = 0100 ≠ 0 → </a:t>
            </a:r>
            <a:r>
              <a:rPr lang="en-US" sz="2000" b="1" dirty="0"/>
              <a:t>not sparse</a:t>
            </a:r>
            <a:endParaRPr lang="en-US" sz="2000" dirty="0"/>
          </a:p>
          <a:p>
            <a:pPr>
              <a:buNone/>
            </a:pPr>
            <a:r>
              <a:rPr lang="en-US" sz="2000" dirty="0"/>
              <a:t>If result == 0 → </a:t>
            </a:r>
            <a:r>
              <a:rPr lang="en-US" sz="2000" b="1" dirty="0"/>
              <a:t>sparse</a:t>
            </a:r>
            <a:endParaRPr lang="en-US" sz="2000" dirty="0"/>
          </a:p>
          <a:p>
            <a:pPr>
              <a:buNone/>
            </a:pPr>
            <a:r>
              <a:rPr lang="en-US" sz="2000" b="1" dirty="0"/>
              <a:t>Time Complexity: O(1)</a:t>
            </a:r>
          </a:p>
          <a:p>
            <a:pPr>
              <a:buNone/>
            </a:pPr>
            <a:r>
              <a:rPr lang="en-US" sz="2000" dirty="0"/>
              <a:t>Only two operations: shift + AND.</a:t>
            </a:r>
          </a:p>
          <a:p>
            <a:pPr>
              <a:buNone/>
            </a:pPr>
            <a:r>
              <a:rPr lang="en-US" sz="2000" b="1" dirty="0"/>
              <a:t>Space Complexity: O(1)</a:t>
            </a:r>
          </a:p>
        </p:txBody>
      </p:sp>
    </p:spTree>
    <p:extLst>
      <p:ext uri="{BB962C8B-B14F-4D97-AF65-F5344CB8AC3E}">
        <p14:creationId xmlns:p14="http://schemas.microsoft.com/office/powerpoint/2010/main" val="3698217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C4EB147-33C3-9178-1E32-67E5292FA2F4}"/>
              </a:ext>
            </a:extLst>
          </p:cNvPr>
          <p:cNvSpPr txBox="1"/>
          <p:nvPr/>
        </p:nvSpPr>
        <p:spPr>
          <a:xfrm>
            <a:off x="68825" y="95266"/>
            <a:ext cx="79739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Next Greater Element in Circular Array</a:t>
            </a:r>
            <a:endParaRPr lang="en-IN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E2ED5EA-D8FA-E8DC-9523-04EEC487FCAF}"/>
                  </a:ext>
                </a:extLst>
              </p:cNvPr>
              <p:cNvSpPr txBox="1"/>
              <p:nvPr/>
            </p:nvSpPr>
            <p:spPr>
              <a:xfrm>
                <a:off x="68826" y="761091"/>
                <a:ext cx="11965858" cy="60016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sz="2400" b="1" dirty="0"/>
                  <a:t>Brute Force Method</a:t>
                </a:r>
              </a:p>
              <a:p>
                <a:pPr>
                  <a:buNone/>
                </a:pPr>
                <a:r>
                  <a:rPr lang="en-IN" sz="2400" b="1" dirty="0"/>
                  <a:t>Approach</a:t>
                </a:r>
              </a:p>
              <a:p>
                <a:pPr>
                  <a:buNone/>
                </a:pPr>
                <a:r>
                  <a:rPr lang="en-IN" sz="2400" dirty="0"/>
                  <a:t>In this method, we check the </a:t>
                </a:r>
                <a:r>
                  <a:rPr lang="en-IN" sz="2400" b="1" dirty="0"/>
                  <a:t>next elements one by one in a circular manner</a:t>
                </a:r>
                <a:r>
                  <a:rPr lang="en-IN" sz="2400" dirty="0"/>
                  <a:t>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sz="2400" dirty="0"/>
                  <a:t>For each index </a:t>
                </a:r>
                <a:r>
                  <a:rPr lang="en-IN" sz="2400" dirty="0" err="1">
                    <a:latin typeface="Courier New" panose="02070309020205020404" pitchFamily="49" charset="0"/>
                  </a:rPr>
                  <a:t>i</a:t>
                </a:r>
                <a:r>
                  <a:rPr lang="en-IN" sz="2400" dirty="0"/>
                  <a:t>, compare </a:t>
                </a:r>
                <a:r>
                  <a:rPr lang="en-IN" sz="2400" dirty="0" err="1">
                    <a:latin typeface="Courier New" panose="02070309020205020404" pitchFamily="49" charset="0"/>
                  </a:rPr>
                  <a:t>arr</a:t>
                </a:r>
                <a:r>
                  <a:rPr lang="en-IN" sz="2400" dirty="0">
                    <a:latin typeface="Courier New" panose="02070309020205020404" pitchFamily="49" charset="0"/>
                  </a:rPr>
                  <a:t>[</a:t>
                </a:r>
                <a:r>
                  <a:rPr lang="en-IN" sz="2400" dirty="0" err="1">
                    <a:latin typeface="Courier New" panose="02070309020205020404" pitchFamily="49" charset="0"/>
                  </a:rPr>
                  <a:t>i</a:t>
                </a:r>
                <a:r>
                  <a:rPr lang="en-IN" sz="2400" dirty="0">
                    <a:latin typeface="Courier New" panose="02070309020205020404" pitchFamily="49" charset="0"/>
                  </a:rPr>
                  <a:t>]</a:t>
                </a:r>
                <a:r>
                  <a:rPr lang="en-IN" sz="2400" dirty="0"/>
                  <a:t> with the next elements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sz="2400" dirty="0"/>
                  <a:t>Use modulo (</a:t>
                </a:r>
                <a:r>
                  <a:rPr lang="en-IN" sz="2400" dirty="0">
                    <a:latin typeface="Courier New" panose="02070309020205020404" pitchFamily="49" charset="0"/>
                  </a:rPr>
                  <a:t>(</a:t>
                </a:r>
                <a:r>
                  <a:rPr lang="en-IN" sz="2400" dirty="0" err="1">
                    <a:latin typeface="Courier New" panose="02070309020205020404" pitchFamily="49" charset="0"/>
                  </a:rPr>
                  <a:t>i</a:t>
                </a:r>
                <a:r>
                  <a:rPr lang="en-IN" sz="2400" dirty="0">
                    <a:latin typeface="Courier New" panose="02070309020205020404" pitchFamily="49" charset="0"/>
                  </a:rPr>
                  <a:t> + j) % n</a:t>
                </a:r>
                <a:r>
                  <a:rPr lang="en-IN" sz="2400" dirty="0"/>
                  <a:t>) to wrap around the array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sz="2400" dirty="0"/>
                  <a:t>The moment a greater element is found, store it in the result array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sz="2400" dirty="0"/>
                  <a:t>If no greater element is found after checking all elements, store </a:t>
                </a:r>
                <a:r>
                  <a:rPr lang="en-IN" sz="2400" dirty="0">
                    <a:latin typeface="Courier New" panose="02070309020205020404" pitchFamily="49" charset="0"/>
                  </a:rPr>
                  <a:t>-1</a:t>
                </a:r>
                <a:endParaRPr lang="en-IN" sz="2400" dirty="0"/>
              </a:p>
              <a:p>
                <a:pPr>
                  <a:buNone/>
                </a:pPr>
                <a:r>
                  <a:rPr lang="en-IN" sz="2400" dirty="0"/>
                  <a:t>This approach directly simulates the circular traversal.</a:t>
                </a:r>
              </a:p>
              <a:p>
                <a:pPr>
                  <a:buNone/>
                </a:pPr>
                <a:endParaRPr lang="en-IN" sz="2400" dirty="0"/>
              </a:p>
              <a:p>
                <a:pPr>
                  <a:buNone/>
                </a:pPr>
                <a:r>
                  <a:rPr lang="en-IN" sz="2400" b="1" dirty="0"/>
                  <a:t>Time Complexity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sz="2400" dirty="0"/>
                  <a:t>Outer loop runs </a:t>
                </a:r>
                <a:r>
                  <a:rPr lang="en-IN" sz="2400" dirty="0">
                    <a:latin typeface="Courier New" panose="02070309020205020404" pitchFamily="49" charset="0"/>
                  </a:rPr>
                  <a:t>n</a:t>
                </a:r>
                <a:r>
                  <a:rPr lang="en-IN" sz="2400" dirty="0"/>
                  <a:t> times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sz="2400" dirty="0"/>
                  <a:t>Inner loop also runs up to </a:t>
                </a:r>
                <a:r>
                  <a:rPr lang="en-IN" sz="2400" dirty="0">
                    <a:latin typeface="Courier New" panose="02070309020205020404" pitchFamily="49" charset="0"/>
                  </a:rPr>
                  <a:t>n</a:t>
                </a:r>
                <a:r>
                  <a:rPr lang="en-IN" sz="2400" dirty="0"/>
                  <a:t> times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IN" sz="2400" b="0"/>
                        <m:t>Time</m:t>
                      </m:r>
                      <m:r>
                        <m:rPr>
                          <m:nor/>
                        </m:rPr>
                        <a:rPr lang="en-IN" sz="2400" b="0" i="1"/>
                        <m:t> </m:t>
                      </m:r>
                      <m:r>
                        <m:rPr>
                          <m:nor/>
                        </m:rPr>
                        <a:rPr lang="en-IN" sz="2400" b="0" i="1"/>
                        <m:t>Complexity</m:t>
                      </m:r>
                      <m:r>
                        <a:rPr lang="en-IN" sz="2400" b="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400" b="0" i="1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ar-AE" sz="24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ar-AE" sz="24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2400" b="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ar-AE" sz="2400" b="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ar-AE" sz="2400" dirty="0"/>
              </a:p>
              <a:p>
                <a:pPr>
                  <a:buNone/>
                </a:pPr>
                <a:r>
                  <a:rPr lang="en-IN" sz="2400" b="1" dirty="0"/>
                  <a:t>Space Complexity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sz="2400" dirty="0"/>
                  <a:t>Result array of size </a:t>
                </a:r>
                <a:r>
                  <a:rPr lang="en-IN" sz="2400" dirty="0">
                    <a:latin typeface="Courier New" panose="02070309020205020404" pitchFamily="49" charset="0"/>
                  </a:rPr>
                  <a:t>n</a:t>
                </a:r>
                <a:endParaRPr lang="en-IN" sz="2400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IN" sz="2400" b="0"/>
                        <m:t>Space</m:t>
                      </m:r>
                      <m:r>
                        <m:rPr>
                          <m:nor/>
                        </m:rPr>
                        <a:rPr lang="en-IN" sz="2400" b="0" i="1"/>
                        <m:t> </m:t>
                      </m:r>
                      <m:r>
                        <m:rPr>
                          <m:nor/>
                        </m:rPr>
                        <a:rPr lang="en-IN" sz="2400" b="0" i="1"/>
                        <m:t>Complexity</m:t>
                      </m:r>
                      <m:r>
                        <a:rPr lang="en-IN" sz="2400" b="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400" b="0" i="1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ar-AE" sz="24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400" b="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lang="ar-AE" sz="2400" b="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E2ED5EA-D8FA-E8DC-9523-04EEC487FC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26" y="761091"/>
                <a:ext cx="11965858" cy="6001643"/>
              </a:xfrm>
              <a:prstGeom prst="rect">
                <a:avLst/>
              </a:prstGeom>
              <a:blipFill>
                <a:blip r:embed="rId2"/>
                <a:stretch>
                  <a:fillRect l="-764" t="-813" b="-30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934388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59CAE01-AFC5-413B-832B-6D73F487BC02}"/>
              </a:ext>
            </a:extLst>
          </p:cNvPr>
          <p:cNvSpPr txBox="1"/>
          <p:nvPr/>
        </p:nvSpPr>
        <p:spPr>
          <a:xfrm>
            <a:off x="304797" y="507645"/>
            <a:ext cx="11543074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Optimal Solution (Using Stack)</a:t>
            </a:r>
          </a:p>
          <a:p>
            <a:pPr>
              <a:buNone/>
            </a:pPr>
            <a:r>
              <a:rPr lang="en-US" b="1" dirty="0"/>
              <a:t>Approach</a:t>
            </a:r>
          </a:p>
          <a:p>
            <a:pPr>
              <a:buNone/>
            </a:pPr>
            <a:r>
              <a:rPr lang="en-US" dirty="0"/>
              <a:t>This approach uses a </a:t>
            </a:r>
            <a:r>
              <a:rPr lang="en-US" b="1" dirty="0"/>
              <a:t>stack</a:t>
            </a:r>
            <a:r>
              <a:rPr lang="en-US" dirty="0"/>
              <a:t> to efficiently find the next greater element.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Traverse the array </a:t>
            </a:r>
            <a:r>
              <a:rPr lang="en-US" b="1" dirty="0"/>
              <a:t>twice (0 to 2n−1)</a:t>
            </a:r>
            <a:r>
              <a:rPr lang="en-US" dirty="0"/>
              <a:t> to simulate circular behavior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 modulo (</a:t>
            </a:r>
            <a:r>
              <a:rPr lang="en-US" dirty="0" err="1">
                <a:latin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</a:rPr>
              <a:t> % n</a:t>
            </a:r>
            <a:r>
              <a:rPr lang="en-US" dirty="0"/>
              <a:t>) to access circular indices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Maintain a stack of indices whose next greater element is not found yet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When the current element is greater than the element at the stack top: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Pop the index from the stack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Assign the current element as its next greater element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Push indices only during the </a:t>
            </a:r>
            <a:r>
              <a:rPr lang="en-US" b="1" dirty="0"/>
              <a:t>first traversal</a:t>
            </a:r>
            <a:endParaRPr lang="en-US" dirty="0"/>
          </a:p>
          <a:p>
            <a:pPr>
              <a:buNone/>
            </a:pPr>
            <a:r>
              <a:rPr lang="en-US" dirty="0"/>
              <a:t>This ensures each element is processed efficiently.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37AE565-7291-2A50-2571-66D08896D5BF}"/>
                  </a:ext>
                </a:extLst>
              </p:cNvPr>
              <p:cNvSpPr txBox="1"/>
              <p:nvPr/>
            </p:nvSpPr>
            <p:spPr>
              <a:xfrm>
                <a:off x="304797" y="3666631"/>
                <a:ext cx="9596285" cy="17543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b="1" dirty="0"/>
                  <a:t>Time Complexity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IN" b="0"/>
                        <m:t>Time</m:t>
                      </m:r>
                      <m:r>
                        <m:rPr>
                          <m:nor/>
                        </m:rPr>
                        <a:rPr lang="en-IN" b="0" i="1"/>
                        <m:t> </m:t>
                      </m:r>
                      <m:r>
                        <m:rPr>
                          <m:nor/>
                        </m:rPr>
                        <a:rPr lang="en-IN" b="0" i="1"/>
                        <m:t>Complexity</m:t>
                      </m:r>
                      <m:r>
                        <a:rPr lang="en-IN" b="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b="0" i="1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ar-AE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b="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lang="ar-AE" dirty="0"/>
              </a:p>
              <a:p>
                <a:pPr>
                  <a:buNone/>
                </a:pPr>
                <a:r>
                  <a:rPr lang="en-IN" b="1" dirty="0"/>
                  <a:t>Space Complexity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dirty="0"/>
                  <a:t>Stack can store up to </a:t>
                </a:r>
                <a:r>
                  <a:rPr lang="en-IN" dirty="0">
                    <a:latin typeface="Courier New" panose="02070309020205020404" pitchFamily="49" charset="0"/>
                  </a:rPr>
                  <a:t>n</a:t>
                </a:r>
                <a:r>
                  <a:rPr lang="en-IN" dirty="0"/>
                  <a:t> indices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dirty="0"/>
                  <a:t>Result array of size </a:t>
                </a:r>
                <a:r>
                  <a:rPr lang="en-IN" dirty="0">
                    <a:latin typeface="Courier New" panose="02070309020205020404" pitchFamily="49" charset="0"/>
                  </a:rPr>
                  <a:t>n</a:t>
                </a:r>
                <a:endParaRPr lang="en-IN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IN" b="0"/>
                        <m:t>Space</m:t>
                      </m:r>
                      <m:r>
                        <m:rPr>
                          <m:nor/>
                        </m:rPr>
                        <a:rPr lang="en-IN" b="0" i="1"/>
                        <m:t> </m:t>
                      </m:r>
                      <m:r>
                        <m:rPr>
                          <m:nor/>
                        </m:rPr>
                        <a:rPr lang="en-IN" b="0" i="1"/>
                        <m:t>Complexity</m:t>
                      </m:r>
                      <m:r>
                        <a:rPr lang="en-IN" b="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b="0" i="1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ar-AE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b="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lang="ar-AE" b="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37AE565-7291-2A50-2571-66D08896D5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797" y="3666631"/>
                <a:ext cx="9596285" cy="1754326"/>
              </a:xfrm>
              <a:prstGeom prst="rect">
                <a:avLst/>
              </a:prstGeom>
              <a:blipFill>
                <a:blip r:embed="rId2"/>
                <a:stretch>
                  <a:fillRect l="-508" t="-1389" b="-173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BA4AAF3-206E-4CF6-23AE-98868F0FBF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8479015"/>
              </p:ext>
            </p:extLst>
          </p:nvPr>
        </p:nvGraphicFramePr>
        <p:xfrm>
          <a:off x="2064774" y="5551355"/>
          <a:ext cx="8524568" cy="10972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131142">
                  <a:extLst>
                    <a:ext uri="{9D8B030D-6E8A-4147-A177-3AD203B41FA5}">
                      <a16:colId xmlns:a16="http://schemas.microsoft.com/office/drawing/2014/main" val="4204909637"/>
                    </a:ext>
                  </a:extLst>
                </a:gridCol>
                <a:gridCol w="2131142">
                  <a:extLst>
                    <a:ext uri="{9D8B030D-6E8A-4147-A177-3AD203B41FA5}">
                      <a16:colId xmlns:a16="http://schemas.microsoft.com/office/drawing/2014/main" val="2573893643"/>
                    </a:ext>
                  </a:extLst>
                </a:gridCol>
                <a:gridCol w="2131142">
                  <a:extLst>
                    <a:ext uri="{9D8B030D-6E8A-4147-A177-3AD203B41FA5}">
                      <a16:colId xmlns:a16="http://schemas.microsoft.com/office/drawing/2014/main" val="2468813296"/>
                    </a:ext>
                  </a:extLst>
                </a:gridCol>
                <a:gridCol w="2131142">
                  <a:extLst>
                    <a:ext uri="{9D8B030D-6E8A-4147-A177-3AD203B41FA5}">
                      <a16:colId xmlns:a16="http://schemas.microsoft.com/office/drawing/2014/main" val="58022404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Approach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Time Complexity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Space Complexity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Efficient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68885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Brute Force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O(n²)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O(n)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 No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46774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Stack (Optimal)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O(n)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O(n)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7021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64171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A50BD04-7DE1-8BA9-D821-11056FF6B0A3}"/>
              </a:ext>
            </a:extLst>
          </p:cNvPr>
          <p:cNvSpPr txBox="1"/>
          <p:nvPr/>
        </p:nvSpPr>
        <p:spPr>
          <a:xfrm>
            <a:off x="98323" y="247953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K Sized Subarray Maximum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7B45BA-D055-195D-03DB-284CBDD0AD68}"/>
              </a:ext>
            </a:extLst>
          </p:cNvPr>
          <p:cNvSpPr txBox="1"/>
          <p:nvPr/>
        </p:nvSpPr>
        <p:spPr>
          <a:xfrm>
            <a:off x="98323" y="790929"/>
            <a:ext cx="12005187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Brute Force Method</a:t>
            </a:r>
          </a:p>
          <a:p>
            <a:pPr>
              <a:buNone/>
            </a:pPr>
            <a:r>
              <a:rPr lang="en-US" sz="2400" b="1" dirty="0"/>
              <a:t>Approach</a:t>
            </a:r>
          </a:p>
          <a:p>
            <a:pPr>
              <a:buNone/>
            </a:pPr>
            <a:r>
              <a:rPr lang="en-US" sz="2400" dirty="0"/>
              <a:t>In the brute force approach, we consider </a:t>
            </a:r>
            <a:r>
              <a:rPr lang="en-US" sz="2400" b="1" dirty="0"/>
              <a:t>each possible subarray of size </a:t>
            </a:r>
            <a:r>
              <a:rPr lang="en-US" sz="2400" b="1" dirty="0">
                <a:latin typeface="Courier New" panose="02070309020205020404" pitchFamily="49" charset="0"/>
              </a:rPr>
              <a:t>k</a:t>
            </a:r>
            <a:r>
              <a:rPr lang="en-US" sz="2400" dirty="0"/>
              <a:t> one by one.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Start from index </a:t>
            </a:r>
            <a:r>
              <a:rPr lang="en-US" sz="2400" dirty="0" err="1">
                <a:latin typeface="Courier New" panose="02070309020205020404" pitchFamily="49" charset="0"/>
              </a:rPr>
              <a:t>i</a:t>
            </a:r>
            <a:r>
              <a:rPr lang="en-US" sz="2400" dirty="0">
                <a:latin typeface="Courier New" panose="02070309020205020404" pitchFamily="49" charset="0"/>
              </a:rPr>
              <a:t> = 0</a:t>
            </a:r>
            <a:r>
              <a:rPr lang="en-US" sz="2400" dirty="0"/>
              <a:t> to </a:t>
            </a:r>
            <a:r>
              <a:rPr lang="en-US" sz="2400" dirty="0" err="1">
                <a:latin typeface="Courier New" panose="02070309020205020404" pitchFamily="49" charset="0"/>
              </a:rPr>
              <a:t>i</a:t>
            </a:r>
            <a:r>
              <a:rPr lang="en-US" sz="2400" dirty="0">
                <a:latin typeface="Courier New" panose="02070309020205020404" pitchFamily="49" charset="0"/>
              </a:rPr>
              <a:t> = n − k</a:t>
            </a: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For each starting index </a:t>
            </a:r>
            <a:r>
              <a:rPr lang="en-US" sz="2400" dirty="0" err="1">
                <a:latin typeface="Courier New" panose="02070309020205020404" pitchFamily="49" charset="0"/>
              </a:rPr>
              <a:t>i</a:t>
            </a:r>
            <a:r>
              <a:rPr lang="en-US" sz="2400" dirty="0"/>
              <a:t>, traverse the next </a:t>
            </a:r>
            <a:r>
              <a:rPr lang="en-US" sz="2400" dirty="0">
                <a:latin typeface="Courier New" panose="02070309020205020404" pitchFamily="49" charset="0"/>
              </a:rPr>
              <a:t>k</a:t>
            </a:r>
            <a:r>
              <a:rPr lang="en-US" sz="2400" dirty="0"/>
              <a:t> elements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Find the maximum among these </a:t>
            </a:r>
            <a:r>
              <a:rPr lang="en-US" sz="2400" dirty="0">
                <a:latin typeface="Courier New" panose="02070309020205020404" pitchFamily="49" charset="0"/>
              </a:rPr>
              <a:t>k</a:t>
            </a:r>
            <a:r>
              <a:rPr lang="en-US" sz="2400" dirty="0"/>
              <a:t> elements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Store this maximum in the result array</a:t>
            </a:r>
          </a:p>
          <a:p>
            <a:pPr>
              <a:buNone/>
            </a:pPr>
            <a:r>
              <a:rPr lang="en-US" sz="2400" dirty="0"/>
              <a:t>This approach checks all elements in every window explicitly.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6549233-8E5B-6E35-4C2B-29FB31503F20}"/>
                  </a:ext>
                </a:extLst>
              </p:cNvPr>
              <p:cNvSpPr txBox="1"/>
              <p:nvPr/>
            </p:nvSpPr>
            <p:spPr>
              <a:xfrm>
                <a:off x="678426" y="3932391"/>
                <a:ext cx="10668000" cy="26776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sz="2400" b="1" dirty="0"/>
                  <a:t>Time Complexity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sz="2400" dirty="0"/>
                  <a:t>Outer loop runs </a:t>
                </a:r>
                <a:r>
                  <a:rPr lang="en-IN" sz="2400" dirty="0">
                    <a:latin typeface="Courier New" panose="02070309020205020404" pitchFamily="49" charset="0"/>
                  </a:rPr>
                  <a:t>(n − k + 1)</a:t>
                </a:r>
                <a:r>
                  <a:rPr lang="en-IN" sz="2400" dirty="0"/>
                  <a:t> times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sz="2400" dirty="0"/>
                  <a:t>Inner loop runs </a:t>
                </a:r>
                <a:r>
                  <a:rPr lang="en-IN" sz="2400" dirty="0">
                    <a:latin typeface="Courier New" panose="02070309020205020404" pitchFamily="49" charset="0"/>
                  </a:rPr>
                  <a:t>k</a:t>
                </a:r>
                <a:r>
                  <a:rPr lang="en-IN" sz="2400" dirty="0"/>
                  <a:t> times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IN" sz="2400" b="0"/>
                        <m:t>Time</m:t>
                      </m:r>
                      <m:r>
                        <m:rPr>
                          <m:nor/>
                        </m:rPr>
                        <a:rPr lang="en-IN" sz="2400" b="0" i="1"/>
                        <m:t> </m:t>
                      </m:r>
                      <m:r>
                        <m:rPr>
                          <m:nor/>
                        </m:rPr>
                        <a:rPr lang="en-IN" sz="2400" b="0" i="1"/>
                        <m:t>Complexity</m:t>
                      </m:r>
                      <m:r>
                        <a:rPr lang="en-IN" sz="2400" b="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400" b="0" i="1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ar-AE" sz="24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400" b="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ar-AE" sz="2400" b="0" i="0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ar-AE" sz="2400" b="0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</m:oMath>
                  </m:oMathPara>
                </a14:m>
                <a:br>
                  <a:rPr lang="ar-AE" sz="2400" dirty="0"/>
                </a:br>
                <a:endParaRPr lang="ar-AE" sz="2400" dirty="0"/>
              </a:p>
              <a:p>
                <a:pPr>
                  <a:buNone/>
                </a:pPr>
                <a:r>
                  <a:rPr lang="en-IN" sz="2400" b="1" dirty="0"/>
                  <a:t>Space Complexity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sz="2400" dirty="0"/>
                  <a:t>Result array stores </a:t>
                </a:r>
                <a:r>
                  <a:rPr lang="en-IN" sz="2400" dirty="0">
                    <a:latin typeface="Courier New" panose="02070309020205020404" pitchFamily="49" charset="0"/>
                  </a:rPr>
                  <a:t>(n − k + 1)</a:t>
                </a:r>
                <a:r>
                  <a:rPr lang="en-IN" sz="2400" dirty="0"/>
                  <a:t> elements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IN" sz="2400" b="0"/>
                        <m:t>Space</m:t>
                      </m:r>
                      <m:r>
                        <m:rPr>
                          <m:nor/>
                        </m:rPr>
                        <a:rPr lang="en-IN" sz="2400" b="0" i="1"/>
                        <m:t> </m:t>
                      </m:r>
                      <m:r>
                        <m:rPr>
                          <m:nor/>
                        </m:rPr>
                        <a:rPr lang="en-IN" sz="2400" b="0" i="1"/>
                        <m:t>Complexity</m:t>
                      </m:r>
                      <m:r>
                        <a:rPr lang="en-IN" sz="2400" b="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400" b="0" i="1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ar-AE" sz="24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400" b="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lang="ar-AE" sz="2400" b="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6549233-8E5B-6E35-4C2B-29FB31503F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426" y="3932391"/>
                <a:ext cx="10668000" cy="2677656"/>
              </a:xfrm>
              <a:prstGeom prst="rect">
                <a:avLst/>
              </a:prstGeom>
              <a:blipFill>
                <a:blip r:embed="rId2"/>
                <a:stretch>
                  <a:fillRect l="-857" t="-1822" b="-205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457361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A0A4ADB-BCBA-632C-6DE6-3117EF950B6D}"/>
              </a:ext>
            </a:extLst>
          </p:cNvPr>
          <p:cNvSpPr txBox="1"/>
          <p:nvPr/>
        </p:nvSpPr>
        <p:spPr>
          <a:xfrm>
            <a:off x="157316" y="304062"/>
            <a:ext cx="11562736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Optimal Method (Deque / Sliding Window)</a:t>
            </a:r>
          </a:p>
          <a:p>
            <a:pPr>
              <a:buNone/>
            </a:pPr>
            <a:r>
              <a:rPr lang="en-US" sz="2400" b="1" dirty="0"/>
              <a:t>Approach</a:t>
            </a:r>
          </a:p>
          <a:p>
            <a:pPr>
              <a:buNone/>
            </a:pPr>
            <a:r>
              <a:rPr lang="en-US" sz="2400" dirty="0"/>
              <a:t>This approach uses a </a:t>
            </a:r>
            <a:r>
              <a:rPr lang="en-US" sz="2400" b="1" dirty="0"/>
              <a:t>deque (double-ended queue)</a:t>
            </a:r>
            <a:r>
              <a:rPr lang="en-US" sz="2400" dirty="0"/>
              <a:t> to store </a:t>
            </a:r>
            <a:r>
              <a:rPr lang="en-US" sz="2400" b="1" dirty="0"/>
              <a:t>indices of array elements</a:t>
            </a:r>
            <a:r>
              <a:rPr lang="en-US" sz="2400" dirty="0"/>
              <a:t>.</a:t>
            </a:r>
          </a:p>
          <a:p>
            <a:pPr>
              <a:buNone/>
            </a:pPr>
            <a:r>
              <a:rPr lang="en-US" sz="2400" dirty="0"/>
              <a:t>The deque maintains elements in </a:t>
            </a:r>
            <a:r>
              <a:rPr lang="en-US" sz="2400" b="1" dirty="0"/>
              <a:t>decreasing order of values</a:t>
            </a:r>
            <a:r>
              <a:rPr lang="en-US" sz="2400" dirty="0"/>
              <a:t>.</a:t>
            </a:r>
          </a:p>
          <a:p>
            <a:pPr>
              <a:buNone/>
            </a:pPr>
            <a:r>
              <a:rPr lang="en-US" sz="2400" dirty="0"/>
              <a:t>Steps:</a:t>
            </a:r>
          </a:p>
          <a:p>
            <a:pPr>
              <a:buFont typeface="+mj-lt"/>
              <a:buAutoNum type="arabicPeriod"/>
            </a:pPr>
            <a:r>
              <a:rPr lang="en-US" sz="2400" dirty="0"/>
              <a:t>Remove indices from the </a:t>
            </a:r>
            <a:r>
              <a:rPr lang="en-US" sz="2400" b="1" dirty="0"/>
              <a:t>front</a:t>
            </a:r>
            <a:r>
              <a:rPr lang="en-US" sz="2400" dirty="0"/>
              <a:t> if they are </a:t>
            </a:r>
            <a:r>
              <a:rPr lang="en-US" sz="2400" b="1" dirty="0"/>
              <a:t>outside the current window</a:t>
            </a:r>
            <a:endParaRPr lang="en-US" sz="2400" dirty="0"/>
          </a:p>
          <a:p>
            <a:pPr>
              <a:buFont typeface="+mj-lt"/>
              <a:buAutoNum type="arabicPeriod"/>
            </a:pPr>
            <a:r>
              <a:rPr lang="en-US" sz="2400" dirty="0"/>
              <a:t>Remove indices from the </a:t>
            </a:r>
            <a:r>
              <a:rPr lang="en-US" sz="2400" b="1" dirty="0"/>
              <a:t>back</a:t>
            </a:r>
            <a:r>
              <a:rPr lang="en-US" sz="2400" dirty="0"/>
              <a:t> whose values are </a:t>
            </a:r>
            <a:r>
              <a:rPr lang="en-US" sz="2400" b="1" dirty="0"/>
              <a:t>smaller than the current element</a:t>
            </a:r>
            <a:endParaRPr lang="en-US" sz="2400" dirty="0"/>
          </a:p>
          <a:p>
            <a:pPr>
              <a:buFont typeface="+mj-lt"/>
              <a:buAutoNum type="arabicPeriod"/>
            </a:pPr>
            <a:r>
              <a:rPr lang="en-US" sz="2400" dirty="0"/>
              <a:t>Insert the current index at the </a:t>
            </a:r>
            <a:r>
              <a:rPr lang="en-US" sz="2400" b="1" dirty="0"/>
              <a:t>back</a:t>
            </a:r>
            <a:endParaRPr lang="en-US" sz="2400" dirty="0"/>
          </a:p>
          <a:p>
            <a:pPr>
              <a:buFont typeface="+mj-lt"/>
              <a:buAutoNum type="arabicPeriod"/>
            </a:pPr>
            <a:r>
              <a:rPr lang="en-US" sz="2400" dirty="0"/>
              <a:t>The </a:t>
            </a:r>
            <a:r>
              <a:rPr lang="en-US" sz="2400" b="1" dirty="0"/>
              <a:t>front of the deque always holds the index of the maximum element</a:t>
            </a:r>
            <a:endParaRPr lang="en-US" sz="2400" dirty="0"/>
          </a:p>
          <a:p>
            <a:pPr>
              <a:buFont typeface="+mj-lt"/>
              <a:buAutoNum type="arabicPeriod"/>
            </a:pPr>
            <a:r>
              <a:rPr lang="en-US" sz="2400" dirty="0"/>
              <a:t>Once the first window is formed (</a:t>
            </a:r>
            <a:r>
              <a:rPr lang="en-US" sz="2400" dirty="0" err="1">
                <a:latin typeface="Courier New" panose="02070309020205020404" pitchFamily="49" charset="0"/>
              </a:rPr>
              <a:t>i</a:t>
            </a:r>
            <a:r>
              <a:rPr lang="en-US" sz="2400" dirty="0">
                <a:latin typeface="Courier New" panose="02070309020205020404" pitchFamily="49" charset="0"/>
              </a:rPr>
              <a:t> ≥ k−1</a:t>
            </a:r>
            <a:r>
              <a:rPr lang="en-US" sz="2400" dirty="0"/>
              <a:t>), add the maximum to the result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AAC2607-A025-3BEA-CF38-BEDF5D7DC0EB}"/>
                  </a:ext>
                </a:extLst>
              </p:cNvPr>
              <p:cNvSpPr txBox="1"/>
              <p:nvPr/>
            </p:nvSpPr>
            <p:spPr>
              <a:xfrm>
                <a:off x="1307690" y="4459046"/>
                <a:ext cx="10520516" cy="23083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sz="2400" b="1" dirty="0"/>
                  <a:t>Time Complexity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sz="2400" dirty="0"/>
                  <a:t>Each element is pushed and popped </a:t>
                </a:r>
                <a:r>
                  <a:rPr lang="en-IN" sz="2400" b="1" dirty="0"/>
                  <a:t>at most once</a:t>
                </a:r>
                <a:endParaRPr lang="en-IN" sz="2400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IN" sz="2400" b="0"/>
                        <m:t>Time</m:t>
                      </m:r>
                      <m:r>
                        <m:rPr>
                          <m:nor/>
                        </m:rPr>
                        <a:rPr lang="en-IN" sz="2400" b="0" i="1"/>
                        <m:t> </m:t>
                      </m:r>
                      <m:r>
                        <m:rPr>
                          <m:nor/>
                        </m:rPr>
                        <a:rPr lang="en-IN" sz="2400" b="0" i="1"/>
                        <m:t>Complexity</m:t>
                      </m:r>
                      <m:r>
                        <a:rPr lang="en-IN" sz="2400" b="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400" b="0" i="1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ar-AE" sz="24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400" b="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lang="ar-AE" sz="2400" dirty="0"/>
              </a:p>
              <a:p>
                <a:pPr>
                  <a:buNone/>
                </a:pPr>
                <a:r>
                  <a:rPr lang="en-IN" sz="2400" b="1" dirty="0"/>
                  <a:t>Space Complexity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sz="2400" dirty="0"/>
                  <a:t>Deque stores at most </a:t>
                </a:r>
                <a:r>
                  <a:rPr lang="en-IN" sz="2400" dirty="0">
                    <a:latin typeface="Courier New" panose="02070309020205020404" pitchFamily="49" charset="0"/>
                  </a:rPr>
                  <a:t>k</a:t>
                </a:r>
                <a:r>
                  <a:rPr lang="en-IN" sz="2400" dirty="0"/>
                  <a:t> indices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IN" sz="2400" b="0"/>
                        <m:t>Space</m:t>
                      </m:r>
                      <m:r>
                        <m:rPr>
                          <m:nor/>
                        </m:rPr>
                        <a:rPr lang="en-IN" sz="2400" b="0" i="1"/>
                        <m:t> </m:t>
                      </m:r>
                      <m:r>
                        <m:rPr>
                          <m:nor/>
                        </m:rPr>
                        <a:rPr lang="en-IN" sz="2400" b="0" i="1"/>
                        <m:t>Complexity</m:t>
                      </m:r>
                      <m:r>
                        <a:rPr lang="en-IN" sz="2400" b="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400" b="0" i="1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ar-AE" sz="24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400" b="0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</m:oMath>
                  </m:oMathPara>
                </a14:m>
                <a:endParaRPr lang="ar-AE" sz="2400" b="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AAC2607-A025-3BEA-CF38-BEDF5D7DC0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7690" y="4459046"/>
                <a:ext cx="10520516" cy="2308324"/>
              </a:xfrm>
              <a:prstGeom prst="rect">
                <a:avLst/>
              </a:prstGeom>
              <a:blipFill>
                <a:blip r:embed="rId2"/>
                <a:stretch>
                  <a:fillRect l="-928" t="-2111" b="-237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806100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8F9F32C-07BE-EB40-6B28-1DC9DDF7405E}"/>
              </a:ext>
            </a:extLst>
          </p:cNvPr>
          <p:cNvSpPr txBox="1"/>
          <p:nvPr/>
        </p:nvSpPr>
        <p:spPr>
          <a:xfrm>
            <a:off x="226141" y="297115"/>
            <a:ext cx="444418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0" dirty="0">
                <a:effectLst/>
                <a:latin typeface="-apple-system"/>
              </a:rPr>
              <a:t>Time Needed to Buy Tickets</a:t>
            </a:r>
            <a:endParaRPr lang="en-IN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C75128-69E4-F689-F213-E156A0DCA174}"/>
              </a:ext>
            </a:extLst>
          </p:cNvPr>
          <p:cNvSpPr txBox="1"/>
          <p:nvPr/>
        </p:nvSpPr>
        <p:spPr>
          <a:xfrm>
            <a:off x="226141" y="939262"/>
            <a:ext cx="11680724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Problem Statement</a:t>
            </a:r>
          </a:p>
          <a:p>
            <a:pPr>
              <a:buNone/>
            </a:pPr>
            <a:r>
              <a:rPr lang="en-US" sz="2000" dirty="0"/>
              <a:t>You are standing in a </a:t>
            </a:r>
            <a:r>
              <a:rPr lang="en-US" sz="2000" b="1" dirty="0"/>
              <a:t>queue</a:t>
            </a:r>
            <a:r>
              <a:rPr lang="en-US" sz="2000" dirty="0"/>
              <a:t> to buy tickets.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Each person </a:t>
            </a:r>
            <a:r>
              <a:rPr lang="en-US" sz="2000" dirty="0" err="1">
                <a:latin typeface="Courier New" panose="02070309020205020404" pitchFamily="49" charset="0"/>
              </a:rPr>
              <a:t>i</a:t>
            </a:r>
            <a:r>
              <a:rPr lang="en-US" sz="2000" dirty="0"/>
              <a:t> needs </a:t>
            </a:r>
            <a:r>
              <a:rPr lang="en-US" sz="2000" dirty="0">
                <a:latin typeface="Courier New" panose="02070309020205020404" pitchFamily="49" charset="0"/>
              </a:rPr>
              <a:t>tickets[</a:t>
            </a:r>
            <a:r>
              <a:rPr lang="en-US" sz="2000" dirty="0" err="1">
                <a:latin typeface="Courier New" panose="02070309020205020404" pitchFamily="49" charset="0"/>
              </a:rPr>
              <a:t>i</a:t>
            </a:r>
            <a:r>
              <a:rPr lang="en-US" sz="2000" dirty="0">
                <a:latin typeface="Courier New" panose="02070309020205020404" pitchFamily="49" charset="0"/>
              </a:rPr>
              <a:t>]</a:t>
            </a:r>
            <a:r>
              <a:rPr lang="en-US" sz="2000" dirty="0"/>
              <a:t> tickets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In </a:t>
            </a:r>
            <a:r>
              <a:rPr lang="en-US" sz="2000" b="1" dirty="0"/>
              <a:t>one second</a:t>
            </a:r>
            <a:r>
              <a:rPr lang="en-US" sz="2000" dirty="0"/>
              <a:t>, the person at the </a:t>
            </a:r>
            <a:r>
              <a:rPr lang="en-US" sz="2000" b="1" dirty="0"/>
              <a:t>front</a:t>
            </a:r>
            <a:r>
              <a:rPr lang="en-US" sz="2000" dirty="0"/>
              <a:t> buys </a:t>
            </a:r>
            <a:r>
              <a:rPr lang="en-US" sz="2000" b="1" dirty="0"/>
              <a:t>one ticket</a:t>
            </a: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If they still need tickets, they go to the </a:t>
            </a:r>
            <a:r>
              <a:rPr lang="en-US" sz="2000" b="1" dirty="0"/>
              <a:t>end of the queue</a:t>
            </a: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Otherwise, they </a:t>
            </a:r>
            <a:r>
              <a:rPr lang="en-US" sz="2000" b="1" dirty="0"/>
              <a:t>leave the queue</a:t>
            </a:r>
            <a:endParaRPr lang="en-US" sz="2000" dirty="0"/>
          </a:p>
          <a:p>
            <a:pPr>
              <a:buNone/>
            </a:pPr>
            <a:r>
              <a:rPr lang="en-US" sz="2000" dirty="0"/>
              <a:t>You are given an index </a:t>
            </a:r>
            <a:r>
              <a:rPr lang="en-US" sz="2000" dirty="0">
                <a:latin typeface="Courier New" panose="02070309020205020404" pitchFamily="49" charset="0"/>
              </a:rPr>
              <a:t>k</a:t>
            </a:r>
            <a:r>
              <a:rPr lang="en-US" sz="2000" dirty="0"/>
              <a:t>.</a:t>
            </a:r>
            <a:br>
              <a:rPr lang="en-US" sz="2000" dirty="0"/>
            </a:br>
            <a:r>
              <a:rPr lang="en-US" sz="2000" dirty="0"/>
              <a:t>Find the </a:t>
            </a:r>
            <a:r>
              <a:rPr lang="en-US" sz="2000" b="1" dirty="0"/>
              <a:t>total time (in seconds)</a:t>
            </a:r>
            <a:r>
              <a:rPr lang="en-US" sz="2000" dirty="0"/>
              <a:t> required for </a:t>
            </a:r>
            <a:r>
              <a:rPr lang="en-US" sz="2000" b="1" dirty="0"/>
              <a:t>person </a:t>
            </a:r>
            <a:r>
              <a:rPr lang="en-US" sz="2000" b="1" dirty="0">
                <a:latin typeface="Courier New" panose="02070309020205020404" pitchFamily="49" charset="0"/>
              </a:rPr>
              <a:t>k</a:t>
            </a:r>
            <a:r>
              <a:rPr lang="en-US" sz="2000" dirty="0"/>
              <a:t> to finish buying all their tickets.</a:t>
            </a:r>
          </a:p>
        </p:txBody>
      </p:sp>
    </p:spTree>
    <p:extLst>
      <p:ext uri="{BB962C8B-B14F-4D97-AF65-F5344CB8AC3E}">
        <p14:creationId xmlns:p14="http://schemas.microsoft.com/office/powerpoint/2010/main" val="22331540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0AA5C31-8A7F-4660-B2BC-C0297D33A3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7788210"/>
              </p:ext>
            </p:extLst>
          </p:nvPr>
        </p:nvGraphicFramePr>
        <p:xfrm>
          <a:off x="680884" y="1248107"/>
          <a:ext cx="10515600" cy="25603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130924447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20638071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4311414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Person Buying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Tickets After Purchase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03886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Person 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[1,3,2]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82027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Person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[1,2,2]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003445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Person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[1,2,1]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48736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Person 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[0,2,1]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0913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Person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[0,1,1]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56594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Person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[0,1,0] stop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324727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38250F5-8FE1-696D-E3C8-F7D1AEBFADCA}"/>
              </a:ext>
            </a:extLst>
          </p:cNvPr>
          <p:cNvSpPr txBox="1"/>
          <p:nvPr/>
        </p:nvSpPr>
        <p:spPr>
          <a:xfrm>
            <a:off x="553065" y="4085426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Person </a:t>
            </a:r>
            <a:r>
              <a:rPr lang="en-US" dirty="0">
                <a:latin typeface="Courier New" panose="02070309020205020404" pitchFamily="49" charset="0"/>
              </a:rPr>
              <a:t>k = 2 </a:t>
            </a:r>
            <a:r>
              <a:rPr lang="en-US" dirty="0"/>
              <a:t>finishes at </a:t>
            </a:r>
            <a:r>
              <a:rPr lang="en-US" b="1" dirty="0"/>
              <a:t>time = 6</a:t>
            </a:r>
            <a:endParaRPr lang="en-US" dirty="0"/>
          </a:p>
          <a:p>
            <a:pPr>
              <a:buNone/>
            </a:pPr>
            <a:r>
              <a:rPr lang="en-US" b="1" dirty="0"/>
              <a:t>Answer = 6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DFD8575-483F-3A84-AF66-A78752BA5257}"/>
              </a:ext>
            </a:extLst>
          </p:cNvPr>
          <p:cNvSpPr txBox="1"/>
          <p:nvPr/>
        </p:nvSpPr>
        <p:spPr>
          <a:xfrm>
            <a:off x="757084" y="324777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Example 1</a:t>
            </a:r>
          </a:p>
          <a:p>
            <a:r>
              <a:rPr lang="en-IN" dirty="0"/>
              <a:t>tickets = [2,3,2]</a:t>
            </a:r>
          </a:p>
          <a:p>
            <a:r>
              <a:rPr lang="en-IN" dirty="0"/>
              <a:t>k = 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D29F15D-FCC9-78DF-A3A4-C23DCD729142}"/>
              </a:ext>
            </a:extLst>
          </p:cNvPr>
          <p:cNvSpPr txBox="1"/>
          <p:nvPr/>
        </p:nvSpPr>
        <p:spPr>
          <a:xfrm>
            <a:off x="680884" y="5399209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Example 2</a:t>
            </a:r>
          </a:p>
          <a:p>
            <a:r>
              <a:rPr lang="en-IN" dirty="0"/>
              <a:t>tickets = [5,1,1,1]</a:t>
            </a:r>
          </a:p>
          <a:p>
            <a:r>
              <a:rPr lang="en-IN" dirty="0"/>
              <a:t>k = 0</a:t>
            </a:r>
          </a:p>
        </p:txBody>
      </p:sp>
    </p:spTree>
    <p:extLst>
      <p:ext uri="{BB962C8B-B14F-4D97-AF65-F5344CB8AC3E}">
        <p14:creationId xmlns:p14="http://schemas.microsoft.com/office/powerpoint/2010/main" val="2506314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6523A35-4D6E-5F2C-F2F7-486218A21840}"/>
              </a:ext>
            </a:extLst>
          </p:cNvPr>
          <p:cNvSpPr txBox="1"/>
          <p:nvPr/>
        </p:nvSpPr>
        <p:spPr>
          <a:xfrm>
            <a:off x="167149" y="171497"/>
            <a:ext cx="5850193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Approach 1: Brute Force (Queue Simulation)</a:t>
            </a: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b="1" dirty="0"/>
              <a:t>Logic </a:t>
            </a:r>
          </a:p>
          <a:p>
            <a:pPr>
              <a:buFont typeface="+mj-lt"/>
              <a:buAutoNum type="arabicPeriod"/>
            </a:pPr>
            <a:r>
              <a:rPr lang="en-US" dirty="0"/>
              <a:t>Push all people with their index into a queue</a:t>
            </a:r>
          </a:p>
          <a:p>
            <a:pPr>
              <a:buFont typeface="+mj-lt"/>
              <a:buAutoNum type="arabicPeriod"/>
            </a:pPr>
            <a:r>
              <a:rPr lang="en-US" dirty="0"/>
              <a:t>Every second: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Front person buys one ticket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If tickets left → push back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If index == </a:t>
            </a:r>
            <a:r>
              <a:rPr lang="en-US" dirty="0">
                <a:latin typeface="Courier New" panose="02070309020205020404" pitchFamily="49" charset="0"/>
              </a:rPr>
              <a:t>k</a:t>
            </a:r>
            <a:r>
              <a:rPr lang="en-US" dirty="0"/>
              <a:t> and tickets become 0 → stop</a:t>
            </a:r>
          </a:p>
          <a:p>
            <a:pPr>
              <a:buFont typeface="+mj-lt"/>
              <a:buAutoNum type="arabicPeriod"/>
            </a:pPr>
            <a:r>
              <a:rPr lang="en-US" dirty="0"/>
              <a:t>Count total seconds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33E379-B7F6-4FC9-12B2-5EDD3594600A}"/>
              </a:ext>
            </a:extLst>
          </p:cNvPr>
          <p:cNvSpPr txBox="1"/>
          <p:nvPr/>
        </p:nvSpPr>
        <p:spPr>
          <a:xfrm>
            <a:off x="6174660" y="1230838"/>
            <a:ext cx="5338916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queue = all people with index</a:t>
            </a:r>
          </a:p>
          <a:p>
            <a:r>
              <a:rPr lang="en-US" dirty="0"/>
              <a:t>time = 0</a:t>
            </a:r>
          </a:p>
          <a:p>
            <a:endParaRPr lang="en-US" dirty="0"/>
          </a:p>
          <a:p>
            <a:r>
              <a:rPr lang="en-US" dirty="0"/>
              <a:t>while true:</a:t>
            </a:r>
          </a:p>
          <a:p>
            <a:r>
              <a:rPr lang="en-US" dirty="0"/>
              <a:t>    person = pop front</a:t>
            </a:r>
          </a:p>
          <a:p>
            <a:r>
              <a:rPr lang="en-US" dirty="0"/>
              <a:t>    tickets[person]--</a:t>
            </a:r>
          </a:p>
          <a:p>
            <a:r>
              <a:rPr lang="en-US" dirty="0"/>
              <a:t>    time++</a:t>
            </a:r>
          </a:p>
          <a:p>
            <a:endParaRPr lang="en-US" dirty="0"/>
          </a:p>
          <a:p>
            <a:r>
              <a:rPr lang="en-US" dirty="0"/>
              <a:t>    if person == k and tickets[person] == 0:</a:t>
            </a:r>
          </a:p>
          <a:p>
            <a:r>
              <a:rPr lang="en-US" dirty="0"/>
              <a:t>        return time</a:t>
            </a:r>
          </a:p>
          <a:p>
            <a:endParaRPr lang="en-US" dirty="0"/>
          </a:p>
          <a:p>
            <a:r>
              <a:rPr lang="en-US" dirty="0"/>
              <a:t>    if tickets[person] &gt; 0:</a:t>
            </a:r>
          </a:p>
          <a:p>
            <a:r>
              <a:rPr lang="en-US" dirty="0"/>
              <a:t>        push person back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6DCA96-1710-E3A2-652A-CD9B4115C219}"/>
              </a:ext>
            </a:extLst>
          </p:cNvPr>
          <p:cNvSpPr txBox="1"/>
          <p:nvPr/>
        </p:nvSpPr>
        <p:spPr>
          <a:xfrm>
            <a:off x="6292645" y="43476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Pseudocode</a:t>
            </a:r>
          </a:p>
        </p:txBody>
      </p:sp>
    </p:spTree>
    <p:extLst>
      <p:ext uri="{BB962C8B-B14F-4D97-AF65-F5344CB8AC3E}">
        <p14:creationId xmlns:p14="http://schemas.microsoft.com/office/powerpoint/2010/main" val="42216018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A10B591-CDAE-5059-AF05-C67D2C5635BA}"/>
              </a:ext>
            </a:extLst>
          </p:cNvPr>
          <p:cNvSpPr txBox="1"/>
          <p:nvPr/>
        </p:nvSpPr>
        <p:spPr>
          <a:xfrm>
            <a:off x="363794" y="18896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Approach 2: Optimal (Mathematical Observation)</a:t>
            </a:r>
            <a:endParaRPr lang="en-IN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61B5DE-BE0B-C095-6CB7-0E46FBC9D7B7}"/>
              </a:ext>
            </a:extLst>
          </p:cNvPr>
          <p:cNvSpPr txBox="1"/>
          <p:nvPr/>
        </p:nvSpPr>
        <p:spPr>
          <a:xfrm>
            <a:off x="412955" y="666502"/>
            <a:ext cx="944879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Key Observation</a:t>
            </a:r>
          </a:p>
          <a:p>
            <a:pPr>
              <a:buNone/>
            </a:pPr>
            <a:r>
              <a:rPr lang="en-US" dirty="0"/>
              <a:t>Person </a:t>
            </a:r>
            <a:r>
              <a:rPr lang="en-US" dirty="0">
                <a:latin typeface="Courier New" panose="02070309020205020404" pitchFamily="49" charset="0"/>
              </a:rPr>
              <a:t>k</a:t>
            </a:r>
            <a:r>
              <a:rPr lang="en-US" dirty="0"/>
              <a:t> needs </a:t>
            </a:r>
            <a:r>
              <a:rPr lang="en-US" dirty="0">
                <a:latin typeface="Courier New" panose="02070309020205020404" pitchFamily="49" charset="0"/>
              </a:rPr>
              <a:t>tickets[k]</a:t>
            </a:r>
            <a:r>
              <a:rPr lang="en-US" dirty="0"/>
              <a:t> rounds.</a:t>
            </a:r>
          </a:p>
          <a:p>
            <a:pPr>
              <a:buNone/>
            </a:pPr>
            <a:r>
              <a:rPr lang="en-US" dirty="0"/>
              <a:t>For each round: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People </a:t>
            </a:r>
            <a:r>
              <a:rPr lang="en-US" b="1" dirty="0"/>
              <a:t>before or equal to </a:t>
            </a:r>
            <a:r>
              <a:rPr lang="en-US" b="1" dirty="0">
                <a:latin typeface="Courier New" panose="02070309020205020404" pitchFamily="49" charset="0"/>
              </a:rPr>
              <a:t>k</a:t>
            </a:r>
            <a:r>
              <a:rPr lang="en-US" dirty="0"/>
              <a:t> can buy </a:t>
            </a:r>
            <a:r>
              <a:rPr lang="en-US" b="1" dirty="0"/>
              <a:t>up to </a:t>
            </a:r>
            <a:r>
              <a:rPr lang="en-US" b="1" dirty="0">
                <a:latin typeface="Courier New" panose="02070309020205020404" pitchFamily="49" charset="0"/>
              </a:rPr>
              <a:t>tickets[k]</a:t>
            </a:r>
            <a:r>
              <a:rPr lang="en-US" b="1" dirty="0"/>
              <a:t> tickets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People </a:t>
            </a:r>
            <a:r>
              <a:rPr lang="en-US" b="1" dirty="0"/>
              <a:t>after </a:t>
            </a:r>
            <a:r>
              <a:rPr lang="en-US" b="1" dirty="0">
                <a:latin typeface="Courier New" panose="02070309020205020404" pitchFamily="49" charset="0"/>
              </a:rPr>
              <a:t>k</a:t>
            </a:r>
            <a:r>
              <a:rPr lang="en-US" dirty="0"/>
              <a:t> can buy </a:t>
            </a:r>
            <a:r>
              <a:rPr lang="en-US" b="1" dirty="0"/>
              <a:t>up to </a:t>
            </a:r>
            <a:r>
              <a:rPr lang="en-US" b="1" dirty="0">
                <a:latin typeface="Courier New" panose="02070309020205020404" pitchFamily="49" charset="0"/>
              </a:rPr>
              <a:t>tickets[k] - 1</a:t>
            </a:r>
            <a:r>
              <a:rPr lang="en-US" b="1" dirty="0"/>
              <a:t> tickets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143787-3117-CB93-F3D8-2B70B01B99B6}"/>
              </a:ext>
            </a:extLst>
          </p:cNvPr>
          <p:cNvSpPr txBox="1"/>
          <p:nvPr/>
        </p:nvSpPr>
        <p:spPr>
          <a:xfrm>
            <a:off x="412955" y="2252040"/>
            <a:ext cx="1134642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Formula</a:t>
            </a:r>
          </a:p>
          <a:p>
            <a:pPr>
              <a:buNone/>
            </a:pPr>
            <a:r>
              <a:rPr lang="en-IN" dirty="0"/>
              <a:t>For each person </a:t>
            </a:r>
            <a:r>
              <a:rPr lang="en-IN" dirty="0">
                <a:latin typeface="Courier New" panose="02070309020205020404" pitchFamily="49" charset="0"/>
              </a:rPr>
              <a:t>i</a:t>
            </a:r>
            <a:r>
              <a:rPr lang="en-IN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If </a:t>
            </a:r>
            <a:r>
              <a:rPr lang="en-IN" dirty="0" err="1">
                <a:latin typeface="Courier New" panose="02070309020205020404" pitchFamily="49" charset="0"/>
              </a:rPr>
              <a:t>i</a:t>
            </a:r>
            <a:r>
              <a:rPr lang="en-IN" dirty="0">
                <a:latin typeface="Courier New" panose="02070309020205020404" pitchFamily="49" charset="0"/>
              </a:rPr>
              <a:t> ≤ k</a:t>
            </a:r>
            <a:endParaRPr lang="en-IN" dirty="0"/>
          </a:p>
          <a:p>
            <a:pPr rtl="0">
              <a:buFont typeface="Arial" panose="020B0604020202020204" pitchFamily="34" charset="0"/>
              <a:buChar char="•"/>
            </a:pPr>
            <a:r>
              <a:rPr lang="en-IN" dirty="0">
                <a:latin typeface="Courier New" panose="02070309020205020404" pitchFamily="49" charset="0"/>
              </a:rPr>
              <a:t>time += min(tickets[</a:t>
            </a:r>
            <a:r>
              <a:rPr lang="en-IN" dirty="0" err="1">
                <a:latin typeface="Courier New" panose="02070309020205020404" pitchFamily="49" charset="0"/>
              </a:rPr>
              <a:t>i</a:t>
            </a:r>
            <a:r>
              <a:rPr lang="en-IN" dirty="0">
                <a:latin typeface="Courier New" panose="02070309020205020404" pitchFamily="49" charset="0"/>
              </a:rPr>
              <a:t>], tickets[k])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If </a:t>
            </a:r>
            <a:r>
              <a:rPr lang="en-IN" dirty="0" err="1">
                <a:latin typeface="Courier New" panose="02070309020205020404" pitchFamily="49" charset="0"/>
              </a:rPr>
              <a:t>i</a:t>
            </a:r>
            <a:r>
              <a:rPr lang="en-IN" dirty="0">
                <a:latin typeface="Courier New" panose="02070309020205020404" pitchFamily="49" charset="0"/>
              </a:rPr>
              <a:t> &gt; k</a:t>
            </a:r>
            <a:endParaRPr lang="en-IN" dirty="0"/>
          </a:p>
          <a:p>
            <a:pPr rtl="0">
              <a:buFont typeface="Arial" panose="020B0604020202020204" pitchFamily="34" charset="0"/>
              <a:buChar char="•"/>
            </a:pPr>
            <a:r>
              <a:rPr lang="en-IN" dirty="0">
                <a:latin typeface="Courier New" panose="02070309020205020404" pitchFamily="49" charset="0"/>
              </a:rPr>
              <a:t>time += min(tickets[</a:t>
            </a:r>
            <a:r>
              <a:rPr lang="en-IN" dirty="0" err="1">
                <a:latin typeface="Courier New" panose="02070309020205020404" pitchFamily="49" charset="0"/>
              </a:rPr>
              <a:t>i</a:t>
            </a:r>
            <a:r>
              <a:rPr lang="en-IN" dirty="0">
                <a:latin typeface="Courier New" panose="02070309020205020404" pitchFamily="49" charset="0"/>
              </a:rPr>
              <a:t>], tickets[k] - 1)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0B522E-46C9-2E12-8B98-83FD65A22EC5}"/>
              </a:ext>
            </a:extLst>
          </p:cNvPr>
          <p:cNvSpPr txBox="1"/>
          <p:nvPr/>
        </p:nvSpPr>
        <p:spPr>
          <a:xfrm>
            <a:off x="412955" y="4364278"/>
            <a:ext cx="1113994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Logic</a:t>
            </a:r>
          </a:p>
          <a:p>
            <a:pPr>
              <a:buFont typeface="+mj-lt"/>
              <a:buAutoNum type="arabicPeriod"/>
            </a:pPr>
            <a:r>
              <a:rPr lang="en-US" dirty="0"/>
              <a:t>Store required tickets of person </a:t>
            </a:r>
            <a:r>
              <a:rPr lang="en-US" dirty="0">
                <a:latin typeface="Courier New" panose="02070309020205020404" pitchFamily="49" charset="0"/>
              </a:rPr>
              <a:t>k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dirty="0"/>
              <a:t>Traverse all people</a:t>
            </a:r>
          </a:p>
          <a:p>
            <a:pPr>
              <a:buFont typeface="+mj-lt"/>
              <a:buAutoNum type="arabicPeriod"/>
            </a:pPr>
            <a:r>
              <a:rPr lang="en-US" dirty="0"/>
              <a:t>Add their contribution using the formula</a:t>
            </a:r>
          </a:p>
          <a:p>
            <a:pPr>
              <a:buFont typeface="+mj-lt"/>
              <a:buAutoNum type="arabicPeriod"/>
            </a:pPr>
            <a:r>
              <a:rPr lang="en-US" dirty="0"/>
              <a:t>Return total time</a:t>
            </a:r>
          </a:p>
        </p:txBody>
      </p:sp>
    </p:spTree>
    <p:extLst>
      <p:ext uri="{BB962C8B-B14F-4D97-AF65-F5344CB8AC3E}">
        <p14:creationId xmlns:p14="http://schemas.microsoft.com/office/powerpoint/2010/main" val="34417713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5640F2-0127-094E-1E6B-DC69846A2AF6}"/>
              </a:ext>
            </a:extLst>
          </p:cNvPr>
          <p:cNvSpPr txBox="1"/>
          <p:nvPr/>
        </p:nvSpPr>
        <p:spPr>
          <a:xfrm>
            <a:off x="117987" y="257786"/>
            <a:ext cx="27038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Example Walkthrough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9EB2A2-06F9-790E-1D67-D663593A1A9B}"/>
              </a:ext>
            </a:extLst>
          </p:cNvPr>
          <p:cNvSpPr txBox="1"/>
          <p:nvPr/>
        </p:nvSpPr>
        <p:spPr>
          <a:xfrm>
            <a:off x="117987" y="728038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v-SE" dirty="0"/>
              <a:t>tickets = [2,3,2]</a:t>
            </a:r>
          </a:p>
          <a:p>
            <a:r>
              <a:rPr lang="sv-SE" dirty="0"/>
              <a:t>k = 2</a:t>
            </a:r>
          </a:p>
          <a:p>
            <a:r>
              <a:rPr lang="sv-SE" dirty="0"/>
              <a:t>kTickets = 2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E59618A-C872-5B50-7F43-075EB7C61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8936542"/>
              </p:ext>
            </p:extLst>
          </p:nvPr>
        </p:nvGraphicFramePr>
        <p:xfrm>
          <a:off x="208935" y="1752288"/>
          <a:ext cx="10515600" cy="14630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53616335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21475757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Person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Contribution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43775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min(2,2) = 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9763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min(3,2) = 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64923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min(2,2) = 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7872346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3C9DF863-CCA5-22A4-B70E-CDEBD4D43FCA}"/>
              </a:ext>
            </a:extLst>
          </p:cNvPr>
          <p:cNvSpPr txBox="1"/>
          <p:nvPr/>
        </p:nvSpPr>
        <p:spPr>
          <a:xfrm>
            <a:off x="208935" y="345800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Total time = 6</a:t>
            </a:r>
          </a:p>
        </p:txBody>
      </p:sp>
    </p:spTree>
    <p:extLst>
      <p:ext uri="{BB962C8B-B14F-4D97-AF65-F5344CB8AC3E}">
        <p14:creationId xmlns:p14="http://schemas.microsoft.com/office/powerpoint/2010/main" val="6154941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F2187A4-EE65-53F8-9F6A-7275FEF2CB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1914404"/>
              </p:ext>
            </p:extLst>
          </p:nvPr>
        </p:nvGraphicFramePr>
        <p:xfrm>
          <a:off x="759542" y="4249067"/>
          <a:ext cx="10515600" cy="10972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196669454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97505347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44291992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2728423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Approach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Space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Use Case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48542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Queue Simulation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O(total tickets)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O(n)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Basic understanding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41503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Mathematical (Optimal)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O(n)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O(1)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Interview preferred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471045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DC7703D2-0D6C-AEBB-D383-900D3E34C5EF}"/>
              </a:ext>
            </a:extLst>
          </p:cNvPr>
          <p:cNvSpPr txBox="1"/>
          <p:nvPr/>
        </p:nvSpPr>
        <p:spPr>
          <a:xfrm>
            <a:off x="759542" y="1024445"/>
            <a:ext cx="6096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time = 0</a:t>
            </a:r>
          </a:p>
          <a:p>
            <a:r>
              <a:rPr lang="en-US" dirty="0" err="1"/>
              <a:t>kTickets</a:t>
            </a:r>
            <a:r>
              <a:rPr lang="en-US" dirty="0"/>
              <a:t> = tickets[k]</a:t>
            </a:r>
          </a:p>
          <a:p>
            <a:endParaRPr lang="en-US" dirty="0"/>
          </a:p>
          <a:p>
            <a:r>
              <a:rPr lang="en-US" dirty="0"/>
              <a:t>for </a:t>
            </a:r>
            <a:r>
              <a:rPr lang="en-US" dirty="0" err="1"/>
              <a:t>i</a:t>
            </a:r>
            <a:r>
              <a:rPr lang="en-US" dirty="0"/>
              <a:t> = 0 to n-1:</a:t>
            </a:r>
          </a:p>
          <a:p>
            <a:r>
              <a:rPr lang="en-US" dirty="0"/>
              <a:t>    if </a:t>
            </a:r>
            <a:r>
              <a:rPr lang="en-US" dirty="0" err="1"/>
              <a:t>i</a:t>
            </a:r>
            <a:r>
              <a:rPr lang="en-US" dirty="0"/>
              <a:t> &lt;= k:</a:t>
            </a:r>
          </a:p>
          <a:p>
            <a:r>
              <a:rPr lang="en-US" dirty="0"/>
              <a:t>        time += min(tickets[</a:t>
            </a:r>
            <a:r>
              <a:rPr lang="en-US" dirty="0" err="1"/>
              <a:t>i</a:t>
            </a:r>
            <a:r>
              <a:rPr lang="en-US" dirty="0"/>
              <a:t>], </a:t>
            </a:r>
            <a:r>
              <a:rPr lang="en-US" dirty="0" err="1"/>
              <a:t>kTickets</a:t>
            </a:r>
            <a:r>
              <a:rPr lang="en-US" dirty="0"/>
              <a:t>)</a:t>
            </a:r>
          </a:p>
          <a:p>
            <a:r>
              <a:rPr lang="en-US" dirty="0"/>
              <a:t>    else:</a:t>
            </a:r>
          </a:p>
          <a:p>
            <a:r>
              <a:rPr lang="en-US" dirty="0"/>
              <a:t>        time += min(tickets[</a:t>
            </a:r>
            <a:r>
              <a:rPr lang="en-US" dirty="0" err="1"/>
              <a:t>i</a:t>
            </a:r>
            <a:r>
              <a:rPr lang="en-US" dirty="0"/>
              <a:t>], </a:t>
            </a:r>
            <a:r>
              <a:rPr lang="en-US" dirty="0" err="1"/>
              <a:t>kTickets</a:t>
            </a:r>
            <a:r>
              <a:rPr lang="en-US" dirty="0"/>
              <a:t> - 1)</a:t>
            </a:r>
          </a:p>
          <a:p>
            <a:endParaRPr lang="en-US" dirty="0"/>
          </a:p>
          <a:p>
            <a:r>
              <a:rPr lang="en-US" dirty="0"/>
              <a:t>return time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A36F81-11D3-1C99-FC77-4BFA4BA9DF65}"/>
              </a:ext>
            </a:extLst>
          </p:cNvPr>
          <p:cNvSpPr txBox="1"/>
          <p:nvPr/>
        </p:nvSpPr>
        <p:spPr>
          <a:xfrm>
            <a:off x="759542" y="42241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Pseudocode</a:t>
            </a:r>
          </a:p>
        </p:txBody>
      </p:sp>
    </p:spTree>
    <p:extLst>
      <p:ext uri="{BB962C8B-B14F-4D97-AF65-F5344CB8AC3E}">
        <p14:creationId xmlns:p14="http://schemas.microsoft.com/office/powerpoint/2010/main" val="281369993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47DE010-8E85-690A-1BA0-9E26AD61B414}"/>
              </a:ext>
            </a:extLst>
          </p:cNvPr>
          <p:cNvSpPr txBox="1"/>
          <p:nvPr/>
        </p:nvSpPr>
        <p:spPr>
          <a:xfrm>
            <a:off x="285136" y="13979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225. Implement Stack Using Queues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5FEA30-475E-26C3-17C4-3EBD695A54DE}"/>
              </a:ext>
            </a:extLst>
          </p:cNvPr>
          <p:cNvSpPr txBox="1"/>
          <p:nvPr/>
        </p:nvSpPr>
        <p:spPr>
          <a:xfrm>
            <a:off x="206477" y="509130"/>
            <a:ext cx="539791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Problem Statement</a:t>
            </a:r>
          </a:p>
          <a:p>
            <a:pPr>
              <a:buNone/>
            </a:pPr>
            <a:r>
              <a:rPr lang="en-US" dirty="0"/>
              <a:t>You have to </a:t>
            </a:r>
            <a:r>
              <a:rPr lang="en-US" b="1" dirty="0"/>
              <a:t>implement a stack</a:t>
            </a:r>
            <a:r>
              <a:rPr lang="en-US" dirty="0"/>
              <a:t> using </a:t>
            </a:r>
            <a:r>
              <a:rPr lang="en-US" b="1" dirty="0"/>
              <a:t>only queues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dirty="0"/>
              <a:t>A </a:t>
            </a:r>
            <a:r>
              <a:rPr lang="en-US" b="1" dirty="0"/>
              <a:t>stack</a:t>
            </a:r>
            <a:r>
              <a:rPr lang="en-US" dirty="0"/>
              <a:t> follows </a:t>
            </a:r>
            <a:r>
              <a:rPr lang="en-US" b="1" dirty="0"/>
              <a:t>LIFO</a:t>
            </a:r>
            <a:r>
              <a:rPr lang="en-US" dirty="0"/>
              <a:t> (Last In, First Out).</a:t>
            </a:r>
            <a:br>
              <a:rPr lang="en-US" dirty="0"/>
            </a:br>
            <a:r>
              <a:rPr lang="en-US" dirty="0"/>
              <a:t>A </a:t>
            </a:r>
            <a:r>
              <a:rPr lang="en-US" b="1" dirty="0"/>
              <a:t>queue</a:t>
            </a:r>
            <a:r>
              <a:rPr lang="en-US" dirty="0"/>
              <a:t> follows </a:t>
            </a:r>
            <a:r>
              <a:rPr lang="en-US" b="1" dirty="0"/>
              <a:t>FIFO</a:t>
            </a:r>
            <a:r>
              <a:rPr lang="en-US" dirty="0"/>
              <a:t> (First In, First Out).</a:t>
            </a:r>
          </a:p>
          <a:p>
            <a:pPr>
              <a:buNone/>
            </a:pPr>
            <a:r>
              <a:rPr lang="en-US" dirty="0"/>
              <a:t>You must implement the following operations: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ourier New" panose="02070309020205020404" pitchFamily="49" charset="0"/>
              </a:rPr>
              <a:t>push(x)</a:t>
            </a:r>
            <a:r>
              <a:rPr lang="en-US" dirty="0"/>
              <a:t> → insert element into stack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ourier New" panose="02070309020205020404" pitchFamily="49" charset="0"/>
              </a:rPr>
              <a:t>pop()</a:t>
            </a:r>
            <a:r>
              <a:rPr lang="en-US" dirty="0"/>
              <a:t> → remove top element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ourier New" panose="02070309020205020404" pitchFamily="49" charset="0"/>
              </a:rPr>
              <a:t>top()</a:t>
            </a:r>
            <a:r>
              <a:rPr lang="en-US" dirty="0"/>
              <a:t> → return top element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ourier New" panose="02070309020205020404" pitchFamily="49" charset="0"/>
              </a:rPr>
              <a:t>empty()</a:t>
            </a:r>
            <a:r>
              <a:rPr lang="en-US" dirty="0"/>
              <a:t> → check if stack is empty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80D41E-A55C-0FAE-8F80-4EE796EBD059}"/>
              </a:ext>
            </a:extLst>
          </p:cNvPr>
          <p:cNvSpPr txBox="1"/>
          <p:nvPr/>
        </p:nvSpPr>
        <p:spPr>
          <a:xfrm>
            <a:off x="285136" y="3242553"/>
            <a:ext cx="322498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Example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push(1)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push(2)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top() → 2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pop() → 2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empty() → false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51DC71-FDF5-C8B3-9F6E-8AAB52D36661}"/>
              </a:ext>
            </a:extLst>
          </p:cNvPr>
          <p:cNvSpPr txBox="1"/>
          <p:nvPr/>
        </p:nvSpPr>
        <p:spPr>
          <a:xfrm>
            <a:off x="5683046" y="324464"/>
            <a:ext cx="6302477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Approach 1: Using Two Queues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Idea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Always keep </a:t>
            </a:r>
            <a:r>
              <a:rPr lang="en-IN" b="1" dirty="0"/>
              <a:t>latest element at front</a:t>
            </a:r>
            <a:r>
              <a:rPr lang="en-IN" dirty="0"/>
              <a:t> of the main queue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Use the second queue as a helper during </a:t>
            </a:r>
            <a:r>
              <a:rPr lang="en-IN" dirty="0">
                <a:latin typeface="Courier New" panose="02070309020205020404" pitchFamily="49" charset="0"/>
              </a:rPr>
              <a:t>push</a:t>
            </a:r>
            <a:endParaRPr lang="en-IN" dirty="0"/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Logic </a:t>
            </a:r>
          </a:p>
          <a:p>
            <a:pPr>
              <a:buNone/>
            </a:pPr>
            <a:endParaRPr lang="en-IN" b="1" dirty="0"/>
          </a:p>
          <a:p>
            <a:pPr>
              <a:buNone/>
            </a:pPr>
            <a:r>
              <a:rPr lang="en-IN" b="1" dirty="0"/>
              <a:t>Push operation:</a:t>
            </a:r>
            <a:endParaRPr lang="en-IN" dirty="0"/>
          </a:p>
          <a:p>
            <a:pPr>
              <a:buFont typeface="+mj-lt"/>
              <a:buAutoNum type="arabicPeriod"/>
            </a:pPr>
            <a:r>
              <a:rPr lang="en-IN" dirty="0"/>
              <a:t>Insert element into empty helper queue</a:t>
            </a:r>
          </a:p>
          <a:p>
            <a:pPr>
              <a:buFont typeface="+mj-lt"/>
              <a:buAutoNum type="arabicPeriod"/>
            </a:pPr>
            <a:r>
              <a:rPr lang="en-IN" dirty="0"/>
              <a:t>Move all elements from main queue to helper queue</a:t>
            </a:r>
          </a:p>
          <a:p>
            <a:pPr>
              <a:buFont typeface="+mj-lt"/>
              <a:buAutoNum type="arabicPeriod"/>
            </a:pPr>
            <a:r>
              <a:rPr lang="en-IN" dirty="0"/>
              <a:t>Swap the queues</a:t>
            </a:r>
          </a:p>
          <a:p>
            <a:pPr>
              <a:buFont typeface="+mj-lt"/>
              <a:buAutoNum type="arabicPeriod"/>
            </a:pPr>
            <a:endParaRPr lang="en-IN" dirty="0"/>
          </a:p>
          <a:p>
            <a:pPr>
              <a:buNone/>
            </a:pPr>
            <a:r>
              <a:rPr lang="en-IN" b="1" dirty="0"/>
              <a:t>Pop operation: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Remove front element from main queue</a:t>
            </a:r>
          </a:p>
        </p:txBody>
      </p:sp>
    </p:spTree>
    <p:extLst>
      <p:ext uri="{BB962C8B-B14F-4D97-AF65-F5344CB8AC3E}">
        <p14:creationId xmlns:p14="http://schemas.microsoft.com/office/powerpoint/2010/main" val="12401762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2CF8878-C5D5-10BA-206A-FFC6C542659A}"/>
              </a:ext>
            </a:extLst>
          </p:cNvPr>
          <p:cNvSpPr txBox="1"/>
          <p:nvPr/>
        </p:nvSpPr>
        <p:spPr>
          <a:xfrm>
            <a:off x="285135" y="353961"/>
            <a:ext cx="8858865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Walkthrough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dirty="0"/>
              <a:t>Suppose initially: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q1 = [10, 20]   (10 is top)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q2 = []</a:t>
            </a:r>
          </a:p>
          <a:p>
            <a:pPr>
              <a:buNone/>
            </a:pPr>
            <a:r>
              <a:rPr lang="en-US" dirty="0"/>
              <a:t>Now we do </a:t>
            </a:r>
            <a:r>
              <a:rPr lang="en-US" dirty="0">
                <a:latin typeface="Courier New" panose="02070309020205020404" pitchFamily="49" charset="0"/>
              </a:rPr>
              <a:t>push(30)</a:t>
            </a:r>
            <a:r>
              <a:rPr lang="en-US" dirty="0"/>
              <a:t>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Step 1: Push new element into </a:t>
            </a:r>
            <a:r>
              <a:rPr lang="en-US" b="1" dirty="0">
                <a:latin typeface="Courier New" panose="02070309020205020404" pitchFamily="49" charset="0"/>
              </a:rPr>
              <a:t>q2</a:t>
            </a:r>
            <a:endParaRPr lang="en-US" b="1" dirty="0"/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q2 = [30]</a:t>
            </a:r>
          </a:p>
          <a:p>
            <a:pPr rtl="0">
              <a:buNone/>
            </a:pPr>
            <a:endParaRPr lang="en-US" dirty="0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b="1" dirty="0"/>
              <a:t>Step 2: Move all elements from </a:t>
            </a:r>
            <a:r>
              <a:rPr lang="en-US" b="1" dirty="0">
                <a:latin typeface="Courier New" panose="02070309020205020404" pitchFamily="49" charset="0"/>
              </a:rPr>
              <a:t>q1</a:t>
            </a:r>
            <a:r>
              <a:rPr lang="en-US" b="1" dirty="0"/>
              <a:t> to </a:t>
            </a:r>
            <a:r>
              <a:rPr lang="en-US" b="1" dirty="0">
                <a:latin typeface="Courier New" panose="02070309020205020404" pitchFamily="49" charset="0"/>
              </a:rPr>
              <a:t>q2</a:t>
            </a:r>
            <a:endParaRPr lang="en-US" b="1" dirty="0"/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q2 = [30, 10, 20]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q1 = []</a:t>
            </a:r>
          </a:p>
          <a:p>
            <a:pPr>
              <a:buNone/>
            </a:pPr>
            <a:r>
              <a:rPr lang="en-US" dirty="0"/>
              <a:t>Now the </a:t>
            </a:r>
            <a:r>
              <a:rPr lang="en-US" b="1" dirty="0"/>
              <a:t>new element (30)</a:t>
            </a:r>
            <a:r>
              <a:rPr lang="en-US" dirty="0"/>
              <a:t> is at the </a:t>
            </a:r>
            <a:r>
              <a:rPr lang="en-US" b="1" dirty="0"/>
              <a:t>front</a:t>
            </a:r>
            <a:r>
              <a:rPr lang="en-US" dirty="0"/>
              <a:t> → correct stack behavior.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Step 3: Swap </a:t>
            </a:r>
            <a:r>
              <a:rPr lang="en-US" b="1" dirty="0">
                <a:latin typeface="Courier New" panose="02070309020205020404" pitchFamily="49" charset="0"/>
              </a:rPr>
              <a:t>q1</a:t>
            </a:r>
            <a:r>
              <a:rPr lang="en-US" b="1" dirty="0"/>
              <a:t> and </a:t>
            </a:r>
            <a:r>
              <a:rPr lang="en-US" b="1" dirty="0">
                <a:latin typeface="Courier New" panose="02070309020205020404" pitchFamily="49" charset="0"/>
              </a:rPr>
              <a:t>q2</a:t>
            </a:r>
            <a:endParaRPr lang="en-US" b="1" dirty="0"/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q1 = [30, 10, 20]   ← updated stack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q2 = []</a:t>
            </a:r>
          </a:p>
        </p:txBody>
      </p:sp>
    </p:spTree>
    <p:extLst>
      <p:ext uri="{BB962C8B-B14F-4D97-AF65-F5344CB8AC3E}">
        <p14:creationId xmlns:p14="http://schemas.microsoft.com/office/powerpoint/2010/main" val="121156083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1B5E0E4-814A-6482-7C68-F9523BAA4F2A}"/>
              </a:ext>
            </a:extLst>
          </p:cNvPr>
          <p:cNvSpPr txBox="1"/>
          <p:nvPr/>
        </p:nvSpPr>
        <p:spPr>
          <a:xfrm>
            <a:off x="117987" y="159463"/>
            <a:ext cx="19467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Pseudocode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BBFC36-E9D6-FF9C-F3AA-AD0D95B11537}"/>
              </a:ext>
            </a:extLst>
          </p:cNvPr>
          <p:cNvSpPr txBox="1"/>
          <p:nvPr/>
        </p:nvSpPr>
        <p:spPr>
          <a:xfrm>
            <a:off x="117987" y="528795"/>
            <a:ext cx="335280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push(x):</a:t>
            </a:r>
          </a:p>
          <a:p>
            <a:r>
              <a:rPr lang="en-IN" dirty="0"/>
              <a:t>    q2.push(x)</a:t>
            </a:r>
          </a:p>
          <a:p>
            <a:r>
              <a:rPr lang="en-IN" dirty="0"/>
              <a:t>    while q1 not empty:</a:t>
            </a:r>
          </a:p>
          <a:p>
            <a:r>
              <a:rPr lang="en-IN" dirty="0"/>
              <a:t>        q2.push(q1.front)</a:t>
            </a:r>
          </a:p>
          <a:p>
            <a:r>
              <a:rPr lang="en-IN" dirty="0"/>
              <a:t>        q1.pop()</a:t>
            </a:r>
          </a:p>
          <a:p>
            <a:r>
              <a:rPr lang="en-IN" dirty="0"/>
              <a:t>    swap(q1, q2)</a:t>
            </a:r>
          </a:p>
          <a:p>
            <a:endParaRPr lang="en-IN" dirty="0"/>
          </a:p>
          <a:p>
            <a:r>
              <a:rPr lang="en-IN" dirty="0"/>
              <a:t>pop():</a:t>
            </a:r>
          </a:p>
          <a:p>
            <a:r>
              <a:rPr lang="en-IN" dirty="0"/>
              <a:t>    q1.pop()</a:t>
            </a:r>
          </a:p>
          <a:p>
            <a:endParaRPr lang="en-IN" dirty="0"/>
          </a:p>
          <a:p>
            <a:r>
              <a:rPr lang="en-IN" dirty="0"/>
              <a:t>top():</a:t>
            </a:r>
          </a:p>
          <a:p>
            <a:r>
              <a:rPr lang="en-IN" dirty="0"/>
              <a:t>    return q1.front</a:t>
            </a:r>
          </a:p>
          <a:p>
            <a:endParaRPr lang="en-IN" dirty="0"/>
          </a:p>
          <a:p>
            <a:r>
              <a:rPr lang="en-IN" dirty="0"/>
              <a:t>empty():</a:t>
            </a:r>
          </a:p>
          <a:p>
            <a:r>
              <a:rPr lang="en-IN" dirty="0"/>
              <a:t>    return q1 is empty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5392B70-A09C-5C4A-42BA-A476DCB29A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7431573"/>
              </p:ext>
            </p:extLst>
          </p:nvPr>
        </p:nvGraphicFramePr>
        <p:xfrm>
          <a:off x="4050891" y="3313072"/>
          <a:ext cx="7393857" cy="14630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464619">
                  <a:extLst>
                    <a:ext uri="{9D8B030D-6E8A-4147-A177-3AD203B41FA5}">
                      <a16:colId xmlns:a16="http://schemas.microsoft.com/office/drawing/2014/main" val="2585683018"/>
                    </a:ext>
                  </a:extLst>
                </a:gridCol>
                <a:gridCol w="2464619">
                  <a:extLst>
                    <a:ext uri="{9D8B030D-6E8A-4147-A177-3AD203B41FA5}">
                      <a16:colId xmlns:a16="http://schemas.microsoft.com/office/drawing/2014/main" val="1602026933"/>
                    </a:ext>
                  </a:extLst>
                </a:gridCol>
                <a:gridCol w="2464619">
                  <a:extLst>
                    <a:ext uri="{9D8B030D-6E8A-4147-A177-3AD203B41FA5}">
                      <a16:colId xmlns:a16="http://schemas.microsoft.com/office/drawing/2014/main" val="134302425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Operation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Space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952118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push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O(n)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O(n)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075660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pop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O(1)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O(1)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06508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top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O(1)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O(1)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27800728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A9C1EBBB-B490-1C0B-1052-508347297934}"/>
              </a:ext>
            </a:extLst>
          </p:cNvPr>
          <p:cNvSpPr txBox="1"/>
          <p:nvPr/>
        </p:nvSpPr>
        <p:spPr>
          <a:xfrm>
            <a:off x="4050891" y="2784676"/>
            <a:ext cx="18189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Complexity</a:t>
            </a:r>
          </a:p>
        </p:txBody>
      </p:sp>
    </p:spTree>
    <p:extLst>
      <p:ext uri="{BB962C8B-B14F-4D97-AF65-F5344CB8AC3E}">
        <p14:creationId xmlns:p14="http://schemas.microsoft.com/office/powerpoint/2010/main" val="122134834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7F1BA73-186E-7479-DEFE-3E125A602BD8}"/>
              </a:ext>
            </a:extLst>
          </p:cNvPr>
          <p:cNvSpPr txBox="1"/>
          <p:nvPr/>
        </p:nvSpPr>
        <p:spPr>
          <a:xfrm>
            <a:off x="147484" y="144544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Approach 2: Using One Queue </a:t>
            </a:r>
          </a:p>
          <a:p>
            <a:pPr>
              <a:buNone/>
            </a:pPr>
            <a:br>
              <a:rPr lang="en-US" dirty="0"/>
            </a:br>
            <a:r>
              <a:rPr lang="en-US" b="1" dirty="0"/>
              <a:t>Key Idea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 </a:t>
            </a:r>
            <a:r>
              <a:rPr lang="en-US" b="1" dirty="0"/>
              <a:t>one queue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After inserting a new element, </a:t>
            </a:r>
            <a:r>
              <a:rPr lang="en-US" b="1" dirty="0"/>
              <a:t>rotate the queue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This makes the new element come to the front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504337-5350-7813-DD82-8DCE05D75FF4}"/>
              </a:ext>
            </a:extLst>
          </p:cNvPr>
          <p:cNvSpPr txBox="1"/>
          <p:nvPr/>
        </p:nvSpPr>
        <p:spPr>
          <a:xfrm>
            <a:off x="245807" y="2111844"/>
            <a:ext cx="431636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Logic</a:t>
            </a:r>
          </a:p>
          <a:p>
            <a:pPr>
              <a:buNone/>
            </a:pPr>
            <a:r>
              <a:rPr lang="en-US" b="1" dirty="0"/>
              <a:t>Push operation: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dirty="0"/>
              <a:t>Insert element into queue</a:t>
            </a:r>
          </a:p>
          <a:p>
            <a:pPr>
              <a:buFont typeface="+mj-lt"/>
              <a:buAutoNum type="arabicPeriod"/>
            </a:pPr>
            <a:r>
              <a:rPr lang="en-US" dirty="0"/>
              <a:t>Rotate previous elements behind it</a:t>
            </a:r>
          </a:p>
          <a:p>
            <a:pPr>
              <a:buNone/>
            </a:pPr>
            <a:r>
              <a:rPr lang="en-US" b="1" dirty="0"/>
              <a:t>Pop operation: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Remove front element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096A318-6009-8763-8CDB-203CB23FC4AB}"/>
              </a:ext>
            </a:extLst>
          </p:cNvPr>
          <p:cNvSpPr txBox="1"/>
          <p:nvPr/>
        </p:nvSpPr>
        <p:spPr>
          <a:xfrm>
            <a:off x="5574891" y="144544"/>
            <a:ext cx="28513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Example Walkthrough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08C185C-5C7C-866D-3A73-CD972BA20240}"/>
              </a:ext>
            </a:extLst>
          </p:cNvPr>
          <p:cNvSpPr txBox="1"/>
          <p:nvPr/>
        </p:nvSpPr>
        <p:spPr>
          <a:xfrm>
            <a:off x="5574891" y="792424"/>
            <a:ext cx="2989006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push(1)</a:t>
            </a:r>
          </a:p>
          <a:p>
            <a:r>
              <a:rPr lang="en-IN" dirty="0"/>
              <a:t>Queue: [1]</a:t>
            </a:r>
          </a:p>
          <a:p>
            <a:endParaRPr lang="en-IN" dirty="0"/>
          </a:p>
          <a:p>
            <a:r>
              <a:rPr lang="en-IN" dirty="0"/>
              <a:t>push(2)</a:t>
            </a:r>
          </a:p>
          <a:p>
            <a:r>
              <a:rPr lang="en-IN" dirty="0"/>
              <a:t>Insert 2 → [1,2]</a:t>
            </a:r>
          </a:p>
          <a:p>
            <a:r>
              <a:rPr lang="en-IN" dirty="0"/>
              <a:t>Rotate → [2,1]</a:t>
            </a:r>
          </a:p>
          <a:p>
            <a:endParaRPr lang="en-IN" dirty="0"/>
          </a:p>
          <a:p>
            <a:r>
              <a:rPr lang="en-IN" dirty="0"/>
              <a:t>top() → 2</a:t>
            </a:r>
          </a:p>
          <a:p>
            <a:r>
              <a:rPr lang="en-IN" dirty="0"/>
              <a:t>pop() → removes 2</a:t>
            </a:r>
          </a:p>
        </p:txBody>
      </p:sp>
    </p:spTree>
    <p:extLst>
      <p:ext uri="{BB962C8B-B14F-4D97-AF65-F5344CB8AC3E}">
        <p14:creationId xmlns:p14="http://schemas.microsoft.com/office/powerpoint/2010/main" val="21981443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55D5C6A-EE37-808D-7BCC-DA507D903B05}"/>
              </a:ext>
            </a:extLst>
          </p:cNvPr>
          <p:cNvSpPr txBox="1"/>
          <p:nvPr/>
        </p:nvSpPr>
        <p:spPr>
          <a:xfrm>
            <a:off x="226142" y="183873"/>
            <a:ext cx="21925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Pseudocode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18FA01-F9A2-EF65-AE86-6372DCC29EA3}"/>
              </a:ext>
            </a:extLst>
          </p:cNvPr>
          <p:cNvSpPr txBox="1"/>
          <p:nvPr/>
        </p:nvSpPr>
        <p:spPr>
          <a:xfrm>
            <a:off x="226142" y="553205"/>
            <a:ext cx="296934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push(x):</a:t>
            </a:r>
          </a:p>
          <a:p>
            <a:r>
              <a:rPr lang="en-IN" dirty="0"/>
              <a:t>    </a:t>
            </a:r>
            <a:r>
              <a:rPr lang="en-IN" dirty="0" err="1"/>
              <a:t>q.push</a:t>
            </a:r>
            <a:r>
              <a:rPr lang="en-IN" dirty="0"/>
              <a:t>(x)</a:t>
            </a:r>
          </a:p>
          <a:p>
            <a:r>
              <a:rPr lang="en-IN" dirty="0"/>
              <a:t>    for </a:t>
            </a:r>
            <a:r>
              <a:rPr lang="en-IN" dirty="0" err="1"/>
              <a:t>i</a:t>
            </a:r>
            <a:r>
              <a:rPr lang="en-IN" dirty="0"/>
              <a:t> = 1 to </a:t>
            </a:r>
            <a:r>
              <a:rPr lang="en-IN" dirty="0" err="1"/>
              <a:t>q.size</a:t>
            </a:r>
            <a:r>
              <a:rPr lang="en-IN" dirty="0"/>
              <a:t> - 1:</a:t>
            </a:r>
          </a:p>
          <a:p>
            <a:r>
              <a:rPr lang="en-IN" dirty="0"/>
              <a:t>        </a:t>
            </a:r>
            <a:r>
              <a:rPr lang="en-IN" dirty="0" err="1"/>
              <a:t>q.push</a:t>
            </a:r>
            <a:r>
              <a:rPr lang="en-IN" dirty="0"/>
              <a:t>(</a:t>
            </a:r>
            <a:r>
              <a:rPr lang="en-IN" dirty="0" err="1"/>
              <a:t>q.front</a:t>
            </a:r>
            <a:r>
              <a:rPr lang="en-IN" dirty="0"/>
              <a:t>)</a:t>
            </a:r>
          </a:p>
          <a:p>
            <a:r>
              <a:rPr lang="en-IN" dirty="0"/>
              <a:t>        </a:t>
            </a:r>
            <a:r>
              <a:rPr lang="en-IN" dirty="0" err="1"/>
              <a:t>q.pop</a:t>
            </a:r>
            <a:r>
              <a:rPr lang="en-IN" dirty="0"/>
              <a:t>()</a:t>
            </a:r>
          </a:p>
          <a:p>
            <a:endParaRPr lang="en-IN" dirty="0"/>
          </a:p>
          <a:p>
            <a:r>
              <a:rPr lang="en-IN" dirty="0"/>
              <a:t>pop():</a:t>
            </a:r>
          </a:p>
          <a:p>
            <a:r>
              <a:rPr lang="en-IN" dirty="0"/>
              <a:t>    </a:t>
            </a:r>
            <a:r>
              <a:rPr lang="en-IN" dirty="0" err="1"/>
              <a:t>q.pop</a:t>
            </a:r>
            <a:r>
              <a:rPr lang="en-IN" dirty="0"/>
              <a:t>()</a:t>
            </a:r>
          </a:p>
          <a:p>
            <a:endParaRPr lang="en-IN" dirty="0"/>
          </a:p>
          <a:p>
            <a:r>
              <a:rPr lang="en-IN" dirty="0"/>
              <a:t>top():</a:t>
            </a:r>
          </a:p>
          <a:p>
            <a:r>
              <a:rPr lang="en-IN" dirty="0"/>
              <a:t>    return </a:t>
            </a:r>
            <a:r>
              <a:rPr lang="en-IN" dirty="0" err="1"/>
              <a:t>q.front</a:t>
            </a:r>
            <a:endParaRPr lang="en-IN" dirty="0"/>
          </a:p>
          <a:p>
            <a:endParaRPr lang="en-IN" dirty="0"/>
          </a:p>
          <a:p>
            <a:r>
              <a:rPr lang="en-IN" dirty="0"/>
              <a:t>empty():</a:t>
            </a:r>
          </a:p>
          <a:p>
            <a:r>
              <a:rPr lang="en-IN" dirty="0"/>
              <a:t>    return q is empty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59D01BB-3942-6EC5-AA9D-196FDAB13E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7559324"/>
              </p:ext>
            </p:extLst>
          </p:nvPr>
        </p:nvGraphicFramePr>
        <p:xfrm>
          <a:off x="5309418" y="811710"/>
          <a:ext cx="6351639" cy="14630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117213">
                  <a:extLst>
                    <a:ext uri="{9D8B030D-6E8A-4147-A177-3AD203B41FA5}">
                      <a16:colId xmlns:a16="http://schemas.microsoft.com/office/drawing/2014/main" val="3314460593"/>
                    </a:ext>
                  </a:extLst>
                </a:gridCol>
                <a:gridCol w="2117213">
                  <a:extLst>
                    <a:ext uri="{9D8B030D-6E8A-4147-A177-3AD203B41FA5}">
                      <a16:colId xmlns:a16="http://schemas.microsoft.com/office/drawing/2014/main" val="43532535"/>
                    </a:ext>
                  </a:extLst>
                </a:gridCol>
                <a:gridCol w="2117213">
                  <a:extLst>
                    <a:ext uri="{9D8B030D-6E8A-4147-A177-3AD203B41FA5}">
                      <a16:colId xmlns:a16="http://schemas.microsoft.com/office/drawing/2014/main" val="38901439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Operation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Space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01202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push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O(n)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O(n)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89940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pop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O(1)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O(1)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76394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top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O(1)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O(1)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743965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FD7DE5E4-E90C-6D89-22C3-C89245DCD10D}"/>
              </a:ext>
            </a:extLst>
          </p:cNvPr>
          <p:cNvSpPr txBox="1"/>
          <p:nvPr/>
        </p:nvSpPr>
        <p:spPr>
          <a:xfrm>
            <a:off x="5722374" y="183873"/>
            <a:ext cx="19172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Complexity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7E2BFDF-C84F-D36E-9245-F34925EBA3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8856835"/>
              </p:ext>
            </p:extLst>
          </p:nvPr>
        </p:nvGraphicFramePr>
        <p:xfrm>
          <a:off x="838200" y="5419106"/>
          <a:ext cx="10515600" cy="10972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1272525427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384977549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529794368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649283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90113315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Approach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Queues Used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Push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Pop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Space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02625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Two Queues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O(n)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O(1)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O(n)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74146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One Queue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O(n)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O(1)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O(n)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8468550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124AAC3D-388F-AB91-A07E-14ED3BC92846}"/>
              </a:ext>
            </a:extLst>
          </p:cNvPr>
          <p:cNvSpPr txBox="1"/>
          <p:nvPr/>
        </p:nvSpPr>
        <p:spPr>
          <a:xfrm>
            <a:off x="838200" y="4782028"/>
            <a:ext cx="22589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Comparison</a:t>
            </a:r>
          </a:p>
        </p:txBody>
      </p:sp>
    </p:spTree>
    <p:extLst>
      <p:ext uri="{BB962C8B-B14F-4D97-AF65-F5344CB8AC3E}">
        <p14:creationId xmlns:p14="http://schemas.microsoft.com/office/powerpoint/2010/main" val="280280685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470D963-683F-487C-0563-D905639855CD}"/>
              </a:ext>
            </a:extLst>
          </p:cNvPr>
          <p:cNvSpPr txBox="1"/>
          <p:nvPr/>
        </p:nvSpPr>
        <p:spPr>
          <a:xfrm>
            <a:off x="98323" y="198792"/>
            <a:ext cx="33233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Merge 2 Sorted Linked Lists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BC44B9-4047-8F5D-C91D-6BCA6E85E50B}"/>
              </a:ext>
            </a:extLst>
          </p:cNvPr>
          <p:cNvSpPr txBox="1"/>
          <p:nvPr/>
        </p:nvSpPr>
        <p:spPr>
          <a:xfrm>
            <a:off x="98323" y="568124"/>
            <a:ext cx="11887200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Problem Explanation (Easy Language)</a:t>
            </a:r>
          </a:p>
          <a:p>
            <a:pPr>
              <a:buNone/>
            </a:pPr>
            <a:r>
              <a:rPr lang="en-US" dirty="0"/>
              <a:t>You are given </a:t>
            </a:r>
            <a:r>
              <a:rPr lang="en-US" b="1" dirty="0"/>
              <a:t>two linked lists</a:t>
            </a:r>
            <a:r>
              <a:rPr lang="en-US" dirty="0"/>
              <a:t>, both already </a:t>
            </a:r>
            <a:r>
              <a:rPr lang="en-US" b="1" dirty="0"/>
              <a:t>sorted in increasing order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dirty="0"/>
              <a:t>Your task is to </a:t>
            </a:r>
            <a:r>
              <a:rPr lang="en-US" b="1" dirty="0"/>
              <a:t>merge them into one single sorted linked list</a:t>
            </a:r>
            <a:r>
              <a:rPr lang="en-US" dirty="0"/>
              <a:t> by </a:t>
            </a:r>
            <a:r>
              <a:rPr lang="en-US" b="1" dirty="0"/>
              <a:t>rearranging nodes</a:t>
            </a:r>
            <a:r>
              <a:rPr lang="en-US" dirty="0"/>
              <a:t>, not by creating new values.</a:t>
            </a:r>
          </a:p>
          <a:p>
            <a:pPr>
              <a:buNone/>
            </a:pPr>
            <a:br>
              <a:rPr lang="en-US" dirty="0"/>
            </a:br>
            <a:r>
              <a:rPr lang="en-US" b="1" dirty="0"/>
              <a:t>Example</a:t>
            </a:r>
          </a:p>
          <a:p>
            <a:pPr>
              <a:buNone/>
            </a:pPr>
            <a:r>
              <a:rPr lang="en-US" b="1" dirty="0"/>
              <a:t>Input</a:t>
            </a:r>
          </a:p>
          <a:p>
            <a:pPr>
              <a:buNone/>
            </a:pPr>
            <a:endParaRPr lang="en-US" b="1" dirty="0"/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List1: 1 → 2 → 4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List2: 1 → 3 → 4</a:t>
            </a:r>
          </a:p>
          <a:p>
            <a:pPr rtl="0">
              <a:buNone/>
            </a:pPr>
            <a:endParaRPr lang="en-US" dirty="0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b="1" dirty="0"/>
              <a:t>Output</a:t>
            </a:r>
          </a:p>
          <a:p>
            <a:pPr>
              <a:buNone/>
            </a:pPr>
            <a:endParaRPr lang="en-US" b="1" dirty="0"/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1 → 1 → 2 → 3 → 4 → 4</a:t>
            </a:r>
          </a:p>
          <a:p>
            <a:pPr>
              <a:buNone/>
            </a:pPr>
            <a:br>
              <a:rPr lang="en-US" dirty="0"/>
            </a:br>
            <a:r>
              <a:rPr lang="en-US" b="1" dirty="0"/>
              <a:t>Key Observation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Since both lists are </a:t>
            </a:r>
            <a:r>
              <a:rPr lang="en-US" b="1" dirty="0"/>
              <a:t>already sorted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Always pick the </a:t>
            </a:r>
            <a:r>
              <a:rPr lang="en-US" b="1" dirty="0"/>
              <a:t>smaller head node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Move forward in that list</a:t>
            </a:r>
          </a:p>
          <a:p>
            <a:pPr>
              <a:buNone/>
            </a:pPr>
            <a:r>
              <a:rPr lang="en-US" dirty="0"/>
              <a:t>This is similar to the </a:t>
            </a:r>
            <a:r>
              <a:rPr lang="en-US" b="1" dirty="0"/>
              <a:t>merge step of merge sort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9086224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312CC90-78F4-0491-49D1-C66AE3A9A78B}"/>
              </a:ext>
            </a:extLst>
          </p:cNvPr>
          <p:cNvSpPr txBox="1"/>
          <p:nvPr/>
        </p:nvSpPr>
        <p:spPr>
          <a:xfrm>
            <a:off x="176980" y="169801"/>
            <a:ext cx="6263149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Approach 1: Brute Force</a:t>
            </a:r>
          </a:p>
          <a:p>
            <a:pPr>
              <a:buNone/>
            </a:pPr>
            <a:r>
              <a:rPr lang="en-IN" b="1" dirty="0"/>
              <a:t>Idea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Store all values from both lists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Sort them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Create a new linked list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Logic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Traverse list1 → store values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Traverse list2 → store values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Sort the array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Create a new linked list from sorted values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4E4FC4-55E5-F3E5-B616-E4F548940B95}"/>
              </a:ext>
            </a:extLst>
          </p:cNvPr>
          <p:cNvSpPr txBox="1"/>
          <p:nvPr/>
        </p:nvSpPr>
        <p:spPr>
          <a:xfrm>
            <a:off x="6676102" y="539133"/>
            <a:ext cx="5014452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arr</a:t>
            </a:r>
            <a:r>
              <a:rPr lang="en-US" dirty="0"/>
              <a:t> = []</a:t>
            </a:r>
          </a:p>
          <a:p>
            <a:endParaRPr lang="en-US" dirty="0"/>
          </a:p>
          <a:p>
            <a:r>
              <a:rPr lang="en-US" dirty="0"/>
              <a:t>while l1 != NULL:</a:t>
            </a:r>
          </a:p>
          <a:p>
            <a:r>
              <a:rPr lang="en-US" dirty="0"/>
              <a:t>    </a:t>
            </a:r>
            <a:r>
              <a:rPr lang="en-US" dirty="0" err="1"/>
              <a:t>arr.add</a:t>
            </a:r>
            <a:r>
              <a:rPr lang="en-US" dirty="0"/>
              <a:t>(l1.val)</a:t>
            </a:r>
          </a:p>
          <a:p>
            <a:r>
              <a:rPr lang="en-US" dirty="0"/>
              <a:t>    l1 = l1.next</a:t>
            </a:r>
          </a:p>
          <a:p>
            <a:endParaRPr lang="en-US" dirty="0"/>
          </a:p>
          <a:p>
            <a:r>
              <a:rPr lang="en-US" dirty="0"/>
              <a:t>while l2 != NULL:</a:t>
            </a:r>
          </a:p>
          <a:p>
            <a:r>
              <a:rPr lang="en-US" dirty="0"/>
              <a:t>    </a:t>
            </a:r>
            <a:r>
              <a:rPr lang="en-US" dirty="0" err="1"/>
              <a:t>arr.add</a:t>
            </a:r>
            <a:r>
              <a:rPr lang="en-US" dirty="0"/>
              <a:t>(l2.val)</a:t>
            </a:r>
          </a:p>
          <a:p>
            <a:r>
              <a:rPr lang="en-US" dirty="0"/>
              <a:t>    l2 = l2.next</a:t>
            </a:r>
          </a:p>
          <a:p>
            <a:endParaRPr lang="en-US" dirty="0"/>
          </a:p>
          <a:p>
            <a:r>
              <a:rPr lang="en-US" dirty="0"/>
              <a:t>sort(</a:t>
            </a:r>
            <a:r>
              <a:rPr lang="en-US" dirty="0" err="1"/>
              <a:t>arr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/>
              <a:t>create new linked list from </a:t>
            </a:r>
            <a:r>
              <a:rPr lang="en-US" dirty="0" err="1"/>
              <a:t>arr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3D5FB9-9540-F268-7285-D8565413C528}"/>
              </a:ext>
            </a:extLst>
          </p:cNvPr>
          <p:cNvSpPr txBox="1"/>
          <p:nvPr/>
        </p:nvSpPr>
        <p:spPr>
          <a:xfrm>
            <a:off x="6676102" y="169801"/>
            <a:ext cx="18288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Pseudocode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787548-016A-7F41-569B-16249A34A931}"/>
              </a:ext>
            </a:extLst>
          </p:cNvPr>
          <p:cNvSpPr txBox="1"/>
          <p:nvPr/>
        </p:nvSpPr>
        <p:spPr>
          <a:xfrm>
            <a:off x="6597445" y="4719935"/>
            <a:ext cx="46998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Complexity</a:t>
            </a:r>
          </a:p>
          <a:p>
            <a:pPr rtl="0">
              <a:buNone/>
            </a:pPr>
            <a:r>
              <a:rPr lang="pt-BR" dirty="0">
                <a:latin typeface="Courier New" panose="02070309020205020404" pitchFamily="49" charset="0"/>
              </a:rPr>
              <a:t>Time: O((n+m) log (n+m))</a:t>
            </a:r>
          </a:p>
          <a:p>
            <a:pPr rtl="0">
              <a:buNone/>
            </a:pPr>
            <a:r>
              <a:rPr lang="pt-BR" dirty="0">
                <a:latin typeface="Courier New" panose="02070309020205020404" pitchFamily="49" charset="0"/>
              </a:rPr>
              <a:t>Space: O(n+m)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07E4A9B-19A9-2561-F5C3-E0C4ADDB3BF6}"/>
              </a:ext>
            </a:extLst>
          </p:cNvPr>
          <p:cNvSpPr txBox="1"/>
          <p:nvPr/>
        </p:nvSpPr>
        <p:spPr>
          <a:xfrm>
            <a:off x="176980" y="3870970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Walkthrough</a:t>
            </a:r>
          </a:p>
          <a:p>
            <a:pPr>
              <a:buNone/>
            </a:pPr>
            <a:r>
              <a:rPr lang="en-US" b="1" dirty="0"/>
              <a:t>Step 1: Collect values</a:t>
            </a:r>
          </a:p>
          <a:p>
            <a:pPr rtl="0">
              <a:buNone/>
            </a:pPr>
            <a:r>
              <a:rPr lang="en-US" dirty="0" err="1">
                <a:latin typeface="Courier New" panose="02070309020205020404" pitchFamily="49" charset="0"/>
              </a:rPr>
              <a:t>arr</a:t>
            </a:r>
            <a:r>
              <a:rPr lang="en-US" dirty="0">
                <a:latin typeface="Courier New" panose="02070309020205020404" pitchFamily="49" charset="0"/>
              </a:rPr>
              <a:t> = [1, 2, 4, 1, 3, 4]</a:t>
            </a:r>
          </a:p>
          <a:p>
            <a:pPr>
              <a:buNone/>
            </a:pPr>
            <a:r>
              <a:rPr lang="en-US" b="1" dirty="0"/>
              <a:t>Step 2: Sort</a:t>
            </a:r>
          </a:p>
          <a:p>
            <a:pPr rtl="0">
              <a:buNone/>
            </a:pPr>
            <a:r>
              <a:rPr lang="en-US" dirty="0" err="1">
                <a:latin typeface="Courier New" panose="02070309020205020404" pitchFamily="49" charset="0"/>
              </a:rPr>
              <a:t>arr</a:t>
            </a:r>
            <a:r>
              <a:rPr lang="en-US" dirty="0">
                <a:latin typeface="Courier New" panose="02070309020205020404" pitchFamily="49" charset="0"/>
              </a:rPr>
              <a:t> = [1, 1, 2, 3, 4, 4]</a:t>
            </a:r>
          </a:p>
          <a:p>
            <a:pPr>
              <a:buNone/>
            </a:pPr>
            <a:r>
              <a:rPr lang="en-US" b="1" dirty="0"/>
              <a:t>Step 3: Create list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1 → 1 → 2 → 3 → 4 → 4</a:t>
            </a:r>
          </a:p>
        </p:txBody>
      </p:sp>
    </p:spTree>
    <p:extLst>
      <p:ext uri="{BB962C8B-B14F-4D97-AF65-F5344CB8AC3E}">
        <p14:creationId xmlns:p14="http://schemas.microsoft.com/office/powerpoint/2010/main" val="385363622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CE995CB-303F-43C1-6AF3-CC73C37950AB}"/>
              </a:ext>
            </a:extLst>
          </p:cNvPr>
          <p:cNvSpPr txBox="1"/>
          <p:nvPr/>
        </p:nvSpPr>
        <p:spPr>
          <a:xfrm>
            <a:off x="157316" y="215572"/>
            <a:ext cx="5073445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Approach 2: Optimal (Iterative Pointer Method)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Idea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 a </a:t>
            </a:r>
            <a:r>
              <a:rPr lang="en-US" b="1" dirty="0"/>
              <a:t>dummy node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Compare heads of both lists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Attach the smaller node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Move pointer forward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Logic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Create a dummy node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 a pointer </a:t>
            </a:r>
            <a:r>
              <a:rPr lang="en-US" dirty="0" err="1">
                <a:latin typeface="Courier New" panose="02070309020205020404" pitchFamily="49" charset="0"/>
              </a:rPr>
              <a:t>curr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While both lists are not empty: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Compare </a:t>
            </a:r>
            <a:r>
              <a:rPr lang="en-US" dirty="0">
                <a:latin typeface="Courier New" panose="02070309020205020404" pitchFamily="49" charset="0"/>
              </a:rPr>
              <a:t>l1.val</a:t>
            </a:r>
            <a:r>
              <a:rPr lang="en-US" dirty="0"/>
              <a:t> and </a:t>
            </a:r>
            <a:r>
              <a:rPr lang="en-US" dirty="0">
                <a:latin typeface="Courier New" panose="02070309020205020404" pitchFamily="49" charset="0"/>
              </a:rPr>
              <a:t>l2.val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Attach smaller node to </a:t>
            </a:r>
            <a:r>
              <a:rPr lang="en-US" dirty="0" err="1">
                <a:latin typeface="Courier New" panose="02070309020205020404" pitchFamily="49" charset="0"/>
              </a:rPr>
              <a:t>curr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Move that list forward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Attach remaining nodes</a:t>
            </a:r>
          </a:p>
        </p:txBody>
      </p:sp>
    </p:spTree>
    <p:extLst>
      <p:ext uri="{BB962C8B-B14F-4D97-AF65-F5344CB8AC3E}">
        <p14:creationId xmlns:p14="http://schemas.microsoft.com/office/powerpoint/2010/main" val="216274363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FA101B7-5FF2-1545-2838-364A1CBA0D5E}"/>
              </a:ext>
            </a:extLst>
          </p:cNvPr>
          <p:cNvSpPr txBox="1"/>
          <p:nvPr/>
        </p:nvSpPr>
        <p:spPr>
          <a:xfrm>
            <a:off x="0" y="97926"/>
            <a:ext cx="329380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Walkthrough</a:t>
            </a:r>
          </a:p>
          <a:p>
            <a:pPr>
              <a:buNone/>
            </a:pPr>
            <a:r>
              <a:rPr lang="en-US" b="1" dirty="0"/>
              <a:t>Input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List1: 1 → 2 → 4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List2: 1 → 3 → 4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B419FD9-6914-4FD6-81F5-FE716C874F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6646938"/>
              </p:ext>
            </p:extLst>
          </p:nvPr>
        </p:nvGraphicFramePr>
        <p:xfrm>
          <a:off x="81116" y="1298255"/>
          <a:ext cx="11973230" cy="25603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394646">
                  <a:extLst>
                    <a:ext uri="{9D8B030D-6E8A-4147-A177-3AD203B41FA5}">
                      <a16:colId xmlns:a16="http://schemas.microsoft.com/office/drawing/2014/main" val="3127105912"/>
                    </a:ext>
                  </a:extLst>
                </a:gridCol>
                <a:gridCol w="2394646">
                  <a:extLst>
                    <a:ext uri="{9D8B030D-6E8A-4147-A177-3AD203B41FA5}">
                      <a16:colId xmlns:a16="http://schemas.microsoft.com/office/drawing/2014/main" val="3225100429"/>
                    </a:ext>
                  </a:extLst>
                </a:gridCol>
                <a:gridCol w="2394646">
                  <a:extLst>
                    <a:ext uri="{9D8B030D-6E8A-4147-A177-3AD203B41FA5}">
                      <a16:colId xmlns:a16="http://schemas.microsoft.com/office/drawing/2014/main" val="4076212825"/>
                    </a:ext>
                  </a:extLst>
                </a:gridCol>
                <a:gridCol w="2394646">
                  <a:extLst>
                    <a:ext uri="{9D8B030D-6E8A-4147-A177-3AD203B41FA5}">
                      <a16:colId xmlns:a16="http://schemas.microsoft.com/office/drawing/2014/main" val="2030177063"/>
                    </a:ext>
                  </a:extLst>
                </a:gridCol>
                <a:gridCol w="2394646">
                  <a:extLst>
                    <a:ext uri="{9D8B030D-6E8A-4147-A177-3AD203B41FA5}">
                      <a16:colId xmlns:a16="http://schemas.microsoft.com/office/drawing/2014/main" val="30727181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Step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l1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l2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Chosen Node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Merged List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336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 (l1)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953145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 (l2)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 → 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5992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 (l1)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 → 1 → 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4638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3 (l2)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1 → 1 → 2 → 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83044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4 (l1)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 → 1 → 2 → 3 → 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291296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NULL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attach rest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1 → 1 → 2 → 3 → 4 → 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46593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176517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40A790A-C548-C108-5B55-A2C4B9749F47}"/>
              </a:ext>
            </a:extLst>
          </p:cNvPr>
          <p:cNvSpPr txBox="1"/>
          <p:nvPr/>
        </p:nvSpPr>
        <p:spPr>
          <a:xfrm>
            <a:off x="899253" y="248105"/>
            <a:ext cx="44003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Pseudocode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29084C-DF7C-5F71-8D1F-3CAFA9168005}"/>
              </a:ext>
            </a:extLst>
          </p:cNvPr>
          <p:cNvSpPr txBox="1"/>
          <p:nvPr/>
        </p:nvSpPr>
        <p:spPr>
          <a:xfrm>
            <a:off x="766916" y="766916"/>
            <a:ext cx="5878393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dummy = new Node(-1)</a:t>
            </a:r>
          </a:p>
          <a:p>
            <a:r>
              <a:rPr lang="en-IN" dirty="0" err="1"/>
              <a:t>curr</a:t>
            </a:r>
            <a:r>
              <a:rPr lang="en-IN" dirty="0"/>
              <a:t> = dummy</a:t>
            </a:r>
          </a:p>
          <a:p>
            <a:endParaRPr lang="en-IN" dirty="0"/>
          </a:p>
          <a:p>
            <a:r>
              <a:rPr lang="en-IN" dirty="0"/>
              <a:t>while l1 != NULL and l2 != NULL:</a:t>
            </a:r>
          </a:p>
          <a:p>
            <a:r>
              <a:rPr lang="en-IN" dirty="0"/>
              <a:t>    if l1.val &lt;= l2.val:</a:t>
            </a:r>
          </a:p>
          <a:p>
            <a:r>
              <a:rPr lang="en-IN" dirty="0"/>
              <a:t>        </a:t>
            </a:r>
            <a:r>
              <a:rPr lang="en-IN" dirty="0" err="1"/>
              <a:t>curr.next</a:t>
            </a:r>
            <a:r>
              <a:rPr lang="en-IN" dirty="0"/>
              <a:t> = l1</a:t>
            </a:r>
          </a:p>
          <a:p>
            <a:r>
              <a:rPr lang="en-IN" dirty="0"/>
              <a:t>        l1 = l1.next</a:t>
            </a:r>
          </a:p>
          <a:p>
            <a:r>
              <a:rPr lang="en-IN" dirty="0"/>
              <a:t>    else:</a:t>
            </a:r>
          </a:p>
          <a:p>
            <a:r>
              <a:rPr lang="en-IN" dirty="0"/>
              <a:t>        </a:t>
            </a:r>
            <a:r>
              <a:rPr lang="en-IN" dirty="0" err="1"/>
              <a:t>curr.next</a:t>
            </a:r>
            <a:r>
              <a:rPr lang="en-IN" dirty="0"/>
              <a:t> = l2</a:t>
            </a:r>
          </a:p>
          <a:p>
            <a:r>
              <a:rPr lang="en-IN" dirty="0"/>
              <a:t>        l2 = l2.next</a:t>
            </a:r>
          </a:p>
          <a:p>
            <a:r>
              <a:rPr lang="en-IN" dirty="0"/>
              <a:t>    </a:t>
            </a:r>
            <a:r>
              <a:rPr lang="en-IN" dirty="0" err="1"/>
              <a:t>curr</a:t>
            </a:r>
            <a:r>
              <a:rPr lang="en-IN" dirty="0"/>
              <a:t> = </a:t>
            </a:r>
            <a:r>
              <a:rPr lang="en-IN" dirty="0" err="1"/>
              <a:t>curr.next</a:t>
            </a:r>
            <a:endParaRPr lang="en-IN" dirty="0"/>
          </a:p>
          <a:p>
            <a:endParaRPr lang="en-IN" dirty="0"/>
          </a:p>
          <a:p>
            <a:r>
              <a:rPr lang="en-IN" dirty="0"/>
              <a:t>if l1 != NULL:</a:t>
            </a:r>
          </a:p>
          <a:p>
            <a:r>
              <a:rPr lang="en-IN" dirty="0"/>
              <a:t>    </a:t>
            </a:r>
            <a:r>
              <a:rPr lang="en-IN" dirty="0" err="1"/>
              <a:t>curr.next</a:t>
            </a:r>
            <a:r>
              <a:rPr lang="en-IN" dirty="0"/>
              <a:t> = l1</a:t>
            </a:r>
          </a:p>
          <a:p>
            <a:r>
              <a:rPr lang="en-IN" dirty="0"/>
              <a:t>else:</a:t>
            </a:r>
          </a:p>
          <a:p>
            <a:r>
              <a:rPr lang="en-IN" dirty="0"/>
              <a:t>    </a:t>
            </a:r>
            <a:r>
              <a:rPr lang="en-IN" dirty="0" err="1"/>
              <a:t>curr.next</a:t>
            </a:r>
            <a:r>
              <a:rPr lang="en-IN" dirty="0"/>
              <a:t> = l2</a:t>
            </a:r>
          </a:p>
          <a:p>
            <a:endParaRPr lang="en-IN" dirty="0"/>
          </a:p>
          <a:p>
            <a:r>
              <a:rPr lang="en-IN" dirty="0"/>
              <a:t>return </a:t>
            </a:r>
            <a:r>
              <a:rPr lang="en-IN" dirty="0" err="1"/>
              <a:t>dummy.next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0474100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DCF3512-A47E-242C-736F-9AB2648019CA}"/>
              </a:ext>
            </a:extLst>
          </p:cNvPr>
          <p:cNvSpPr txBox="1"/>
          <p:nvPr/>
        </p:nvSpPr>
        <p:spPr>
          <a:xfrm>
            <a:off x="68826" y="107758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Approach 3: Optimal (Recursive)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Idea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Choose smaller head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Recursively merge remaining lists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2377C9-528B-7684-8DD6-D435BBB7C3DE}"/>
              </a:ext>
            </a:extLst>
          </p:cNvPr>
          <p:cNvSpPr txBox="1"/>
          <p:nvPr/>
        </p:nvSpPr>
        <p:spPr>
          <a:xfrm>
            <a:off x="5083277" y="198792"/>
            <a:ext cx="20254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Pseudocode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06D406-8D5A-6B35-1962-A037C8398158}"/>
              </a:ext>
            </a:extLst>
          </p:cNvPr>
          <p:cNvSpPr txBox="1"/>
          <p:nvPr/>
        </p:nvSpPr>
        <p:spPr>
          <a:xfrm>
            <a:off x="5083277" y="800906"/>
            <a:ext cx="3854246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if l1 == NULL: return l2</a:t>
            </a:r>
          </a:p>
          <a:p>
            <a:r>
              <a:rPr lang="en-US" dirty="0"/>
              <a:t>if l2 == NULL: return l1</a:t>
            </a:r>
          </a:p>
          <a:p>
            <a:endParaRPr lang="en-US" dirty="0"/>
          </a:p>
          <a:p>
            <a:r>
              <a:rPr lang="en-US" dirty="0"/>
              <a:t>if l1.val &lt;= l2.val:</a:t>
            </a:r>
          </a:p>
          <a:p>
            <a:r>
              <a:rPr lang="en-US" dirty="0"/>
              <a:t>    l1.next = merge(l1.next, l2)</a:t>
            </a:r>
          </a:p>
          <a:p>
            <a:r>
              <a:rPr lang="en-US" dirty="0"/>
              <a:t>    return l1</a:t>
            </a:r>
          </a:p>
          <a:p>
            <a:r>
              <a:rPr lang="en-US" dirty="0"/>
              <a:t>else:</a:t>
            </a:r>
          </a:p>
          <a:p>
            <a:r>
              <a:rPr lang="en-US" dirty="0"/>
              <a:t>    l2.next = merge(l1, l2.next)</a:t>
            </a:r>
          </a:p>
          <a:p>
            <a:r>
              <a:rPr lang="en-US" dirty="0"/>
              <a:t>    return l2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6632497-78CE-59D7-E18C-E211D4237786}"/>
              </a:ext>
            </a:extLst>
          </p:cNvPr>
          <p:cNvSpPr txBox="1"/>
          <p:nvPr/>
        </p:nvSpPr>
        <p:spPr>
          <a:xfrm>
            <a:off x="5083277" y="3756374"/>
            <a:ext cx="492596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Complexity</a:t>
            </a:r>
          </a:p>
          <a:p>
            <a:pPr rtl="0">
              <a:buNone/>
            </a:pPr>
            <a:r>
              <a:rPr lang="pt-BR" dirty="0">
                <a:latin typeface="Courier New" panose="02070309020205020404" pitchFamily="49" charset="0"/>
              </a:rPr>
              <a:t>Time: O(n + m)</a:t>
            </a:r>
          </a:p>
          <a:p>
            <a:pPr rtl="0">
              <a:buNone/>
            </a:pPr>
            <a:r>
              <a:rPr lang="pt-BR" dirty="0">
                <a:latin typeface="Courier New" panose="02070309020205020404" pitchFamily="49" charset="0"/>
              </a:rPr>
              <a:t>Space: O(n + m)  (recursion stack)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95C12ED-B0A1-675D-4A46-7EAA0DFCFC97}"/>
              </a:ext>
            </a:extLst>
          </p:cNvPr>
          <p:cNvSpPr txBox="1"/>
          <p:nvPr/>
        </p:nvSpPr>
        <p:spPr>
          <a:xfrm>
            <a:off x="68826" y="1817868"/>
            <a:ext cx="46604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Walkthrough (Call Stack)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7D3E7A9-DF82-1996-9E45-1552BFAED3F0}"/>
              </a:ext>
            </a:extLst>
          </p:cNvPr>
          <p:cNvSpPr txBox="1"/>
          <p:nvPr/>
        </p:nvSpPr>
        <p:spPr>
          <a:xfrm>
            <a:off x="68826" y="2313234"/>
            <a:ext cx="4552335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merge(1→2→4, 1→3→4)</a:t>
            </a:r>
          </a:p>
          <a:p>
            <a:r>
              <a:rPr lang="en-IN" dirty="0"/>
              <a:t>→ pick 1</a:t>
            </a:r>
          </a:p>
          <a:p>
            <a:r>
              <a:rPr lang="en-IN" dirty="0"/>
              <a:t>merge(2→4, 1→3→4)</a:t>
            </a:r>
          </a:p>
          <a:p>
            <a:r>
              <a:rPr lang="en-IN" dirty="0"/>
              <a:t>→ pick 1</a:t>
            </a:r>
          </a:p>
          <a:p>
            <a:r>
              <a:rPr lang="en-IN" dirty="0"/>
              <a:t>merge(2→4, 3→4)</a:t>
            </a:r>
          </a:p>
          <a:p>
            <a:r>
              <a:rPr lang="en-IN" dirty="0"/>
              <a:t>→ pick 2</a:t>
            </a:r>
          </a:p>
          <a:p>
            <a:r>
              <a:rPr lang="en-IN" dirty="0"/>
              <a:t>merge(4, 3→4)</a:t>
            </a:r>
          </a:p>
          <a:p>
            <a:r>
              <a:rPr lang="en-IN" dirty="0"/>
              <a:t>→ pick 3</a:t>
            </a:r>
          </a:p>
          <a:p>
            <a:r>
              <a:rPr lang="en-IN" dirty="0"/>
              <a:t>merge(4, 4)</a:t>
            </a:r>
          </a:p>
          <a:p>
            <a:r>
              <a:rPr lang="en-IN" dirty="0"/>
              <a:t>→ pick 4</a:t>
            </a:r>
          </a:p>
          <a:p>
            <a:r>
              <a:rPr lang="en-IN" dirty="0"/>
              <a:t>merge(NULL, 4)</a:t>
            </a:r>
          </a:p>
          <a:p>
            <a:r>
              <a:rPr lang="en-IN" dirty="0"/>
              <a:t>→ return 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B3890BA-537C-4274-DB51-3011D3E6B6BF}"/>
              </a:ext>
            </a:extLst>
          </p:cNvPr>
          <p:cNvSpPr txBox="1"/>
          <p:nvPr/>
        </p:nvSpPr>
        <p:spPr>
          <a:xfrm>
            <a:off x="68826" y="5915033"/>
            <a:ext cx="25858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1 → 1 → 2 → 3 → 4 → 4</a:t>
            </a:r>
          </a:p>
        </p:txBody>
      </p:sp>
    </p:spTree>
    <p:extLst>
      <p:ext uri="{BB962C8B-B14F-4D97-AF65-F5344CB8AC3E}">
        <p14:creationId xmlns:p14="http://schemas.microsoft.com/office/powerpoint/2010/main" val="292861814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A720A62-3AB8-1545-9050-41259BF046B5}"/>
              </a:ext>
            </a:extLst>
          </p:cNvPr>
          <p:cNvSpPr txBox="1"/>
          <p:nvPr/>
        </p:nvSpPr>
        <p:spPr>
          <a:xfrm>
            <a:off x="0" y="208624"/>
            <a:ext cx="2753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Complexity Summary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27AC5BF-DA3E-6744-25AF-68C2067260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857393"/>
              </p:ext>
            </p:extLst>
          </p:nvPr>
        </p:nvGraphicFramePr>
        <p:xfrm>
          <a:off x="680884" y="683891"/>
          <a:ext cx="10515600" cy="14630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183338455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23890486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0213017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Approach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Space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78166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Brute Force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dirty="0"/>
                        <a:t>O((n+m) log(n+m))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O(n+m)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58564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Iterative Optimal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O(n+m)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O(1)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389091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Recursive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O(n+m)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O(</a:t>
                      </a:r>
                      <a:r>
                        <a:rPr lang="en-IN" dirty="0" err="1"/>
                        <a:t>n+m</a:t>
                      </a:r>
                      <a:r>
                        <a:rPr lang="en-IN" dirty="0"/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956315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166320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6423BA5-35A9-062F-EBAF-BBBC069FECF5}"/>
              </a:ext>
            </a:extLst>
          </p:cNvPr>
          <p:cNvSpPr txBox="1"/>
          <p:nvPr/>
        </p:nvSpPr>
        <p:spPr>
          <a:xfrm>
            <a:off x="108155" y="137652"/>
            <a:ext cx="11916697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Rotate Linked List</a:t>
            </a:r>
          </a:p>
          <a:p>
            <a:pPr>
              <a:buNone/>
            </a:pPr>
            <a:br>
              <a:rPr lang="en-US" dirty="0"/>
            </a:br>
            <a:r>
              <a:rPr lang="en-US" b="1" dirty="0"/>
              <a:t>Problem Explanation (Easy Language)</a:t>
            </a:r>
          </a:p>
          <a:p>
            <a:pPr>
              <a:buNone/>
            </a:pPr>
            <a:r>
              <a:rPr lang="en-US" dirty="0"/>
              <a:t>You are given a </a:t>
            </a:r>
            <a:r>
              <a:rPr lang="en-US" b="1" dirty="0"/>
              <a:t>singly linked list</a:t>
            </a:r>
            <a:r>
              <a:rPr lang="en-US" dirty="0"/>
              <a:t> and an integer </a:t>
            </a:r>
            <a:r>
              <a:rPr lang="en-US" dirty="0">
                <a:latin typeface="Courier New" panose="02070309020205020404" pitchFamily="49" charset="0"/>
              </a:rPr>
              <a:t>k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dirty="0"/>
              <a:t>Rotate the list to the </a:t>
            </a:r>
            <a:r>
              <a:rPr lang="en-US" b="1" dirty="0"/>
              <a:t>right by </a:t>
            </a:r>
            <a:r>
              <a:rPr lang="en-US" b="1" dirty="0">
                <a:latin typeface="Courier New" panose="02070309020205020404" pitchFamily="49" charset="0"/>
              </a:rPr>
              <a:t>k</a:t>
            </a:r>
            <a:r>
              <a:rPr lang="en-US" b="1" dirty="0"/>
              <a:t> positions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dirty="0"/>
              <a:t>Rotation means: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Take the </a:t>
            </a:r>
            <a:r>
              <a:rPr lang="en-US" b="1" dirty="0"/>
              <a:t>last node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Move it to the </a:t>
            </a:r>
            <a:r>
              <a:rPr lang="en-US" b="1" dirty="0"/>
              <a:t>front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Repeat </a:t>
            </a:r>
            <a:r>
              <a:rPr lang="en-US" dirty="0">
                <a:latin typeface="Courier New" panose="02070309020205020404" pitchFamily="49" charset="0"/>
              </a:rPr>
              <a:t>k</a:t>
            </a:r>
            <a:r>
              <a:rPr lang="en-US" dirty="0"/>
              <a:t> times</a:t>
            </a:r>
          </a:p>
          <a:p>
            <a:pPr>
              <a:buNone/>
            </a:pPr>
            <a:br>
              <a:rPr lang="en-US" dirty="0"/>
            </a:br>
            <a:r>
              <a:rPr lang="en-US" b="1" dirty="0"/>
              <a:t>Example</a:t>
            </a:r>
          </a:p>
          <a:p>
            <a:pPr>
              <a:buNone/>
            </a:pPr>
            <a:r>
              <a:rPr lang="en-US" b="1" dirty="0"/>
              <a:t>Input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List: 1 → 2 → 3 → 4 → 5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k = 2</a:t>
            </a:r>
          </a:p>
          <a:p>
            <a:pPr>
              <a:buNone/>
            </a:pPr>
            <a:r>
              <a:rPr lang="en-US" b="1" dirty="0"/>
              <a:t>Output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4 → 5 → 1 → 2 → 3</a:t>
            </a:r>
          </a:p>
          <a:p>
            <a:pPr>
              <a:buNone/>
            </a:pPr>
            <a:br>
              <a:rPr lang="en-US" dirty="0"/>
            </a:br>
            <a:r>
              <a:rPr lang="en-US" b="1" dirty="0"/>
              <a:t>Key Observations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Rotating </a:t>
            </a:r>
            <a:r>
              <a:rPr lang="en-US" dirty="0">
                <a:latin typeface="Courier New" panose="02070309020205020404" pitchFamily="49" charset="0"/>
              </a:rPr>
              <a:t>n</a:t>
            </a:r>
            <a:r>
              <a:rPr lang="en-US" dirty="0"/>
              <a:t> times gives the same list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So: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k = k % length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New head will be at position: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length - k</a:t>
            </a:r>
          </a:p>
        </p:txBody>
      </p:sp>
    </p:spTree>
    <p:extLst>
      <p:ext uri="{BB962C8B-B14F-4D97-AF65-F5344CB8AC3E}">
        <p14:creationId xmlns:p14="http://schemas.microsoft.com/office/powerpoint/2010/main" val="142027824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A05966E-E277-1DD3-34FF-73CC6E8677F4}"/>
              </a:ext>
            </a:extLst>
          </p:cNvPr>
          <p:cNvSpPr txBox="1"/>
          <p:nvPr/>
        </p:nvSpPr>
        <p:spPr>
          <a:xfrm>
            <a:off x="186813" y="228795"/>
            <a:ext cx="570271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Approach 1: Brute Force (Rotate One by One)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Idea</a:t>
            </a:r>
          </a:p>
          <a:p>
            <a:pPr>
              <a:buNone/>
            </a:pPr>
            <a:r>
              <a:rPr lang="en-US" dirty="0"/>
              <a:t>Rotate the list </a:t>
            </a:r>
            <a:r>
              <a:rPr lang="en-US" b="1" dirty="0"/>
              <a:t>one step at a time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</a:rPr>
              <a:t>k</a:t>
            </a:r>
            <a:r>
              <a:rPr lang="en-US" dirty="0"/>
              <a:t> times.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Logic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Repeat </a:t>
            </a:r>
            <a:r>
              <a:rPr lang="en-US" dirty="0">
                <a:latin typeface="Courier New" panose="02070309020205020404" pitchFamily="49" charset="0"/>
              </a:rPr>
              <a:t>k</a:t>
            </a:r>
            <a:r>
              <a:rPr lang="en-US" dirty="0"/>
              <a:t> times: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Traverse to last node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Detach last node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Move it to the front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99B28F-6280-683D-513E-A5057D5EF31A}"/>
              </a:ext>
            </a:extLst>
          </p:cNvPr>
          <p:cNvSpPr txBox="1"/>
          <p:nvPr/>
        </p:nvSpPr>
        <p:spPr>
          <a:xfrm>
            <a:off x="186813" y="3241705"/>
            <a:ext cx="328397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Walkthrough (k = 2)</a:t>
            </a:r>
          </a:p>
          <a:p>
            <a:pPr>
              <a:buNone/>
            </a:pPr>
            <a:r>
              <a:rPr lang="en-IN" b="1" dirty="0"/>
              <a:t>Initial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1 → 2 → 3 → 4 → 5</a:t>
            </a:r>
          </a:p>
          <a:p>
            <a:pPr>
              <a:buNone/>
            </a:pPr>
            <a:r>
              <a:rPr lang="en-IN" b="1" dirty="0"/>
              <a:t>Rotation 1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5 → 1 → 2 → 3 → 4</a:t>
            </a:r>
          </a:p>
          <a:p>
            <a:pPr>
              <a:buNone/>
            </a:pPr>
            <a:r>
              <a:rPr lang="en-IN" b="1" dirty="0"/>
              <a:t>Rotation 2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4 → 5 → 1 → 2 → 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98DD09-F17D-DF11-19BD-C1A46DD24EA3}"/>
              </a:ext>
            </a:extLst>
          </p:cNvPr>
          <p:cNvSpPr txBox="1"/>
          <p:nvPr/>
        </p:nvSpPr>
        <p:spPr>
          <a:xfrm>
            <a:off x="5456903" y="228795"/>
            <a:ext cx="4227871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Pseudocode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for </a:t>
            </a:r>
            <a:r>
              <a:rPr lang="en-US" dirty="0" err="1">
                <a:latin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</a:rPr>
              <a:t> = 1 to k: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</a:rPr>
              <a:t>prev</a:t>
            </a:r>
            <a:r>
              <a:rPr lang="en-US" dirty="0">
                <a:latin typeface="Courier New" panose="02070309020205020404" pitchFamily="49" charset="0"/>
              </a:rPr>
              <a:t> = NULL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</a:rPr>
              <a:t>curr</a:t>
            </a:r>
            <a:r>
              <a:rPr lang="en-US" dirty="0">
                <a:latin typeface="Courier New" panose="02070309020205020404" pitchFamily="49" charset="0"/>
              </a:rPr>
              <a:t> = head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while </a:t>
            </a:r>
            <a:r>
              <a:rPr lang="en-US" dirty="0" err="1">
                <a:latin typeface="Courier New" panose="02070309020205020404" pitchFamily="49" charset="0"/>
              </a:rPr>
              <a:t>curr</a:t>
            </a:r>
            <a:r>
              <a:rPr lang="en-US" dirty="0">
                <a:latin typeface="Courier New" panose="02070309020205020404" pitchFamily="49" charset="0"/>
              </a:rPr>
              <a:t>-&gt;next != NULL: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    </a:t>
            </a:r>
            <a:r>
              <a:rPr lang="en-US" dirty="0" err="1">
                <a:latin typeface="Courier New" panose="02070309020205020404" pitchFamily="49" charset="0"/>
              </a:rPr>
              <a:t>prev</a:t>
            </a:r>
            <a:r>
              <a:rPr lang="en-US" dirty="0">
                <a:latin typeface="Courier New" panose="02070309020205020404" pitchFamily="49" charset="0"/>
              </a:rPr>
              <a:t> = </a:t>
            </a:r>
            <a:r>
              <a:rPr lang="en-US" dirty="0" err="1">
                <a:latin typeface="Courier New" panose="02070309020205020404" pitchFamily="49" charset="0"/>
              </a:rPr>
              <a:t>curr</a:t>
            </a:r>
            <a:endParaRPr lang="en-US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    </a:t>
            </a:r>
            <a:r>
              <a:rPr lang="en-US" dirty="0" err="1">
                <a:latin typeface="Courier New" panose="02070309020205020404" pitchFamily="49" charset="0"/>
              </a:rPr>
              <a:t>curr</a:t>
            </a:r>
            <a:r>
              <a:rPr lang="en-US" dirty="0">
                <a:latin typeface="Courier New" panose="02070309020205020404" pitchFamily="49" charset="0"/>
              </a:rPr>
              <a:t> = </a:t>
            </a:r>
            <a:r>
              <a:rPr lang="en-US" dirty="0" err="1">
                <a:latin typeface="Courier New" panose="02070309020205020404" pitchFamily="49" charset="0"/>
              </a:rPr>
              <a:t>curr</a:t>
            </a:r>
            <a:r>
              <a:rPr lang="en-US" dirty="0">
                <a:latin typeface="Courier New" panose="02070309020205020404" pitchFamily="49" charset="0"/>
              </a:rPr>
              <a:t>-&gt;next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</a:rPr>
              <a:t>prev</a:t>
            </a:r>
            <a:r>
              <a:rPr lang="en-US" dirty="0">
                <a:latin typeface="Courier New" panose="02070309020205020404" pitchFamily="49" charset="0"/>
              </a:rPr>
              <a:t>-&gt;next = NULL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</a:rPr>
              <a:t>curr</a:t>
            </a:r>
            <a:r>
              <a:rPr lang="en-US" dirty="0">
                <a:latin typeface="Courier New" panose="02070309020205020404" pitchFamily="49" charset="0"/>
              </a:rPr>
              <a:t>-&gt;next = head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head = </a:t>
            </a:r>
            <a:r>
              <a:rPr lang="en-US" dirty="0" err="1">
                <a:latin typeface="Courier New" panose="02070309020205020404" pitchFamily="49" charset="0"/>
              </a:rPr>
              <a:t>curr</a:t>
            </a:r>
            <a:endParaRPr lang="en-US" dirty="0">
              <a:latin typeface="Courier New" panose="020703090202050204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CA516A-088A-4F81-1D98-A77053601359}"/>
              </a:ext>
            </a:extLst>
          </p:cNvPr>
          <p:cNvSpPr txBox="1"/>
          <p:nvPr/>
        </p:nvSpPr>
        <p:spPr>
          <a:xfrm>
            <a:off x="5781367" y="4059478"/>
            <a:ext cx="228108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Complexity</a:t>
            </a:r>
          </a:p>
          <a:p>
            <a:pPr rtl="0">
              <a:buNone/>
            </a:pPr>
            <a:r>
              <a:rPr lang="pt-BR" dirty="0">
                <a:latin typeface="Courier New" panose="02070309020205020404" pitchFamily="49" charset="0"/>
              </a:rPr>
              <a:t>Time: O(n * k)</a:t>
            </a:r>
          </a:p>
          <a:p>
            <a:pPr rtl="0">
              <a:buNone/>
            </a:pPr>
            <a:r>
              <a:rPr lang="pt-BR" dirty="0">
                <a:latin typeface="Courier New" panose="02070309020205020404" pitchFamily="49" charset="0"/>
              </a:rPr>
              <a:t>Space: O(1)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9523805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289AB6B-0891-910A-328C-C5091D4E1462}"/>
              </a:ext>
            </a:extLst>
          </p:cNvPr>
          <p:cNvSpPr txBox="1"/>
          <p:nvPr/>
        </p:nvSpPr>
        <p:spPr>
          <a:xfrm>
            <a:off x="235975" y="149290"/>
            <a:ext cx="4296696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Approach 2: Better (Convert to Array)</a:t>
            </a:r>
          </a:p>
          <a:p>
            <a:pPr>
              <a:buNone/>
            </a:pPr>
            <a:br>
              <a:rPr lang="en-US" dirty="0"/>
            </a:br>
            <a:r>
              <a:rPr lang="en-US" b="1" dirty="0"/>
              <a:t>Idea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Store nodes in array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Rearrange using index math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Rebuild list</a:t>
            </a:r>
          </a:p>
          <a:p>
            <a:pPr>
              <a:buNone/>
            </a:pPr>
            <a:br>
              <a:rPr lang="en-US" dirty="0"/>
            </a:br>
            <a:r>
              <a:rPr lang="en-US" b="1" dirty="0"/>
              <a:t>Logic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Store all nodes in array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Compute new starting index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Reconnect nodes in order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1A6845-6766-E7BB-FCC9-EE723A267525}"/>
              </a:ext>
            </a:extLst>
          </p:cNvPr>
          <p:cNvSpPr txBox="1"/>
          <p:nvPr/>
        </p:nvSpPr>
        <p:spPr>
          <a:xfrm>
            <a:off x="235975" y="3743998"/>
            <a:ext cx="312665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Walkthrough</a:t>
            </a:r>
          </a:p>
          <a:p>
            <a:pPr rtl="0">
              <a:buNone/>
            </a:pPr>
            <a:r>
              <a:rPr lang="en-US" dirty="0" err="1">
                <a:latin typeface="Courier New" panose="02070309020205020404" pitchFamily="49" charset="0"/>
              </a:rPr>
              <a:t>arr</a:t>
            </a:r>
            <a:r>
              <a:rPr lang="en-US" dirty="0">
                <a:latin typeface="Courier New" panose="02070309020205020404" pitchFamily="49" charset="0"/>
              </a:rPr>
              <a:t> = [1,2,3,4,5]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k = 2</a:t>
            </a:r>
          </a:p>
          <a:p>
            <a:pPr rtl="0">
              <a:buNone/>
            </a:pPr>
            <a:r>
              <a:rPr lang="en-US" dirty="0" err="1">
                <a:latin typeface="Courier New" panose="02070309020205020404" pitchFamily="49" charset="0"/>
              </a:rPr>
              <a:t>newHeadIndex</a:t>
            </a:r>
            <a:r>
              <a:rPr lang="en-US" dirty="0">
                <a:latin typeface="Courier New" panose="02070309020205020404" pitchFamily="49" charset="0"/>
              </a:rPr>
              <a:t> = 3</a:t>
            </a:r>
          </a:p>
          <a:p>
            <a:pPr>
              <a:buNone/>
            </a:pPr>
            <a:r>
              <a:rPr lang="en-US" dirty="0"/>
              <a:t>Order: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4 → 5 → 1 → 2 → 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DADF8A-A9F3-3484-CC6B-EF191C312680}"/>
              </a:ext>
            </a:extLst>
          </p:cNvPr>
          <p:cNvSpPr txBox="1"/>
          <p:nvPr/>
        </p:nvSpPr>
        <p:spPr>
          <a:xfrm>
            <a:off x="4827638" y="149290"/>
            <a:ext cx="609600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Pseudocode</a:t>
            </a:r>
          </a:p>
          <a:p>
            <a:pPr rtl="0">
              <a:buNone/>
            </a:pPr>
            <a:r>
              <a:rPr lang="en-IN" dirty="0" err="1">
                <a:latin typeface="Courier New" panose="02070309020205020404" pitchFamily="49" charset="0"/>
              </a:rPr>
              <a:t>arr</a:t>
            </a:r>
            <a:r>
              <a:rPr lang="en-IN" dirty="0">
                <a:latin typeface="Courier New" panose="02070309020205020404" pitchFamily="49" charset="0"/>
              </a:rPr>
              <a:t> = []</a:t>
            </a:r>
          </a:p>
          <a:p>
            <a:pPr rtl="0">
              <a:buNone/>
            </a:pPr>
            <a:endParaRPr lang="en-IN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while head != NULL: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</a:t>
            </a:r>
            <a:r>
              <a:rPr lang="en-IN" dirty="0" err="1">
                <a:latin typeface="Courier New" panose="02070309020205020404" pitchFamily="49" charset="0"/>
              </a:rPr>
              <a:t>arr.push_back</a:t>
            </a:r>
            <a:r>
              <a:rPr lang="en-IN" dirty="0">
                <a:latin typeface="Courier New" panose="02070309020205020404" pitchFamily="49" charset="0"/>
              </a:rPr>
              <a:t>(head)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head = head-&gt;next</a:t>
            </a:r>
          </a:p>
          <a:p>
            <a:pPr rtl="0">
              <a:buNone/>
            </a:pPr>
            <a:endParaRPr lang="en-IN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n = </a:t>
            </a:r>
            <a:r>
              <a:rPr lang="en-IN" dirty="0" err="1">
                <a:latin typeface="Courier New" panose="02070309020205020404" pitchFamily="49" charset="0"/>
              </a:rPr>
              <a:t>arr.size</a:t>
            </a:r>
            <a:r>
              <a:rPr lang="en-IN" dirty="0">
                <a:latin typeface="Courier New" panose="02070309020205020404" pitchFamily="49" charset="0"/>
              </a:rPr>
              <a:t>()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k = k % n</a:t>
            </a:r>
          </a:p>
          <a:p>
            <a:pPr rtl="0">
              <a:buNone/>
            </a:pPr>
            <a:r>
              <a:rPr lang="en-IN" dirty="0" err="1">
                <a:latin typeface="Courier New" panose="02070309020205020404" pitchFamily="49" charset="0"/>
              </a:rPr>
              <a:t>newHeadIndex</a:t>
            </a:r>
            <a:r>
              <a:rPr lang="en-IN" dirty="0">
                <a:latin typeface="Courier New" panose="02070309020205020404" pitchFamily="49" charset="0"/>
              </a:rPr>
              <a:t> = n - k</a:t>
            </a:r>
          </a:p>
          <a:p>
            <a:pPr rtl="0">
              <a:buNone/>
            </a:pPr>
            <a:endParaRPr lang="en-IN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for </a:t>
            </a:r>
            <a:r>
              <a:rPr lang="en-IN" dirty="0" err="1">
                <a:latin typeface="Courier New" panose="02070309020205020404" pitchFamily="49" charset="0"/>
              </a:rPr>
              <a:t>i</a:t>
            </a:r>
            <a:r>
              <a:rPr lang="en-IN" dirty="0">
                <a:latin typeface="Courier New" panose="02070309020205020404" pitchFamily="49" charset="0"/>
              </a:rPr>
              <a:t> = 0 to n-1: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</a:t>
            </a:r>
            <a:r>
              <a:rPr lang="en-IN" dirty="0" err="1">
                <a:latin typeface="Courier New" panose="02070309020205020404" pitchFamily="49" charset="0"/>
              </a:rPr>
              <a:t>arr</a:t>
            </a:r>
            <a:r>
              <a:rPr lang="en-IN" dirty="0">
                <a:latin typeface="Courier New" panose="02070309020205020404" pitchFamily="49" charset="0"/>
              </a:rPr>
              <a:t>[(</a:t>
            </a:r>
            <a:r>
              <a:rPr lang="en-IN" dirty="0" err="1">
                <a:latin typeface="Courier New" panose="02070309020205020404" pitchFamily="49" charset="0"/>
              </a:rPr>
              <a:t>newHeadIndex</a:t>
            </a:r>
            <a:r>
              <a:rPr lang="en-IN" dirty="0">
                <a:latin typeface="Courier New" panose="02070309020205020404" pitchFamily="49" charset="0"/>
              </a:rPr>
              <a:t> + </a:t>
            </a:r>
            <a:r>
              <a:rPr lang="en-IN" dirty="0" err="1">
                <a:latin typeface="Courier New" panose="02070309020205020404" pitchFamily="49" charset="0"/>
              </a:rPr>
              <a:t>i</a:t>
            </a:r>
            <a:r>
              <a:rPr lang="en-IN" dirty="0">
                <a:latin typeface="Courier New" panose="02070309020205020404" pitchFamily="49" charset="0"/>
              </a:rPr>
              <a:t>) % n]-&gt;next =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    </a:t>
            </a:r>
            <a:r>
              <a:rPr lang="en-IN" dirty="0" err="1">
                <a:latin typeface="Courier New" panose="02070309020205020404" pitchFamily="49" charset="0"/>
              </a:rPr>
              <a:t>arr</a:t>
            </a:r>
            <a:r>
              <a:rPr lang="en-IN" dirty="0">
                <a:latin typeface="Courier New" panose="02070309020205020404" pitchFamily="49" charset="0"/>
              </a:rPr>
              <a:t>[(</a:t>
            </a:r>
            <a:r>
              <a:rPr lang="en-IN" dirty="0" err="1">
                <a:latin typeface="Courier New" panose="02070309020205020404" pitchFamily="49" charset="0"/>
              </a:rPr>
              <a:t>newHeadIndex</a:t>
            </a:r>
            <a:r>
              <a:rPr lang="en-IN" dirty="0">
                <a:latin typeface="Courier New" panose="02070309020205020404" pitchFamily="49" charset="0"/>
              </a:rPr>
              <a:t> + </a:t>
            </a:r>
            <a:r>
              <a:rPr lang="en-IN" dirty="0" err="1">
                <a:latin typeface="Courier New" panose="02070309020205020404" pitchFamily="49" charset="0"/>
              </a:rPr>
              <a:t>i</a:t>
            </a:r>
            <a:r>
              <a:rPr lang="en-IN" dirty="0">
                <a:latin typeface="Courier New" panose="02070309020205020404" pitchFamily="49" charset="0"/>
              </a:rPr>
              <a:t> + 1) % n]</a:t>
            </a:r>
          </a:p>
          <a:p>
            <a:pPr rtl="0">
              <a:buNone/>
            </a:pPr>
            <a:endParaRPr lang="en-IN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IN" dirty="0" err="1">
                <a:latin typeface="Courier New" panose="02070309020205020404" pitchFamily="49" charset="0"/>
              </a:rPr>
              <a:t>arr</a:t>
            </a:r>
            <a:r>
              <a:rPr lang="en-IN" dirty="0">
                <a:latin typeface="Courier New" panose="02070309020205020404" pitchFamily="49" charset="0"/>
              </a:rPr>
              <a:t>[(newHeadIndex+n-1)%n]-&gt;next = NULL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return </a:t>
            </a:r>
            <a:r>
              <a:rPr lang="en-IN" dirty="0" err="1">
                <a:latin typeface="Courier New" panose="02070309020205020404" pitchFamily="49" charset="0"/>
              </a:rPr>
              <a:t>arr</a:t>
            </a:r>
            <a:r>
              <a:rPr lang="en-IN" dirty="0">
                <a:latin typeface="Courier New" panose="02070309020205020404" pitchFamily="49" charset="0"/>
              </a:rPr>
              <a:t>[</a:t>
            </a:r>
            <a:r>
              <a:rPr lang="en-IN" dirty="0" err="1">
                <a:latin typeface="Courier New" panose="02070309020205020404" pitchFamily="49" charset="0"/>
              </a:rPr>
              <a:t>newHeadIndex</a:t>
            </a:r>
            <a:r>
              <a:rPr lang="en-IN" dirty="0">
                <a:latin typeface="Courier New" panose="02070309020205020404" pitchFamily="49" charset="0"/>
              </a:rPr>
              <a:t>]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844BE1-6EB2-1384-8802-05CF02BB6591}"/>
              </a:ext>
            </a:extLst>
          </p:cNvPr>
          <p:cNvSpPr txBox="1"/>
          <p:nvPr/>
        </p:nvSpPr>
        <p:spPr>
          <a:xfrm>
            <a:off x="4965290" y="5349200"/>
            <a:ext cx="204511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Complexity</a:t>
            </a:r>
          </a:p>
          <a:p>
            <a:pPr rtl="0">
              <a:buNone/>
            </a:pPr>
            <a:r>
              <a:rPr lang="pt-BR" dirty="0">
                <a:latin typeface="Courier New" panose="02070309020205020404" pitchFamily="49" charset="0"/>
              </a:rPr>
              <a:t>Time: O(n)</a:t>
            </a:r>
          </a:p>
          <a:p>
            <a:pPr rtl="0">
              <a:buNone/>
            </a:pPr>
            <a:r>
              <a:rPr lang="pt-BR" dirty="0">
                <a:latin typeface="Courier New" panose="02070309020205020404" pitchFamily="49" charset="0"/>
              </a:rPr>
              <a:t>Space: O(n)</a:t>
            </a:r>
          </a:p>
        </p:txBody>
      </p:sp>
    </p:spTree>
    <p:extLst>
      <p:ext uri="{BB962C8B-B14F-4D97-AF65-F5344CB8AC3E}">
        <p14:creationId xmlns:p14="http://schemas.microsoft.com/office/powerpoint/2010/main" val="137961958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FB9C468-33DE-B402-48E2-983B55E447B7}"/>
              </a:ext>
            </a:extLst>
          </p:cNvPr>
          <p:cNvSpPr txBox="1"/>
          <p:nvPr/>
        </p:nvSpPr>
        <p:spPr>
          <a:xfrm>
            <a:off x="98322" y="186922"/>
            <a:ext cx="4552336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Approach 3: Optimal (Make List Circular)</a:t>
            </a:r>
          </a:p>
          <a:p>
            <a:pPr>
              <a:buNone/>
            </a:pPr>
            <a:br>
              <a:rPr lang="en-US" dirty="0"/>
            </a:br>
            <a:r>
              <a:rPr lang="en-US" b="1" dirty="0"/>
              <a:t>Idea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Find length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Make list circular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Break at correct point</a:t>
            </a:r>
          </a:p>
          <a:p>
            <a:pPr>
              <a:buNone/>
            </a:pPr>
            <a:br>
              <a:rPr lang="en-US" dirty="0"/>
            </a:br>
            <a:r>
              <a:rPr lang="en-US" b="1" dirty="0"/>
              <a:t>Logic</a:t>
            </a:r>
          </a:p>
          <a:p>
            <a:pPr>
              <a:buFont typeface="+mj-lt"/>
              <a:buAutoNum type="arabicPeriod"/>
            </a:pPr>
            <a:r>
              <a:rPr lang="en-US" dirty="0"/>
              <a:t>Find length </a:t>
            </a:r>
            <a:r>
              <a:rPr lang="en-US" dirty="0">
                <a:latin typeface="Courier New" panose="02070309020205020404" pitchFamily="49" charset="0"/>
              </a:rPr>
              <a:t>n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dirty="0"/>
              <a:t>Do </a:t>
            </a:r>
            <a:r>
              <a:rPr lang="en-US" dirty="0">
                <a:latin typeface="Courier New" panose="02070309020205020404" pitchFamily="49" charset="0"/>
              </a:rPr>
              <a:t>k = k % n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dirty="0"/>
              <a:t>Connect last node to head</a:t>
            </a:r>
          </a:p>
          <a:p>
            <a:pPr>
              <a:buFont typeface="+mj-lt"/>
              <a:buAutoNum type="arabicPeriod"/>
            </a:pPr>
            <a:r>
              <a:rPr lang="en-US" dirty="0"/>
              <a:t>New tail at position </a:t>
            </a:r>
            <a:r>
              <a:rPr lang="en-US" dirty="0">
                <a:latin typeface="Courier New" panose="02070309020205020404" pitchFamily="49" charset="0"/>
              </a:rPr>
              <a:t>n - k - 1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dirty="0"/>
              <a:t>Break the circle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53AB77-92D5-67B4-7CC9-374E267C0369}"/>
              </a:ext>
            </a:extLst>
          </p:cNvPr>
          <p:cNvSpPr txBox="1"/>
          <p:nvPr/>
        </p:nvSpPr>
        <p:spPr>
          <a:xfrm>
            <a:off x="5466738" y="186922"/>
            <a:ext cx="3244645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Walkthrough </a:t>
            </a:r>
          </a:p>
          <a:p>
            <a:pPr>
              <a:buNone/>
            </a:pPr>
            <a:r>
              <a:rPr lang="en-IN" b="1" dirty="0"/>
              <a:t>Step 1: Length</a:t>
            </a:r>
          </a:p>
          <a:p>
            <a:pPr rtl="0">
              <a:buNone/>
            </a:pPr>
            <a:r>
              <a:rPr lang="en-IN" dirty="0" err="1">
                <a:latin typeface="Courier New" panose="02070309020205020404" pitchFamily="49" charset="0"/>
              </a:rPr>
              <a:t>len</a:t>
            </a:r>
            <a:r>
              <a:rPr lang="en-IN" dirty="0">
                <a:latin typeface="Courier New" panose="02070309020205020404" pitchFamily="49" charset="0"/>
              </a:rPr>
              <a:t> = 5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k = 2</a:t>
            </a:r>
          </a:p>
          <a:p>
            <a:pPr rtl="0">
              <a:buNone/>
            </a:pPr>
            <a:endParaRPr lang="en-IN" dirty="0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IN" b="1" dirty="0"/>
              <a:t>Step 2: Circular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1 → 2 → 3 → 4 → 5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↑________________↓</a:t>
            </a:r>
          </a:p>
          <a:p>
            <a:pPr rtl="0">
              <a:buNone/>
            </a:pPr>
            <a:endParaRPr lang="en-IN" dirty="0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IN" b="1" dirty="0"/>
              <a:t>Step 3: Find New Tail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steps = 5 - 2 = 3</a:t>
            </a:r>
          </a:p>
          <a:p>
            <a:pPr rtl="0">
              <a:buNone/>
            </a:pPr>
            <a:r>
              <a:rPr lang="en-IN" dirty="0" err="1">
                <a:latin typeface="Courier New" panose="02070309020205020404" pitchFamily="49" charset="0"/>
              </a:rPr>
              <a:t>newTail</a:t>
            </a:r>
            <a:r>
              <a:rPr lang="en-IN" dirty="0">
                <a:latin typeface="Courier New" panose="02070309020205020404" pitchFamily="49" charset="0"/>
              </a:rPr>
              <a:t> = 3</a:t>
            </a:r>
          </a:p>
          <a:p>
            <a:pPr rtl="0">
              <a:buNone/>
            </a:pPr>
            <a:endParaRPr lang="en-IN" dirty="0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IN" b="1" dirty="0"/>
              <a:t>Step 4: Break</a:t>
            </a:r>
          </a:p>
          <a:p>
            <a:pPr rtl="0">
              <a:buNone/>
            </a:pPr>
            <a:r>
              <a:rPr lang="en-IN" dirty="0" err="1">
                <a:latin typeface="Courier New" panose="02070309020205020404" pitchFamily="49" charset="0"/>
              </a:rPr>
              <a:t>newHead</a:t>
            </a:r>
            <a:r>
              <a:rPr lang="en-IN" dirty="0">
                <a:latin typeface="Courier New" panose="02070309020205020404" pitchFamily="49" charset="0"/>
              </a:rPr>
              <a:t> = 4</a:t>
            </a:r>
          </a:p>
          <a:p>
            <a:pPr rtl="0">
              <a:buNone/>
            </a:pPr>
            <a:endParaRPr lang="en-IN" dirty="0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IN" b="1" dirty="0"/>
              <a:t>Final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4 → 5 → 1 → 2 → 3</a:t>
            </a:r>
          </a:p>
        </p:txBody>
      </p:sp>
    </p:spTree>
    <p:extLst>
      <p:ext uri="{BB962C8B-B14F-4D97-AF65-F5344CB8AC3E}">
        <p14:creationId xmlns:p14="http://schemas.microsoft.com/office/powerpoint/2010/main" val="233570819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9F1269E-DC3C-DED8-4E6D-AAAFCAD94DD4}"/>
              </a:ext>
            </a:extLst>
          </p:cNvPr>
          <p:cNvSpPr txBox="1"/>
          <p:nvPr/>
        </p:nvSpPr>
        <p:spPr>
          <a:xfrm>
            <a:off x="186812" y="88490"/>
            <a:ext cx="11808543" cy="6607278"/>
          </a:xfrm>
          <a:prstGeom prst="rect">
            <a:avLst/>
          </a:prstGeom>
          <a:noFill/>
        </p:spPr>
        <p:txBody>
          <a:bodyPr wrap="square" numCol="2">
            <a:spAutoFit/>
          </a:bodyPr>
          <a:lstStyle/>
          <a:p>
            <a:pPr>
              <a:buNone/>
            </a:pPr>
            <a:r>
              <a:rPr lang="en-US" b="1" dirty="0"/>
              <a:t>Pseudocode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if head == NULL or head-&gt;next == NULL: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return head</a:t>
            </a:r>
          </a:p>
          <a:p>
            <a:pPr rtl="0">
              <a:buNone/>
            </a:pPr>
            <a:endParaRPr lang="en-US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US" dirty="0" err="1">
                <a:latin typeface="Courier New" panose="02070309020205020404" pitchFamily="49" charset="0"/>
              </a:rPr>
              <a:t>len</a:t>
            </a:r>
            <a:r>
              <a:rPr lang="en-US" dirty="0">
                <a:latin typeface="Courier New" panose="02070309020205020404" pitchFamily="49" charset="0"/>
              </a:rPr>
              <a:t> = 1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tail = head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while tail-&gt;next != NULL: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tail = tail-&gt;next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</a:rPr>
              <a:t>len</a:t>
            </a:r>
            <a:r>
              <a:rPr lang="en-US" dirty="0">
                <a:latin typeface="Courier New" panose="02070309020205020404" pitchFamily="49" charset="0"/>
              </a:rPr>
              <a:t>++</a:t>
            </a:r>
          </a:p>
          <a:p>
            <a:pPr rtl="0">
              <a:buNone/>
            </a:pPr>
            <a:endParaRPr lang="en-US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k = k % </a:t>
            </a:r>
            <a:r>
              <a:rPr lang="en-US" dirty="0" err="1">
                <a:latin typeface="Courier New" panose="02070309020205020404" pitchFamily="49" charset="0"/>
              </a:rPr>
              <a:t>len</a:t>
            </a:r>
            <a:endParaRPr lang="en-US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if k == 0: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return head</a:t>
            </a:r>
          </a:p>
          <a:p>
            <a:pPr rtl="0">
              <a:buNone/>
            </a:pPr>
            <a:endParaRPr lang="en-US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tail-&gt;next = head   // make circular</a:t>
            </a:r>
          </a:p>
          <a:p>
            <a:pPr rtl="0">
              <a:buNone/>
            </a:pPr>
            <a:endParaRPr lang="en-US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steps = </a:t>
            </a:r>
            <a:r>
              <a:rPr lang="en-US" dirty="0" err="1">
                <a:latin typeface="Courier New" panose="02070309020205020404" pitchFamily="49" charset="0"/>
              </a:rPr>
              <a:t>len</a:t>
            </a:r>
            <a:r>
              <a:rPr lang="en-US" dirty="0">
                <a:latin typeface="Courier New" panose="02070309020205020404" pitchFamily="49" charset="0"/>
              </a:rPr>
              <a:t> - k</a:t>
            </a:r>
          </a:p>
          <a:p>
            <a:pPr rtl="0">
              <a:buNone/>
            </a:pPr>
            <a:r>
              <a:rPr lang="en-US" dirty="0" err="1">
                <a:latin typeface="Courier New" panose="02070309020205020404" pitchFamily="49" charset="0"/>
              </a:rPr>
              <a:t>newTail</a:t>
            </a:r>
            <a:r>
              <a:rPr lang="en-US" dirty="0">
                <a:latin typeface="Courier New" panose="02070309020205020404" pitchFamily="49" charset="0"/>
              </a:rPr>
              <a:t> = head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for </a:t>
            </a:r>
            <a:r>
              <a:rPr lang="en-US" dirty="0" err="1">
                <a:latin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</a:rPr>
              <a:t> = 1 to steps-1: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</a:rPr>
              <a:t>newTail</a:t>
            </a:r>
            <a:r>
              <a:rPr lang="en-US" dirty="0">
                <a:latin typeface="Courier New" panose="02070309020205020404" pitchFamily="49" charset="0"/>
              </a:rPr>
              <a:t> = </a:t>
            </a:r>
            <a:r>
              <a:rPr lang="en-US" dirty="0" err="1">
                <a:latin typeface="Courier New" panose="02070309020205020404" pitchFamily="49" charset="0"/>
              </a:rPr>
              <a:t>newTail</a:t>
            </a:r>
            <a:r>
              <a:rPr lang="en-US" dirty="0">
                <a:latin typeface="Courier New" panose="02070309020205020404" pitchFamily="49" charset="0"/>
              </a:rPr>
              <a:t>-&gt;next</a:t>
            </a:r>
          </a:p>
          <a:p>
            <a:pPr rtl="0">
              <a:buNone/>
            </a:pPr>
            <a:endParaRPr lang="en-US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US" dirty="0" err="1">
                <a:latin typeface="Courier New" panose="02070309020205020404" pitchFamily="49" charset="0"/>
              </a:rPr>
              <a:t>newHead</a:t>
            </a:r>
            <a:r>
              <a:rPr lang="en-US" dirty="0">
                <a:latin typeface="Courier New" panose="02070309020205020404" pitchFamily="49" charset="0"/>
              </a:rPr>
              <a:t> = </a:t>
            </a:r>
            <a:r>
              <a:rPr lang="en-US" dirty="0" err="1">
                <a:latin typeface="Courier New" panose="02070309020205020404" pitchFamily="49" charset="0"/>
              </a:rPr>
              <a:t>newTail</a:t>
            </a:r>
            <a:r>
              <a:rPr lang="en-US" dirty="0">
                <a:latin typeface="Courier New" panose="02070309020205020404" pitchFamily="49" charset="0"/>
              </a:rPr>
              <a:t>-&gt;next</a:t>
            </a:r>
          </a:p>
          <a:p>
            <a:pPr rtl="0">
              <a:buNone/>
            </a:pPr>
            <a:r>
              <a:rPr lang="en-US" dirty="0" err="1">
                <a:latin typeface="Courier New" panose="02070309020205020404" pitchFamily="49" charset="0"/>
              </a:rPr>
              <a:t>newTail</a:t>
            </a:r>
            <a:r>
              <a:rPr lang="en-US" dirty="0">
                <a:latin typeface="Courier New" panose="02070309020205020404" pitchFamily="49" charset="0"/>
              </a:rPr>
              <a:t>-&gt;next = NULL</a:t>
            </a:r>
          </a:p>
          <a:p>
            <a:pPr rtl="0">
              <a:buNone/>
            </a:pPr>
            <a:endParaRPr lang="en-US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return </a:t>
            </a:r>
            <a:r>
              <a:rPr lang="en-US" dirty="0" err="1">
                <a:latin typeface="Courier New" panose="02070309020205020404" pitchFamily="49" charset="0"/>
              </a:rPr>
              <a:t>newHead</a:t>
            </a:r>
            <a:endParaRPr lang="en-US" dirty="0"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233338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5B1854A-7656-05D0-F2AC-2BFACA07D472}"/>
              </a:ext>
            </a:extLst>
          </p:cNvPr>
          <p:cNvSpPr txBox="1"/>
          <p:nvPr/>
        </p:nvSpPr>
        <p:spPr>
          <a:xfrm>
            <a:off x="442452" y="16929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Complexity Summary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2916C9B-EF23-6219-8D65-217CA54B4B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030936"/>
              </p:ext>
            </p:extLst>
          </p:nvPr>
        </p:nvGraphicFramePr>
        <p:xfrm>
          <a:off x="838200" y="831369"/>
          <a:ext cx="10515600" cy="14630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76570342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46892388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84130329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Approach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Space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48236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Brute Force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O(</a:t>
                      </a:r>
                      <a:r>
                        <a:rPr lang="en-IN" dirty="0" err="1"/>
                        <a:t>nk</a:t>
                      </a:r>
                      <a:r>
                        <a:rPr lang="en-IN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O(1)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55779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Array Method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O(n)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O(n)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900598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Optimal (Circular)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 dirty="0"/>
                        <a:t>O(n)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 dirty="0"/>
                        <a:t>O(1)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12511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598723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1B7B750-6452-6636-9C09-712EBCF509DF}"/>
              </a:ext>
            </a:extLst>
          </p:cNvPr>
          <p:cNvSpPr txBox="1"/>
          <p:nvPr/>
        </p:nvSpPr>
        <p:spPr>
          <a:xfrm>
            <a:off x="226142" y="218457"/>
            <a:ext cx="406072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/>
              <a:t>Rotate a Linked List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95F0E8-F463-B5E4-A737-C8FE1C4B4782}"/>
              </a:ext>
            </a:extLst>
          </p:cNvPr>
          <p:cNvSpPr txBox="1"/>
          <p:nvPr/>
        </p:nvSpPr>
        <p:spPr>
          <a:xfrm>
            <a:off x="226142" y="864842"/>
            <a:ext cx="542740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Problem in Simple Words</a:t>
            </a:r>
          </a:p>
          <a:p>
            <a:pPr>
              <a:buNone/>
            </a:pPr>
            <a:r>
              <a:rPr lang="en-US" dirty="0"/>
              <a:t>You are given a </a:t>
            </a:r>
            <a:r>
              <a:rPr lang="en-US" b="1" dirty="0"/>
              <a:t>singly linked list</a:t>
            </a:r>
            <a:r>
              <a:rPr lang="en-US" dirty="0"/>
              <a:t> and an integer </a:t>
            </a:r>
            <a:r>
              <a:rPr lang="en-US" dirty="0">
                <a:latin typeface="Courier New" panose="02070309020205020404" pitchFamily="49" charset="0"/>
              </a:rPr>
              <a:t>k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Rotate the linked list </a:t>
            </a:r>
            <a:r>
              <a:rPr lang="en-US" b="1" dirty="0"/>
              <a:t>counter-clockwise</a:t>
            </a:r>
            <a:r>
              <a:rPr lang="en-US" dirty="0"/>
              <a:t> by </a:t>
            </a:r>
            <a:r>
              <a:rPr lang="en-US" dirty="0">
                <a:latin typeface="Courier New" panose="02070309020205020404" pitchFamily="49" charset="0"/>
              </a:rPr>
              <a:t>k</a:t>
            </a:r>
            <a:r>
              <a:rPr lang="en-US" dirty="0"/>
              <a:t> nodes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first </a:t>
            </a:r>
            <a:r>
              <a:rPr lang="en-US" dirty="0">
                <a:latin typeface="Courier New" panose="02070309020205020404" pitchFamily="49" charset="0"/>
              </a:rPr>
              <a:t>k</a:t>
            </a:r>
            <a:r>
              <a:rPr lang="en-US" dirty="0"/>
              <a:t> nodes move to the </a:t>
            </a:r>
            <a:r>
              <a:rPr lang="en-US" b="1" dirty="0"/>
              <a:t>end</a:t>
            </a:r>
            <a:r>
              <a:rPr lang="en-US" dirty="0"/>
              <a:t> of the list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43C473-3E43-AEF1-5E97-150F882E6362}"/>
              </a:ext>
            </a:extLst>
          </p:cNvPr>
          <p:cNvSpPr txBox="1"/>
          <p:nvPr/>
        </p:nvSpPr>
        <p:spPr>
          <a:xfrm>
            <a:off x="226142" y="2188336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Example</a:t>
            </a:r>
          </a:p>
          <a:p>
            <a:pPr>
              <a:buNone/>
            </a:pPr>
            <a:r>
              <a:rPr lang="en-IN" b="1" dirty="0"/>
              <a:t>Input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List: 1 → 2 → 3 → 4 → 5 → NULL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k = 2</a:t>
            </a:r>
          </a:p>
          <a:p>
            <a:pPr>
              <a:buNone/>
            </a:pPr>
            <a:r>
              <a:rPr lang="en-IN" b="1" dirty="0"/>
              <a:t>Output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3 → 4 → 5 → 1 → 2 → NULL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4708DF-D0DB-5F76-9035-E7EF336EABFB}"/>
              </a:ext>
            </a:extLst>
          </p:cNvPr>
          <p:cNvSpPr txBox="1"/>
          <p:nvPr/>
        </p:nvSpPr>
        <p:spPr>
          <a:xfrm>
            <a:off x="226142" y="4192665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What “Rotate” Means (Very Important)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Nodes </a:t>
            </a:r>
            <a:r>
              <a:rPr lang="en-US" b="1" dirty="0"/>
              <a:t>1 and 2</a:t>
            </a:r>
            <a:r>
              <a:rPr lang="en-US" dirty="0"/>
              <a:t> are removed from front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They are </a:t>
            </a:r>
            <a:r>
              <a:rPr lang="en-US" b="1" dirty="0"/>
              <a:t>attached at the end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Relative order is preserved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EA6F09B-DFE9-549B-6524-5469056AA25E}"/>
              </a:ext>
            </a:extLst>
          </p:cNvPr>
          <p:cNvSpPr txBox="1"/>
          <p:nvPr/>
        </p:nvSpPr>
        <p:spPr>
          <a:xfrm>
            <a:off x="5653548" y="403177"/>
            <a:ext cx="631231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APPROACH  1: Brute Force (Rotate One-by-One)</a:t>
            </a:r>
          </a:p>
          <a:p>
            <a:pPr>
              <a:buNone/>
            </a:pPr>
            <a:endParaRPr lang="en-US" sz="2000" dirty="0"/>
          </a:p>
          <a:p>
            <a:pPr>
              <a:buNone/>
            </a:pPr>
            <a:r>
              <a:rPr lang="en-US" sz="2000" b="1" dirty="0"/>
              <a:t>Brute Force Idea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Rotate the list </a:t>
            </a:r>
            <a:r>
              <a:rPr lang="en-US" sz="2000" b="1" dirty="0"/>
              <a:t>one step</a:t>
            </a:r>
            <a:r>
              <a:rPr lang="en-US" sz="2000" dirty="0"/>
              <a:t> </a:t>
            </a:r>
            <a:r>
              <a:rPr lang="en-US" sz="2000" dirty="0">
                <a:latin typeface="Courier New" panose="02070309020205020404" pitchFamily="49" charset="0"/>
              </a:rPr>
              <a:t>k</a:t>
            </a:r>
            <a:r>
              <a:rPr lang="en-US" sz="2000" dirty="0"/>
              <a:t> times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Each step: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Remove head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Attach it at the tail</a:t>
            </a:r>
          </a:p>
          <a:p>
            <a:pPr>
              <a:buNone/>
            </a:pPr>
            <a:endParaRPr lang="en-US" sz="2000" dirty="0"/>
          </a:p>
          <a:p>
            <a:pPr>
              <a:buNone/>
            </a:pPr>
            <a:r>
              <a:rPr lang="en-US" sz="2000" b="1" dirty="0"/>
              <a:t>Brute Force Logic (Text Form)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Repeat </a:t>
            </a:r>
            <a:r>
              <a:rPr lang="en-US" sz="2000" dirty="0">
                <a:latin typeface="Courier New" panose="02070309020205020404" pitchFamily="49" charset="0"/>
              </a:rPr>
              <a:t>k</a:t>
            </a:r>
            <a:r>
              <a:rPr lang="en-US" sz="2000" dirty="0"/>
              <a:t> times: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Store head node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Move head to </a:t>
            </a:r>
            <a:r>
              <a:rPr lang="en-US" sz="2000" dirty="0">
                <a:latin typeface="Courier New" panose="02070309020205020404" pitchFamily="49" charset="0"/>
              </a:rPr>
              <a:t>head-&gt;next</a:t>
            </a:r>
            <a:endParaRPr lang="en-US" sz="2000" dirty="0"/>
          </a:p>
          <a:p>
            <a:pPr>
              <a:buFont typeface="+mj-lt"/>
              <a:buAutoNum type="arabicPeriod"/>
            </a:pPr>
            <a:r>
              <a:rPr lang="en-US" sz="2000" dirty="0"/>
              <a:t>Traverse to last node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Attach stored node at the end</a:t>
            </a:r>
          </a:p>
        </p:txBody>
      </p:sp>
    </p:spTree>
    <p:extLst>
      <p:ext uri="{BB962C8B-B14F-4D97-AF65-F5344CB8AC3E}">
        <p14:creationId xmlns:p14="http://schemas.microsoft.com/office/powerpoint/2010/main" val="46557203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79F1DD0-5F48-BAEF-C158-170F93443761}"/>
              </a:ext>
            </a:extLst>
          </p:cNvPr>
          <p:cNvSpPr txBox="1"/>
          <p:nvPr/>
        </p:nvSpPr>
        <p:spPr>
          <a:xfrm>
            <a:off x="540774" y="85550"/>
            <a:ext cx="4139381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/>
              <a:t>Brute Force Walkthrough</a:t>
            </a:r>
          </a:p>
          <a:p>
            <a:pPr>
              <a:buNone/>
            </a:pPr>
            <a:r>
              <a:rPr lang="en-IN" sz="2400" b="1" dirty="0"/>
              <a:t>Initial List</a:t>
            </a:r>
          </a:p>
          <a:p>
            <a:pPr rtl="0">
              <a:buNone/>
            </a:pPr>
            <a:r>
              <a:rPr lang="en-IN" sz="2400" dirty="0">
                <a:latin typeface="Courier New" panose="02070309020205020404" pitchFamily="49" charset="0"/>
              </a:rPr>
              <a:t>1 → 2 → 3 → 4 → 5</a:t>
            </a:r>
          </a:p>
          <a:p>
            <a:pPr>
              <a:buNone/>
            </a:pPr>
            <a:r>
              <a:rPr lang="en-IN" sz="2400" b="1" dirty="0"/>
              <a:t>Rotation 1</a:t>
            </a:r>
          </a:p>
          <a:p>
            <a:pPr rtl="0">
              <a:buNone/>
            </a:pPr>
            <a:r>
              <a:rPr lang="en-IN" sz="2400" dirty="0">
                <a:latin typeface="Courier New" panose="02070309020205020404" pitchFamily="49" charset="0"/>
              </a:rPr>
              <a:t>2 → 3 → 4 → 5 → 1</a:t>
            </a:r>
          </a:p>
          <a:p>
            <a:pPr>
              <a:buNone/>
            </a:pPr>
            <a:r>
              <a:rPr lang="en-IN" sz="2400" b="1" dirty="0"/>
              <a:t>Rotation 2</a:t>
            </a:r>
          </a:p>
          <a:p>
            <a:pPr rtl="0">
              <a:buNone/>
            </a:pPr>
            <a:r>
              <a:rPr lang="en-IN" sz="2400" dirty="0">
                <a:latin typeface="Courier New" panose="02070309020205020404" pitchFamily="49" charset="0"/>
              </a:rPr>
              <a:t>3 → 4 → 5 → 1 → 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00152B-405C-EC12-FB75-E4FD7F4C3A27}"/>
              </a:ext>
            </a:extLst>
          </p:cNvPr>
          <p:cNvSpPr txBox="1"/>
          <p:nvPr/>
        </p:nvSpPr>
        <p:spPr>
          <a:xfrm>
            <a:off x="540774" y="3062375"/>
            <a:ext cx="4670323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Brute Force Pseudocode</a:t>
            </a:r>
          </a:p>
          <a:p>
            <a:pPr rtl="0">
              <a:buNone/>
            </a:pPr>
            <a:r>
              <a:rPr lang="en-US" sz="2000" dirty="0">
                <a:latin typeface="Courier New" panose="02070309020205020404" pitchFamily="49" charset="0"/>
              </a:rPr>
              <a:t>for </a:t>
            </a:r>
            <a:r>
              <a:rPr lang="en-US" sz="2000" dirty="0" err="1">
                <a:latin typeface="Courier New" panose="02070309020205020404" pitchFamily="49" charset="0"/>
              </a:rPr>
              <a:t>i</a:t>
            </a:r>
            <a:r>
              <a:rPr lang="en-US" sz="2000" dirty="0">
                <a:latin typeface="Courier New" panose="02070309020205020404" pitchFamily="49" charset="0"/>
              </a:rPr>
              <a:t> = 1 to k:</a:t>
            </a:r>
          </a:p>
          <a:p>
            <a:pPr rtl="0">
              <a:buNone/>
            </a:pPr>
            <a:r>
              <a:rPr lang="en-US" sz="2000" dirty="0">
                <a:latin typeface="Courier New" panose="02070309020205020404" pitchFamily="49" charset="0"/>
              </a:rPr>
              <a:t>    temp = head</a:t>
            </a:r>
          </a:p>
          <a:p>
            <a:pPr rtl="0">
              <a:buNone/>
            </a:pPr>
            <a:r>
              <a:rPr lang="en-US" sz="2000" dirty="0">
                <a:latin typeface="Courier New" panose="02070309020205020404" pitchFamily="49" charset="0"/>
              </a:rPr>
              <a:t>    head = head-&gt;next</a:t>
            </a:r>
          </a:p>
          <a:p>
            <a:pPr rtl="0">
              <a:buNone/>
            </a:pPr>
            <a:r>
              <a:rPr lang="en-US" sz="2000" dirty="0">
                <a:latin typeface="Courier New" panose="02070309020205020404" pitchFamily="49" charset="0"/>
              </a:rPr>
              <a:t>    temp-&gt;next = NULL</a:t>
            </a:r>
          </a:p>
          <a:p>
            <a:pPr rtl="0">
              <a:buNone/>
            </a:pPr>
            <a:endParaRPr lang="en-US" sz="2000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US" sz="2000" dirty="0">
                <a:latin typeface="Courier New" panose="02070309020205020404" pitchFamily="49" charset="0"/>
              </a:rPr>
              <a:t>    </a:t>
            </a:r>
            <a:r>
              <a:rPr lang="en-US" sz="2000" dirty="0" err="1">
                <a:latin typeface="Courier New" panose="02070309020205020404" pitchFamily="49" charset="0"/>
              </a:rPr>
              <a:t>curr</a:t>
            </a:r>
            <a:r>
              <a:rPr lang="en-US" sz="2000" dirty="0">
                <a:latin typeface="Courier New" panose="02070309020205020404" pitchFamily="49" charset="0"/>
              </a:rPr>
              <a:t> = head</a:t>
            </a:r>
          </a:p>
          <a:p>
            <a:pPr rtl="0">
              <a:buNone/>
            </a:pPr>
            <a:r>
              <a:rPr lang="en-US" sz="2000" dirty="0">
                <a:latin typeface="Courier New" panose="02070309020205020404" pitchFamily="49" charset="0"/>
              </a:rPr>
              <a:t>    while </a:t>
            </a:r>
            <a:r>
              <a:rPr lang="en-US" sz="2000" dirty="0" err="1">
                <a:latin typeface="Courier New" panose="02070309020205020404" pitchFamily="49" charset="0"/>
              </a:rPr>
              <a:t>curr</a:t>
            </a:r>
            <a:r>
              <a:rPr lang="en-US" sz="2000" dirty="0">
                <a:latin typeface="Courier New" panose="02070309020205020404" pitchFamily="49" charset="0"/>
              </a:rPr>
              <a:t>-&gt;next != NULL:</a:t>
            </a:r>
          </a:p>
          <a:p>
            <a:pPr rtl="0">
              <a:buNone/>
            </a:pPr>
            <a:r>
              <a:rPr lang="en-US" sz="2000" dirty="0">
                <a:latin typeface="Courier New" panose="02070309020205020404" pitchFamily="49" charset="0"/>
              </a:rPr>
              <a:t>        </a:t>
            </a:r>
            <a:r>
              <a:rPr lang="en-US" sz="2000" dirty="0" err="1">
                <a:latin typeface="Courier New" panose="02070309020205020404" pitchFamily="49" charset="0"/>
              </a:rPr>
              <a:t>curr</a:t>
            </a:r>
            <a:r>
              <a:rPr lang="en-US" sz="2000" dirty="0">
                <a:latin typeface="Courier New" panose="02070309020205020404" pitchFamily="49" charset="0"/>
              </a:rPr>
              <a:t> = </a:t>
            </a:r>
            <a:r>
              <a:rPr lang="en-US" sz="2000" dirty="0" err="1">
                <a:latin typeface="Courier New" panose="02070309020205020404" pitchFamily="49" charset="0"/>
              </a:rPr>
              <a:t>curr</a:t>
            </a:r>
            <a:r>
              <a:rPr lang="en-US" sz="2000" dirty="0">
                <a:latin typeface="Courier New" panose="02070309020205020404" pitchFamily="49" charset="0"/>
              </a:rPr>
              <a:t>-&gt;next</a:t>
            </a:r>
          </a:p>
          <a:p>
            <a:pPr rtl="0">
              <a:buNone/>
            </a:pPr>
            <a:endParaRPr lang="en-US" sz="2000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US" sz="2000" dirty="0">
                <a:latin typeface="Courier New" panose="02070309020205020404" pitchFamily="49" charset="0"/>
              </a:rPr>
              <a:t>    </a:t>
            </a:r>
            <a:r>
              <a:rPr lang="en-US" sz="2000" dirty="0" err="1">
                <a:latin typeface="Courier New" panose="02070309020205020404" pitchFamily="49" charset="0"/>
              </a:rPr>
              <a:t>curr</a:t>
            </a:r>
            <a:r>
              <a:rPr lang="en-US" sz="2000" dirty="0">
                <a:latin typeface="Courier New" panose="02070309020205020404" pitchFamily="49" charset="0"/>
              </a:rPr>
              <a:t>-&gt;next = temp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2A7B3D-2A53-675C-0A03-D6E353C069C2}"/>
              </a:ext>
            </a:extLst>
          </p:cNvPr>
          <p:cNvSpPr txBox="1"/>
          <p:nvPr/>
        </p:nvSpPr>
        <p:spPr>
          <a:xfrm>
            <a:off x="5555226" y="36594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Brute Force Complexity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432DB4B-BB87-6EAC-038A-D06D32FF48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1217379"/>
              </p:ext>
            </p:extLst>
          </p:nvPr>
        </p:nvGraphicFramePr>
        <p:xfrm>
          <a:off x="4680155" y="1112577"/>
          <a:ext cx="7325032" cy="10972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662516">
                  <a:extLst>
                    <a:ext uri="{9D8B030D-6E8A-4147-A177-3AD203B41FA5}">
                      <a16:colId xmlns:a16="http://schemas.microsoft.com/office/drawing/2014/main" val="2916675736"/>
                    </a:ext>
                  </a:extLst>
                </a:gridCol>
                <a:gridCol w="3662516">
                  <a:extLst>
                    <a:ext uri="{9D8B030D-6E8A-4147-A177-3AD203B41FA5}">
                      <a16:colId xmlns:a16="http://schemas.microsoft.com/office/drawing/2014/main" val="55184161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28357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O(n × k)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774708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Space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O(1)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6499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7703184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D365BA0-883C-D004-1CEA-EAEBB63775FE}"/>
              </a:ext>
            </a:extLst>
          </p:cNvPr>
          <p:cNvSpPr txBox="1"/>
          <p:nvPr/>
        </p:nvSpPr>
        <p:spPr>
          <a:xfrm>
            <a:off x="324463" y="351528"/>
            <a:ext cx="11434918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APPROACH 2: Optimal Approach (One Traversal)</a:t>
            </a:r>
            <a:br>
              <a:rPr lang="en-US" sz="2400" dirty="0"/>
            </a:br>
            <a:endParaRPr lang="en-US" sz="2400" dirty="0"/>
          </a:p>
          <a:p>
            <a:pPr>
              <a:buNone/>
            </a:pPr>
            <a:r>
              <a:rPr lang="en-US" sz="2400" b="1" dirty="0"/>
              <a:t>Key Insight</a:t>
            </a:r>
          </a:p>
          <a:p>
            <a:pPr>
              <a:buNone/>
            </a:pPr>
            <a:r>
              <a:rPr lang="en-US" sz="2400" dirty="0"/>
              <a:t>Instead of rotating many times: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Find the </a:t>
            </a:r>
            <a:r>
              <a:rPr lang="en-US" sz="2400" b="1" dirty="0"/>
              <a:t>k-</a:t>
            </a:r>
            <a:r>
              <a:rPr lang="en-US" sz="2400" b="1" dirty="0" err="1"/>
              <a:t>th</a:t>
            </a:r>
            <a:r>
              <a:rPr lang="en-US" sz="2400" b="1" dirty="0"/>
              <a:t> node</a:t>
            </a: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Break the list there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Attach the first part at the end</a:t>
            </a:r>
          </a:p>
          <a:p>
            <a:pPr>
              <a:buNone/>
            </a:pPr>
            <a:br>
              <a:rPr lang="en-US" sz="2400" dirty="0"/>
            </a:br>
            <a:r>
              <a:rPr lang="en-US" sz="2400" b="1" dirty="0"/>
              <a:t>Optimal Logic</a:t>
            </a:r>
          </a:p>
          <a:p>
            <a:pPr>
              <a:buFont typeface="+mj-lt"/>
              <a:buAutoNum type="arabicPeriod"/>
            </a:pPr>
            <a:r>
              <a:rPr lang="en-US" sz="2400" dirty="0"/>
              <a:t>If list is empty or </a:t>
            </a:r>
            <a:r>
              <a:rPr lang="en-US" sz="2400" dirty="0">
                <a:latin typeface="Courier New" panose="02070309020205020404" pitchFamily="49" charset="0"/>
              </a:rPr>
              <a:t>k = 0</a:t>
            </a:r>
            <a:r>
              <a:rPr lang="en-US" sz="2400" dirty="0"/>
              <a:t>, return head</a:t>
            </a:r>
          </a:p>
          <a:p>
            <a:pPr>
              <a:buFont typeface="+mj-lt"/>
              <a:buAutoNum type="arabicPeriod"/>
            </a:pPr>
            <a:r>
              <a:rPr lang="en-US" sz="2400" dirty="0"/>
              <a:t>Traverse to find </a:t>
            </a:r>
            <a:r>
              <a:rPr lang="en-US" sz="2400" b="1" dirty="0"/>
              <a:t>length</a:t>
            </a:r>
            <a:endParaRPr lang="en-US" sz="2400" dirty="0"/>
          </a:p>
          <a:p>
            <a:pPr>
              <a:buFont typeface="+mj-lt"/>
              <a:buAutoNum type="arabicPeriod"/>
            </a:pPr>
            <a:r>
              <a:rPr lang="en-US" sz="2400" dirty="0"/>
              <a:t>If </a:t>
            </a:r>
            <a:r>
              <a:rPr lang="en-US" sz="2400" dirty="0">
                <a:latin typeface="Courier New" panose="02070309020205020404" pitchFamily="49" charset="0"/>
              </a:rPr>
              <a:t>k &gt;= length</a:t>
            </a:r>
            <a:r>
              <a:rPr lang="en-US" sz="2400" dirty="0"/>
              <a:t>, do </a:t>
            </a:r>
            <a:r>
              <a:rPr lang="en-US" sz="2400" dirty="0">
                <a:latin typeface="Courier New" panose="02070309020205020404" pitchFamily="49" charset="0"/>
              </a:rPr>
              <a:t>k = k % length</a:t>
            </a:r>
            <a:endParaRPr lang="en-US" sz="2400" dirty="0"/>
          </a:p>
          <a:p>
            <a:pPr>
              <a:buFont typeface="+mj-lt"/>
              <a:buAutoNum type="arabicPeriod"/>
            </a:pPr>
            <a:r>
              <a:rPr lang="en-US" sz="2400" dirty="0"/>
              <a:t>Traverse to the </a:t>
            </a:r>
            <a:r>
              <a:rPr lang="en-US" sz="2400" dirty="0">
                <a:latin typeface="Courier New" panose="02070309020205020404" pitchFamily="49" charset="0"/>
              </a:rPr>
              <a:t>k</a:t>
            </a:r>
            <a:r>
              <a:rPr lang="en-US" sz="2400" dirty="0"/>
              <a:t>-</a:t>
            </a:r>
            <a:r>
              <a:rPr lang="en-US" sz="2400" dirty="0" err="1"/>
              <a:t>th</a:t>
            </a:r>
            <a:r>
              <a:rPr lang="en-US" sz="2400" dirty="0"/>
              <a:t> node</a:t>
            </a:r>
          </a:p>
          <a:p>
            <a:pPr>
              <a:buFont typeface="+mj-lt"/>
              <a:buAutoNum type="arabicPeriod"/>
            </a:pPr>
            <a:r>
              <a:rPr lang="en-US" sz="2400" dirty="0"/>
              <a:t>Store </a:t>
            </a:r>
            <a:r>
              <a:rPr lang="en-US" sz="2400" dirty="0">
                <a:latin typeface="Courier New" panose="02070309020205020404" pitchFamily="49" charset="0"/>
              </a:rPr>
              <a:t>(k+1)</a:t>
            </a:r>
            <a:r>
              <a:rPr lang="en-US" sz="2400" dirty="0"/>
              <a:t>-</a:t>
            </a:r>
            <a:r>
              <a:rPr lang="en-US" sz="2400" dirty="0" err="1"/>
              <a:t>th</a:t>
            </a:r>
            <a:r>
              <a:rPr lang="en-US" sz="2400" dirty="0"/>
              <a:t> node as </a:t>
            </a:r>
            <a:r>
              <a:rPr lang="en-US" sz="2400" dirty="0" err="1">
                <a:latin typeface="Courier New" panose="02070309020205020404" pitchFamily="49" charset="0"/>
              </a:rPr>
              <a:t>newHead</a:t>
            </a:r>
            <a:endParaRPr lang="en-US" sz="2400" dirty="0"/>
          </a:p>
          <a:p>
            <a:pPr>
              <a:buFont typeface="+mj-lt"/>
              <a:buAutoNum type="arabicPeriod"/>
            </a:pPr>
            <a:r>
              <a:rPr lang="en-US" sz="2400" dirty="0"/>
              <a:t>Break link at </a:t>
            </a:r>
            <a:r>
              <a:rPr lang="en-US" sz="2400" dirty="0">
                <a:latin typeface="Courier New" panose="02070309020205020404" pitchFamily="49" charset="0"/>
              </a:rPr>
              <a:t>k</a:t>
            </a:r>
            <a:r>
              <a:rPr lang="en-US" sz="2400" dirty="0"/>
              <a:t>-</a:t>
            </a:r>
            <a:r>
              <a:rPr lang="en-US" sz="2400" dirty="0" err="1"/>
              <a:t>th</a:t>
            </a:r>
            <a:r>
              <a:rPr lang="en-US" sz="2400" dirty="0"/>
              <a:t> node</a:t>
            </a:r>
          </a:p>
          <a:p>
            <a:pPr>
              <a:buFont typeface="+mj-lt"/>
              <a:buAutoNum type="arabicPeriod"/>
            </a:pPr>
            <a:r>
              <a:rPr lang="en-US" sz="2400" dirty="0"/>
              <a:t>Connect last node to old head</a:t>
            </a:r>
          </a:p>
        </p:txBody>
      </p:sp>
    </p:spTree>
    <p:extLst>
      <p:ext uri="{BB962C8B-B14F-4D97-AF65-F5344CB8AC3E}">
        <p14:creationId xmlns:p14="http://schemas.microsoft.com/office/powerpoint/2010/main" val="386554631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ECBA658-942B-CEB5-B15A-37FBFDC45FCD}"/>
              </a:ext>
            </a:extLst>
          </p:cNvPr>
          <p:cNvSpPr txBox="1"/>
          <p:nvPr/>
        </p:nvSpPr>
        <p:spPr>
          <a:xfrm>
            <a:off x="471948" y="227099"/>
            <a:ext cx="8082117" cy="624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Optimal Walkthrough</a:t>
            </a:r>
          </a:p>
          <a:p>
            <a:pPr>
              <a:buNone/>
            </a:pPr>
            <a:endParaRPr lang="en-US" sz="2000" b="1" dirty="0"/>
          </a:p>
          <a:p>
            <a:pPr>
              <a:buNone/>
            </a:pPr>
            <a:r>
              <a:rPr lang="en-US" sz="2000" b="1" dirty="0"/>
              <a:t>Input</a:t>
            </a:r>
          </a:p>
          <a:p>
            <a:pPr rtl="0">
              <a:buNone/>
            </a:pPr>
            <a:r>
              <a:rPr lang="en-US" sz="2000" dirty="0">
                <a:latin typeface="Courier New" panose="02070309020205020404" pitchFamily="49" charset="0"/>
              </a:rPr>
              <a:t>1 → 2 → 3 → 4 → 5</a:t>
            </a:r>
          </a:p>
          <a:p>
            <a:pPr rtl="0">
              <a:buNone/>
            </a:pPr>
            <a:r>
              <a:rPr lang="en-US" sz="2000" dirty="0">
                <a:latin typeface="Courier New" panose="02070309020205020404" pitchFamily="49" charset="0"/>
              </a:rPr>
              <a:t>k = 2</a:t>
            </a:r>
          </a:p>
          <a:p>
            <a:pPr rtl="0">
              <a:buNone/>
            </a:pPr>
            <a:endParaRPr lang="en-US" sz="2000" dirty="0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2000" b="1" dirty="0"/>
              <a:t>Step 1: Length</a:t>
            </a:r>
          </a:p>
          <a:p>
            <a:pPr rtl="0">
              <a:buNone/>
            </a:pPr>
            <a:r>
              <a:rPr lang="en-US" sz="2000" dirty="0">
                <a:latin typeface="Courier New" panose="02070309020205020404" pitchFamily="49" charset="0"/>
              </a:rPr>
              <a:t>length = 5</a:t>
            </a:r>
          </a:p>
          <a:p>
            <a:pPr rtl="0">
              <a:buNone/>
            </a:pPr>
            <a:endParaRPr lang="en-US" sz="2000" dirty="0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2000" b="1" dirty="0"/>
              <a:t>Step 2: Locate k-</a:t>
            </a:r>
            <a:r>
              <a:rPr lang="en-US" sz="2000" b="1" dirty="0" err="1"/>
              <a:t>th</a:t>
            </a:r>
            <a:r>
              <a:rPr lang="en-US" sz="2000" b="1" dirty="0"/>
              <a:t> node</a:t>
            </a:r>
          </a:p>
          <a:p>
            <a:pPr rtl="0">
              <a:buNone/>
            </a:pPr>
            <a:r>
              <a:rPr lang="en-US" sz="2000" dirty="0">
                <a:latin typeface="Courier New" panose="02070309020205020404" pitchFamily="49" charset="0"/>
              </a:rPr>
              <a:t>k-</a:t>
            </a:r>
            <a:r>
              <a:rPr lang="en-US" sz="2000" dirty="0" err="1">
                <a:latin typeface="Courier New" panose="02070309020205020404" pitchFamily="49" charset="0"/>
              </a:rPr>
              <a:t>th</a:t>
            </a:r>
            <a:r>
              <a:rPr lang="en-US" sz="2000" dirty="0">
                <a:latin typeface="Courier New" panose="02070309020205020404" pitchFamily="49" charset="0"/>
              </a:rPr>
              <a:t> node = 2</a:t>
            </a:r>
          </a:p>
          <a:p>
            <a:pPr rtl="0">
              <a:buNone/>
            </a:pPr>
            <a:endParaRPr lang="en-US" sz="2000" dirty="0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2000" b="1" dirty="0"/>
              <a:t>Step 3: Break link</a:t>
            </a:r>
          </a:p>
          <a:p>
            <a:pPr rtl="0">
              <a:buNone/>
            </a:pPr>
            <a:r>
              <a:rPr lang="en-US" sz="2000" dirty="0">
                <a:latin typeface="Courier New" panose="02070309020205020404" pitchFamily="49" charset="0"/>
              </a:rPr>
              <a:t>2 → NULL</a:t>
            </a:r>
          </a:p>
          <a:p>
            <a:pPr rtl="0">
              <a:buNone/>
            </a:pPr>
            <a:endParaRPr lang="en-US" sz="2000" dirty="0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2000" b="1" dirty="0"/>
              <a:t>Step 4: New Head</a:t>
            </a:r>
          </a:p>
          <a:p>
            <a:pPr rtl="0">
              <a:buNone/>
            </a:pPr>
            <a:r>
              <a:rPr lang="en-US" sz="2000" dirty="0">
                <a:latin typeface="Courier New" panose="02070309020205020404" pitchFamily="49" charset="0"/>
              </a:rPr>
              <a:t>3 → 4 → 5</a:t>
            </a:r>
          </a:p>
          <a:p>
            <a:pPr rtl="0">
              <a:buNone/>
            </a:pPr>
            <a:endParaRPr lang="en-US" sz="2000" dirty="0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2000" b="1" dirty="0"/>
              <a:t>Step 5: Connect tail to old head</a:t>
            </a:r>
          </a:p>
          <a:p>
            <a:pPr rtl="0">
              <a:buNone/>
            </a:pPr>
            <a:r>
              <a:rPr lang="en-US" sz="2000" dirty="0">
                <a:latin typeface="Courier New" panose="02070309020205020404" pitchFamily="49" charset="0"/>
              </a:rPr>
              <a:t>3 → 4 → 5 → 1 → 2</a:t>
            </a:r>
          </a:p>
        </p:txBody>
      </p:sp>
    </p:spTree>
    <p:extLst>
      <p:ext uri="{BB962C8B-B14F-4D97-AF65-F5344CB8AC3E}">
        <p14:creationId xmlns:p14="http://schemas.microsoft.com/office/powerpoint/2010/main" val="77447291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F7B0EAA-5D8E-E8FF-D003-1A9890323AB5}"/>
              </a:ext>
            </a:extLst>
          </p:cNvPr>
          <p:cNvSpPr txBox="1"/>
          <p:nvPr/>
        </p:nvSpPr>
        <p:spPr>
          <a:xfrm>
            <a:off x="275304" y="206477"/>
            <a:ext cx="11729884" cy="6548284"/>
          </a:xfrm>
          <a:prstGeom prst="rect">
            <a:avLst/>
          </a:prstGeom>
          <a:noFill/>
        </p:spPr>
        <p:txBody>
          <a:bodyPr wrap="square" numCol="2">
            <a:spAutoFit/>
          </a:bodyPr>
          <a:lstStyle/>
          <a:p>
            <a:pPr>
              <a:buNone/>
            </a:pPr>
            <a:r>
              <a:rPr lang="en-US" b="1" dirty="0"/>
              <a:t>2 Optimal Pseudocode (C++-Style)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if head == NULL or k == 0: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return head</a:t>
            </a:r>
          </a:p>
          <a:p>
            <a:pPr rtl="0">
              <a:buNone/>
            </a:pPr>
            <a:endParaRPr lang="en-US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US" dirty="0" err="1">
                <a:latin typeface="Courier New" panose="02070309020205020404" pitchFamily="49" charset="0"/>
              </a:rPr>
              <a:t>curr</a:t>
            </a:r>
            <a:r>
              <a:rPr lang="en-US" dirty="0">
                <a:latin typeface="Courier New" panose="02070309020205020404" pitchFamily="49" charset="0"/>
              </a:rPr>
              <a:t> = head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length = 1</a:t>
            </a:r>
          </a:p>
          <a:p>
            <a:pPr rtl="0">
              <a:buNone/>
            </a:pPr>
            <a:endParaRPr lang="en-US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while </a:t>
            </a:r>
            <a:r>
              <a:rPr lang="en-US" dirty="0" err="1">
                <a:latin typeface="Courier New" panose="02070309020205020404" pitchFamily="49" charset="0"/>
              </a:rPr>
              <a:t>curr</a:t>
            </a:r>
            <a:r>
              <a:rPr lang="en-US" dirty="0">
                <a:latin typeface="Courier New" panose="02070309020205020404" pitchFamily="49" charset="0"/>
              </a:rPr>
              <a:t>-&gt;next != NULL: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</a:rPr>
              <a:t>curr</a:t>
            </a:r>
            <a:r>
              <a:rPr lang="en-US" dirty="0">
                <a:latin typeface="Courier New" panose="02070309020205020404" pitchFamily="49" charset="0"/>
              </a:rPr>
              <a:t> = </a:t>
            </a:r>
            <a:r>
              <a:rPr lang="en-US" dirty="0" err="1">
                <a:latin typeface="Courier New" panose="02070309020205020404" pitchFamily="49" charset="0"/>
              </a:rPr>
              <a:t>curr</a:t>
            </a:r>
            <a:r>
              <a:rPr lang="en-US" dirty="0">
                <a:latin typeface="Courier New" panose="02070309020205020404" pitchFamily="49" charset="0"/>
              </a:rPr>
              <a:t>-&gt;next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length++</a:t>
            </a:r>
          </a:p>
          <a:p>
            <a:pPr rtl="0">
              <a:buNone/>
            </a:pPr>
            <a:endParaRPr lang="en-US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k = k % length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if k == 0: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return head</a:t>
            </a:r>
          </a:p>
          <a:p>
            <a:pPr rtl="0">
              <a:buNone/>
            </a:pPr>
            <a:endParaRPr lang="en-US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US" dirty="0" err="1">
                <a:latin typeface="Courier New" panose="02070309020205020404" pitchFamily="49" charset="0"/>
              </a:rPr>
              <a:t>curr</a:t>
            </a:r>
            <a:r>
              <a:rPr lang="en-US" dirty="0">
                <a:latin typeface="Courier New" panose="02070309020205020404" pitchFamily="49" charset="0"/>
              </a:rPr>
              <a:t> = head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for </a:t>
            </a:r>
            <a:r>
              <a:rPr lang="en-US" dirty="0" err="1">
                <a:latin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</a:rPr>
              <a:t> = 1 to k-1: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</a:rPr>
              <a:t>curr</a:t>
            </a:r>
            <a:r>
              <a:rPr lang="en-US" dirty="0">
                <a:latin typeface="Courier New" panose="02070309020205020404" pitchFamily="49" charset="0"/>
              </a:rPr>
              <a:t> = </a:t>
            </a:r>
            <a:r>
              <a:rPr lang="en-US" dirty="0" err="1">
                <a:latin typeface="Courier New" panose="02070309020205020404" pitchFamily="49" charset="0"/>
              </a:rPr>
              <a:t>curr</a:t>
            </a:r>
            <a:r>
              <a:rPr lang="en-US" dirty="0">
                <a:latin typeface="Courier New" panose="02070309020205020404" pitchFamily="49" charset="0"/>
              </a:rPr>
              <a:t>-&gt;next</a:t>
            </a:r>
          </a:p>
          <a:p>
            <a:pPr rtl="0">
              <a:buNone/>
            </a:pPr>
            <a:endParaRPr lang="en-US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US" dirty="0" err="1">
                <a:latin typeface="Courier New" panose="02070309020205020404" pitchFamily="49" charset="0"/>
              </a:rPr>
              <a:t>newHead</a:t>
            </a:r>
            <a:r>
              <a:rPr lang="en-US" dirty="0">
                <a:latin typeface="Courier New" panose="02070309020205020404" pitchFamily="49" charset="0"/>
              </a:rPr>
              <a:t> = </a:t>
            </a:r>
            <a:r>
              <a:rPr lang="en-US" dirty="0" err="1">
                <a:latin typeface="Courier New" panose="02070309020205020404" pitchFamily="49" charset="0"/>
              </a:rPr>
              <a:t>curr</a:t>
            </a:r>
            <a:r>
              <a:rPr lang="en-US" dirty="0">
                <a:latin typeface="Courier New" panose="02070309020205020404" pitchFamily="49" charset="0"/>
              </a:rPr>
              <a:t>-&gt;next</a:t>
            </a:r>
          </a:p>
          <a:p>
            <a:pPr rtl="0">
              <a:buNone/>
            </a:pPr>
            <a:r>
              <a:rPr lang="en-US" dirty="0" err="1">
                <a:latin typeface="Courier New" panose="02070309020205020404" pitchFamily="49" charset="0"/>
              </a:rPr>
              <a:t>curr</a:t>
            </a:r>
            <a:r>
              <a:rPr lang="en-US" dirty="0">
                <a:latin typeface="Courier New" panose="02070309020205020404" pitchFamily="49" charset="0"/>
              </a:rPr>
              <a:t>-&gt;next = NULL</a:t>
            </a:r>
          </a:p>
          <a:p>
            <a:pPr rtl="0">
              <a:buNone/>
            </a:pPr>
            <a:endParaRPr lang="en-US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tail = </a:t>
            </a:r>
            <a:r>
              <a:rPr lang="en-US" dirty="0" err="1">
                <a:latin typeface="Courier New" panose="02070309020205020404" pitchFamily="49" charset="0"/>
              </a:rPr>
              <a:t>newHead</a:t>
            </a:r>
            <a:endParaRPr lang="en-US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while tail-&gt;next != NULL: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tail = tail-&gt;next</a:t>
            </a:r>
          </a:p>
          <a:p>
            <a:pPr rtl="0">
              <a:buNone/>
            </a:pPr>
            <a:endParaRPr lang="en-US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tail-&gt;next = head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return </a:t>
            </a:r>
            <a:r>
              <a:rPr lang="en-US" dirty="0" err="1">
                <a:latin typeface="Courier New" panose="02070309020205020404" pitchFamily="49" charset="0"/>
              </a:rPr>
              <a:t>newHead</a:t>
            </a:r>
            <a:endParaRPr lang="en-US" dirty="0"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196067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C42A7E0-70E4-884B-C46D-B999437B17E6}"/>
              </a:ext>
            </a:extLst>
          </p:cNvPr>
          <p:cNvSpPr txBox="1"/>
          <p:nvPr/>
        </p:nvSpPr>
        <p:spPr>
          <a:xfrm>
            <a:off x="108155" y="188959"/>
            <a:ext cx="28710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3 Optimal Complexity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AB9A755-A7DC-905A-3015-769BA3BFFA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5030280"/>
              </p:ext>
            </p:extLst>
          </p:nvPr>
        </p:nvGraphicFramePr>
        <p:xfrm>
          <a:off x="838200" y="758608"/>
          <a:ext cx="10515600" cy="10972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71582279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52490798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8525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O(n)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74907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Space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O(1)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465455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403962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5B4B327-BB62-E14E-B676-7BF8DE7A38C7}"/>
              </a:ext>
            </a:extLst>
          </p:cNvPr>
          <p:cNvSpPr txBox="1"/>
          <p:nvPr/>
        </p:nvSpPr>
        <p:spPr>
          <a:xfrm>
            <a:off x="167148" y="260835"/>
            <a:ext cx="5594555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/>
              <a:t>Group Anagrams</a:t>
            </a:r>
          </a:p>
          <a:p>
            <a:pPr>
              <a:buNone/>
            </a:pPr>
            <a:br>
              <a:rPr lang="en-US" dirty="0"/>
            </a:br>
            <a:r>
              <a:rPr lang="en-US" b="1" dirty="0"/>
              <a:t>Problem in Simple Words</a:t>
            </a:r>
          </a:p>
          <a:p>
            <a:pPr>
              <a:buNone/>
            </a:pPr>
            <a:r>
              <a:rPr lang="en-US" dirty="0"/>
              <a:t>You are given a list of </a:t>
            </a:r>
            <a:r>
              <a:rPr lang="en-US" b="1" dirty="0"/>
              <a:t>strings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Two strings are </a:t>
            </a:r>
            <a:r>
              <a:rPr lang="en-US" b="1" dirty="0"/>
              <a:t>anagrams</a:t>
            </a:r>
            <a:r>
              <a:rPr lang="en-US" dirty="0"/>
              <a:t> if they contain the </a:t>
            </a:r>
            <a:r>
              <a:rPr lang="en-US" b="1" dirty="0"/>
              <a:t>same characters with the same frequency</a:t>
            </a:r>
            <a:r>
              <a:rPr lang="en-US" dirty="0"/>
              <a:t>, but possibly in a different order.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Your task is to </a:t>
            </a:r>
            <a:r>
              <a:rPr lang="en-US" b="1" dirty="0"/>
              <a:t>group all anagrams together</a:t>
            </a:r>
            <a:r>
              <a:rPr lang="en-US" dirty="0"/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52BE15-DEC9-4607-D326-ADEADC7E8984}"/>
              </a:ext>
            </a:extLst>
          </p:cNvPr>
          <p:cNvSpPr txBox="1"/>
          <p:nvPr/>
        </p:nvSpPr>
        <p:spPr>
          <a:xfrm>
            <a:off x="5761703" y="260836"/>
            <a:ext cx="6184491" cy="594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/>
              <a:t>Example</a:t>
            </a:r>
          </a:p>
          <a:p>
            <a:pPr>
              <a:buNone/>
            </a:pPr>
            <a:r>
              <a:rPr lang="en-IN" sz="2000" b="1" dirty="0"/>
              <a:t>Input</a:t>
            </a:r>
          </a:p>
          <a:p>
            <a:pPr rtl="0">
              <a:buNone/>
            </a:pPr>
            <a:r>
              <a:rPr lang="en-IN" sz="2000" dirty="0">
                <a:latin typeface="Courier New" panose="02070309020205020404" pitchFamily="49" charset="0"/>
              </a:rPr>
              <a:t>strs = ["eat", "tea", "tan", "ate", "</a:t>
            </a:r>
            <a:r>
              <a:rPr lang="en-IN" sz="2000" dirty="0" err="1">
                <a:latin typeface="Courier New" panose="02070309020205020404" pitchFamily="49" charset="0"/>
              </a:rPr>
              <a:t>nat</a:t>
            </a:r>
            <a:r>
              <a:rPr lang="en-IN" sz="2000" dirty="0">
                <a:latin typeface="Courier New" panose="02070309020205020404" pitchFamily="49" charset="0"/>
              </a:rPr>
              <a:t>", "bat"]</a:t>
            </a:r>
          </a:p>
          <a:p>
            <a:pPr rtl="0">
              <a:buNone/>
            </a:pPr>
            <a:endParaRPr lang="en-IN" sz="2000" dirty="0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IN" sz="2000" b="1" dirty="0"/>
              <a:t>Output</a:t>
            </a:r>
          </a:p>
          <a:p>
            <a:pPr rtl="0">
              <a:buNone/>
            </a:pPr>
            <a:r>
              <a:rPr lang="en-IN" sz="2000" dirty="0">
                <a:latin typeface="Courier New" panose="02070309020205020404" pitchFamily="49" charset="0"/>
              </a:rPr>
              <a:t>[</a:t>
            </a:r>
          </a:p>
          <a:p>
            <a:pPr rtl="0">
              <a:buNone/>
            </a:pPr>
            <a:r>
              <a:rPr lang="en-IN" sz="2000" dirty="0">
                <a:latin typeface="Courier New" panose="02070309020205020404" pitchFamily="49" charset="0"/>
              </a:rPr>
              <a:t>  ["eat", "tea", "ate"],</a:t>
            </a:r>
          </a:p>
          <a:p>
            <a:pPr rtl="0">
              <a:buNone/>
            </a:pPr>
            <a:r>
              <a:rPr lang="en-IN" sz="2000" dirty="0">
                <a:latin typeface="Courier New" panose="02070309020205020404" pitchFamily="49" charset="0"/>
              </a:rPr>
              <a:t>  ["tan", "</a:t>
            </a:r>
            <a:r>
              <a:rPr lang="en-IN" sz="2000" dirty="0" err="1">
                <a:latin typeface="Courier New" panose="02070309020205020404" pitchFamily="49" charset="0"/>
              </a:rPr>
              <a:t>nat</a:t>
            </a:r>
            <a:r>
              <a:rPr lang="en-IN" sz="2000" dirty="0">
                <a:latin typeface="Courier New" panose="02070309020205020404" pitchFamily="49" charset="0"/>
              </a:rPr>
              <a:t>"],</a:t>
            </a:r>
          </a:p>
          <a:p>
            <a:pPr rtl="0">
              <a:buNone/>
            </a:pPr>
            <a:r>
              <a:rPr lang="en-IN" sz="2000" dirty="0">
                <a:latin typeface="Courier New" panose="02070309020205020404" pitchFamily="49" charset="0"/>
              </a:rPr>
              <a:t>  ["bat"]</a:t>
            </a:r>
          </a:p>
          <a:p>
            <a:pPr rtl="0">
              <a:buNone/>
            </a:pPr>
            <a:r>
              <a:rPr lang="en-IN" sz="2000" dirty="0">
                <a:latin typeface="Courier New" panose="02070309020205020404" pitchFamily="49" charset="0"/>
              </a:rPr>
              <a:t>]</a:t>
            </a:r>
          </a:p>
          <a:p>
            <a:pPr>
              <a:buNone/>
            </a:pPr>
            <a:br>
              <a:rPr lang="en-IN" sz="2000" dirty="0"/>
            </a:br>
            <a:r>
              <a:rPr lang="en-IN" sz="2000" b="1" dirty="0"/>
              <a:t>What Makes Two Strings Anagrams?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Same length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Same characters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Same frequency of characters</a:t>
            </a:r>
          </a:p>
          <a:p>
            <a:pPr>
              <a:buNone/>
            </a:pPr>
            <a:r>
              <a:rPr lang="en-IN" sz="2000" dirty="0"/>
              <a:t>Example:</a:t>
            </a:r>
          </a:p>
          <a:p>
            <a:pPr rtl="0">
              <a:buNone/>
            </a:pPr>
            <a:r>
              <a:rPr lang="en-IN" sz="2000" dirty="0">
                <a:latin typeface="Courier New" panose="02070309020205020404" pitchFamily="49" charset="0"/>
              </a:rPr>
              <a:t>eat → {a:1, e:1, t:1}</a:t>
            </a:r>
          </a:p>
          <a:p>
            <a:pPr rtl="0">
              <a:buNone/>
            </a:pPr>
            <a:r>
              <a:rPr lang="en-IN" sz="2000" dirty="0">
                <a:latin typeface="Courier New" panose="02070309020205020404" pitchFamily="49" charset="0"/>
              </a:rPr>
              <a:t>tea → {a:1, e:1, t:1}</a:t>
            </a:r>
          </a:p>
        </p:txBody>
      </p:sp>
    </p:spTree>
    <p:extLst>
      <p:ext uri="{BB962C8B-B14F-4D97-AF65-F5344CB8AC3E}">
        <p14:creationId xmlns:p14="http://schemas.microsoft.com/office/powerpoint/2010/main" val="102461818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70C1099-565B-9A76-5EA2-8D55A09994A8}"/>
              </a:ext>
            </a:extLst>
          </p:cNvPr>
          <p:cNvSpPr txBox="1"/>
          <p:nvPr/>
        </p:nvSpPr>
        <p:spPr>
          <a:xfrm>
            <a:off x="226141" y="186076"/>
            <a:ext cx="5633885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APPROACH 1: Brute Force (Compare Every String)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Brute Force Idea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Pick one string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Compare it with every other string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If anagram, put in same group</a:t>
            </a:r>
          </a:p>
          <a:p>
            <a:pPr>
              <a:buNone/>
            </a:pPr>
            <a:br>
              <a:rPr lang="en-US" dirty="0"/>
            </a:br>
            <a:r>
              <a:rPr lang="en-US" b="1" dirty="0"/>
              <a:t>Brute Force Logic</a:t>
            </a:r>
          </a:p>
          <a:p>
            <a:pPr>
              <a:buFont typeface="+mj-lt"/>
              <a:buAutoNum type="arabicPeriod"/>
            </a:pPr>
            <a:r>
              <a:rPr lang="en-US" dirty="0"/>
              <a:t>Create a visited array</a:t>
            </a:r>
          </a:p>
          <a:p>
            <a:pPr>
              <a:buFont typeface="+mj-lt"/>
              <a:buAutoNum type="arabicPeriod"/>
            </a:pPr>
            <a:r>
              <a:rPr lang="en-US" dirty="0"/>
              <a:t>For each string: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If not visited, create a new group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Compare with remaining strings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Add anagrams to the group</a:t>
            </a:r>
          </a:p>
          <a:p>
            <a:pPr>
              <a:buFont typeface="+mj-lt"/>
              <a:buAutoNum type="arabicPeriod"/>
            </a:pPr>
            <a:r>
              <a:rPr lang="en-US" dirty="0"/>
              <a:t>Mark grouped strings as visited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9C2DAD-A61F-51C5-51F0-7CF21818B53D}"/>
              </a:ext>
            </a:extLst>
          </p:cNvPr>
          <p:cNvSpPr txBox="1"/>
          <p:nvPr/>
        </p:nvSpPr>
        <p:spPr>
          <a:xfrm>
            <a:off x="6096000" y="186076"/>
            <a:ext cx="60960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Brute Force Walkthrough</a:t>
            </a:r>
          </a:p>
          <a:p>
            <a:pPr>
              <a:buNone/>
            </a:pPr>
            <a:endParaRPr lang="en-IN" b="1" dirty="0"/>
          </a:p>
          <a:p>
            <a:pPr>
              <a:buNone/>
            </a:pPr>
            <a:r>
              <a:rPr lang="en-IN" b="1" dirty="0"/>
              <a:t>Input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["eat", "tea", "tan", "ate"]</a:t>
            </a:r>
          </a:p>
          <a:p>
            <a:pPr rtl="0">
              <a:buNone/>
            </a:pPr>
            <a:endParaRPr lang="en-IN" dirty="0">
              <a:latin typeface="Courier New" panose="02070309020205020404" pitchFamily="49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Pick </a:t>
            </a:r>
            <a:r>
              <a:rPr lang="en-IN" dirty="0">
                <a:latin typeface="Courier New" panose="02070309020205020404" pitchFamily="49" charset="0"/>
              </a:rPr>
              <a:t>"eat"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Courier New" panose="02070309020205020404" pitchFamily="49" charset="0"/>
              </a:rPr>
              <a:t>"tea"</a:t>
            </a:r>
            <a:r>
              <a:rPr lang="en-IN" dirty="0"/>
              <a:t> → anagram → same group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Courier New" panose="02070309020205020404" pitchFamily="49" charset="0"/>
              </a:rPr>
              <a:t>"tan"</a:t>
            </a:r>
            <a:r>
              <a:rPr lang="en-IN" dirty="0"/>
              <a:t> → not anagram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Courier New" panose="02070309020205020404" pitchFamily="49" charset="0"/>
              </a:rPr>
              <a:t>"ate"</a:t>
            </a:r>
            <a:r>
              <a:rPr lang="en-IN" dirty="0"/>
              <a:t> → anagram → same group</a:t>
            </a:r>
          </a:p>
          <a:p>
            <a:pPr>
              <a:buNone/>
            </a:pPr>
            <a:r>
              <a:rPr lang="en-IN" dirty="0"/>
              <a:t>Group formed:</a:t>
            </a:r>
          </a:p>
          <a:p>
            <a:pPr>
              <a:buNone/>
            </a:pPr>
            <a:endParaRPr lang="en-IN" dirty="0"/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["eat", "tea", "ate"]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Pick </a:t>
            </a:r>
            <a:r>
              <a:rPr lang="en-IN" dirty="0">
                <a:latin typeface="Courier New" panose="02070309020205020404" pitchFamily="49" charset="0"/>
              </a:rPr>
              <a:t>"tan"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Courier New" panose="02070309020205020404" pitchFamily="49" charset="0"/>
              </a:rPr>
              <a:t>"</a:t>
            </a:r>
            <a:r>
              <a:rPr lang="en-IN" dirty="0" err="1">
                <a:latin typeface="Courier New" panose="02070309020205020404" pitchFamily="49" charset="0"/>
              </a:rPr>
              <a:t>nat</a:t>
            </a:r>
            <a:r>
              <a:rPr lang="en-IN" dirty="0">
                <a:latin typeface="Courier New" panose="02070309020205020404" pitchFamily="49" charset="0"/>
              </a:rPr>
              <a:t>"</a:t>
            </a:r>
            <a:r>
              <a:rPr lang="en-IN" dirty="0"/>
              <a:t> → anagram</a:t>
            </a:r>
          </a:p>
        </p:txBody>
      </p:sp>
    </p:spTree>
    <p:extLst>
      <p:ext uri="{BB962C8B-B14F-4D97-AF65-F5344CB8AC3E}">
        <p14:creationId xmlns:p14="http://schemas.microsoft.com/office/powerpoint/2010/main" val="102699312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E559303-912F-54CC-096F-3DBADC100B20}"/>
              </a:ext>
            </a:extLst>
          </p:cNvPr>
          <p:cNvSpPr txBox="1"/>
          <p:nvPr/>
        </p:nvSpPr>
        <p:spPr>
          <a:xfrm>
            <a:off x="206477" y="135218"/>
            <a:ext cx="11690556" cy="6599879"/>
          </a:xfrm>
          <a:prstGeom prst="rect">
            <a:avLst/>
          </a:prstGeom>
          <a:noFill/>
        </p:spPr>
        <p:txBody>
          <a:bodyPr wrap="square" numCol="2">
            <a:spAutoFit/>
          </a:bodyPr>
          <a:lstStyle/>
          <a:p>
            <a:pPr>
              <a:buNone/>
            </a:pPr>
            <a:r>
              <a:rPr lang="en-IN" b="1" dirty="0"/>
              <a:t>Brute Force Pseudocode (C++-Style)</a:t>
            </a:r>
          </a:p>
          <a:p>
            <a:pPr>
              <a:buNone/>
            </a:pPr>
            <a:endParaRPr lang="en-IN" b="1" dirty="0"/>
          </a:p>
          <a:p>
            <a:pPr>
              <a:buNone/>
            </a:pPr>
            <a:r>
              <a:rPr lang="en-IN" dirty="0"/>
              <a:t>class Solution {</a:t>
            </a:r>
          </a:p>
          <a:p>
            <a:pPr>
              <a:buNone/>
            </a:pPr>
            <a:r>
              <a:rPr lang="en-IN" dirty="0"/>
              <a:t>public:</a:t>
            </a:r>
          </a:p>
          <a:p>
            <a:pPr>
              <a:buNone/>
            </a:pPr>
            <a:r>
              <a:rPr lang="en-IN" dirty="0"/>
              <a:t>    vector&lt;vector&lt;string&gt;&gt; </a:t>
            </a:r>
            <a:r>
              <a:rPr lang="en-IN" dirty="0" err="1"/>
              <a:t>groupAnagrams</a:t>
            </a:r>
            <a:r>
              <a:rPr lang="en-IN" dirty="0"/>
              <a:t>(vector&lt;string&gt;&amp; strs) {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        int n = </a:t>
            </a:r>
            <a:r>
              <a:rPr lang="en-IN" dirty="0" err="1"/>
              <a:t>strs.size</a:t>
            </a:r>
            <a:r>
              <a:rPr lang="en-IN" dirty="0"/>
              <a:t>();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        vector&lt;bool&gt; visited(n, false);</a:t>
            </a:r>
          </a:p>
          <a:p>
            <a:pPr>
              <a:buNone/>
            </a:pPr>
            <a:r>
              <a:rPr lang="en-IN" dirty="0"/>
              <a:t>        vector&lt;vector&lt;string&gt;&gt; result;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        for (int </a:t>
            </a:r>
            <a:r>
              <a:rPr lang="en-IN" dirty="0" err="1"/>
              <a:t>i</a:t>
            </a:r>
            <a:r>
              <a:rPr lang="en-IN" dirty="0"/>
              <a:t> = 0; </a:t>
            </a:r>
            <a:r>
              <a:rPr lang="en-IN" dirty="0" err="1"/>
              <a:t>i</a:t>
            </a:r>
            <a:r>
              <a:rPr lang="en-IN" dirty="0"/>
              <a:t> &lt; n; </a:t>
            </a:r>
            <a:r>
              <a:rPr lang="en-IN" dirty="0" err="1"/>
              <a:t>i</a:t>
            </a:r>
            <a:r>
              <a:rPr lang="en-IN" dirty="0"/>
              <a:t>++) {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            if (visited[</a:t>
            </a:r>
            <a:r>
              <a:rPr lang="en-IN" dirty="0" err="1"/>
              <a:t>i</a:t>
            </a:r>
            <a:r>
              <a:rPr lang="en-IN" dirty="0"/>
              <a:t>] == true)</a:t>
            </a:r>
          </a:p>
          <a:p>
            <a:pPr>
              <a:buNone/>
            </a:pPr>
            <a:r>
              <a:rPr lang="en-IN" dirty="0"/>
              <a:t>                continue;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            vector&lt;string&gt; group;</a:t>
            </a:r>
          </a:p>
          <a:p>
            <a:pPr>
              <a:buNone/>
            </a:pPr>
            <a:r>
              <a:rPr lang="en-IN" dirty="0"/>
              <a:t>            </a:t>
            </a:r>
            <a:r>
              <a:rPr lang="en-IN" dirty="0" err="1"/>
              <a:t>group.push_back</a:t>
            </a:r>
            <a:r>
              <a:rPr lang="en-IN" dirty="0"/>
              <a:t>(strs[</a:t>
            </a:r>
            <a:r>
              <a:rPr lang="en-IN" dirty="0" err="1"/>
              <a:t>i</a:t>
            </a:r>
            <a:r>
              <a:rPr lang="en-IN" dirty="0"/>
              <a:t>]);</a:t>
            </a:r>
          </a:p>
          <a:p>
            <a:pPr>
              <a:buNone/>
            </a:pPr>
            <a:r>
              <a:rPr lang="en-IN" dirty="0"/>
              <a:t>            visited[</a:t>
            </a:r>
            <a:r>
              <a:rPr lang="en-IN" dirty="0" err="1"/>
              <a:t>i</a:t>
            </a:r>
            <a:r>
              <a:rPr lang="en-IN" dirty="0"/>
              <a:t>] = true;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            for (int j = </a:t>
            </a:r>
            <a:r>
              <a:rPr lang="en-IN" dirty="0" err="1"/>
              <a:t>i</a:t>
            </a:r>
            <a:r>
              <a:rPr lang="en-IN" dirty="0"/>
              <a:t> + 1; j &lt; n; </a:t>
            </a:r>
            <a:r>
              <a:rPr lang="en-IN" dirty="0" err="1"/>
              <a:t>j++</a:t>
            </a:r>
            <a:r>
              <a:rPr lang="en-IN" dirty="0"/>
              <a:t>) {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                if (visited[j] == false &amp;&amp; </a:t>
            </a:r>
            <a:r>
              <a:rPr lang="en-IN" dirty="0" err="1"/>
              <a:t>isAnagram</a:t>
            </a:r>
            <a:r>
              <a:rPr lang="en-IN" dirty="0"/>
              <a:t>(strs[</a:t>
            </a:r>
            <a:r>
              <a:rPr lang="en-IN" dirty="0" err="1"/>
              <a:t>i</a:t>
            </a:r>
            <a:r>
              <a:rPr lang="en-IN" dirty="0"/>
              <a:t>], strs[j])) {</a:t>
            </a:r>
          </a:p>
          <a:p>
            <a:pPr>
              <a:buNone/>
            </a:pPr>
            <a:r>
              <a:rPr lang="en-IN" dirty="0"/>
              <a:t>                    </a:t>
            </a:r>
            <a:r>
              <a:rPr lang="en-IN" dirty="0" err="1"/>
              <a:t>group.push_back</a:t>
            </a:r>
            <a:r>
              <a:rPr lang="en-IN" dirty="0"/>
              <a:t>(strs[j]);</a:t>
            </a:r>
          </a:p>
          <a:p>
            <a:pPr>
              <a:buNone/>
            </a:pPr>
            <a:r>
              <a:rPr lang="en-IN" dirty="0"/>
              <a:t>                    visited[j] = true;</a:t>
            </a:r>
          </a:p>
          <a:p>
            <a:pPr>
              <a:buNone/>
            </a:pPr>
            <a:r>
              <a:rPr lang="en-IN" dirty="0"/>
              <a:t>                }</a:t>
            </a:r>
          </a:p>
          <a:p>
            <a:pPr>
              <a:buNone/>
            </a:pPr>
            <a:r>
              <a:rPr lang="en-IN" dirty="0"/>
              <a:t>            }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            </a:t>
            </a:r>
            <a:r>
              <a:rPr lang="en-IN" dirty="0" err="1"/>
              <a:t>result.push_back</a:t>
            </a:r>
            <a:r>
              <a:rPr lang="en-IN" dirty="0"/>
              <a:t>(group);</a:t>
            </a:r>
          </a:p>
          <a:p>
            <a:pPr>
              <a:buNone/>
            </a:pPr>
            <a:r>
              <a:rPr lang="en-IN" dirty="0"/>
              <a:t>        }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        return result;</a:t>
            </a:r>
          </a:p>
          <a:p>
            <a:pPr>
              <a:buNone/>
            </a:pPr>
            <a:r>
              <a:rPr lang="en-IN" dirty="0"/>
              <a:t>    }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US" dirty="0"/>
              <a:t>bool </a:t>
            </a:r>
            <a:r>
              <a:rPr lang="en-US" dirty="0" err="1"/>
              <a:t>isAnagram</a:t>
            </a:r>
            <a:r>
              <a:rPr lang="en-US" dirty="0"/>
              <a:t>(string a, string b){</a:t>
            </a:r>
          </a:p>
          <a:p>
            <a:pPr>
              <a:buNone/>
            </a:pPr>
            <a:r>
              <a:rPr lang="en-US" dirty="0"/>
              <a:t>    if length(a) != length(b):</a:t>
            </a:r>
          </a:p>
          <a:p>
            <a:pPr>
              <a:buNone/>
            </a:pPr>
            <a:r>
              <a:rPr lang="en-US" dirty="0"/>
              <a:t>        return false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    sort(a)</a:t>
            </a:r>
          </a:p>
          <a:p>
            <a:pPr>
              <a:buNone/>
            </a:pPr>
            <a:r>
              <a:rPr lang="en-US" dirty="0"/>
              <a:t>    sort(b)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    return a == b</a:t>
            </a:r>
            <a:endParaRPr lang="en-IN" dirty="0"/>
          </a:p>
          <a:p>
            <a:pPr>
              <a:buNone/>
            </a:pPr>
            <a:r>
              <a:rPr lang="en-IN" dirty="0"/>
              <a:t>	}</a:t>
            </a:r>
          </a:p>
          <a:p>
            <a:pPr>
              <a:buNone/>
            </a:pPr>
            <a:r>
              <a:rPr lang="en-IN" dirty="0"/>
              <a:t>};</a:t>
            </a:r>
            <a:r>
              <a:rPr lang="en-US" dirty="0"/>
              <a:t> </a:t>
            </a:r>
          </a:p>
          <a:p>
            <a:pP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891035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72DB773-FE91-1B8A-F2F7-96D3EEED57F9}"/>
              </a:ext>
            </a:extLst>
          </p:cNvPr>
          <p:cNvSpPr txBox="1"/>
          <p:nvPr/>
        </p:nvSpPr>
        <p:spPr>
          <a:xfrm>
            <a:off x="78658" y="174547"/>
            <a:ext cx="44245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Brute Force Complexity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DBA8A20-935A-7B4C-1A6B-C9907AF7D1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0399711"/>
              </p:ext>
            </p:extLst>
          </p:nvPr>
        </p:nvGraphicFramePr>
        <p:xfrm>
          <a:off x="100764" y="906099"/>
          <a:ext cx="7332408" cy="10972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666204">
                  <a:extLst>
                    <a:ext uri="{9D8B030D-6E8A-4147-A177-3AD203B41FA5}">
                      <a16:colId xmlns:a16="http://schemas.microsoft.com/office/drawing/2014/main" val="1742782675"/>
                    </a:ext>
                  </a:extLst>
                </a:gridCol>
                <a:gridCol w="3666204">
                  <a:extLst>
                    <a:ext uri="{9D8B030D-6E8A-4147-A177-3AD203B41FA5}">
                      <a16:colId xmlns:a16="http://schemas.microsoft.com/office/drawing/2014/main" val="31762900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970168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O(n² × m)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3008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Space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O(n)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2494074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075B02D7-8E03-CFA9-4664-B65EDE209E8B}"/>
              </a:ext>
            </a:extLst>
          </p:cNvPr>
          <p:cNvSpPr txBox="1"/>
          <p:nvPr/>
        </p:nvSpPr>
        <p:spPr>
          <a:xfrm>
            <a:off x="100764" y="2365599"/>
            <a:ext cx="35297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(</a:t>
            </a:r>
            <a:r>
              <a:rPr lang="en-US" dirty="0">
                <a:latin typeface="Courier New" panose="02070309020205020404" pitchFamily="49" charset="0"/>
              </a:rPr>
              <a:t>m</a:t>
            </a:r>
            <a:r>
              <a:rPr lang="en-US" dirty="0"/>
              <a:t> = average length of string)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4802724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19AEEF2-1682-F7A4-88B8-15FFC3E73BE9}"/>
              </a:ext>
            </a:extLst>
          </p:cNvPr>
          <p:cNvSpPr txBox="1"/>
          <p:nvPr/>
        </p:nvSpPr>
        <p:spPr>
          <a:xfrm>
            <a:off x="235974" y="136065"/>
            <a:ext cx="6233652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APPROACH 2: Optimal (Sorting as Key)</a:t>
            </a:r>
          </a:p>
          <a:p>
            <a:pPr>
              <a:buNone/>
            </a:pPr>
            <a:br>
              <a:rPr lang="en-IN" dirty="0"/>
            </a:br>
            <a:r>
              <a:rPr lang="en-IN" b="1" dirty="0"/>
              <a:t>Key Observation</a:t>
            </a:r>
          </a:p>
          <a:p>
            <a:pPr>
              <a:buNone/>
            </a:pPr>
            <a:endParaRPr lang="en-IN" b="1" dirty="0"/>
          </a:p>
          <a:p>
            <a:pPr>
              <a:buNone/>
            </a:pPr>
            <a:r>
              <a:rPr lang="en-IN" dirty="0"/>
              <a:t>Anagrams become </a:t>
            </a:r>
            <a:r>
              <a:rPr lang="en-IN" b="1" dirty="0"/>
              <a:t>identical after sorting</a:t>
            </a:r>
            <a:r>
              <a:rPr lang="en-IN" dirty="0"/>
              <a:t>.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eat → aet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tea → aet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ate → aet</a:t>
            </a:r>
            <a:br>
              <a:rPr lang="en-IN" dirty="0"/>
            </a:br>
            <a:endParaRPr lang="en-IN" dirty="0"/>
          </a:p>
          <a:p>
            <a:pPr>
              <a:buNone/>
            </a:pPr>
            <a:r>
              <a:rPr lang="en-IN" b="1" dirty="0"/>
              <a:t>Optimal Logic</a:t>
            </a:r>
          </a:p>
          <a:p>
            <a:pPr>
              <a:buNone/>
            </a:pPr>
            <a:endParaRPr lang="en-IN" b="1" dirty="0"/>
          </a:p>
          <a:p>
            <a:pPr>
              <a:buFont typeface="+mj-lt"/>
              <a:buAutoNum type="arabicPeriod"/>
            </a:pPr>
            <a:r>
              <a:rPr lang="en-IN" dirty="0"/>
              <a:t>Create a map: </a:t>
            </a:r>
            <a:r>
              <a:rPr lang="en-IN" dirty="0" err="1">
                <a:latin typeface="Courier New" panose="02070309020205020404" pitchFamily="49" charset="0"/>
              </a:rPr>
              <a:t>sorted_string</a:t>
            </a:r>
            <a:r>
              <a:rPr lang="en-IN" dirty="0">
                <a:latin typeface="Courier New" panose="02070309020205020404" pitchFamily="49" charset="0"/>
              </a:rPr>
              <a:t> → list of strings</a:t>
            </a:r>
            <a:endParaRPr lang="en-IN" dirty="0"/>
          </a:p>
          <a:p>
            <a:pPr>
              <a:buFont typeface="+mj-lt"/>
              <a:buAutoNum type="arabicPeriod"/>
            </a:pPr>
            <a:r>
              <a:rPr lang="en-IN" dirty="0"/>
              <a:t>For each string: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N" dirty="0"/>
              <a:t>Sort it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N" dirty="0"/>
              <a:t>Use sorted string as key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N" dirty="0"/>
              <a:t>Add original string to map</a:t>
            </a:r>
          </a:p>
          <a:p>
            <a:pPr>
              <a:buFont typeface="+mj-lt"/>
              <a:buAutoNum type="arabicPeriod"/>
            </a:pPr>
            <a:r>
              <a:rPr lang="en-IN" dirty="0"/>
              <a:t>Return map values</a:t>
            </a:r>
          </a:p>
        </p:txBody>
      </p:sp>
    </p:spTree>
    <p:extLst>
      <p:ext uri="{BB962C8B-B14F-4D97-AF65-F5344CB8AC3E}">
        <p14:creationId xmlns:p14="http://schemas.microsoft.com/office/powerpoint/2010/main" val="230342121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DCFC531-8FD3-483D-E847-BBE69F4D89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8209603"/>
              </p:ext>
            </p:extLst>
          </p:nvPr>
        </p:nvGraphicFramePr>
        <p:xfrm>
          <a:off x="238432" y="1787073"/>
          <a:ext cx="10515600" cy="25603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150484446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533920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7365442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String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Sorted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Map State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64969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eat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aet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aet → [eat]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77709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tea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aet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aet → [eat, tea]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534817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tan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ant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ant → [tan]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237828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aet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aet → [eat, tea, ate]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08024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nat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ant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ant → [tan, nat]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363618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bat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abt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 err="1"/>
                        <a:t>abt</a:t>
                      </a:r>
                      <a:r>
                        <a:rPr lang="en-IN" dirty="0"/>
                        <a:t> → [bat]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1383832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A71FB932-8762-74CD-23A7-FCFE9657544B}"/>
              </a:ext>
            </a:extLst>
          </p:cNvPr>
          <p:cNvSpPr txBox="1"/>
          <p:nvPr/>
        </p:nvSpPr>
        <p:spPr>
          <a:xfrm>
            <a:off x="238432" y="167600"/>
            <a:ext cx="691945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Optimal Walkthrough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Input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["eat", "tea", "tan", "ate", "</a:t>
            </a:r>
            <a:r>
              <a:rPr lang="en-US" dirty="0" err="1">
                <a:latin typeface="Courier New" panose="02070309020205020404" pitchFamily="49" charset="0"/>
              </a:rPr>
              <a:t>nat</a:t>
            </a:r>
            <a:r>
              <a:rPr lang="en-US" dirty="0">
                <a:latin typeface="Courier New" panose="02070309020205020404" pitchFamily="49" charset="0"/>
              </a:rPr>
              <a:t>", "bat"]</a:t>
            </a:r>
          </a:p>
        </p:txBody>
      </p:sp>
    </p:spTree>
    <p:extLst>
      <p:ext uri="{BB962C8B-B14F-4D97-AF65-F5344CB8AC3E}">
        <p14:creationId xmlns:p14="http://schemas.microsoft.com/office/powerpoint/2010/main" val="21303753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39635CF-8094-BB92-D32A-467A99964DA9}"/>
              </a:ext>
            </a:extLst>
          </p:cNvPr>
          <p:cNvSpPr txBox="1"/>
          <p:nvPr/>
        </p:nvSpPr>
        <p:spPr>
          <a:xfrm>
            <a:off x="196645" y="103519"/>
            <a:ext cx="4758813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Pseudocode</a:t>
            </a:r>
          </a:p>
          <a:p>
            <a:pPr>
              <a:buNone/>
            </a:pPr>
            <a:endParaRPr lang="en-US" dirty="0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dirty="0">
                <a:latin typeface="Courier New" panose="02070309020205020404" pitchFamily="49" charset="0"/>
              </a:rPr>
              <a:t>map&lt;string, vector&lt;string&gt;&gt; </a:t>
            </a:r>
            <a:r>
              <a:rPr lang="en-US" dirty="0" err="1">
                <a:latin typeface="Courier New" panose="02070309020205020404" pitchFamily="49" charset="0"/>
              </a:rPr>
              <a:t>mp</a:t>
            </a:r>
            <a:endParaRPr lang="en-US" dirty="0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dirty="0">
                <a:latin typeface="Courier New" panose="02070309020205020404" pitchFamily="49" charset="0"/>
              </a:rPr>
              <a:t>vector&lt;vector&lt;string&gt;&gt; result</a:t>
            </a:r>
          </a:p>
          <a:p>
            <a:pPr>
              <a:buNone/>
            </a:pPr>
            <a:endParaRPr lang="en-US" dirty="0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dirty="0">
                <a:latin typeface="Courier New" panose="02070309020205020404" pitchFamily="49" charset="0"/>
              </a:rPr>
              <a:t>for </a:t>
            </a:r>
            <a:r>
              <a:rPr lang="en-US" dirty="0" err="1">
                <a:latin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</a:rPr>
              <a:t> = 0 to </a:t>
            </a:r>
            <a:r>
              <a:rPr lang="en-US" dirty="0" err="1">
                <a:latin typeface="Courier New" panose="02070309020205020404" pitchFamily="49" charset="0"/>
              </a:rPr>
              <a:t>strs.size</a:t>
            </a:r>
            <a:r>
              <a:rPr lang="en-US" dirty="0">
                <a:latin typeface="Courier New" panose="02070309020205020404" pitchFamily="49" charset="0"/>
              </a:rPr>
              <a:t>() - 1:</a:t>
            </a:r>
          </a:p>
          <a:p>
            <a:pPr>
              <a:buNone/>
            </a:pPr>
            <a:r>
              <a:rPr lang="en-US" dirty="0">
                <a:latin typeface="Courier New" panose="02070309020205020404" pitchFamily="49" charset="0"/>
              </a:rPr>
              <a:t>    key = strs[</a:t>
            </a:r>
            <a:r>
              <a:rPr lang="en-US" dirty="0" err="1">
                <a:latin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</a:rPr>
              <a:t>]</a:t>
            </a:r>
          </a:p>
          <a:p>
            <a:pPr>
              <a:buNone/>
            </a:pPr>
            <a:r>
              <a:rPr lang="en-US" dirty="0">
                <a:latin typeface="Courier New" panose="02070309020205020404" pitchFamily="49" charset="0"/>
              </a:rPr>
              <a:t>    sort(key)</a:t>
            </a:r>
          </a:p>
          <a:p>
            <a:pPr>
              <a:buNone/>
            </a:pPr>
            <a:r>
              <a:rPr lang="en-US" dirty="0">
                <a:latin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</a:rPr>
              <a:t>mp</a:t>
            </a:r>
            <a:r>
              <a:rPr lang="en-US" dirty="0">
                <a:latin typeface="Courier New" panose="02070309020205020404" pitchFamily="49" charset="0"/>
              </a:rPr>
              <a:t>[key].</a:t>
            </a:r>
            <a:r>
              <a:rPr lang="en-US" dirty="0" err="1">
                <a:latin typeface="Courier New" panose="02070309020205020404" pitchFamily="49" charset="0"/>
              </a:rPr>
              <a:t>push_back</a:t>
            </a:r>
            <a:r>
              <a:rPr lang="en-US" dirty="0">
                <a:latin typeface="Courier New" panose="02070309020205020404" pitchFamily="49" charset="0"/>
              </a:rPr>
              <a:t>(strs[</a:t>
            </a:r>
            <a:r>
              <a:rPr lang="en-US" dirty="0" err="1">
                <a:latin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</a:rPr>
              <a:t>])</a:t>
            </a:r>
          </a:p>
          <a:p>
            <a:pPr>
              <a:buNone/>
            </a:pPr>
            <a:endParaRPr lang="en-US" dirty="0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dirty="0">
                <a:latin typeface="Courier New" panose="02070309020205020404" pitchFamily="49" charset="0"/>
              </a:rPr>
              <a:t>for each entry in </a:t>
            </a:r>
            <a:r>
              <a:rPr lang="en-US" dirty="0" err="1">
                <a:latin typeface="Courier New" panose="02070309020205020404" pitchFamily="49" charset="0"/>
              </a:rPr>
              <a:t>mp</a:t>
            </a:r>
            <a:r>
              <a:rPr lang="en-US" dirty="0">
                <a:latin typeface="Courier New" panose="02070309020205020404" pitchFamily="49" charset="0"/>
              </a:rPr>
              <a:t>:</a:t>
            </a:r>
          </a:p>
          <a:p>
            <a:pPr>
              <a:buNone/>
            </a:pPr>
            <a:r>
              <a:rPr lang="en-US" dirty="0">
                <a:latin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</a:rPr>
              <a:t>result.push_back</a:t>
            </a:r>
            <a:r>
              <a:rPr lang="en-US" dirty="0">
                <a:latin typeface="Courier New" panose="02070309020205020404" pitchFamily="49" charset="0"/>
              </a:rPr>
              <a:t>(</a:t>
            </a:r>
            <a:r>
              <a:rPr lang="en-US" dirty="0" err="1">
                <a:latin typeface="Courier New" panose="02070309020205020404" pitchFamily="49" charset="0"/>
              </a:rPr>
              <a:t>entry.second</a:t>
            </a:r>
            <a:r>
              <a:rPr lang="en-US" dirty="0">
                <a:latin typeface="Courier New" panose="02070309020205020404" pitchFamily="49" charset="0"/>
              </a:rPr>
              <a:t>)</a:t>
            </a:r>
          </a:p>
          <a:p>
            <a:pPr>
              <a:buNone/>
            </a:pPr>
            <a:endParaRPr lang="en-US" dirty="0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dirty="0">
                <a:latin typeface="Courier New" panose="02070309020205020404" pitchFamily="49" charset="0"/>
              </a:rPr>
              <a:t>return result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F2C9EE-7AC4-A9A5-6155-9F3681D8F895}"/>
              </a:ext>
            </a:extLst>
          </p:cNvPr>
          <p:cNvSpPr txBox="1"/>
          <p:nvPr/>
        </p:nvSpPr>
        <p:spPr>
          <a:xfrm>
            <a:off x="196645" y="4701969"/>
            <a:ext cx="26055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Optimal Complexity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D9376DC-72C0-BB1A-37A0-49F9A587C4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4680723"/>
              </p:ext>
            </p:extLst>
          </p:nvPr>
        </p:nvGraphicFramePr>
        <p:xfrm>
          <a:off x="267928" y="5291289"/>
          <a:ext cx="10515600" cy="10972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16199646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6999335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54380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/>
                        <a:t>O(n × m log m)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352394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Space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O(n × m)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010872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605551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0874A9C-5058-1797-DB33-7FE9517A9D2A}"/>
              </a:ext>
            </a:extLst>
          </p:cNvPr>
          <p:cNvSpPr txBox="1"/>
          <p:nvPr/>
        </p:nvSpPr>
        <p:spPr>
          <a:xfrm>
            <a:off x="176981" y="120640"/>
            <a:ext cx="559455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APPROACH 3: Most Optimal (Frequency Count Key)</a:t>
            </a:r>
          </a:p>
          <a:p>
            <a:pPr>
              <a:buNone/>
            </a:pPr>
            <a:br>
              <a:rPr lang="en-US" dirty="0"/>
            </a:br>
            <a:r>
              <a:rPr lang="en-US" b="1" dirty="0"/>
              <a:t>Key Observation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Sorting is costly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Character frequency uniquely identifies an anagram</a:t>
            </a:r>
          </a:p>
          <a:p>
            <a:pPr>
              <a:buNone/>
            </a:pPr>
            <a:br>
              <a:rPr lang="en-US" dirty="0"/>
            </a:br>
            <a:r>
              <a:rPr lang="en-US" b="1" dirty="0"/>
              <a:t>Logic</a:t>
            </a:r>
          </a:p>
          <a:p>
            <a:pPr>
              <a:buFont typeface="+mj-lt"/>
              <a:buAutoNum type="arabicPeriod"/>
            </a:pPr>
            <a:r>
              <a:rPr lang="en-US" dirty="0"/>
              <a:t>Create a frequency array of size 26</a:t>
            </a:r>
          </a:p>
          <a:p>
            <a:pPr>
              <a:buFont typeface="+mj-lt"/>
              <a:buAutoNum type="arabicPeriod"/>
            </a:pPr>
            <a:r>
              <a:rPr lang="en-US" dirty="0"/>
              <a:t>Convert frequency array into a string key</a:t>
            </a:r>
          </a:p>
          <a:p>
            <a:pPr>
              <a:buFont typeface="+mj-lt"/>
              <a:buAutoNum type="arabicPeriod"/>
            </a:pPr>
            <a:r>
              <a:rPr lang="en-US" dirty="0"/>
              <a:t>Use key in map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5C6796-5946-14AD-17C4-304162BACC3A}"/>
              </a:ext>
            </a:extLst>
          </p:cNvPr>
          <p:cNvSpPr txBox="1"/>
          <p:nvPr/>
        </p:nvSpPr>
        <p:spPr>
          <a:xfrm>
            <a:off x="5771536" y="120640"/>
            <a:ext cx="6096000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Walkthrough (One Word)</a:t>
            </a:r>
          </a:p>
          <a:p>
            <a:pPr>
              <a:buNone/>
            </a:pPr>
            <a:endParaRPr lang="en-IN" b="1" dirty="0"/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eat → [1,0,0,0,1,0,0,0,0,0,0,0,0,0,0,0,0,0,0,1,...]</a:t>
            </a:r>
          </a:p>
          <a:p>
            <a:pPr>
              <a:buNone/>
            </a:pPr>
            <a:r>
              <a:rPr lang="en-IN" dirty="0"/>
              <a:t>Same key for all anagrams</a:t>
            </a:r>
          </a:p>
          <a:p>
            <a:pPr>
              <a:buNone/>
            </a:pPr>
            <a:br>
              <a:rPr lang="en-IN" dirty="0"/>
            </a:br>
            <a:r>
              <a:rPr lang="en-IN" b="1" dirty="0"/>
              <a:t>Pseudocode (C++-Style)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map&lt;string, vector&lt;string&gt;&gt; </a:t>
            </a:r>
            <a:r>
              <a:rPr lang="en-IN" dirty="0" err="1">
                <a:latin typeface="Courier New" panose="02070309020205020404" pitchFamily="49" charset="0"/>
              </a:rPr>
              <a:t>mp</a:t>
            </a:r>
            <a:endParaRPr lang="en-IN" dirty="0">
              <a:latin typeface="Courier New" panose="02070309020205020404" pitchFamily="49" charset="0"/>
            </a:endParaRPr>
          </a:p>
          <a:p>
            <a:pPr rtl="0">
              <a:buNone/>
            </a:pPr>
            <a:endParaRPr lang="en-IN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for s in strs: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</a:t>
            </a:r>
            <a:r>
              <a:rPr lang="en-IN" dirty="0" err="1">
                <a:latin typeface="Courier New" panose="02070309020205020404" pitchFamily="49" charset="0"/>
              </a:rPr>
              <a:t>freq</a:t>
            </a:r>
            <a:r>
              <a:rPr lang="en-IN" dirty="0">
                <a:latin typeface="Courier New" panose="02070309020205020404" pitchFamily="49" charset="0"/>
              </a:rPr>
              <a:t>[26] = {0}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for </a:t>
            </a:r>
            <a:r>
              <a:rPr lang="en-IN" dirty="0" err="1">
                <a:latin typeface="Courier New" panose="02070309020205020404" pitchFamily="49" charset="0"/>
              </a:rPr>
              <a:t>ch</a:t>
            </a:r>
            <a:r>
              <a:rPr lang="en-IN" dirty="0">
                <a:latin typeface="Courier New" panose="02070309020205020404" pitchFamily="49" charset="0"/>
              </a:rPr>
              <a:t> in s: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    </a:t>
            </a:r>
            <a:r>
              <a:rPr lang="en-IN" dirty="0" err="1">
                <a:latin typeface="Courier New" panose="02070309020205020404" pitchFamily="49" charset="0"/>
              </a:rPr>
              <a:t>freq</a:t>
            </a:r>
            <a:r>
              <a:rPr lang="en-IN" dirty="0">
                <a:latin typeface="Courier New" panose="02070309020205020404" pitchFamily="49" charset="0"/>
              </a:rPr>
              <a:t>[</a:t>
            </a:r>
            <a:r>
              <a:rPr lang="en-IN" dirty="0" err="1">
                <a:latin typeface="Courier New" panose="02070309020205020404" pitchFamily="49" charset="0"/>
              </a:rPr>
              <a:t>ch</a:t>
            </a:r>
            <a:r>
              <a:rPr lang="en-IN" dirty="0">
                <a:latin typeface="Courier New" panose="02070309020205020404" pitchFamily="49" charset="0"/>
              </a:rPr>
              <a:t> - 'a']++</a:t>
            </a:r>
          </a:p>
          <a:p>
            <a:pPr rtl="0">
              <a:buNone/>
            </a:pPr>
            <a:endParaRPr lang="en-IN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key = </a:t>
            </a:r>
            <a:r>
              <a:rPr lang="en-IN" dirty="0" err="1">
                <a:latin typeface="Courier New" panose="02070309020205020404" pitchFamily="49" charset="0"/>
              </a:rPr>
              <a:t>buildString</a:t>
            </a:r>
            <a:r>
              <a:rPr lang="en-IN" dirty="0">
                <a:latin typeface="Courier New" panose="02070309020205020404" pitchFamily="49" charset="0"/>
              </a:rPr>
              <a:t>(</a:t>
            </a:r>
            <a:r>
              <a:rPr lang="en-IN" dirty="0" err="1">
                <a:latin typeface="Courier New" panose="02070309020205020404" pitchFamily="49" charset="0"/>
              </a:rPr>
              <a:t>freq</a:t>
            </a:r>
            <a:r>
              <a:rPr lang="en-IN" dirty="0">
                <a:latin typeface="Courier New" panose="02070309020205020404" pitchFamily="49" charset="0"/>
              </a:rPr>
              <a:t>)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</a:t>
            </a:r>
            <a:r>
              <a:rPr lang="en-IN" dirty="0" err="1">
                <a:latin typeface="Courier New" panose="02070309020205020404" pitchFamily="49" charset="0"/>
              </a:rPr>
              <a:t>mp</a:t>
            </a:r>
            <a:r>
              <a:rPr lang="en-IN" dirty="0">
                <a:latin typeface="Courier New" panose="02070309020205020404" pitchFamily="49" charset="0"/>
              </a:rPr>
              <a:t>[key].</a:t>
            </a:r>
            <a:r>
              <a:rPr lang="en-IN" dirty="0" err="1">
                <a:latin typeface="Courier New" panose="02070309020205020404" pitchFamily="49" charset="0"/>
              </a:rPr>
              <a:t>push_back</a:t>
            </a:r>
            <a:r>
              <a:rPr lang="en-IN" dirty="0">
                <a:latin typeface="Courier New" panose="02070309020205020404" pitchFamily="49" charset="0"/>
              </a:rPr>
              <a:t>(s)</a:t>
            </a:r>
          </a:p>
          <a:p>
            <a:pPr rtl="0">
              <a:buNone/>
            </a:pPr>
            <a:endParaRPr lang="en-IN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return all values of </a:t>
            </a:r>
            <a:r>
              <a:rPr lang="en-IN" dirty="0" err="1">
                <a:latin typeface="Courier New" panose="02070309020205020404" pitchFamily="49" charset="0"/>
              </a:rPr>
              <a:t>mp</a:t>
            </a:r>
            <a:endParaRPr lang="en-IN" dirty="0"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738797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CD4EB42-8EF1-2BFA-4095-5FDA51E4AF07}"/>
              </a:ext>
            </a:extLst>
          </p:cNvPr>
          <p:cNvSpPr txBox="1"/>
          <p:nvPr/>
        </p:nvSpPr>
        <p:spPr>
          <a:xfrm>
            <a:off x="245806" y="188960"/>
            <a:ext cx="31168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Most Optimal Complexity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BB7DD59-2442-2726-1756-95B6C5438E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3812"/>
              </p:ext>
            </p:extLst>
          </p:nvPr>
        </p:nvGraphicFramePr>
        <p:xfrm>
          <a:off x="356419" y="679957"/>
          <a:ext cx="10515600" cy="10972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016137762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45321835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88890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O(n × m)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28294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Space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O(n × m)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96277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7886548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DC2B853-1D32-41D8-C49A-B4BADA73173A}"/>
              </a:ext>
            </a:extLst>
          </p:cNvPr>
          <p:cNvSpPr txBox="1"/>
          <p:nvPr/>
        </p:nvSpPr>
        <p:spPr>
          <a:xfrm>
            <a:off x="235974" y="247953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74. Search a 2D Matrix</a:t>
            </a:r>
            <a:endParaRPr lang="en-IN" sz="24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F85DCF-0112-D7DA-6756-9EB4A76B005B}"/>
              </a:ext>
            </a:extLst>
          </p:cNvPr>
          <p:cNvSpPr txBox="1"/>
          <p:nvPr/>
        </p:nvSpPr>
        <p:spPr>
          <a:xfrm>
            <a:off x="314631" y="721146"/>
            <a:ext cx="11366091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Problem in Simple Words</a:t>
            </a:r>
          </a:p>
          <a:p>
            <a:pPr>
              <a:buNone/>
            </a:pPr>
            <a:r>
              <a:rPr lang="en-US" dirty="0"/>
              <a:t>You are given a </a:t>
            </a:r>
            <a:r>
              <a:rPr lang="en-US" b="1" dirty="0"/>
              <a:t>2D matrix</a:t>
            </a:r>
            <a:r>
              <a:rPr lang="en-US" dirty="0"/>
              <a:t> with these properties:</a:t>
            </a:r>
          </a:p>
          <a:p>
            <a:pPr>
              <a:buFont typeface="+mj-lt"/>
              <a:buAutoNum type="arabicPeriod"/>
            </a:pPr>
            <a:r>
              <a:rPr lang="en-US" dirty="0"/>
              <a:t>Each row is sorted in </a:t>
            </a:r>
            <a:r>
              <a:rPr lang="en-US" b="1" dirty="0"/>
              <a:t>ascending order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dirty="0"/>
              <a:t>The </a:t>
            </a:r>
            <a:r>
              <a:rPr lang="en-US" b="1" dirty="0"/>
              <a:t>first element of each row</a:t>
            </a:r>
            <a:r>
              <a:rPr lang="en-US" dirty="0"/>
              <a:t> is greater than the </a:t>
            </a:r>
            <a:r>
              <a:rPr lang="en-US" b="1" dirty="0"/>
              <a:t>last element of the previous row</a:t>
            </a:r>
            <a:endParaRPr lang="en-US" dirty="0"/>
          </a:p>
          <a:p>
            <a:pPr>
              <a:buNone/>
            </a:pPr>
            <a:r>
              <a:rPr lang="en-US" dirty="0"/>
              <a:t>You must determine whether a given </a:t>
            </a:r>
            <a:r>
              <a:rPr lang="en-US" b="1" dirty="0"/>
              <a:t>target value</a:t>
            </a:r>
            <a:r>
              <a:rPr lang="en-US" dirty="0"/>
              <a:t> exists in the matrix.</a:t>
            </a:r>
          </a:p>
          <a:p>
            <a:pPr>
              <a:buNone/>
            </a:pPr>
            <a:br>
              <a:rPr lang="en-US" dirty="0"/>
            </a:br>
            <a:r>
              <a:rPr lang="en-US" b="1" dirty="0"/>
              <a:t>Example</a:t>
            </a:r>
          </a:p>
          <a:p>
            <a:pPr>
              <a:buNone/>
            </a:pPr>
            <a:r>
              <a:rPr lang="en-US" b="1" dirty="0"/>
              <a:t>Matrix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[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[1, 3, 5, 7],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[10, 11, 16, 20],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[23, 30, 34, 60]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]</a:t>
            </a:r>
          </a:p>
          <a:p>
            <a:pPr>
              <a:buNone/>
            </a:pPr>
            <a:r>
              <a:rPr lang="en-US" b="1" dirty="0"/>
              <a:t>Target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3</a:t>
            </a:r>
          </a:p>
          <a:p>
            <a:pPr>
              <a:buNone/>
            </a:pPr>
            <a:r>
              <a:rPr lang="en-US" b="1" dirty="0"/>
              <a:t>Output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true</a:t>
            </a:r>
          </a:p>
        </p:txBody>
      </p:sp>
    </p:spTree>
    <p:extLst>
      <p:ext uri="{BB962C8B-B14F-4D97-AF65-F5344CB8AC3E}">
        <p14:creationId xmlns:p14="http://schemas.microsoft.com/office/powerpoint/2010/main" val="98128830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786AA53-4DCB-5B23-09A9-85915E898940}"/>
              </a:ext>
            </a:extLst>
          </p:cNvPr>
          <p:cNvSpPr txBox="1"/>
          <p:nvPr/>
        </p:nvSpPr>
        <p:spPr>
          <a:xfrm>
            <a:off x="265470" y="106911"/>
            <a:ext cx="698090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Key Insight About the Matrix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dirty="0"/>
              <a:t>Because of the given properties, the matrix behaves like a </a:t>
            </a:r>
            <a:r>
              <a:rPr lang="en-US" b="1" dirty="0"/>
              <a:t>single sorted 1D array</a:t>
            </a:r>
            <a:r>
              <a:rPr lang="en-US" dirty="0"/>
              <a:t>:</a:t>
            </a:r>
          </a:p>
          <a:p>
            <a:pPr>
              <a:buNone/>
            </a:pPr>
            <a:endParaRPr lang="en-US" dirty="0"/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[1, 3, 5, 7, 10, 11, 16, 20, 23, 30, 34, 60]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9664C6-9BDF-EB45-031B-204266539DC9}"/>
              </a:ext>
            </a:extLst>
          </p:cNvPr>
          <p:cNvSpPr txBox="1"/>
          <p:nvPr/>
        </p:nvSpPr>
        <p:spPr>
          <a:xfrm>
            <a:off x="344129" y="2076412"/>
            <a:ext cx="5309419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APPROACH 1: Brute Force (Linear Search)</a:t>
            </a:r>
          </a:p>
          <a:p>
            <a:pPr>
              <a:buNone/>
            </a:pPr>
            <a:br>
              <a:rPr lang="en-IN" dirty="0"/>
            </a:br>
            <a:r>
              <a:rPr lang="en-IN" b="1" dirty="0"/>
              <a:t>Brute Force Idea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Scan </a:t>
            </a:r>
            <a:r>
              <a:rPr lang="en-IN" b="1" dirty="0"/>
              <a:t>every element</a:t>
            </a:r>
            <a:r>
              <a:rPr lang="en-IN" dirty="0"/>
              <a:t> in the matrix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Compare each element with target</a:t>
            </a:r>
          </a:p>
          <a:p>
            <a:pPr>
              <a:buNone/>
            </a:pPr>
            <a:br>
              <a:rPr lang="en-IN" dirty="0"/>
            </a:br>
            <a:r>
              <a:rPr lang="en-IN" b="1" dirty="0"/>
              <a:t>Brute Force Logic</a:t>
            </a:r>
          </a:p>
          <a:p>
            <a:pPr>
              <a:buFont typeface="+mj-lt"/>
              <a:buAutoNum type="arabicPeriod"/>
            </a:pPr>
            <a:r>
              <a:rPr lang="en-IN" dirty="0"/>
              <a:t>Loop through all rows</a:t>
            </a:r>
          </a:p>
          <a:p>
            <a:pPr>
              <a:buFont typeface="+mj-lt"/>
              <a:buAutoNum type="arabicPeriod"/>
            </a:pPr>
            <a:r>
              <a:rPr lang="en-IN" dirty="0"/>
              <a:t>Loop through all columns</a:t>
            </a:r>
          </a:p>
          <a:p>
            <a:pPr>
              <a:buFont typeface="+mj-lt"/>
              <a:buAutoNum type="arabicPeriod"/>
            </a:pPr>
            <a:r>
              <a:rPr lang="en-IN" dirty="0"/>
              <a:t>If element == target → return true</a:t>
            </a:r>
          </a:p>
          <a:p>
            <a:pPr>
              <a:buFont typeface="+mj-lt"/>
              <a:buAutoNum type="arabicPeriod"/>
            </a:pPr>
            <a:r>
              <a:rPr lang="en-IN" dirty="0"/>
              <a:t>After complete scan → return false</a:t>
            </a:r>
          </a:p>
        </p:txBody>
      </p:sp>
    </p:spTree>
    <p:extLst>
      <p:ext uri="{BB962C8B-B14F-4D97-AF65-F5344CB8AC3E}">
        <p14:creationId xmlns:p14="http://schemas.microsoft.com/office/powerpoint/2010/main" val="135034368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2E9FC4B-3F70-02EB-CB2C-226BA4CA47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2323185"/>
              </p:ext>
            </p:extLst>
          </p:nvPr>
        </p:nvGraphicFramePr>
        <p:xfrm>
          <a:off x="454742" y="856939"/>
          <a:ext cx="10515600" cy="29260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9917402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8613692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Step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Element Checked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171951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47807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02188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561375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201499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963323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33698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16 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76544114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977F418B-67B1-EA63-C148-CEFB063406C8}"/>
              </a:ext>
            </a:extLst>
          </p:cNvPr>
          <p:cNvSpPr txBox="1"/>
          <p:nvPr/>
        </p:nvSpPr>
        <p:spPr>
          <a:xfrm>
            <a:off x="454742" y="4077873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Brute Force Pseudocode (C++-Style)</a:t>
            </a:r>
          </a:p>
          <a:p>
            <a:pPr>
              <a:buNone/>
            </a:pPr>
            <a:endParaRPr lang="en-US" b="1" dirty="0"/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for </a:t>
            </a:r>
            <a:r>
              <a:rPr lang="en-US" dirty="0" err="1">
                <a:latin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</a:rPr>
              <a:t> = 0 to rows-1: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for j = 0 to cols-1: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    if matrix[</a:t>
            </a:r>
            <a:r>
              <a:rPr lang="en-US" dirty="0" err="1">
                <a:latin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</a:rPr>
              <a:t>][j] == target: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        return true</a:t>
            </a:r>
          </a:p>
          <a:p>
            <a:pPr rtl="0">
              <a:buNone/>
            </a:pPr>
            <a:endParaRPr lang="en-US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return false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C5F88A-FE97-A8ED-D394-06F175E7F64F}"/>
              </a:ext>
            </a:extLst>
          </p:cNvPr>
          <p:cNvSpPr txBox="1"/>
          <p:nvPr/>
        </p:nvSpPr>
        <p:spPr>
          <a:xfrm>
            <a:off x="275304" y="137590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Brute Force Walkthrough</a:t>
            </a:r>
          </a:p>
          <a:p>
            <a:pPr>
              <a:buNone/>
            </a:pPr>
            <a:r>
              <a:rPr lang="en-US" dirty="0"/>
              <a:t>Target = </a:t>
            </a:r>
            <a:r>
              <a:rPr lang="en-US" dirty="0">
                <a:latin typeface="Courier New" panose="02070309020205020404" pitchFamily="49" charset="0"/>
              </a:rPr>
              <a:t>16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612858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19F7210-98DB-F513-BC8C-01A7A8C18A39}"/>
              </a:ext>
            </a:extLst>
          </p:cNvPr>
          <p:cNvSpPr txBox="1"/>
          <p:nvPr/>
        </p:nvSpPr>
        <p:spPr>
          <a:xfrm>
            <a:off x="216310" y="100469"/>
            <a:ext cx="33134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Brute Force Complexity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8E65CCA-B704-23A8-6A5B-38472AE6A1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6917836"/>
              </p:ext>
            </p:extLst>
          </p:nvPr>
        </p:nvGraphicFramePr>
        <p:xfrm>
          <a:off x="297426" y="630796"/>
          <a:ext cx="10515600" cy="10972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436118513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643855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990511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O(m × 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268745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Space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O(1)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458013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9F2864A-6136-7C7D-5256-D78740D50B3F}"/>
              </a:ext>
            </a:extLst>
          </p:cNvPr>
          <p:cNvSpPr txBox="1"/>
          <p:nvPr/>
        </p:nvSpPr>
        <p:spPr>
          <a:xfrm>
            <a:off x="297425" y="2135405"/>
            <a:ext cx="7440561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APPROACH 2: Better (Binary Search on Rows)</a:t>
            </a:r>
          </a:p>
          <a:p>
            <a:pPr>
              <a:buNone/>
            </a:pPr>
            <a:br>
              <a:rPr lang="en-US" dirty="0"/>
            </a:br>
            <a:r>
              <a:rPr lang="en-US" b="1" dirty="0"/>
              <a:t>Idea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First, find the </a:t>
            </a:r>
            <a:r>
              <a:rPr lang="en-US" b="1" dirty="0"/>
              <a:t>row</a:t>
            </a:r>
            <a:r>
              <a:rPr lang="en-US" dirty="0"/>
              <a:t> where target may exist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Then perform </a:t>
            </a:r>
            <a:r>
              <a:rPr lang="en-US" b="1" dirty="0"/>
              <a:t>binary search</a:t>
            </a:r>
            <a:r>
              <a:rPr lang="en-US" dirty="0"/>
              <a:t> in that row</a:t>
            </a:r>
          </a:p>
          <a:p>
            <a:pPr>
              <a:buNone/>
            </a:pPr>
            <a:br>
              <a:rPr lang="en-US" dirty="0"/>
            </a:br>
            <a:r>
              <a:rPr lang="en-US" b="1" dirty="0"/>
              <a:t>Logic (Text Form)</a:t>
            </a:r>
          </a:p>
          <a:p>
            <a:pPr>
              <a:buFont typeface="+mj-lt"/>
              <a:buAutoNum type="arabicPeriod"/>
            </a:pPr>
            <a:r>
              <a:rPr lang="en-US" dirty="0"/>
              <a:t>For each row: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Check if target lies between first and last element</a:t>
            </a:r>
          </a:p>
          <a:p>
            <a:pPr>
              <a:buFont typeface="+mj-lt"/>
              <a:buAutoNum type="arabicPeriod"/>
            </a:pPr>
            <a:r>
              <a:rPr lang="en-US" dirty="0"/>
              <a:t>If yes: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Binary search in that row</a:t>
            </a:r>
          </a:p>
        </p:txBody>
      </p:sp>
    </p:spTree>
    <p:extLst>
      <p:ext uri="{BB962C8B-B14F-4D97-AF65-F5344CB8AC3E}">
        <p14:creationId xmlns:p14="http://schemas.microsoft.com/office/powerpoint/2010/main" val="213813183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C118D05-7EF8-9C05-E945-F6A7F52B78B4}"/>
              </a:ext>
            </a:extLst>
          </p:cNvPr>
          <p:cNvSpPr txBox="1"/>
          <p:nvPr/>
        </p:nvSpPr>
        <p:spPr>
          <a:xfrm>
            <a:off x="383458" y="197945"/>
            <a:ext cx="21434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Walkthrough</a:t>
            </a:r>
          </a:p>
          <a:p>
            <a:pPr>
              <a:buNone/>
            </a:pPr>
            <a:r>
              <a:rPr lang="en-IN" dirty="0"/>
              <a:t>Target = </a:t>
            </a:r>
            <a:r>
              <a:rPr lang="en-IN" dirty="0">
                <a:latin typeface="Courier New" panose="02070309020205020404" pitchFamily="49" charset="0"/>
              </a:rPr>
              <a:t>16</a:t>
            </a: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4C40F3F-5B8E-7700-C4E4-A226B3C7BC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485279"/>
              </p:ext>
            </p:extLst>
          </p:nvPr>
        </p:nvGraphicFramePr>
        <p:xfrm>
          <a:off x="838200" y="1112573"/>
          <a:ext cx="10515600" cy="10972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39017532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89691030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7041006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Row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Range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Action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09888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Row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1–7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Skip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92796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Row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10–20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Search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638078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D93B23CC-EDC5-D1A4-7591-4BE39F6E8FEA}"/>
              </a:ext>
            </a:extLst>
          </p:cNvPr>
          <p:cNvSpPr txBox="1"/>
          <p:nvPr/>
        </p:nvSpPr>
        <p:spPr>
          <a:xfrm>
            <a:off x="383458" y="247815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Binary search in </a:t>
            </a:r>
            <a:r>
              <a:rPr lang="en-US" dirty="0">
                <a:latin typeface="Courier New" panose="02070309020205020404" pitchFamily="49" charset="0"/>
              </a:rPr>
              <a:t>[10,11,16,20]</a:t>
            </a:r>
            <a:r>
              <a:rPr lang="en-US" dirty="0"/>
              <a:t> → Found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2119721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8087983-EED0-EA03-DD02-6ECAD7E622F2}"/>
              </a:ext>
            </a:extLst>
          </p:cNvPr>
          <p:cNvSpPr txBox="1"/>
          <p:nvPr/>
        </p:nvSpPr>
        <p:spPr>
          <a:xfrm>
            <a:off x="7334865" y="559701"/>
            <a:ext cx="4463845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binarySearch</a:t>
            </a:r>
            <a:r>
              <a:rPr lang="en-US" dirty="0"/>
              <a:t>(row, target):</a:t>
            </a:r>
          </a:p>
          <a:p>
            <a:endParaRPr lang="en-US" dirty="0"/>
          </a:p>
          <a:p>
            <a:r>
              <a:rPr lang="en-US" dirty="0"/>
              <a:t>    left = 0</a:t>
            </a:r>
          </a:p>
          <a:p>
            <a:r>
              <a:rPr lang="en-US" dirty="0"/>
              <a:t>    right = </a:t>
            </a:r>
            <a:r>
              <a:rPr lang="en-US" dirty="0" err="1"/>
              <a:t>row.size</a:t>
            </a:r>
            <a:r>
              <a:rPr lang="en-US" dirty="0"/>
              <a:t>() - 1</a:t>
            </a:r>
          </a:p>
          <a:p>
            <a:endParaRPr lang="en-US" dirty="0"/>
          </a:p>
          <a:p>
            <a:r>
              <a:rPr lang="en-US" dirty="0"/>
              <a:t>    while left &lt;= right:</a:t>
            </a:r>
          </a:p>
          <a:p>
            <a:r>
              <a:rPr lang="en-US" dirty="0"/>
              <a:t>        mid = left + (right - left) / 2</a:t>
            </a:r>
          </a:p>
          <a:p>
            <a:endParaRPr lang="en-US" dirty="0"/>
          </a:p>
          <a:p>
            <a:r>
              <a:rPr lang="en-US" dirty="0"/>
              <a:t>        if row[mid] == target:</a:t>
            </a:r>
          </a:p>
          <a:p>
            <a:r>
              <a:rPr lang="en-US" dirty="0"/>
              <a:t>            return true</a:t>
            </a:r>
          </a:p>
          <a:p>
            <a:r>
              <a:rPr lang="en-US" dirty="0"/>
              <a:t>        else if row[mid] &lt; target:</a:t>
            </a:r>
          </a:p>
          <a:p>
            <a:r>
              <a:rPr lang="en-US" dirty="0"/>
              <a:t>            left = mid + 1</a:t>
            </a:r>
          </a:p>
          <a:p>
            <a:r>
              <a:rPr lang="en-US" dirty="0"/>
              <a:t>        else:</a:t>
            </a:r>
          </a:p>
          <a:p>
            <a:r>
              <a:rPr lang="en-US" dirty="0"/>
              <a:t>            right = mid - 1</a:t>
            </a:r>
          </a:p>
          <a:p>
            <a:endParaRPr lang="en-US" dirty="0"/>
          </a:p>
          <a:p>
            <a:r>
              <a:rPr lang="en-US" dirty="0"/>
              <a:t>    return false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93DE2D-2889-C5D8-E104-07E39D7EB3AE}"/>
              </a:ext>
            </a:extLst>
          </p:cNvPr>
          <p:cNvSpPr txBox="1"/>
          <p:nvPr/>
        </p:nvSpPr>
        <p:spPr>
          <a:xfrm>
            <a:off x="393290" y="438267"/>
            <a:ext cx="715788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Pseudocode (C++-Style)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for each row in matrix: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if target &gt;= row[0] and target &lt;= row[last]: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    return </a:t>
            </a:r>
            <a:r>
              <a:rPr lang="en-US" dirty="0" err="1">
                <a:latin typeface="Courier New" panose="02070309020205020404" pitchFamily="49" charset="0"/>
              </a:rPr>
              <a:t>binarySearch</a:t>
            </a:r>
            <a:r>
              <a:rPr lang="en-US" dirty="0">
                <a:latin typeface="Courier New" panose="02070309020205020404" pitchFamily="49" charset="0"/>
              </a:rPr>
              <a:t>(row, target)</a:t>
            </a:r>
          </a:p>
          <a:p>
            <a:pPr rtl="0">
              <a:buNone/>
            </a:pPr>
            <a:endParaRPr lang="en-US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return false</a:t>
            </a:r>
          </a:p>
        </p:txBody>
      </p:sp>
    </p:spTree>
    <p:extLst>
      <p:ext uri="{BB962C8B-B14F-4D97-AF65-F5344CB8AC3E}">
        <p14:creationId xmlns:p14="http://schemas.microsoft.com/office/powerpoint/2010/main" val="43288137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69D9292-0B92-C271-4ECE-CE63CF25938C}"/>
              </a:ext>
            </a:extLst>
          </p:cNvPr>
          <p:cNvSpPr txBox="1"/>
          <p:nvPr/>
        </p:nvSpPr>
        <p:spPr>
          <a:xfrm>
            <a:off x="206477" y="15946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Complexity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06366DD-C3A9-E175-A2E1-45DAAEB111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3404261"/>
              </p:ext>
            </p:extLst>
          </p:nvPr>
        </p:nvGraphicFramePr>
        <p:xfrm>
          <a:off x="395747" y="738944"/>
          <a:ext cx="10515600" cy="10972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17579947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41561122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8133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O(m + log 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38300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Space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O(1)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840748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28E0347-6E8B-1D6A-4423-EEE007B809D5}"/>
              </a:ext>
            </a:extLst>
          </p:cNvPr>
          <p:cNvSpPr txBox="1"/>
          <p:nvPr/>
        </p:nvSpPr>
        <p:spPr>
          <a:xfrm>
            <a:off x="471949" y="2046373"/>
            <a:ext cx="7728154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APPROACH 3: Optimal (Binary Search on Virtual 1D Array)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Key Observation </a:t>
            </a:r>
          </a:p>
          <a:p>
            <a:pPr>
              <a:buNone/>
            </a:pPr>
            <a:r>
              <a:rPr lang="en-US" dirty="0"/>
              <a:t>The matrix is equivalent to a </a:t>
            </a:r>
            <a:r>
              <a:rPr lang="en-US" b="1" dirty="0"/>
              <a:t>sorted 1D array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dirty="0"/>
              <a:t>We use index mapping: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row = mid / cols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col = mid % cols</a:t>
            </a:r>
          </a:p>
          <a:p>
            <a:pPr>
              <a:buNone/>
            </a:pPr>
            <a:br>
              <a:rPr lang="en-US" dirty="0"/>
            </a:br>
            <a:r>
              <a:rPr lang="en-US" b="1" dirty="0"/>
              <a:t>Optimal Logic (Text Form)</a:t>
            </a:r>
          </a:p>
          <a:p>
            <a:pPr>
              <a:buFont typeface="+mj-lt"/>
              <a:buAutoNum type="arabicPeriod"/>
            </a:pPr>
            <a:r>
              <a:rPr lang="en-US" dirty="0"/>
              <a:t>Treat matrix as 1D array of size </a:t>
            </a:r>
            <a:r>
              <a:rPr lang="en-US" dirty="0">
                <a:latin typeface="Courier New" panose="02070309020205020404" pitchFamily="49" charset="0"/>
              </a:rPr>
              <a:t>m × n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dirty="0"/>
              <a:t>Perform binary search</a:t>
            </a:r>
          </a:p>
          <a:p>
            <a:pPr>
              <a:buFont typeface="+mj-lt"/>
              <a:buAutoNum type="arabicPeriod"/>
            </a:pPr>
            <a:r>
              <a:rPr lang="en-US" dirty="0"/>
              <a:t>Convert mid index to row &amp; column</a:t>
            </a:r>
          </a:p>
          <a:p>
            <a:pPr>
              <a:buFont typeface="+mj-lt"/>
              <a:buAutoNum type="arabicPeriod"/>
            </a:pPr>
            <a:r>
              <a:rPr lang="en-US" dirty="0"/>
              <a:t>Compare with target</a:t>
            </a:r>
          </a:p>
        </p:txBody>
      </p:sp>
    </p:spTree>
    <p:extLst>
      <p:ext uri="{BB962C8B-B14F-4D97-AF65-F5344CB8AC3E}">
        <p14:creationId xmlns:p14="http://schemas.microsoft.com/office/powerpoint/2010/main" val="45232339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5B4ED8D-080A-DCCA-4B01-CBDBE20E9C7C}"/>
              </a:ext>
            </a:extLst>
          </p:cNvPr>
          <p:cNvSpPr txBox="1"/>
          <p:nvPr/>
        </p:nvSpPr>
        <p:spPr>
          <a:xfrm>
            <a:off x="186813" y="79957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Optimal Walkthrough (Table)</a:t>
            </a:r>
          </a:p>
          <a:p>
            <a:pPr>
              <a:buNone/>
            </a:pPr>
            <a:r>
              <a:rPr lang="en-US" b="1" dirty="0"/>
              <a:t>Target = </a:t>
            </a:r>
            <a:r>
              <a:rPr lang="en-US" b="1" dirty="0">
                <a:latin typeface="Courier New" panose="02070309020205020404" pitchFamily="49" charset="0"/>
              </a:rPr>
              <a:t>16</a:t>
            </a:r>
            <a:endParaRPr lang="en-US" b="1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3DA8A45-2032-F97A-6D43-05F2A4493E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6661197"/>
              </p:ext>
            </p:extLst>
          </p:nvPr>
        </p:nvGraphicFramePr>
        <p:xfrm>
          <a:off x="464573" y="851033"/>
          <a:ext cx="10515603" cy="14630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502229">
                  <a:extLst>
                    <a:ext uri="{9D8B030D-6E8A-4147-A177-3AD203B41FA5}">
                      <a16:colId xmlns:a16="http://schemas.microsoft.com/office/drawing/2014/main" val="819949908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2682535592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814659163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718075161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494652941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874597317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4075128798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 dirty="0"/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 dirty="0"/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 dirty="0"/>
                        <a:t>mid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 dirty="0"/>
                        <a:t>row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 dirty="0"/>
                        <a:t>col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 dirty="0"/>
                        <a:t>value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 dirty="0"/>
                        <a:t>Action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033873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low = mid+1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834426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high = mid-1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9183287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dirty="0"/>
                        <a:t>FOUND 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778314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DECE7037-0A42-4A51-DAE4-890121C550C0}"/>
              </a:ext>
            </a:extLst>
          </p:cNvPr>
          <p:cNvSpPr txBox="1"/>
          <p:nvPr/>
        </p:nvSpPr>
        <p:spPr>
          <a:xfrm>
            <a:off x="344129" y="2522762"/>
            <a:ext cx="10903974" cy="3996025"/>
          </a:xfrm>
          <a:prstGeom prst="rect">
            <a:avLst/>
          </a:prstGeom>
          <a:noFill/>
        </p:spPr>
        <p:txBody>
          <a:bodyPr wrap="square" numCol="2">
            <a:spAutoFit/>
          </a:bodyPr>
          <a:lstStyle/>
          <a:p>
            <a:pPr>
              <a:buNone/>
            </a:pPr>
            <a:r>
              <a:rPr lang="en-IN" b="1" dirty="0"/>
              <a:t>Optimal Pseudocode (C++-Style)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rows = </a:t>
            </a:r>
            <a:r>
              <a:rPr lang="en-IN" dirty="0" err="1">
                <a:latin typeface="Courier New" panose="02070309020205020404" pitchFamily="49" charset="0"/>
              </a:rPr>
              <a:t>matrix.size</a:t>
            </a:r>
            <a:r>
              <a:rPr lang="en-IN" dirty="0">
                <a:latin typeface="Courier New" panose="02070309020205020404" pitchFamily="49" charset="0"/>
              </a:rPr>
              <a:t>()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cols = matrix[0].size()</a:t>
            </a:r>
          </a:p>
          <a:p>
            <a:pPr rtl="0">
              <a:buNone/>
            </a:pPr>
            <a:endParaRPr lang="en-IN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low = 0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high = rows*cols - 1</a:t>
            </a:r>
          </a:p>
          <a:p>
            <a:pPr rtl="0">
              <a:buNone/>
            </a:pPr>
            <a:endParaRPr lang="en-IN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while low &lt;= high: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mid = (low + high) / 2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r = mid / cols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c = mid % cols</a:t>
            </a:r>
          </a:p>
          <a:p>
            <a:pPr rtl="0">
              <a:buNone/>
            </a:pPr>
            <a:endParaRPr lang="en-IN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if matrix[r][c] == target: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    return true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else if matrix[r][c] &lt; target: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    low = mid + 1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else: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    high = mid - 1</a:t>
            </a:r>
          </a:p>
          <a:p>
            <a:pPr rtl="0">
              <a:buNone/>
            </a:pPr>
            <a:endParaRPr lang="en-IN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return false</a:t>
            </a:r>
          </a:p>
        </p:txBody>
      </p:sp>
    </p:spTree>
    <p:extLst>
      <p:ext uri="{BB962C8B-B14F-4D97-AF65-F5344CB8AC3E}">
        <p14:creationId xmlns:p14="http://schemas.microsoft.com/office/powerpoint/2010/main" val="379032183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BD97E8B-5642-A292-0566-B775C131C440}"/>
              </a:ext>
            </a:extLst>
          </p:cNvPr>
          <p:cNvSpPr txBox="1"/>
          <p:nvPr/>
        </p:nvSpPr>
        <p:spPr>
          <a:xfrm>
            <a:off x="226142" y="208624"/>
            <a:ext cx="3048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Optimal Complexity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F42DD05-0372-1B94-40C3-3FC64D42CE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2872413"/>
              </p:ext>
            </p:extLst>
          </p:nvPr>
        </p:nvGraphicFramePr>
        <p:xfrm>
          <a:off x="671051" y="709454"/>
          <a:ext cx="10515600" cy="10972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426264135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53198985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958616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O(log (m×n))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158347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Space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O(1)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37204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9382000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6C24D45-6B14-89CB-1922-E8159935220A}"/>
              </a:ext>
            </a:extLst>
          </p:cNvPr>
          <p:cNvSpPr txBox="1"/>
          <p:nvPr/>
        </p:nvSpPr>
        <p:spPr>
          <a:xfrm>
            <a:off x="186813" y="265471"/>
            <a:ext cx="6135329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Linked List Cycle</a:t>
            </a:r>
          </a:p>
          <a:p>
            <a:pPr>
              <a:buNone/>
            </a:pPr>
            <a:br>
              <a:rPr lang="en-US" dirty="0"/>
            </a:br>
            <a:r>
              <a:rPr lang="en-US" b="1" dirty="0"/>
              <a:t>Problem in Simple Words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dirty="0"/>
              <a:t>You are given the </a:t>
            </a:r>
            <a:r>
              <a:rPr lang="en-US" b="1" dirty="0"/>
              <a:t>head of a linked list</a:t>
            </a:r>
            <a:r>
              <a:rPr lang="en-US" dirty="0"/>
              <a:t>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Return: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ourier New" panose="02070309020205020404" pitchFamily="49" charset="0"/>
              </a:rPr>
              <a:t>true</a:t>
            </a:r>
            <a:r>
              <a:rPr lang="en-US" dirty="0"/>
              <a:t> → if the linked list contains a </a:t>
            </a:r>
            <a:r>
              <a:rPr lang="en-US" b="1" dirty="0"/>
              <a:t>cycle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ourier New" panose="02070309020205020404" pitchFamily="49" charset="0"/>
              </a:rPr>
              <a:t>false</a:t>
            </a:r>
            <a:r>
              <a:rPr lang="en-US" dirty="0"/>
              <a:t> → otherwise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A cycle means:</a:t>
            </a:r>
            <a:br>
              <a:rPr lang="en-US" dirty="0"/>
            </a:br>
            <a:r>
              <a:rPr lang="en-US" dirty="0"/>
              <a:t>Some node’s </a:t>
            </a:r>
            <a:r>
              <a:rPr lang="en-US" dirty="0">
                <a:latin typeface="Courier New" panose="02070309020205020404" pitchFamily="49" charset="0"/>
              </a:rPr>
              <a:t>next</a:t>
            </a:r>
            <a:r>
              <a:rPr lang="en-US" dirty="0"/>
              <a:t> pointer points back to a previous node.</a:t>
            </a:r>
          </a:p>
        </p:txBody>
      </p:sp>
    </p:spTree>
    <p:extLst>
      <p:ext uri="{BB962C8B-B14F-4D97-AF65-F5344CB8AC3E}">
        <p14:creationId xmlns:p14="http://schemas.microsoft.com/office/powerpoint/2010/main" val="160744873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1D5358F-F1CB-EAD7-F337-88A98FA64A38}"/>
              </a:ext>
            </a:extLst>
          </p:cNvPr>
          <p:cNvSpPr txBox="1"/>
          <p:nvPr/>
        </p:nvSpPr>
        <p:spPr>
          <a:xfrm>
            <a:off x="127819" y="196646"/>
            <a:ext cx="9016181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Example 1</a:t>
            </a:r>
          </a:p>
          <a:p>
            <a:pPr>
              <a:buNone/>
            </a:pPr>
            <a:endParaRPr lang="en-US" b="1" dirty="0"/>
          </a:p>
          <a:p>
            <a:r>
              <a:rPr lang="en-US" dirty="0">
                <a:latin typeface="Courier New" panose="02070309020205020404" pitchFamily="49" charset="0"/>
              </a:rPr>
              <a:t>1 → 2 → 3 → → 4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    ↑     ↓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    ← ← ← ←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Output:</a:t>
            </a:r>
          </a:p>
          <a:p>
            <a:pPr>
              <a:buNone/>
            </a:pPr>
            <a:endParaRPr lang="en-US" dirty="0"/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true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5BA75D-99D5-935D-C961-D9786D83EDF8}"/>
              </a:ext>
            </a:extLst>
          </p:cNvPr>
          <p:cNvSpPr txBox="1"/>
          <p:nvPr/>
        </p:nvSpPr>
        <p:spPr>
          <a:xfrm>
            <a:off x="127819" y="2828835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Example 2</a:t>
            </a:r>
          </a:p>
          <a:p>
            <a:pPr>
              <a:buNone/>
            </a:pPr>
            <a:endParaRPr lang="en-US" b="1" dirty="0"/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1 → 2 → 3 → 4 → NULL</a:t>
            </a:r>
          </a:p>
          <a:p>
            <a:pPr rtl="0">
              <a:buNone/>
            </a:pPr>
            <a:endParaRPr lang="en-US" dirty="0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dirty="0"/>
              <a:t>Output:</a:t>
            </a:r>
          </a:p>
          <a:p>
            <a:pPr>
              <a:buNone/>
            </a:pPr>
            <a:endParaRPr lang="en-US" dirty="0"/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false</a:t>
            </a:r>
          </a:p>
        </p:txBody>
      </p:sp>
    </p:spTree>
    <p:extLst>
      <p:ext uri="{BB962C8B-B14F-4D97-AF65-F5344CB8AC3E}">
        <p14:creationId xmlns:p14="http://schemas.microsoft.com/office/powerpoint/2010/main" val="141509942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BC2AA59-8945-35CA-8A05-C038625D252D}"/>
              </a:ext>
            </a:extLst>
          </p:cNvPr>
          <p:cNvSpPr txBox="1"/>
          <p:nvPr/>
        </p:nvSpPr>
        <p:spPr>
          <a:xfrm>
            <a:off x="157315" y="196646"/>
            <a:ext cx="11248103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APPROACH 1: Using Hash Set</a:t>
            </a:r>
          </a:p>
          <a:p>
            <a:pPr>
              <a:buNone/>
            </a:pPr>
            <a:br>
              <a:rPr lang="en-IN" dirty="0"/>
            </a:br>
            <a:r>
              <a:rPr lang="en-IN" b="1" dirty="0"/>
              <a:t>Idea</a:t>
            </a:r>
          </a:p>
          <a:p>
            <a:pPr>
              <a:buNone/>
            </a:pPr>
            <a:endParaRPr lang="en-IN" b="1" dirty="0"/>
          </a:p>
          <a:p>
            <a:pPr>
              <a:buNone/>
            </a:pPr>
            <a:r>
              <a:rPr lang="en-IN" dirty="0"/>
              <a:t>Store visited nodes in a set.</a:t>
            </a:r>
            <a:br>
              <a:rPr lang="en-IN" dirty="0"/>
            </a:br>
            <a:r>
              <a:rPr lang="en-IN" dirty="0"/>
              <a:t>If we ever visit a node again → cycle exists.</a:t>
            </a:r>
          </a:p>
          <a:p>
            <a:pPr>
              <a:buNone/>
            </a:pPr>
            <a:br>
              <a:rPr lang="en-IN" dirty="0"/>
            </a:br>
            <a:r>
              <a:rPr lang="en-IN" b="1" dirty="0"/>
              <a:t>Logic</a:t>
            </a:r>
          </a:p>
          <a:p>
            <a:pPr>
              <a:buNone/>
            </a:pPr>
            <a:endParaRPr lang="en-IN" b="1" dirty="0"/>
          </a:p>
          <a:p>
            <a:pPr>
              <a:buFont typeface="+mj-lt"/>
              <a:buAutoNum type="arabicPeriod"/>
            </a:pPr>
            <a:r>
              <a:rPr lang="en-IN" dirty="0"/>
              <a:t>Create empty set</a:t>
            </a:r>
          </a:p>
          <a:p>
            <a:pPr>
              <a:buFont typeface="+mj-lt"/>
              <a:buAutoNum type="arabicPeriod"/>
            </a:pPr>
            <a:r>
              <a:rPr lang="en-IN" dirty="0"/>
              <a:t>Traverse list</a:t>
            </a:r>
          </a:p>
          <a:p>
            <a:pPr>
              <a:buFont typeface="+mj-lt"/>
              <a:buAutoNum type="arabicPeriod"/>
            </a:pPr>
            <a:r>
              <a:rPr lang="en-IN" dirty="0"/>
              <a:t>If node already in set → return true</a:t>
            </a:r>
          </a:p>
          <a:p>
            <a:pPr>
              <a:buFont typeface="+mj-lt"/>
              <a:buAutoNum type="arabicPeriod"/>
            </a:pPr>
            <a:r>
              <a:rPr lang="en-IN" dirty="0"/>
              <a:t>Else insert node in set</a:t>
            </a:r>
          </a:p>
          <a:p>
            <a:pPr>
              <a:buFont typeface="+mj-lt"/>
              <a:buAutoNum type="arabicPeriod"/>
            </a:pPr>
            <a:r>
              <a:rPr lang="en-IN" dirty="0"/>
              <a:t>If traversal ends → return false</a:t>
            </a:r>
          </a:p>
          <a:p>
            <a:pPr>
              <a:buNone/>
            </a:pPr>
            <a:br>
              <a:rPr lang="en-IN" dirty="0"/>
            </a:br>
            <a:r>
              <a:rPr lang="en-IN" b="1" dirty="0"/>
              <a:t>Walkthrough</a:t>
            </a:r>
          </a:p>
          <a:p>
            <a:pPr>
              <a:buNone/>
            </a:pPr>
            <a:endParaRPr lang="en-IN" b="1" dirty="0"/>
          </a:p>
          <a:p>
            <a:pPr>
              <a:buNone/>
            </a:pPr>
            <a:r>
              <a:rPr lang="en-IN" dirty="0"/>
              <a:t>List: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1 → 2 → 3 → 4 → 2</a:t>
            </a:r>
          </a:p>
        </p:txBody>
      </p:sp>
    </p:spTree>
    <p:extLst>
      <p:ext uri="{BB962C8B-B14F-4D97-AF65-F5344CB8AC3E}">
        <p14:creationId xmlns:p14="http://schemas.microsoft.com/office/powerpoint/2010/main" val="284748346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E674CA5-DD95-BC70-430A-410BE234FB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2753065"/>
              </p:ext>
            </p:extLst>
          </p:nvPr>
        </p:nvGraphicFramePr>
        <p:xfrm>
          <a:off x="838200" y="190306"/>
          <a:ext cx="10515600" cy="21945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400428790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32610677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19726798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10041076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Step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Current Node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In Set?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Action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210096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Insert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93788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Insert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47559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Insert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27607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Insert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052388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Return true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5286496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ABEA773-F862-09BE-C8DF-8A4245FF36A9}"/>
              </a:ext>
            </a:extLst>
          </p:cNvPr>
          <p:cNvSpPr txBox="1"/>
          <p:nvPr/>
        </p:nvSpPr>
        <p:spPr>
          <a:xfrm>
            <a:off x="838200" y="2697539"/>
            <a:ext cx="6096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Pseudocode</a:t>
            </a:r>
          </a:p>
          <a:p>
            <a:pPr>
              <a:buNone/>
            </a:pPr>
            <a:endParaRPr lang="en-US" b="1" dirty="0"/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set visited</a:t>
            </a:r>
          </a:p>
          <a:p>
            <a:pPr rtl="0">
              <a:buNone/>
            </a:pPr>
            <a:endParaRPr lang="en-US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while head != NULL: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if head in visited: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    return true</a:t>
            </a:r>
          </a:p>
          <a:p>
            <a:pPr rtl="0">
              <a:buNone/>
            </a:pPr>
            <a:endParaRPr lang="en-US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insert head into visited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head = head-&gt;next</a:t>
            </a:r>
          </a:p>
          <a:p>
            <a:pPr rtl="0">
              <a:buNone/>
            </a:pPr>
            <a:endParaRPr lang="en-US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return false</a:t>
            </a:r>
          </a:p>
        </p:txBody>
      </p:sp>
    </p:spTree>
    <p:extLst>
      <p:ext uri="{BB962C8B-B14F-4D97-AF65-F5344CB8AC3E}">
        <p14:creationId xmlns:p14="http://schemas.microsoft.com/office/powerpoint/2010/main" val="135022205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2BF3F19-FF99-A328-CD35-4F02AA36E32F}"/>
              </a:ext>
            </a:extLst>
          </p:cNvPr>
          <p:cNvSpPr txBox="1"/>
          <p:nvPr/>
        </p:nvSpPr>
        <p:spPr>
          <a:xfrm>
            <a:off x="245807" y="13979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Complexity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BF19797-334E-F3A7-C984-B384D8A16F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5721616"/>
              </p:ext>
            </p:extLst>
          </p:nvPr>
        </p:nvGraphicFramePr>
        <p:xfrm>
          <a:off x="582561" y="738951"/>
          <a:ext cx="10515600" cy="10972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332511848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8815326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07483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O(n)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91735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Space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O(n)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319171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9054551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CA4D954-B1B6-458B-DBBD-A0AFC948B0AA}"/>
              </a:ext>
            </a:extLst>
          </p:cNvPr>
          <p:cNvSpPr txBox="1"/>
          <p:nvPr/>
        </p:nvSpPr>
        <p:spPr>
          <a:xfrm>
            <a:off x="167148" y="127819"/>
            <a:ext cx="5053782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APPROACH 2: Floyd’s Cycle Detection</a:t>
            </a:r>
          </a:p>
          <a:p>
            <a:pPr>
              <a:buNone/>
            </a:pPr>
            <a:br>
              <a:rPr lang="en-IN" dirty="0"/>
            </a:br>
            <a:r>
              <a:rPr lang="en-IN" b="1" dirty="0"/>
              <a:t>Idea</a:t>
            </a:r>
          </a:p>
          <a:p>
            <a:pPr>
              <a:buNone/>
            </a:pPr>
            <a:r>
              <a:rPr lang="en-IN" dirty="0"/>
              <a:t>Use two pointers: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Slow → moves 1 step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Fast → moves 2 steps</a:t>
            </a:r>
          </a:p>
          <a:p>
            <a:pPr>
              <a:buNone/>
            </a:pPr>
            <a:r>
              <a:rPr lang="en-IN" dirty="0"/>
              <a:t>If cycle exists:</a:t>
            </a:r>
            <a:br>
              <a:rPr lang="en-IN" dirty="0"/>
            </a:br>
            <a:r>
              <a:rPr lang="en-IN" dirty="0"/>
              <a:t>They will meet.</a:t>
            </a:r>
          </a:p>
          <a:p>
            <a:pPr>
              <a:buNone/>
            </a:pPr>
            <a:r>
              <a:rPr lang="en-IN" dirty="0"/>
              <a:t>If no cycle:</a:t>
            </a:r>
            <a:br>
              <a:rPr lang="en-IN" dirty="0"/>
            </a:br>
            <a:r>
              <a:rPr lang="en-IN" dirty="0"/>
              <a:t>Fast pointer reaches NULL.</a:t>
            </a:r>
          </a:p>
          <a:p>
            <a:pPr>
              <a:buNone/>
            </a:pPr>
            <a:br>
              <a:rPr lang="en-IN" dirty="0"/>
            </a:br>
            <a:r>
              <a:rPr lang="en-IN" b="1" dirty="0"/>
              <a:t>Why It Works?</a:t>
            </a:r>
          </a:p>
          <a:p>
            <a:pPr>
              <a:buNone/>
            </a:pPr>
            <a:r>
              <a:rPr lang="en-IN" dirty="0"/>
              <a:t>Inside cycle:</a:t>
            </a:r>
            <a:br>
              <a:rPr lang="en-IN" dirty="0"/>
            </a:br>
            <a:r>
              <a:rPr lang="en-IN" dirty="0"/>
              <a:t>Fast pointer eventually catches slow pointer.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Logic</a:t>
            </a:r>
          </a:p>
          <a:p>
            <a:pPr>
              <a:buFont typeface="+mj-lt"/>
              <a:buAutoNum type="arabicPeriod"/>
            </a:pPr>
            <a:r>
              <a:rPr lang="en-IN" dirty="0"/>
              <a:t>Initialize slow = head</a:t>
            </a:r>
          </a:p>
          <a:p>
            <a:pPr>
              <a:buFont typeface="+mj-lt"/>
              <a:buAutoNum type="arabicPeriod"/>
            </a:pPr>
            <a:r>
              <a:rPr lang="en-IN" dirty="0"/>
              <a:t>Initialize fast = head</a:t>
            </a:r>
          </a:p>
          <a:p>
            <a:pPr>
              <a:buFont typeface="+mj-lt"/>
              <a:buAutoNum type="arabicPeriod"/>
            </a:pPr>
            <a:r>
              <a:rPr lang="en-IN" dirty="0"/>
              <a:t>While fast and fast-&gt;next not NULL: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N" dirty="0"/>
              <a:t>slow = slow-&gt;next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N" dirty="0"/>
              <a:t>fast = fast-&gt;next-&gt;next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N" dirty="0"/>
              <a:t>If slow == fast → return true</a:t>
            </a:r>
          </a:p>
          <a:p>
            <a:pPr>
              <a:buFont typeface="+mj-lt"/>
              <a:buAutoNum type="arabicPeriod"/>
            </a:pPr>
            <a:r>
              <a:rPr lang="en-IN" dirty="0"/>
              <a:t>Return false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FF9A4A-74C2-D03E-A5D8-1527F16871B2}"/>
              </a:ext>
            </a:extLst>
          </p:cNvPr>
          <p:cNvSpPr txBox="1"/>
          <p:nvPr/>
        </p:nvSpPr>
        <p:spPr>
          <a:xfrm>
            <a:off x="6096000" y="127819"/>
            <a:ext cx="537824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Walkthrough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dirty="0"/>
              <a:t>List: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1 → 2 → 3 → 4 → 2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529170D-8345-FC7C-8B41-66471C8BB2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1767304"/>
              </p:ext>
            </p:extLst>
          </p:nvPr>
        </p:nvGraphicFramePr>
        <p:xfrm>
          <a:off x="5026742" y="1445342"/>
          <a:ext cx="6771969" cy="19836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257323">
                  <a:extLst>
                    <a:ext uri="{9D8B030D-6E8A-4147-A177-3AD203B41FA5}">
                      <a16:colId xmlns:a16="http://schemas.microsoft.com/office/drawing/2014/main" val="3087133930"/>
                    </a:ext>
                  </a:extLst>
                </a:gridCol>
                <a:gridCol w="2257323">
                  <a:extLst>
                    <a:ext uri="{9D8B030D-6E8A-4147-A177-3AD203B41FA5}">
                      <a16:colId xmlns:a16="http://schemas.microsoft.com/office/drawing/2014/main" val="2272551767"/>
                    </a:ext>
                  </a:extLst>
                </a:gridCol>
                <a:gridCol w="2257323">
                  <a:extLst>
                    <a:ext uri="{9D8B030D-6E8A-4147-A177-3AD203B41FA5}">
                      <a16:colId xmlns:a16="http://schemas.microsoft.com/office/drawing/2014/main" val="2947225011"/>
                    </a:ext>
                  </a:extLst>
                </a:gridCol>
              </a:tblGrid>
              <a:tr h="39673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Step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Slow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Fast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1799186"/>
                  </a:ext>
                </a:extLst>
              </a:tr>
              <a:tr h="39673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8502405"/>
                  </a:ext>
                </a:extLst>
              </a:tr>
              <a:tr h="39673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36466399"/>
                  </a:ext>
                </a:extLst>
              </a:tr>
              <a:tr h="39673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331472"/>
                  </a:ext>
                </a:extLst>
              </a:tr>
              <a:tr h="39673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4035261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9EEFB1F3-65F7-BD61-11EB-9D4A43C00FC6}"/>
              </a:ext>
            </a:extLst>
          </p:cNvPr>
          <p:cNvSpPr txBox="1"/>
          <p:nvPr/>
        </p:nvSpPr>
        <p:spPr>
          <a:xfrm>
            <a:off x="5026742" y="394488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They meet → Cycle exists</a:t>
            </a:r>
          </a:p>
        </p:txBody>
      </p:sp>
    </p:spTree>
    <p:extLst>
      <p:ext uri="{BB962C8B-B14F-4D97-AF65-F5344CB8AC3E}">
        <p14:creationId xmlns:p14="http://schemas.microsoft.com/office/powerpoint/2010/main" val="1956217489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48B0831-5823-1134-A354-36B22BB7FE47}"/>
              </a:ext>
            </a:extLst>
          </p:cNvPr>
          <p:cNvSpPr txBox="1"/>
          <p:nvPr/>
        </p:nvSpPr>
        <p:spPr>
          <a:xfrm>
            <a:off x="383458" y="130472"/>
            <a:ext cx="60960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Pseudocode</a:t>
            </a:r>
          </a:p>
          <a:p>
            <a:pPr>
              <a:buNone/>
            </a:pPr>
            <a:endParaRPr lang="en-US" b="1" dirty="0"/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slow = head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fast = head</a:t>
            </a:r>
          </a:p>
          <a:p>
            <a:pPr rtl="0">
              <a:buNone/>
            </a:pPr>
            <a:endParaRPr lang="en-US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while fast != NULL and fast-&gt;next != NULL: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slow = slow-&gt;next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fast = fast-&gt;next-&gt;next</a:t>
            </a:r>
          </a:p>
          <a:p>
            <a:pPr rtl="0">
              <a:buNone/>
            </a:pPr>
            <a:endParaRPr lang="en-US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if slow == fast: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    return true</a:t>
            </a:r>
          </a:p>
          <a:p>
            <a:pPr rtl="0">
              <a:buNone/>
            </a:pPr>
            <a:endParaRPr lang="en-US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return false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0B4F5E-31D2-3DA9-5D71-3CEF9256DF6F}"/>
              </a:ext>
            </a:extLst>
          </p:cNvPr>
          <p:cNvSpPr txBox="1"/>
          <p:nvPr/>
        </p:nvSpPr>
        <p:spPr>
          <a:xfrm>
            <a:off x="383458" y="392521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Complexity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0CAA917-6C24-8A0B-55F3-96EDCBFBF0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5712649"/>
              </p:ext>
            </p:extLst>
          </p:nvPr>
        </p:nvGraphicFramePr>
        <p:xfrm>
          <a:off x="464574" y="4553867"/>
          <a:ext cx="10515600" cy="10972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945274426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40827587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33200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O(n)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748670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Space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O(1)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875947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63382874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A2936CE-AB4B-C221-5ADE-0FEB5B1A6787}"/>
              </a:ext>
            </a:extLst>
          </p:cNvPr>
          <p:cNvSpPr txBox="1"/>
          <p:nvPr/>
        </p:nvSpPr>
        <p:spPr>
          <a:xfrm>
            <a:off x="206477" y="201842"/>
            <a:ext cx="342162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73. Set Matrix Zeroes</a:t>
            </a:r>
          </a:p>
          <a:p>
            <a:pPr>
              <a:buNone/>
            </a:pPr>
            <a:br>
              <a:rPr lang="en-US" dirty="0"/>
            </a:br>
            <a:r>
              <a:rPr lang="en-US" b="1" dirty="0"/>
              <a:t>Problem in Simple Words</a:t>
            </a:r>
          </a:p>
          <a:p>
            <a:pPr>
              <a:buNone/>
            </a:pPr>
            <a:r>
              <a:rPr lang="en-US" dirty="0"/>
              <a:t>You are given a matrix.</a:t>
            </a:r>
          </a:p>
          <a:p>
            <a:pPr>
              <a:buNone/>
            </a:pPr>
            <a:r>
              <a:rPr lang="en-US" dirty="0"/>
              <a:t>If any cell contains </a:t>
            </a:r>
            <a:r>
              <a:rPr lang="en-US" dirty="0">
                <a:latin typeface="Courier New" panose="02070309020205020404" pitchFamily="49" charset="0"/>
              </a:rPr>
              <a:t>0</a:t>
            </a:r>
            <a:r>
              <a:rPr lang="en-US" dirty="0"/>
              <a:t>, then: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Set its </a:t>
            </a:r>
            <a:r>
              <a:rPr lang="en-US" b="1" dirty="0"/>
              <a:t>entire row</a:t>
            </a:r>
            <a:r>
              <a:rPr lang="en-US" dirty="0"/>
              <a:t> to </a:t>
            </a:r>
            <a:r>
              <a:rPr lang="en-US" dirty="0">
                <a:latin typeface="Courier New" panose="02070309020205020404" pitchFamily="49" charset="0"/>
              </a:rPr>
              <a:t>0</a:t>
            </a:r>
            <a:r>
              <a:rPr lang="en-US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Set its </a:t>
            </a:r>
            <a:r>
              <a:rPr lang="en-US" b="1" dirty="0"/>
              <a:t>entire column</a:t>
            </a:r>
            <a:r>
              <a:rPr lang="en-US" dirty="0"/>
              <a:t> to </a:t>
            </a:r>
            <a:r>
              <a:rPr lang="en-US" dirty="0">
                <a:latin typeface="Courier New" panose="02070309020205020404" pitchFamily="49" charset="0"/>
              </a:rPr>
              <a:t>0</a:t>
            </a:r>
            <a:r>
              <a:rPr lang="en-US" dirty="0"/>
              <a:t> </a:t>
            </a:r>
          </a:p>
          <a:p>
            <a:pPr>
              <a:buNone/>
            </a:pPr>
            <a:r>
              <a:rPr lang="en-US" dirty="0"/>
              <a:t>You must do it </a:t>
            </a:r>
            <a:r>
              <a:rPr lang="en-US" b="1" dirty="0"/>
              <a:t>in-place</a:t>
            </a:r>
            <a:r>
              <a:rPr lang="en-US" dirty="0"/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D5837F-3F1F-9047-F254-8CE27D4957BF}"/>
              </a:ext>
            </a:extLst>
          </p:cNvPr>
          <p:cNvSpPr txBox="1"/>
          <p:nvPr/>
        </p:nvSpPr>
        <p:spPr>
          <a:xfrm>
            <a:off x="206477" y="2685840"/>
            <a:ext cx="226142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Example</a:t>
            </a:r>
          </a:p>
          <a:p>
            <a:pPr>
              <a:buNone/>
            </a:pPr>
            <a:r>
              <a:rPr lang="en-IN" b="1" dirty="0"/>
              <a:t>Input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matrix =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[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[1,1,1],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[1,0,1],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[1,1,1]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]</a:t>
            </a:r>
          </a:p>
          <a:p>
            <a:pPr>
              <a:buNone/>
            </a:pPr>
            <a:r>
              <a:rPr lang="en-IN" b="1" dirty="0"/>
              <a:t>Output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[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[1,0,1],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[0,0,0],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[1,0,1]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]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B153F04-306D-E9B7-86CD-80FB2AFE263F}"/>
              </a:ext>
            </a:extLst>
          </p:cNvPr>
          <p:cNvSpPr txBox="1"/>
          <p:nvPr/>
        </p:nvSpPr>
        <p:spPr>
          <a:xfrm>
            <a:off x="5889523" y="165453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APPROACH 1: Brute Force (Using Extra Matrix)</a:t>
            </a:r>
          </a:p>
          <a:p>
            <a:pPr>
              <a:buNone/>
            </a:pPr>
            <a:br>
              <a:rPr lang="en-US" dirty="0"/>
            </a:br>
            <a:r>
              <a:rPr lang="en-US" b="1" dirty="0"/>
              <a:t>Idea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Create a copy of matrix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Whenever you find 0 → mark entire row &amp; column in copy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3AEF195-EA1E-F63A-2E05-6310027ABCF2}"/>
              </a:ext>
            </a:extLst>
          </p:cNvPr>
          <p:cNvSpPr txBox="1"/>
          <p:nvPr/>
        </p:nvSpPr>
        <p:spPr>
          <a:xfrm>
            <a:off x="5889523" y="2144389"/>
            <a:ext cx="60960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Pseudocode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copy = duplicate of matrix</a:t>
            </a:r>
            <a:br>
              <a:rPr lang="en-IN" dirty="0">
                <a:latin typeface="Courier New" panose="02070309020205020404" pitchFamily="49" charset="0"/>
              </a:rPr>
            </a:b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for </a:t>
            </a:r>
            <a:r>
              <a:rPr lang="en-IN" dirty="0" err="1">
                <a:latin typeface="Courier New" panose="02070309020205020404" pitchFamily="49" charset="0"/>
              </a:rPr>
              <a:t>i</a:t>
            </a:r>
            <a:r>
              <a:rPr lang="en-IN" dirty="0">
                <a:latin typeface="Courier New" panose="02070309020205020404" pitchFamily="49" charset="0"/>
              </a:rPr>
              <a:t> = 0 to rows-1: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   for j = 0 to cols-1: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       if matrix[</a:t>
            </a:r>
            <a:r>
              <a:rPr lang="en-IN" dirty="0" err="1">
                <a:latin typeface="Courier New" panose="02070309020205020404" pitchFamily="49" charset="0"/>
              </a:rPr>
              <a:t>i</a:t>
            </a:r>
            <a:r>
              <a:rPr lang="en-IN" dirty="0">
                <a:latin typeface="Courier New" panose="02070309020205020404" pitchFamily="49" charset="0"/>
              </a:rPr>
              <a:t>][j] == 0:</a:t>
            </a:r>
            <a:br>
              <a:rPr lang="en-IN" dirty="0">
                <a:latin typeface="Courier New" panose="02070309020205020404" pitchFamily="49" charset="0"/>
              </a:rPr>
            </a:b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           for k = 0 to cols-1: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               copy[</a:t>
            </a:r>
            <a:r>
              <a:rPr lang="en-IN" dirty="0" err="1">
                <a:latin typeface="Courier New" panose="02070309020205020404" pitchFamily="49" charset="0"/>
              </a:rPr>
              <a:t>i</a:t>
            </a:r>
            <a:r>
              <a:rPr lang="en-IN" dirty="0">
                <a:latin typeface="Courier New" panose="02070309020205020404" pitchFamily="49" charset="0"/>
              </a:rPr>
              <a:t>][k] = 0</a:t>
            </a:r>
            <a:br>
              <a:rPr lang="en-IN" dirty="0">
                <a:latin typeface="Courier New" panose="02070309020205020404" pitchFamily="49" charset="0"/>
              </a:rPr>
            </a:b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           for k = 0 to rows-1: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               copy[k][j] = 0</a:t>
            </a:r>
            <a:br>
              <a:rPr lang="en-IN" dirty="0">
                <a:latin typeface="Courier New" panose="02070309020205020404" pitchFamily="49" charset="0"/>
              </a:rPr>
            </a:b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matrix = copy</a:t>
            </a:r>
          </a:p>
        </p:txBody>
      </p:sp>
    </p:spTree>
    <p:extLst>
      <p:ext uri="{BB962C8B-B14F-4D97-AF65-F5344CB8AC3E}">
        <p14:creationId xmlns:p14="http://schemas.microsoft.com/office/powerpoint/2010/main" val="4037380527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C9031AB-10DE-59C8-FDC5-677C6071F5AA}"/>
              </a:ext>
            </a:extLst>
          </p:cNvPr>
          <p:cNvSpPr txBox="1"/>
          <p:nvPr/>
        </p:nvSpPr>
        <p:spPr>
          <a:xfrm>
            <a:off x="206477" y="23812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Complexity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6C4F954B-07FE-E295-4EC4-CE9A6787C3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0370892"/>
              </p:ext>
            </p:extLst>
          </p:nvPr>
        </p:nvGraphicFramePr>
        <p:xfrm>
          <a:off x="317090" y="925764"/>
          <a:ext cx="10515600" cy="10972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453351974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53491057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12174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/>
                        <a:t>O(m × n × (m + n))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96346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Space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O(m × n)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77114703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55940ED6-19BD-FFFF-783B-E094DA35A688}"/>
              </a:ext>
            </a:extLst>
          </p:cNvPr>
          <p:cNvSpPr txBox="1"/>
          <p:nvPr/>
        </p:nvSpPr>
        <p:spPr>
          <a:xfrm>
            <a:off x="442451" y="2341355"/>
            <a:ext cx="6096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APPROACH 2: Using Row &amp; Column Arrays</a:t>
            </a:r>
          </a:p>
          <a:p>
            <a:pPr>
              <a:buNone/>
            </a:pPr>
            <a:br>
              <a:rPr lang="en-US" dirty="0"/>
            </a:br>
            <a:r>
              <a:rPr lang="en-US" b="1" dirty="0"/>
              <a:t>Idea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Store which rows and columns should become zero </a:t>
            </a:r>
          </a:p>
          <a:p>
            <a:pPr>
              <a:buNone/>
            </a:pPr>
            <a:br>
              <a:rPr lang="en-US" dirty="0"/>
            </a:br>
            <a:r>
              <a:rPr lang="en-US" b="1" dirty="0"/>
              <a:t>Logic (Text Form)</a:t>
            </a:r>
          </a:p>
          <a:p>
            <a:pPr>
              <a:buFont typeface="+mj-lt"/>
              <a:buAutoNum type="arabicPeriod"/>
            </a:pPr>
            <a:r>
              <a:rPr lang="en-US" dirty="0"/>
              <a:t>Create </a:t>
            </a:r>
            <a:r>
              <a:rPr lang="en-US" dirty="0">
                <a:latin typeface="Courier New" panose="02070309020205020404" pitchFamily="49" charset="0"/>
              </a:rPr>
              <a:t>row[]</a:t>
            </a:r>
            <a:r>
              <a:rPr lang="en-US" dirty="0"/>
              <a:t> and </a:t>
            </a:r>
            <a:r>
              <a:rPr lang="en-US" dirty="0">
                <a:latin typeface="Courier New" panose="02070309020205020404" pitchFamily="49" charset="0"/>
              </a:rPr>
              <a:t>col[]</a:t>
            </a:r>
            <a:r>
              <a:rPr lang="en-US" dirty="0"/>
              <a:t> </a:t>
            </a:r>
          </a:p>
          <a:p>
            <a:pPr>
              <a:buFont typeface="+mj-lt"/>
              <a:buAutoNum type="arabicPeriod"/>
            </a:pPr>
            <a:r>
              <a:rPr lang="en-US" dirty="0"/>
              <a:t>Mark rows and columns having zero </a:t>
            </a:r>
          </a:p>
          <a:p>
            <a:pPr>
              <a:buFont typeface="+mj-lt"/>
              <a:buAutoNum type="arabicPeriod"/>
            </a:pPr>
            <a:r>
              <a:rPr lang="en-US" dirty="0"/>
              <a:t>Traverse again and set values to zero</a:t>
            </a:r>
          </a:p>
        </p:txBody>
      </p:sp>
    </p:spTree>
    <p:extLst>
      <p:ext uri="{BB962C8B-B14F-4D97-AF65-F5344CB8AC3E}">
        <p14:creationId xmlns:p14="http://schemas.microsoft.com/office/powerpoint/2010/main" val="259672706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F02AD95-53C3-E699-77CA-ADDAF8A9AA55}"/>
              </a:ext>
            </a:extLst>
          </p:cNvPr>
          <p:cNvSpPr txBox="1"/>
          <p:nvPr/>
        </p:nvSpPr>
        <p:spPr>
          <a:xfrm>
            <a:off x="344129" y="168105"/>
            <a:ext cx="5751871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Pseudocode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row[rows] = {0}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col[cols] = {0}</a:t>
            </a:r>
            <a:br>
              <a:rPr lang="en-IN" dirty="0">
                <a:latin typeface="Courier New" panose="02070309020205020404" pitchFamily="49" charset="0"/>
              </a:rPr>
            </a:b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for </a:t>
            </a:r>
            <a:r>
              <a:rPr lang="en-IN" dirty="0" err="1">
                <a:latin typeface="Courier New" panose="02070309020205020404" pitchFamily="49" charset="0"/>
              </a:rPr>
              <a:t>i</a:t>
            </a:r>
            <a:r>
              <a:rPr lang="en-IN" dirty="0">
                <a:latin typeface="Courier New" panose="02070309020205020404" pitchFamily="49" charset="0"/>
              </a:rPr>
              <a:t> = 0 to rows-1: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   for j = 0 to cols-1: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       if matrix[</a:t>
            </a:r>
            <a:r>
              <a:rPr lang="en-IN" dirty="0" err="1">
                <a:latin typeface="Courier New" panose="02070309020205020404" pitchFamily="49" charset="0"/>
              </a:rPr>
              <a:t>i</a:t>
            </a:r>
            <a:r>
              <a:rPr lang="en-IN" dirty="0">
                <a:latin typeface="Courier New" panose="02070309020205020404" pitchFamily="49" charset="0"/>
              </a:rPr>
              <a:t>][j] == 0: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           row[</a:t>
            </a:r>
            <a:r>
              <a:rPr lang="en-IN" dirty="0" err="1">
                <a:latin typeface="Courier New" panose="02070309020205020404" pitchFamily="49" charset="0"/>
              </a:rPr>
              <a:t>i</a:t>
            </a:r>
            <a:r>
              <a:rPr lang="en-IN" dirty="0">
                <a:latin typeface="Courier New" panose="02070309020205020404" pitchFamily="49" charset="0"/>
              </a:rPr>
              <a:t>] = 1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           col[j] = 1</a:t>
            </a:r>
            <a:br>
              <a:rPr lang="en-IN" dirty="0">
                <a:latin typeface="Courier New" panose="02070309020205020404" pitchFamily="49" charset="0"/>
              </a:rPr>
            </a:b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for </a:t>
            </a:r>
            <a:r>
              <a:rPr lang="en-IN" dirty="0" err="1">
                <a:latin typeface="Courier New" panose="02070309020205020404" pitchFamily="49" charset="0"/>
              </a:rPr>
              <a:t>i</a:t>
            </a:r>
            <a:r>
              <a:rPr lang="en-IN" dirty="0">
                <a:latin typeface="Courier New" panose="02070309020205020404" pitchFamily="49" charset="0"/>
              </a:rPr>
              <a:t> = 0 to rows-1: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   for j = 0 to cols-1: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       if row[</a:t>
            </a:r>
            <a:r>
              <a:rPr lang="en-IN" dirty="0" err="1">
                <a:latin typeface="Courier New" panose="02070309020205020404" pitchFamily="49" charset="0"/>
              </a:rPr>
              <a:t>i</a:t>
            </a:r>
            <a:r>
              <a:rPr lang="en-IN" dirty="0">
                <a:latin typeface="Courier New" panose="02070309020205020404" pitchFamily="49" charset="0"/>
              </a:rPr>
              <a:t>] == 1 OR col[j] == 1: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           matrix[</a:t>
            </a:r>
            <a:r>
              <a:rPr lang="en-IN" dirty="0" err="1">
                <a:latin typeface="Courier New" panose="02070309020205020404" pitchFamily="49" charset="0"/>
              </a:rPr>
              <a:t>i</a:t>
            </a:r>
            <a:r>
              <a:rPr lang="en-IN" dirty="0">
                <a:latin typeface="Courier New" panose="02070309020205020404" pitchFamily="49" charset="0"/>
              </a:rPr>
              <a:t>][j] = 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F109F4-45EA-5D72-F767-01D97D965A0A}"/>
              </a:ext>
            </a:extLst>
          </p:cNvPr>
          <p:cNvSpPr txBox="1"/>
          <p:nvPr/>
        </p:nvSpPr>
        <p:spPr>
          <a:xfrm>
            <a:off x="344129" y="441683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Complexity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9357E06-BE00-A8F4-8A2E-5273E04D3A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4672251"/>
              </p:ext>
            </p:extLst>
          </p:nvPr>
        </p:nvGraphicFramePr>
        <p:xfrm>
          <a:off x="769374" y="5064571"/>
          <a:ext cx="10515600" cy="10972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784526563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0196415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09402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O(m × 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501444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Space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O(m + 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91810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7214183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0458B29-6770-8BDB-9E62-9F5962A5A9A9}"/>
              </a:ext>
            </a:extLst>
          </p:cNvPr>
          <p:cNvSpPr txBox="1"/>
          <p:nvPr/>
        </p:nvSpPr>
        <p:spPr>
          <a:xfrm>
            <a:off x="245806" y="98323"/>
            <a:ext cx="5732207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APPROACH 3: Optimal (Using First Row &amp; Column)</a:t>
            </a:r>
          </a:p>
          <a:p>
            <a:pPr>
              <a:buNone/>
            </a:pPr>
            <a:br>
              <a:rPr lang="en-IN" dirty="0"/>
            </a:br>
            <a:r>
              <a:rPr lang="en-IN" b="1" dirty="0"/>
              <a:t>Key Idea</a:t>
            </a:r>
          </a:p>
          <a:p>
            <a:pPr>
              <a:buNone/>
            </a:pPr>
            <a:r>
              <a:rPr lang="en-IN" dirty="0"/>
              <a:t>Use: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First row → to mark columns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First column → to mark rows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No extra space required</a:t>
            </a:r>
          </a:p>
          <a:p>
            <a:pPr>
              <a:buNone/>
            </a:pPr>
            <a:br>
              <a:rPr lang="en-IN" dirty="0"/>
            </a:br>
            <a:r>
              <a:rPr lang="en-IN" b="1" dirty="0"/>
              <a:t>Important Trick </a:t>
            </a:r>
          </a:p>
          <a:p>
            <a:pPr>
              <a:buNone/>
            </a:pPr>
            <a:r>
              <a:rPr lang="en-IN" dirty="0"/>
              <a:t>We need one extra variable: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col0 → to track first column separately</a:t>
            </a:r>
          </a:p>
          <a:p>
            <a:pPr>
              <a:buNone/>
            </a:pPr>
            <a:br>
              <a:rPr lang="en-IN" dirty="0"/>
            </a:br>
            <a:r>
              <a:rPr lang="en-IN" b="1" dirty="0"/>
              <a:t>Logic (Text Form)</a:t>
            </a:r>
          </a:p>
          <a:p>
            <a:pPr>
              <a:buFont typeface="+mj-lt"/>
              <a:buAutoNum type="arabicPeriod"/>
            </a:pPr>
            <a:r>
              <a:rPr lang="en-IN" dirty="0"/>
              <a:t>Traverse matrix: 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N" dirty="0"/>
              <a:t>If element is 0: 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IN" dirty="0"/>
              <a:t>Mark row: </a:t>
            </a:r>
            <a:r>
              <a:rPr lang="en-IN" dirty="0">
                <a:latin typeface="Courier New" panose="02070309020205020404" pitchFamily="49" charset="0"/>
              </a:rPr>
              <a:t>matrix[</a:t>
            </a:r>
            <a:r>
              <a:rPr lang="en-IN" dirty="0" err="1">
                <a:latin typeface="Courier New" panose="02070309020205020404" pitchFamily="49" charset="0"/>
              </a:rPr>
              <a:t>i</a:t>
            </a:r>
            <a:r>
              <a:rPr lang="en-IN" dirty="0">
                <a:latin typeface="Courier New" panose="02070309020205020404" pitchFamily="49" charset="0"/>
              </a:rPr>
              <a:t>][0] = 0</a:t>
            </a:r>
            <a:r>
              <a:rPr lang="en-IN" dirty="0"/>
              <a:t> 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IN" dirty="0"/>
              <a:t>Mark col: </a:t>
            </a:r>
            <a:r>
              <a:rPr lang="en-IN" dirty="0">
                <a:latin typeface="Courier New" panose="02070309020205020404" pitchFamily="49" charset="0"/>
              </a:rPr>
              <a:t>matrix[0][j] = 0</a:t>
            </a:r>
            <a:r>
              <a:rPr lang="en-IN" dirty="0"/>
              <a:t> </a:t>
            </a:r>
          </a:p>
          <a:p>
            <a:pPr>
              <a:buFont typeface="+mj-lt"/>
              <a:buAutoNum type="arabicPeriod"/>
            </a:pPr>
            <a:r>
              <a:rPr lang="en-IN" dirty="0"/>
              <a:t>Traverse again (excluding first row/col): 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N" dirty="0"/>
              <a:t>If marked → set to 0 </a:t>
            </a:r>
          </a:p>
          <a:p>
            <a:pPr>
              <a:buFont typeface="+mj-lt"/>
              <a:buAutoNum type="arabicPeriod"/>
            </a:pPr>
            <a:r>
              <a:rPr lang="en-IN" dirty="0"/>
              <a:t>Handle first row separately </a:t>
            </a:r>
          </a:p>
          <a:p>
            <a:pPr>
              <a:buFont typeface="+mj-lt"/>
              <a:buAutoNum type="arabicPeriod"/>
            </a:pPr>
            <a:r>
              <a:rPr lang="en-IN" dirty="0"/>
              <a:t>Handle first column using </a:t>
            </a:r>
            <a:r>
              <a:rPr lang="en-IN" dirty="0">
                <a:latin typeface="Courier New" panose="02070309020205020404" pitchFamily="49" charset="0"/>
              </a:rPr>
              <a:t>col0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D2E2D2-6853-4360-FA60-C5BC986D8FBB}"/>
              </a:ext>
            </a:extLst>
          </p:cNvPr>
          <p:cNvSpPr txBox="1"/>
          <p:nvPr/>
        </p:nvSpPr>
        <p:spPr>
          <a:xfrm>
            <a:off x="6823587" y="98323"/>
            <a:ext cx="4611329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Walkthrough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dirty="0"/>
              <a:t>Matrix: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1 1 1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1 0 1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1 </a:t>
            </a:r>
            <a:r>
              <a:rPr lang="en-US">
                <a:latin typeface="Courier New" panose="02070309020205020404" pitchFamily="49" charset="0"/>
              </a:rPr>
              <a:t>1 1</a:t>
            </a:r>
          </a:p>
          <a:p>
            <a:pPr rtl="0">
              <a:buNone/>
            </a:pPr>
            <a:endParaRPr lang="en-US" dirty="0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b="1" dirty="0"/>
              <a:t>Step 1: Marking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1 0 1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0 0 1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1 1 1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Step 2: Update remaining cells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1 0 1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0 0 0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1 0 1</a:t>
            </a:r>
          </a:p>
        </p:txBody>
      </p:sp>
    </p:spTree>
    <p:extLst>
      <p:ext uri="{BB962C8B-B14F-4D97-AF65-F5344CB8AC3E}">
        <p14:creationId xmlns:p14="http://schemas.microsoft.com/office/powerpoint/2010/main" val="3801690581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E0A586C-0CDA-2218-9151-1E227838A2FE}"/>
              </a:ext>
            </a:extLst>
          </p:cNvPr>
          <p:cNvSpPr txBox="1"/>
          <p:nvPr/>
        </p:nvSpPr>
        <p:spPr>
          <a:xfrm>
            <a:off x="285136" y="186813"/>
            <a:ext cx="7059562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Optimal Pseudocode (C++-Style)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rows = </a:t>
            </a:r>
            <a:r>
              <a:rPr lang="en-IN" dirty="0" err="1">
                <a:latin typeface="Courier New" panose="02070309020205020404" pitchFamily="49" charset="0"/>
              </a:rPr>
              <a:t>matrix.size</a:t>
            </a:r>
            <a:r>
              <a:rPr lang="en-IN" dirty="0">
                <a:latin typeface="Courier New" panose="02070309020205020404" pitchFamily="49" charset="0"/>
              </a:rPr>
              <a:t>()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cols = matrix[0].size()</a:t>
            </a:r>
            <a:br>
              <a:rPr lang="en-IN" dirty="0">
                <a:latin typeface="Courier New" panose="02070309020205020404" pitchFamily="49" charset="0"/>
              </a:rPr>
            </a:b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col0 = 1</a:t>
            </a:r>
            <a:br>
              <a:rPr lang="en-IN" dirty="0">
                <a:latin typeface="Courier New" panose="02070309020205020404" pitchFamily="49" charset="0"/>
              </a:rPr>
            </a:b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for </a:t>
            </a:r>
            <a:r>
              <a:rPr lang="en-IN" dirty="0" err="1">
                <a:latin typeface="Courier New" panose="02070309020205020404" pitchFamily="49" charset="0"/>
              </a:rPr>
              <a:t>i</a:t>
            </a:r>
            <a:r>
              <a:rPr lang="en-IN" dirty="0">
                <a:latin typeface="Courier New" panose="02070309020205020404" pitchFamily="49" charset="0"/>
              </a:rPr>
              <a:t> = 0 to rows-1: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   if matrix[</a:t>
            </a:r>
            <a:r>
              <a:rPr lang="en-IN" dirty="0" err="1">
                <a:latin typeface="Courier New" panose="02070309020205020404" pitchFamily="49" charset="0"/>
              </a:rPr>
              <a:t>i</a:t>
            </a:r>
            <a:r>
              <a:rPr lang="en-IN" dirty="0">
                <a:latin typeface="Courier New" panose="02070309020205020404" pitchFamily="49" charset="0"/>
              </a:rPr>
              <a:t>][0] == 0: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       col0 = 0</a:t>
            </a:r>
            <a:br>
              <a:rPr lang="en-IN" dirty="0">
                <a:latin typeface="Courier New" panose="02070309020205020404" pitchFamily="49" charset="0"/>
              </a:rPr>
            </a:b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   for j = 1 to cols-1: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       if matrix[</a:t>
            </a:r>
            <a:r>
              <a:rPr lang="en-IN" dirty="0" err="1">
                <a:latin typeface="Courier New" panose="02070309020205020404" pitchFamily="49" charset="0"/>
              </a:rPr>
              <a:t>i</a:t>
            </a:r>
            <a:r>
              <a:rPr lang="en-IN" dirty="0">
                <a:latin typeface="Courier New" panose="02070309020205020404" pitchFamily="49" charset="0"/>
              </a:rPr>
              <a:t>][j] == 0: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           matrix[</a:t>
            </a:r>
            <a:r>
              <a:rPr lang="en-IN" dirty="0" err="1">
                <a:latin typeface="Courier New" panose="02070309020205020404" pitchFamily="49" charset="0"/>
              </a:rPr>
              <a:t>i</a:t>
            </a:r>
            <a:r>
              <a:rPr lang="en-IN" dirty="0">
                <a:latin typeface="Courier New" panose="02070309020205020404" pitchFamily="49" charset="0"/>
              </a:rPr>
              <a:t>][0] = 0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           matrix[0][j] = 0</a:t>
            </a:r>
            <a:br>
              <a:rPr lang="en-IN" dirty="0">
                <a:latin typeface="Courier New" panose="02070309020205020404" pitchFamily="49" charset="0"/>
              </a:rPr>
            </a:b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for </a:t>
            </a:r>
            <a:r>
              <a:rPr lang="en-IN" dirty="0" err="1">
                <a:latin typeface="Courier New" panose="02070309020205020404" pitchFamily="49" charset="0"/>
              </a:rPr>
              <a:t>i</a:t>
            </a:r>
            <a:r>
              <a:rPr lang="en-IN" dirty="0">
                <a:latin typeface="Courier New" panose="02070309020205020404" pitchFamily="49" charset="0"/>
              </a:rPr>
              <a:t> = rows-1 down to 0: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   for j = cols-1 down to 1: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       if matrix[</a:t>
            </a:r>
            <a:r>
              <a:rPr lang="en-IN" dirty="0" err="1">
                <a:latin typeface="Courier New" panose="02070309020205020404" pitchFamily="49" charset="0"/>
              </a:rPr>
              <a:t>i</a:t>
            </a:r>
            <a:r>
              <a:rPr lang="en-IN" dirty="0">
                <a:latin typeface="Courier New" panose="02070309020205020404" pitchFamily="49" charset="0"/>
              </a:rPr>
              <a:t>][0] == 0 OR matrix[0][j] == 0: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           matrix[</a:t>
            </a:r>
            <a:r>
              <a:rPr lang="en-IN" dirty="0" err="1">
                <a:latin typeface="Courier New" panose="02070309020205020404" pitchFamily="49" charset="0"/>
              </a:rPr>
              <a:t>i</a:t>
            </a:r>
            <a:r>
              <a:rPr lang="en-IN" dirty="0">
                <a:latin typeface="Courier New" panose="02070309020205020404" pitchFamily="49" charset="0"/>
              </a:rPr>
              <a:t>][j] = 0</a:t>
            </a:r>
            <a:br>
              <a:rPr lang="en-IN" dirty="0">
                <a:latin typeface="Courier New" panose="02070309020205020404" pitchFamily="49" charset="0"/>
              </a:rPr>
            </a:b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   if col0 == 0: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       matrix[</a:t>
            </a:r>
            <a:r>
              <a:rPr lang="en-IN" dirty="0" err="1">
                <a:latin typeface="Courier New" panose="02070309020205020404" pitchFamily="49" charset="0"/>
              </a:rPr>
              <a:t>i</a:t>
            </a:r>
            <a:r>
              <a:rPr lang="en-IN" dirty="0">
                <a:latin typeface="Courier New" panose="02070309020205020404" pitchFamily="49" charset="0"/>
              </a:rPr>
              <a:t>][0] = 0</a:t>
            </a:r>
          </a:p>
        </p:txBody>
      </p:sp>
    </p:spTree>
    <p:extLst>
      <p:ext uri="{BB962C8B-B14F-4D97-AF65-F5344CB8AC3E}">
        <p14:creationId xmlns:p14="http://schemas.microsoft.com/office/powerpoint/2010/main" val="2351350245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A6C9BFC-CB81-8D57-E2E9-7E842BD035B3}"/>
              </a:ext>
            </a:extLst>
          </p:cNvPr>
          <p:cNvSpPr txBox="1"/>
          <p:nvPr/>
        </p:nvSpPr>
        <p:spPr>
          <a:xfrm>
            <a:off x="157316" y="16929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Complexity (Optimal)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522D2BB-8C5B-FB60-616F-EFB90F8318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7313597"/>
              </p:ext>
            </p:extLst>
          </p:nvPr>
        </p:nvGraphicFramePr>
        <p:xfrm>
          <a:off x="464575" y="738950"/>
          <a:ext cx="10515600" cy="10972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80237624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4551333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0339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O(m × 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55788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Space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O(1)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70919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74489850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915A765-5EC3-783E-CA11-41DFEFAF40F5}"/>
              </a:ext>
            </a:extLst>
          </p:cNvPr>
          <p:cNvSpPr txBox="1"/>
          <p:nvPr/>
        </p:nvSpPr>
        <p:spPr>
          <a:xfrm>
            <a:off x="117987" y="1"/>
            <a:ext cx="9026013" cy="697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Top K Frequent Elements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Problem in Simple Words</a:t>
            </a:r>
          </a:p>
          <a:p>
            <a:pPr>
              <a:buNone/>
            </a:pPr>
            <a:r>
              <a:rPr lang="en-US" dirty="0"/>
              <a:t>You are given an array </a:t>
            </a:r>
            <a:r>
              <a:rPr lang="en-US" dirty="0" err="1">
                <a:latin typeface="Courier New" panose="02070309020205020404" pitchFamily="49" charset="0"/>
              </a:rPr>
              <a:t>nums</a:t>
            </a:r>
            <a:r>
              <a:rPr lang="en-US" dirty="0"/>
              <a:t> and an integer </a:t>
            </a:r>
            <a:r>
              <a:rPr lang="en-US" dirty="0">
                <a:latin typeface="Courier New" panose="02070309020205020404" pitchFamily="49" charset="0"/>
              </a:rPr>
              <a:t>k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dirty="0"/>
              <a:t>Return the </a:t>
            </a:r>
            <a:r>
              <a:rPr lang="en-US" b="1" dirty="0"/>
              <a:t>k most frequent elements</a:t>
            </a:r>
            <a:r>
              <a:rPr lang="en-US" dirty="0"/>
              <a:t>.</a:t>
            </a:r>
          </a:p>
          <a:p>
            <a:pPr>
              <a:buNone/>
            </a:pPr>
            <a:br>
              <a:rPr lang="en-US" dirty="0"/>
            </a:br>
            <a:r>
              <a:rPr lang="en-US" b="1" dirty="0"/>
              <a:t>Example</a:t>
            </a:r>
          </a:p>
          <a:p>
            <a:pPr>
              <a:buNone/>
            </a:pPr>
            <a:r>
              <a:rPr lang="en-US" b="1" dirty="0"/>
              <a:t>Input</a:t>
            </a:r>
          </a:p>
          <a:p>
            <a:pPr rtl="0">
              <a:buNone/>
            </a:pPr>
            <a:r>
              <a:rPr lang="en-US" dirty="0" err="1">
                <a:latin typeface="Courier New" panose="02070309020205020404" pitchFamily="49" charset="0"/>
              </a:rPr>
              <a:t>nums</a:t>
            </a:r>
            <a:r>
              <a:rPr lang="en-US" dirty="0">
                <a:latin typeface="Courier New" panose="02070309020205020404" pitchFamily="49" charset="0"/>
              </a:rPr>
              <a:t> = [1,1,1,2,2,3], k = 2</a:t>
            </a:r>
          </a:p>
          <a:p>
            <a:pPr>
              <a:buNone/>
            </a:pPr>
            <a:r>
              <a:rPr lang="en-US" b="1" dirty="0"/>
              <a:t>Output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[1,2]</a:t>
            </a:r>
          </a:p>
          <a:p>
            <a:pPr>
              <a:buNone/>
            </a:pPr>
            <a:r>
              <a:rPr lang="en-US" b="1" dirty="0"/>
              <a:t>Explanation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1 appears → 3 times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2 appears → 2 times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3 appears → 1 time </a:t>
            </a:r>
          </a:p>
          <a:p>
            <a:pPr>
              <a:buNone/>
            </a:pPr>
            <a:r>
              <a:rPr lang="en-US" dirty="0"/>
              <a:t>Top 2 frequent → </a:t>
            </a:r>
            <a:r>
              <a:rPr lang="en-US" b="1" dirty="0"/>
              <a:t>1, 2</a:t>
            </a:r>
            <a:endParaRPr lang="en-US" dirty="0"/>
          </a:p>
          <a:p>
            <a:pPr>
              <a:buNone/>
            </a:pPr>
            <a:br>
              <a:rPr lang="en-US" dirty="0"/>
            </a:br>
            <a:r>
              <a:rPr lang="en-US" b="1" dirty="0"/>
              <a:t>Approach 1: Brute Force (Sorting by Frequency)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Idea</a:t>
            </a:r>
          </a:p>
          <a:p>
            <a:pPr>
              <a:buFont typeface="+mj-lt"/>
              <a:buAutoNum type="arabicPeriod"/>
            </a:pPr>
            <a:r>
              <a:rPr lang="en-US" dirty="0"/>
              <a:t>Count frequency using map </a:t>
            </a:r>
          </a:p>
          <a:p>
            <a:pPr>
              <a:buFont typeface="+mj-lt"/>
              <a:buAutoNum type="arabicPeriod"/>
            </a:pPr>
            <a:r>
              <a:rPr lang="en-US" dirty="0"/>
              <a:t>Store pairs </a:t>
            </a:r>
            <a:r>
              <a:rPr lang="en-US" dirty="0">
                <a:latin typeface="Courier New" panose="02070309020205020404" pitchFamily="49" charset="0"/>
              </a:rPr>
              <a:t>(element, frequency)</a:t>
            </a:r>
            <a:r>
              <a:rPr lang="en-US" dirty="0"/>
              <a:t> </a:t>
            </a:r>
          </a:p>
          <a:p>
            <a:pPr>
              <a:buFont typeface="+mj-lt"/>
              <a:buAutoNum type="arabicPeriod"/>
            </a:pPr>
            <a:r>
              <a:rPr lang="en-US" dirty="0"/>
              <a:t>Sort by frequency (descending) </a:t>
            </a:r>
          </a:p>
          <a:p>
            <a:pPr>
              <a:buFont typeface="+mj-lt"/>
              <a:buAutoNum type="arabicPeriod"/>
            </a:pPr>
            <a:r>
              <a:rPr lang="en-US" dirty="0"/>
              <a:t>Take first </a:t>
            </a:r>
            <a:r>
              <a:rPr lang="en-US" dirty="0">
                <a:latin typeface="Courier New" panose="02070309020205020404" pitchFamily="49" charset="0"/>
              </a:rPr>
              <a:t>k</a:t>
            </a:r>
            <a:r>
              <a:rPr lang="en-US" dirty="0"/>
              <a:t> elements</a:t>
            </a:r>
          </a:p>
        </p:txBody>
      </p:sp>
    </p:spTree>
    <p:extLst>
      <p:ext uri="{BB962C8B-B14F-4D97-AF65-F5344CB8AC3E}">
        <p14:creationId xmlns:p14="http://schemas.microsoft.com/office/powerpoint/2010/main" val="2506825045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98A2B76-9A04-B988-A303-ECCF6E7D8CAA}"/>
              </a:ext>
            </a:extLst>
          </p:cNvPr>
          <p:cNvSpPr txBox="1"/>
          <p:nvPr/>
        </p:nvSpPr>
        <p:spPr>
          <a:xfrm>
            <a:off x="157316" y="3621773"/>
            <a:ext cx="5083277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Pseudocode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map </a:t>
            </a:r>
            <a:r>
              <a:rPr lang="en-US" dirty="0" err="1">
                <a:latin typeface="Courier New" panose="02070309020205020404" pitchFamily="49" charset="0"/>
              </a:rPr>
              <a:t>mp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for each num in </a:t>
            </a:r>
            <a:r>
              <a:rPr lang="en-US" dirty="0" err="1">
                <a:latin typeface="Courier New" panose="02070309020205020404" pitchFamily="49" charset="0"/>
              </a:rPr>
              <a:t>nums</a:t>
            </a:r>
            <a:r>
              <a:rPr lang="en-US" dirty="0">
                <a:latin typeface="Courier New" panose="02070309020205020404" pitchFamily="49" charset="0"/>
              </a:rPr>
              <a:t>: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</a:rPr>
              <a:t>mp</a:t>
            </a:r>
            <a:r>
              <a:rPr lang="en-US" dirty="0">
                <a:latin typeface="Courier New" panose="02070309020205020404" pitchFamily="49" charset="0"/>
              </a:rPr>
              <a:t>[num]++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convert </a:t>
            </a:r>
            <a:r>
              <a:rPr lang="en-US" dirty="0" err="1">
                <a:latin typeface="Courier New" panose="02070309020205020404" pitchFamily="49" charset="0"/>
              </a:rPr>
              <a:t>mp</a:t>
            </a:r>
            <a:r>
              <a:rPr lang="en-US" dirty="0">
                <a:latin typeface="Courier New" panose="02070309020205020404" pitchFamily="49" charset="0"/>
              </a:rPr>
              <a:t> to list of pairs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sort list by frequency descending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take first k elements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8EC81F-31D2-516A-38F3-8998F8875931}"/>
              </a:ext>
            </a:extLst>
          </p:cNvPr>
          <p:cNvSpPr txBox="1"/>
          <p:nvPr/>
        </p:nvSpPr>
        <p:spPr>
          <a:xfrm>
            <a:off x="157316" y="184355"/>
            <a:ext cx="388374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Walkthrough</a:t>
            </a:r>
          </a:p>
          <a:p>
            <a:pPr>
              <a:buNone/>
            </a:pPr>
            <a:r>
              <a:rPr lang="en-US" dirty="0" err="1"/>
              <a:t>nums</a:t>
            </a:r>
            <a:r>
              <a:rPr lang="en-US" dirty="0"/>
              <a:t>: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[1,1,1,2,2,3]</a:t>
            </a:r>
          </a:p>
          <a:p>
            <a:pPr>
              <a:buNone/>
            </a:pPr>
            <a:r>
              <a:rPr lang="en-US" dirty="0"/>
              <a:t>Map: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1 → 3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2 → 2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3 → 1</a:t>
            </a:r>
          </a:p>
          <a:p>
            <a:pPr>
              <a:buNone/>
            </a:pPr>
            <a:r>
              <a:rPr lang="en-US" dirty="0"/>
              <a:t>After sorting: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[(1,3), (2,2), (3,1)]</a:t>
            </a:r>
          </a:p>
          <a:p>
            <a:pPr>
              <a:buNone/>
            </a:pPr>
            <a:r>
              <a:rPr lang="en-US" dirty="0"/>
              <a:t>Take first 2 → </a:t>
            </a:r>
            <a:r>
              <a:rPr lang="en-US" dirty="0">
                <a:latin typeface="Courier New" panose="02070309020205020404" pitchFamily="49" charset="0"/>
              </a:rPr>
              <a:t>[1,2]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30599D-1542-D3AD-509F-B17FD0AB1B30}"/>
              </a:ext>
            </a:extLst>
          </p:cNvPr>
          <p:cNvSpPr txBox="1"/>
          <p:nvPr/>
        </p:nvSpPr>
        <p:spPr>
          <a:xfrm>
            <a:off x="6430297" y="184355"/>
            <a:ext cx="30578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Complexity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0DCE550-F8BC-8974-1C41-0A586D2B18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4256861"/>
              </p:ext>
            </p:extLst>
          </p:nvPr>
        </p:nvGraphicFramePr>
        <p:xfrm>
          <a:off x="4348316" y="1066876"/>
          <a:ext cx="7548716" cy="10972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774358">
                  <a:extLst>
                    <a:ext uri="{9D8B030D-6E8A-4147-A177-3AD203B41FA5}">
                      <a16:colId xmlns:a16="http://schemas.microsoft.com/office/drawing/2014/main" val="4150301376"/>
                    </a:ext>
                  </a:extLst>
                </a:gridCol>
                <a:gridCol w="3774358">
                  <a:extLst>
                    <a:ext uri="{9D8B030D-6E8A-4147-A177-3AD203B41FA5}">
                      <a16:colId xmlns:a16="http://schemas.microsoft.com/office/drawing/2014/main" val="137614645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72157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O(n log 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3436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Space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O(n)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21509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5705442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6126025-4F31-B533-6472-D71DD6EB357E}"/>
              </a:ext>
            </a:extLst>
          </p:cNvPr>
          <p:cNvSpPr txBox="1"/>
          <p:nvPr/>
        </p:nvSpPr>
        <p:spPr>
          <a:xfrm>
            <a:off x="235975" y="159122"/>
            <a:ext cx="60960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Approach 2: Min Heap (Better)</a:t>
            </a:r>
          </a:p>
          <a:p>
            <a:pPr>
              <a:buNone/>
            </a:pPr>
            <a:br>
              <a:rPr lang="en-US" dirty="0"/>
            </a:br>
            <a:r>
              <a:rPr lang="en-US" b="1" dirty="0"/>
              <a:t>Idea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 min heap of size </a:t>
            </a:r>
            <a:r>
              <a:rPr lang="en-US" dirty="0">
                <a:latin typeface="Courier New" panose="02070309020205020404" pitchFamily="49" charset="0"/>
              </a:rPr>
              <a:t>k</a:t>
            </a:r>
            <a:r>
              <a:rPr lang="en-US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Keep only top k frequent elements </a:t>
            </a:r>
          </a:p>
          <a:p>
            <a:pPr>
              <a:buNone/>
            </a:pPr>
            <a:br>
              <a:rPr lang="en-US" dirty="0"/>
            </a:br>
            <a:r>
              <a:rPr lang="en-US" b="1" dirty="0"/>
              <a:t>Logic</a:t>
            </a:r>
          </a:p>
          <a:p>
            <a:pPr>
              <a:buFont typeface="+mj-lt"/>
              <a:buAutoNum type="arabicPeriod"/>
            </a:pPr>
            <a:r>
              <a:rPr lang="en-US" dirty="0"/>
              <a:t>Count frequencies </a:t>
            </a:r>
          </a:p>
          <a:p>
            <a:pPr>
              <a:buFont typeface="+mj-lt"/>
              <a:buAutoNum type="arabicPeriod"/>
            </a:pPr>
            <a:r>
              <a:rPr lang="en-US" dirty="0"/>
              <a:t>Push into min heap </a:t>
            </a:r>
            <a:r>
              <a:rPr lang="en-US" dirty="0">
                <a:latin typeface="Courier New" panose="02070309020205020404" pitchFamily="49" charset="0"/>
              </a:rPr>
              <a:t>(frequency, element)</a:t>
            </a:r>
            <a:r>
              <a:rPr lang="en-US" dirty="0"/>
              <a:t> </a:t>
            </a:r>
          </a:p>
          <a:p>
            <a:pPr>
              <a:buFont typeface="+mj-lt"/>
              <a:buAutoNum type="arabicPeriod"/>
            </a:pPr>
            <a:r>
              <a:rPr lang="en-US" dirty="0"/>
              <a:t>If heap size &gt; k → remove smallest </a:t>
            </a:r>
          </a:p>
          <a:p>
            <a:pPr>
              <a:buFont typeface="+mj-lt"/>
              <a:buAutoNum type="arabicPeriod"/>
            </a:pPr>
            <a:r>
              <a:rPr lang="en-US" dirty="0"/>
              <a:t>Heap contains k most frequent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FC6601-3FDB-536C-5F8D-14ABEEDA6604}"/>
              </a:ext>
            </a:extLst>
          </p:cNvPr>
          <p:cNvSpPr txBox="1"/>
          <p:nvPr/>
        </p:nvSpPr>
        <p:spPr>
          <a:xfrm>
            <a:off x="235975" y="3559558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Walkthrough</a:t>
            </a:r>
          </a:p>
          <a:p>
            <a:pPr>
              <a:buNone/>
            </a:pPr>
            <a:r>
              <a:rPr lang="en-US" dirty="0"/>
              <a:t>Map: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1 → 3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2 → 2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3 → 1</a:t>
            </a:r>
          </a:p>
          <a:p>
            <a:pPr>
              <a:buNone/>
            </a:pPr>
            <a:r>
              <a:rPr lang="en-US" dirty="0"/>
              <a:t>Heap process: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0447A5A-9A7F-8041-61FE-5F9B55DB47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0280198"/>
              </p:ext>
            </p:extLst>
          </p:nvPr>
        </p:nvGraphicFramePr>
        <p:xfrm>
          <a:off x="1074175" y="5313884"/>
          <a:ext cx="10515600" cy="14630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21788374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648177636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18351457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Step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Insert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Heap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36343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(3,1)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[(3,1)]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18331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(2,2)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[(2,2),(3,1)]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03925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(1,3)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[(1,3),(3,1),(2,2)] → remove (1,3)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231026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2593485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76E6DC8-2E48-EE3C-D5DE-8B045F11D8EF}"/>
              </a:ext>
            </a:extLst>
          </p:cNvPr>
          <p:cNvSpPr txBox="1"/>
          <p:nvPr/>
        </p:nvSpPr>
        <p:spPr>
          <a:xfrm>
            <a:off x="186813" y="216761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Final heap: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[(2,2), (3,1)]</a:t>
            </a:r>
          </a:p>
          <a:p>
            <a:pPr>
              <a:buNone/>
            </a:pPr>
            <a:r>
              <a:rPr lang="en-US" dirty="0"/>
              <a:t>Answer → </a:t>
            </a:r>
            <a:r>
              <a:rPr lang="en-US" dirty="0">
                <a:latin typeface="Courier New" panose="02070309020205020404" pitchFamily="49" charset="0"/>
              </a:rPr>
              <a:t>[2,1]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D57591-539C-E033-96F2-F6D028E6E2CA}"/>
              </a:ext>
            </a:extLst>
          </p:cNvPr>
          <p:cNvSpPr txBox="1"/>
          <p:nvPr/>
        </p:nvSpPr>
        <p:spPr>
          <a:xfrm>
            <a:off x="186813" y="1305341"/>
            <a:ext cx="609600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Pseudocode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map </a:t>
            </a:r>
            <a:r>
              <a:rPr lang="en-IN" dirty="0" err="1">
                <a:latin typeface="Courier New" panose="02070309020205020404" pitchFamily="49" charset="0"/>
              </a:rPr>
              <a:t>mp</a:t>
            </a:r>
            <a:br>
              <a:rPr lang="en-IN" dirty="0">
                <a:latin typeface="Courier New" panose="02070309020205020404" pitchFamily="49" charset="0"/>
              </a:rPr>
            </a:b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for each </a:t>
            </a:r>
            <a:r>
              <a:rPr lang="en-IN" dirty="0" err="1">
                <a:latin typeface="Courier New" panose="02070309020205020404" pitchFamily="49" charset="0"/>
              </a:rPr>
              <a:t>num</a:t>
            </a:r>
            <a:r>
              <a:rPr lang="en-IN" dirty="0">
                <a:latin typeface="Courier New" panose="02070309020205020404" pitchFamily="49" charset="0"/>
              </a:rPr>
              <a:t>: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   </a:t>
            </a:r>
            <a:r>
              <a:rPr lang="en-IN" dirty="0" err="1">
                <a:latin typeface="Courier New" panose="02070309020205020404" pitchFamily="49" charset="0"/>
              </a:rPr>
              <a:t>mp</a:t>
            </a:r>
            <a:r>
              <a:rPr lang="en-IN" dirty="0">
                <a:latin typeface="Courier New" panose="02070309020205020404" pitchFamily="49" charset="0"/>
              </a:rPr>
              <a:t>[</a:t>
            </a:r>
            <a:r>
              <a:rPr lang="en-IN" dirty="0" err="1">
                <a:latin typeface="Courier New" panose="02070309020205020404" pitchFamily="49" charset="0"/>
              </a:rPr>
              <a:t>num</a:t>
            </a:r>
            <a:r>
              <a:rPr lang="en-IN" dirty="0">
                <a:latin typeface="Courier New" panose="02070309020205020404" pitchFamily="49" charset="0"/>
              </a:rPr>
              <a:t>]++</a:t>
            </a:r>
            <a:br>
              <a:rPr lang="en-IN" dirty="0">
                <a:latin typeface="Courier New" panose="02070309020205020404" pitchFamily="49" charset="0"/>
              </a:rPr>
            </a:b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create </a:t>
            </a:r>
            <a:r>
              <a:rPr lang="en-IN" dirty="0" err="1">
                <a:latin typeface="Courier New" panose="02070309020205020404" pitchFamily="49" charset="0"/>
              </a:rPr>
              <a:t>minHeap</a:t>
            </a:r>
            <a:br>
              <a:rPr lang="en-IN" dirty="0">
                <a:latin typeface="Courier New" panose="02070309020205020404" pitchFamily="49" charset="0"/>
              </a:rPr>
            </a:b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for each (</a:t>
            </a:r>
            <a:r>
              <a:rPr lang="en-IN" dirty="0" err="1">
                <a:latin typeface="Courier New" panose="02070309020205020404" pitchFamily="49" charset="0"/>
              </a:rPr>
              <a:t>num</a:t>
            </a:r>
            <a:r>
              <a:rPr lang="en-IN" dirty="0">
                <a:latin typeface="Courier New" panose="02070309020205020404" pitchFamily="49" charset="0"/>
              </a:rPr>
              <a:t>, </a:t>
            </a:r>
            <a:r>
              <a:rPr lang="en-IN" dirty="0" err="1">
                <a:latin typeface="Courier New" panose="02070309020205020404" pitchFamily="49" charset="0"/>
              </a:rPr>
              <a:t>freq</a:t>
            </a:r>
            <a:r>
              <a:rPr lang="en-IN" dirty="0">
                <a:latin typeface="Courier New" panose="02070309020205020404" pitchFamily="49" charset="0"/>
              </a:rPr>
              <a:t>) in </a:t>
            </a:r>
            <a:r>
              <a:rPr lang="en-IN" dirty="0" err="1">
                <a:latin typeface="Courier New" panose="02070309020205020404" pitchFamily="49" charset="0"/>
              </a:rPr>
              <a:t>mp</a:t>
            </a:r>
            <a:r>
              <a:rPr lang="en-IN" dirty="0">
                <a:latin typeface="Courier New" panose="02070309020205020404" pitchFamily="49" charset="0"/>
              </a:rPr>
              <a:t>: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   push (</a:t>
            </a:r>
            <a:r>
              <a:rPr lang="en-IN" dirty="0" err="1">
                <a:latin typeface="Courier New" panose="02070309020205020404" pitchFamily="49" charset="0"/>
              </a:rPr>
              <a:t>freq</a:t>
            </a:r>
            <a:r>
              <a:rPr lang="en-IN" dirty="0">
                <a:latin typeface="Courier New" panose="02070309020205020404" pitchFamily="49" charset="0"/>
              </a:rPr>
              <a:t>, </a:t>
            </a:r>
            <a:r>
              <a:rPr lang="en-IN" dirty="0" err="1">
                <a:latin typeface="Courier New" panose="02070309020205020404" pitchFamily="49" charset="0"/>
              </a:rPr>
              <a:t>num</a:t>
            </a:r>
            <a:r>
              <a:rPr lang="en-IN" dirty="0">
                <a:latin typeface="Courier New" panose="02070309020205020404" pitchFamily="49" charset="0"/>
              </a:rPr>
              <a:t>) into heap</a:t>
            </a:r>
            <a:br>
              <a:rPr lang="en-IN" dirty="0">
                <a:latin typeface="Courier New" panose="02070309020205020404" pitchFamily="49" charset="0"/>
              </a:rPr>
            </a:b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   if heap size &gt; k: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       pop</a:t>
            </a:r>
            <a:br>
              <a:rPr lang="en-IN" dirty="0">
                <a:latin typeface="Courier New" panose="02070309020205020404" pitchFamily="49" charset="0"/>
              </a:rPr>
            </a:b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extract elements from heap</a:t>
            </a:r>
          </a:p>
        </p:txBody>
      </p:sp>
    </p:spTree>
    <p:extLst>
      <p:ext uri="{BB962C8B-B14F-4D97-AF65-F5344CB8AC3E}">
        <p14:creationId xmlns:p14="http://schemas.microsoft.com/office/powerpoint/2010/main" val="4211590885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DA27410-3326-E275-301F-EC9D1C0A6E10}"/>
              </a:ext>
            </a:extLst>
          </p:cNvPr>
          <p:cNvSpPr txBox="1"/>
          <p:nvPr/>
        </p:nvSpPr>
        <p:spPr>
          <a:xfrm>
            <a:off x="275303" y="18896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Complexity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68C6EF1-5F70-8809-033D-A5153624D7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4178971"/>
              </p:ext>
            </p:extLst>
          </p:nvPr>
        </p:nvGraphicFramePr>
        <p:xfrm>
          <a:off x="700549" y="797945"/>
          <a:ext cx="10515600" cy="10972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261321432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6991234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0572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O(n log k)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72549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Space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O(n)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01233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42075699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7522E1F-B631-CA81-3422-9C5509C70987}"/>
              </a:ext>
            </a:extLst>
          </p:cNvPr>
          <p:cNvSpPr txBox="1"/>
          <p:nvPr/>
        </p:nvSpPr>
        <p:spPr>
          <a:xfrm>
            <a:off x="255639" y="127819"/>
            <a:ext cx="11405419" cy="6636775"/>
          </a:xfrm>
          <a:prstGeom prst="rect">
            <a:avLst/>
          </a:prstGeom>
          <a:noFill/>
        </p:spPr>
        <p:txBody>
          <a:bodyPr wrap="square" numCol="2">
            <a:spAutoFit/>
          </a:bodyPr>
          <a:lstStyle/>
          <a:p>
            <a:pPr>
              <a:buNone/>
            </a:pPr>
            <a:r>
              <a:rPr lang="en-IN" b="1" dirty="0"/>
              <a:t>Approach 3: Bucket Sort</a:t>
            </a:r>
            <a:br>
              <a:rPr lang="en-IN" dirty="0"/>
            </a:br>
            <a:endParaRPr lang="en-IN" dirty="0"/>
          </a:p>
          <a:p>
            <a:pPr>
              <a:buNone/>
            </a:pPr>
            <a:r>
              <a:rPr lang="en-IN" b="1" dirty="0"/>
              <a:t>Key Idea</a:t>
            </a:r>
          </a:p>
          <a:p>
            <a:pPr>
              <a:buNone/>
            </a:pPr>
            <a:r>
              <a:rPr lang="en-IN" dirty="0"/>
              <a:t>Frequency can be at most </a:t>
            </a:r>
            <a:r>
              <a:rPr lang="en-IN" dirty="0">
                <a:latin typeface="Courier New" panose="02070309020205020404" pitchFamily="49" charset="0"/>
              </a:rPr>
              <a:t>n</a:t>
            </a:r>
            <a:r>
              <a:rPr lang="en-IN" dirty="0"/>
              <a:t>.</a:t>
            </a:r>
          </a:p>
          <a:p>
            <a:pPr>
              <a:buNone/>
            </a:pPr>
            <a:r>
              <a:rPr lang="en-IN" dirty="0"/>
              <a:t>Create buckets where index = frequency</a:t>
            </a:r>
          </a:p>
          <a:p>
            <a:pPr>
              <a:buNone/>
            </a:pPr>
            <a:endParaRPr lang="en-IN" b="1" dirty="0"/>
          </a:p>
          <a:p>
            <a:pPr>
              <a:buNone/>
            </a:pPr>
            <a:r>
              <a:rPr lang="en-IN" b="1" dirty="0"/>
              <a:t>Logic (Text Form)</a:t>
            </a:r>
          </a:p>
          <a:p>
            <a:pPr>
              <a:buFont typeface="+mj-lt"/>
              <a:buAutoNum type="arabicPeriod"/>
            </a:pPr>
            <a:r>
              <a:rPr lang="en-IN" dirty="0"/>
              <a:t>Count frequency </a:t>
            </a:r>
          </a:p>
          <a:p>
            <a:pPr>
              <a:buFont typeface="+mj-lt"/>
              <a:buAutoNum type="arabicPeriod"/>
            </a:pPr>
            <a:r>
              <a:rPr lang="en-IN" dirty="0"/>
              <a:t>Create array of vectors </a:t>
            </a:r>
            <a:r>
              <a:rPr lang="en-IN" dirty="0">
                <a:latin typeface="Courier New" panose="02070309020205020404" pitchFamily="49" charset="0"/>
              </a:rPr>
              <a:t>bucket[n+1]</a:t>
            </a:r>
            <a:r>
              <a:rPr lang="en-IN" dirty="0"/>
              <a:t> </a:t>
            </a:r>
          </a:p>
          <a:p>
            <a:pPr>
              <a:buFont typeface="+mj-lt"/>
              <a:buAutoNum type="arabicPeriod"/>
            </a:pPr>
            <a:r>
              <a:rPr lang="en-IN" dirty="0"/>
              <a:t>Place numbers into bucket based on frequency </a:t>
            </a:r>
          </a:p>
          <a:p>
            <a:pPr>
              <a:buFont typeface="+mj-lt"/>
              <a:buAutoNum type="arabicPeriod"/>
            </a:pPr>
            <a:r>
              <a:rPr lang="en-IN" dirty="0"/>
              <a:t>Traverse from back → collect k elements 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endParaRPr lang="en-IN" dirty="0"/>
          </a:p>
          <a:p>
            <a:pPr>
              <a:buNone/>
            </a:pPr>
            <a:endParaRPr lang="en-IN" dirty="0"/>
          </a:p>
          <a:p>
            <a:pPr>
              <a:buNone/>
            </a:pPr>
            <a:endParaRPr lang="en-IN" dirty="0"/>
          </a:p>
          <a:p>
            <a:pPr>
              <a:buNone/>
            </a:pPr>
            <a:endParaRPr lang="en-IN" dirty="0"/>
          </a:p>
          <a:p>
            <a:pPr>
              <a:buNone/>
            </a:pPr>
            <a:endParaRPr lang="en-IN" dirty="0"/>
          </a:p>
          <a:p>
            <a:pPr>
              <a:buNone/>
            </a:pPr>
            <a:endParaRPr lang="en-IN" dirty="0"/>
          </a:p>
          <a:p>
            <a:pPr>
              <a:buNone/>
            </a:pPr>
            <a:endParaRPr lang="en-IN" dirty="0"/>
          </a:p>
          <a:p>
            <a:pPr>
              <a:buNone/>
            </a:pPr>
            <a:endParaRPr lang="en-IN" dirty="0"/>
          </a:p>
          <a:p>
            <a:pPr>
              <a:buNone/>
            </a:pPr>
            <a:endParaRPr lang="en-IN" dirty="0"/>
          </a:p>
          <a:p>
            <a:pPr>
              <a:buNone/>
            </a:pPr>
            <a:endParaRPr lang="en-IN" dirty="0"/>
          </a:p>
          <a:p>
            <a:pPr>
              <a:buNone/>
            </a:pPr>
            <a:br>
              <a:rPr lang="en-IN" dirty="0"/>
            </a:br>
            <a:r>
              <a:rPr lang="en-IN" b="1" dirty="0"/>
              <a:t>Walkthrough (Detailed)</a:t>
            </a:r>
          </a:p>
          <a:p>
            <a:pPr>
              <a:buNone/>
            </a:pPr>
            <a:endParaRPr lang="en-IN" b="1" dirty="0"/>
          </a:p>
          <a:p>
            <a:pPr>
              <a:buNone/>
            </a:pPr>
            <a:r>
              <a:rPr lang="en-IN" dirty="0" err="1"/>
              <a:t>nums</a:t>
            </a:r>
            <a:r>
              <a:rPr lang="en-IN" dirty="0"/>
              <a:t>: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[1,1,1,2,2,3]</a:t>
            </a:r>
          </a:p>
          <a:p>
            <a:pPr>
              <a:buNone/>
            </a:pPr>
            <a:r>
              <a:rPr lang="en-IN" b="1" dirty="0"/>
              <a:t>Step 1: Frequency Map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1 → 3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2 → 2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3 → 1</a:t>
            </a:r>
          </a:p>
          <a:p>
            <a:pPr>
              <a:buNone/>
            </a:pPr>
            <a:br>
              <a:rPr lang="en-IN" dirty="0"/>
            </a:br>
            <a:endParaRPr lang="en-IN" dirty="0"/>
          </a:p>
          <a:p>
            <a:pPr>
              <a:buNone/>
            </a:pPr>
            <a:r>
              <a:rPr lang="en-IN" b="1" dirty="0"/>
              <a:t>Step 2: Buckets</a:t>
            </a:r>
          </a:p>
          <a:p>
            <a:pPr>
              <a:buNone/>
            </a:pPr>
            <a:r>
              <a:rPr lang="en-IN" dirty="0"/>
              <a:t>Index = frequency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bucket[1] → [3]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bucket[2] → [2]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bucket[3] → [1]</a:t>
            </a:r>
          </a:p>
          <a:p>
            <a:pPr>
              <a:buNone/>
            </a:pPr>
            <a:br>
              <a:rPr lang="en-IN" dirty="0"/>
            </a:br>
            <a:endParaRPr lang="en-IN" dirty="0"/>
          </a:p>
          <a:p>
            <a:pPr>
              <a:buNone/>
            </a:pPr>
            <a:r>
              <a:rPr lang="en-IN" b="1" dirty="0"/>
              <a:t>Step 3: Traverse from end</a:t>
            </a:r>
          </a:p>
        </p:txBody>
      </p:sp>
    </p:spTree>
    <p:extLst>
      <p:ext uri="{BB962C8B-B14F-4D97-AF65-F5344CB8AC3E}">
        <p14:creationId xmlns:p14="http://schemas.microsoft.com/office/powerpoint/2010/main" val="3025477340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96F3202-B9F9-C74D-569C-7CFA84C5F0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234968"/>
              </p:ext>
            </p:extLst>
          </p:nvPr>
        </p:nvGraphicFramePr>
        <p:xfrm>
          <a:off x="425245" y="259136"/>
          <a:ext cx="10515600" cy="21945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317196844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91081837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11512038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 err="1"/>
                        <a:t>i</a:t>
                      </a:r>
                      <a:endParaRPr lang="en-IN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bucket[</a:t>
                      </a:r>
                      <a:r>
                        <a:rPr lang="en-IN" b="1" dirty="0" err="1"/>
                        <a:t>i</a:t>
                      </a:r>
                      <a:r>
                        <a:rPr lang="en-IN" b="1" dirty="0"/>
                        <a:t>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Result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00696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empty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224542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empty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631879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empty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100776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[1]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[1]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72739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[2]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[1,2]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0127337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15DF0864-DA7C-9223-CC3A-415398E4ECC8}"/>
              </a:ext>
            </a:extLst>
          </p:cNvPr>
          <p:cNvSpPr txBox="1"/>
          <p:nvPr/>
        </p:nvSpPr>
        <p:spPr>
          <a:xfrm>
            <a:off x="425245" y="264702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Stop when k = 2</a:t>
            </a:r>
          </a:p>
        </p:txBody>
      </p:sp>
    </p:spTree>
    <p:extLst>
      <p:ext uri="{BB962C8B-B14F-4D97-AF65-F5344CB8AC3E}">
        <p14:creationId xmlns:p14="http://schemas.microsoft.com/office/powerpoint/2010/main" val="519881515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4145B6A-880A-0BC2-823B-64CDE5138870}"/>
              </a:ext>
            </a:extLst>
          </p:cNvPr>
          <p:cNvSpPr txBox="1"/>
          <p:nvPr/>
        </p:nvSpPr>
        <p:spPr>
          <a:xfrm>
            <a:off x="137651" y="0"/>
            <a:ext cx="6096000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Pseudocode (C++-Style)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map </a:t>
            </a:r>
            <a:r>
              <a:rPr lang="en-IN" dirty="0" err="1">
                <a:latin typeface="Courier New" panose="02070309020205020404" pitchFamily="49" charset="0"/>
              </a:rPr>
              <a:t>mp</a:t>
            </a:r>
            <a:br>
              <a:rPr lang="en-IN" dirty="0">
                <a:latin typeface="Courier New" panose="02070309020205020404" pitchFamily="49" charset="0"/>
              </a:rPr>
            </a:b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for each </a:t>
            </a:r>
            <a:r>
              <a:rPr lang="en-IN" dirty="0" err="1">
                <a:latin typeface="Courier New" panose="02070309020205020404" pitchFamily="49" charset="0"/>
              </a:rPr>
              <a:t>num</a:t>
            </a:r>
            <a:r>
              <a:rPr lang="en-IN" dirty="0">
                <a:latin typeface="Courier New" panose="02070309020205020404" pitchFamily="49" charset="0"/>
              </a:rPr>
              <a:t>: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   </a:t>
            </a:r>
            <a:r>
              <a:rPr lang="en-IN" dirty="0" err="1">
                <a:latin typeface="Courier New" panose="02070309020205020404" pitchFamily="49" charset="0"/>
              </a:rPr>
              <a:t>mp</a:t>
            </a:r>
            <a:r>
              <a:rPr lang="en-IN" dirty="0">
                <a:latin typeface="Courier New" panose="02070309020205020404" pitchFamily="49" charset="0"/>
              </a:rPr>
              <a:t>[</a:t>
            </a:r>
            <a:r>
              <a:rPr lang="en-IN" dirty="0" err="1">
                <a:latin typeface="Courier New" panose="02070309020205020404" pitchFamily="49" charset="0"/>
              </a:rPr>
              <a:t>num</a:t>
            </a:r>
            <a:r>
              <a:rPr lang="en-IN" dirty="0">
                <a:latin typeface="Courier New" panose="02070309020205020404" pitchFamily="49" charset="0"/>
              </a:rPr>
              <a:t>]++</a:t>
            </a:r>
            <a:br>
              <a:rPr lang="en-IN" dirty="0">
                <a:latin typeface="Courier New" panose="02070309020205020404" pitchFamily="49" charset="0"/>
              </a:rPr>
            </a:b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bucket[n+1]</a:t>
            </a:r>
            <a:br>
              <a:rPr lang="en-IN" dirty="0">
                <a:latin typeface="Courier New" panose="02070309020205020404" pitchFamily="49" charset="0"/>
              </a:rPr>
            </a:b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for each (</a:t>
            </a:r>
            <a:r>
              <a:rPr lang="en-IN" dirty="0" err="1">
                <a:latin typeface="Courier New" panose="02070309020205020404" pitchFamily="49" charset="0"/>
              </a:rPr>
              <a:t>num</a:t>
            </a:r>
            <a:r>
              <a:rPr lang="en-IN" dirty="0">
                <a:latin typeface="Courier New" panose="02070309020205020404" pitchFamily="49" charset="0"/>
              </a:rPr>
              <a:t>, </a:t>
            </a:r>
            <a:r>
              <a:rPr lang="en-IN" dirty="0" err="1">
                <a:latin typeface="Courier New" panose="02070309020205020404" pitchFamily="49" charset="0"/>
              </a:rPr>
              <a:t>freq</a:t>
            </a:r>
            <a:r>
              <a:rPr lang="en-IN" dirty="0">
                <a:latin typeface="Courier New" panose="02070309020205020404" pitchFamily="49" charset="0"/>
              </a:rPr>
              <a:t>):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   bucket[</a:t>
            </a:r>
            <a:r>
              <a:rPr lang="en-IN" dirty="0" err="1">
                <a:latin typeface="Courier New" panose="02070309020205020404" pitchFamily="49" charset="0"/>
              </a:rPr>
              <a:t>freq</a:t>
            </a:r>
            <a:r>
              <a:rPr lang="en-IN" dirty="0">
                <a:latin typeface="Courier New" panose="02070309020205020404" pitchFamily="49" charset="0"/>
              </a:rPr>
              <a:t>].</a:t>
            </a:r>
            <a:r>
              <a:rPr lang="en-IN" dirty="0" err="1">
                <a:latin typeface="Courier New" panose="02070309020205020404" pitchFamily="49" charset="0"/>
              </a:rPr>
              <a:t>push_back</a:t>
            </a:r>
            <a:r>
              <a:rPr lang="en-IN" dirty="0">
                <a:latin typeface="Courier New" panose="02070309020205020404" pitchFamily="49" charset="0"/>
              </a:rPr>
              <a:t>(</a:t>
            </a:r>
            <a:r>
              <a:rPr lang="en-IN" dirty="0" err="1">
                <a:latin typeface="Courier New" panose="02070309020205020404" pitchFamily="49" charset="0"/>
              </a:rPr>
              <a:t>num</a:t>
            </a:r>
            <a:r>
              <a:rPr lang="en-IN" dirty="0">
                <a:latin typeface="Courier New" panose="02070309020205020404" pitchFamily="49" charset="0"/>
              </a:rPr>
              <a:t>)</a:t>
            </a:r>
            <a:br>
              <a:rPr lang="en-IN" dirty="0">
                <a:latin typeface="Courier New" panose="02070309020205020404" pitchFamily="49" charset="0"/>
              </a:rPr>
            </a:b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result = []</a:t>
            </a:r>
            <a:br>
              <a:rPr lang="en-IN" dirty="0">
                <a:latin typeface="Courier New" panose="02070309020205020404" pitchFamily="49" charset="0"/>
              </a:rPr>
            </a:b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for </a:t>
            </a:r>
            <a:r>
              <a:rPr lang="en-IN" dirty="0" err="1">
                <a:latin typeface="Courier New" panose="02070309020205020404" pitchFamily="49" charset="0"/>
              </a:rPr>
              <a:t>i</a:t>
            </a:r>
            <a:r>
              <a:rPr lang="en-IN" dirty="0">
                <a:latin typeface="Courier New" panose="02070309020205020404" pitchFamily="49" charset="0"/>
              </a:rPr>
              <a:t> = n down to 1: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   for each </a:t>
            </a:r>
            <a:r>
              <a:rPr lang="en-IN" dirty="0" err="1">
                <a:latin typeface="Courier New" panose="02070309020205020404" pitchFamily="49" charset="0"/>
              </a:rPr>
              <a:t>num</a:t>
            </a:r>
            <a:r>
              <a:rPr lang="en-IN" dirty="0">
                <a:latin typeface="Courier New" panose="02070309020205020404" pitchFamily="49" charset="0"/>
              </a:rPr>
              <a:t> in bucket[</a:t>
            </a:r>
            <a:r>
              <a:rPr lang="en-IN" dirty="0" err="1">
                <a:latin typeface="Courier New" panose="02070309020205020404" pitchFamily="49" charset="0"/>
              </a:rPr>
              <a:t>i</a:t>
            </a:r>
            <a:r>
              <a:rPr lang="en-IN" dirty="0">
                <a:latin typeface="Courier New" panose="02070309020205020404" pitchFamily="49" charset="0"/>
              </a:rPr>
              <a:t>]: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       </a:t>
            </a:r>
            <a:r>
              <a:rPr lang="en-IN" dirty="0" err="1">
                <a:latin typeface="Courier New" panose="02070309020205020404" pitchFamily="49" charset="0"/>
              </a:rPr>
              <a:t>result.push_back</a:t>
            </a:r>
            <a:r>
              <a:rPr lang="en-IN" dirty="0">
                <a:latin typeface="Courier New" panose="02070309020205020404" pitchFamily="49" charset="0"/>
              </a:rPr>
              <a:t>(</a:t>
            </a:r>
            <a:r>
              <a:rPr lang="en-IN" dirty="0" err="1">
                <a:latin typeface="Courier New" panose="02070309020205020404" pitchFamily="49" charset="0"/>
              </a:rPr>
              <a:t>num</a:t>
            </a:r>
            <a:r>
              <a:rPr lang="en-IN" dirty="0">
                <a:latin typeface="Courier New" panose="02070309020205020404" pitchFamily="49" charset="0"/>
              </a:rPr>
              <a:t>)</a:t>
            </a:r>
            <a:br>
              <a:rPr lang="en-IN" dirty="0">
                <a:latin typeface="Courier New" panose="02070309020205020404" pitchFamily="49" charset="0"/>
              </a:rPr>
            </a:b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       if </a:t>
            </a:r>
            <a:r>
              <a:rPr lang="en-IN" dirty="0" err="1">
                <a:latin typeface="Courier New" panose="02070309020205020404" pitchFamily="49" charset="0"/>
              </a:rPr>
              <a:t>result.size</a:t>
            </a:r>
            <a:r>
              <a:rPr lang="en-IN" dirty="0">
                <a:latin typeface="Courier New" panose="02070309020205020404" pitchFamily="49" charset="0"/>
              </a:rPr>
              <a:t>() == k: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           return result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A2B71F-EB77-7192-D59F-68FE7537CDCD}"/>
              </a:ext>
            </a:extLst>
          </p:cNvPr>
          <p:cNvSpPr txBox="1"/>
          <p:nvPr/>
        </p:nvSpPr>
        <p:spPr>
          <a:xfrm>
            <a:off x="6892413" y="95553"/>
            <a:ext cx="44146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Complexity (Optimal)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5A2BB35-AB48-8057-044E-533CF2A7E8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2151535"/>
              </p:ext>
            </p:extLst>
          </p:nvPr>
        </p:nvGraphicFramePr>
        <p:xfrm>
          <a:off x="4997245" y="954048"/>
          <a:ext cx="6762136" cy="10972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381068">
                  <a:extLst>
                    <a:ext uri="{9D8B030D-6E8A-4147-A177-3AD203B41FA5}">
                      <a16:colId xmlns:a16="http://schemas.microsoft.com/office/drawing/2014/main" val="312925141"/>
                    </a:ext>
                  </a:extLst>
                </a:gridCol>
                <a:gridCol w="3381068">
                  <a:extLst>
                    <a:ext uri="{9D8B030D-6E8A-4147-A177-3AD203B41FA5}">
                      <a16:colId xmlns:a16="http://schemas.microsoft.com/office/drawing/2014/main" val="358522746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73732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O(n) 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1688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Space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O(n)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6553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59939617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42D0FE4-B0DD-93E9-C7CB-3EB58E677A36}"/>
              </a:ext>
            </a:extLst>
          </p:cNvPr>
          <p:cNvSpPr txBox="1"/>
          <p:nvPr/>
        </p:nvSpPr>
        <p:spPr>
          <a:xfrm>
            <a:off x="301336" y="197428"/>
            <a:ext cx="4772109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Count Pairs with Absolute Difference = k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Problem in Simple Words</a:t>
            </a:r>
          </a:p>
          <a:p>
            <a:pPr>
              <a:buNone/>
            </a:pPr>
            <a:r>
              <a:rPr lang="en-US" dirty="0"/>
              <a:t>You are given: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An array </a:t>
            </a:r>
            <a:r>
              <a:rPr lang="en-US" dirty="0" err="1">
                <a:latin typeface="Courier New" panose="02070309020205020404" pitchFamily="49" charset="0"/>
              </a:rPr>
              <a:t>nums</a:t>
            </a:r>
            <a:r>
              <a:rPr lang="en-US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An integer </a:t>
            </a:r>
            <a:r>
              <a:rPr lang="en-US" dirty="0">
                <a:latin typeface="Courier New" panose="02070309020205020404" pitchFamily="49" charset="0"/>
              </a:rPr>
              <a:t>k</a:t>
            </a:r>
            <a:r>
              <a:rPr lang="en-US" dirty="0"/>
              <a:t> </a:t>
            </a:r>
          </a:p>
          <a:p>
            <a:pPr>
              <a:buNone/>
            </a:pPr>
            <a:r>
              <a:rPr lang="en-US" dirty="0"/>
              <a:t>Count number of pairs </a:t>
            </a:r>
            <a:r>
              <a:rPr lang="en-US" dirty="0">
                <a:latin typeface="Courier New" panose="02070309020205020404" pitchFamily="49" charset="0"/>
              </a:rPr>
              <a:t>(</a:t>
            </a:r>
            <a:r>
              <a:rPr lang="en-US" dirty="0" err="1">
                <a:latin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</a:rPr>
              <a:t>, j)</a:t>
            </a:r>
            <a:r>
              <a:rPr lang="en-US" dirty="0"/>
              <a:t> such that: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|</a:t>
            </a:r>
            <a:r>
              <a:rPr lang="en-US" dirty="0" err="1">
                <a:latin typeface="Courier New" panose="02070309020205020404" pitchFamily="49" charset="0"/>
              </a:rPr>
              <a:t>nums</a:t>
            </a:r>
            <a:r>
              <a:rPr lang="en-US" dirty="0">
                <a:latin typeface="Courier New" panose="02070309020205020404" pitchFamily="49" charset="0"/>
              </a:rPr>
              <a:t>[</a:t>
            </a:r>
            <a:r>
              <a:rPr lang="en-US" dirty="0" err="1">
                <a:latin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</a:rPr>
              <a:t>] - </a:t>
            </a:r>
            <a:r>
              <a:rPr lang="en-US" dirty="0" err="1">
                <a:latin typeface="Courier New" panose="02070309020205020404" pitchFamily="49" charset="0"/>
              </a:rPr>
              <a:t>nums</a:t>
            </a:r>
            <a:r>
              <a:rPr lang="en-US" dirty="0">
                <a:latin typeface="Courier New" panose="02070309020205020404" pitchFamily="49" charset="0"/>
              </a:rPr>
              <a:t>[j]| = k</a:t>
            </a:r>
          </a:p>
          <a:p>
            <a:pPr>
              <a:buNone/>
            </a:pPr>
            <a:br>
              <a:rPr lang="en-US" dirty="0"/>
            </a:br>
            <a:r>
              <a:rPr lang="en-US" b="1" dirty="0"/>
              <a:t>Example</a:t>
            </a:r>
          </a:p>
          <a:p>
            <a:pPr>
              <a:buNone/>
            </a:pPr>
            <a:r>
              <a:rPr lang="en-US" b="1" dirty="0"/>
              <a:t>Input</a:t>
            </a:r>
          </a:p>
          <a:p>
            <a:pPr rtl="0">
              <a:buNone/>
            </a:pPr>
            <a:r>
              <a:rPr lang="en-US" dirty="0" err="1">
                <a:latin typeface="Courier New" panose="02070309020205020404" pitchFamily="49" charset="0"/>
              </a:rPr>
              <a:t>nums</a:t>
            </a:r>
            <a:r>
              <a:rPr lang="en-US" dirty="0">
                <a:latin typeface="Courier New" panose="02070309020205020404" pitchFamily="49" charset="0"/>
              </a:rPr>
              <a:t> = [1,2,2,1], k = 1</a:t>
            </a:r>
          </a:p>
          <a:p>
            <a:pPr>
              <a:buNone/>
            </a:pPr>
            <a:r>
              <a:rPr lang="en-US" b="1" dirty="0"/>
              <a:t>Output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4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Explanation</a:t>
            </a:r>
          </a:p>
          <a:p>
            <a:pPr>
              <a:buNone/>
            </a:pPr>
            <a:r>
              <a:rPr lang="en-US" dirty="0"/>
              <a:t>Valid pairs: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(1,2), (1,2), (2,1), (2,1)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Total = 4</a:t>
            </a:r>
          </a:p>
        </p:txBody>
      </p:sp>
    </p:spTree>
    <p:extLst>
      <p:ext uri="{BB962C8B-B14F-4D97-AF65-F5344CB8AC3E}">
        <p14:creationId xmlns:p14="http://schemas.microsoft.com/office/powerpoint/2010/main" val="2047220566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41E6F8F-DD6F-8E49-60BD-6D5B43272BDB}"/>
              </a:ext>
            </a:extLst>
          </p:cNvPr>
          <p:cNvSpPr txBox="1"/>
          <p:nvPr/>
        </p:nvSpPr>
        <p:spPr>
          <a:xfrm>
            <a:off x="137651" y="87245"/>
            <a:ext cx="291034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Approach 1: Brute Force</a:t>
            </a:r>
          </a:p>
          <a:p>
            <a:pPr>
              <a:buNone/>
            </a:pPr>
            <a:br>
              <a:rPr lang="en-US" dirty="0"/>
            </a:br>
            <a:r>
              <a:rPr lang="en-US" b="1" dirty="0"/>
              <a:t>Idea</a:t>
            </a:r>
          </a:p>
          <a:p>
            <a:pPr>
              <a:buNone/>
            </a:pPr>
            <a:r>
              <a:rPr lang="en-US" dirty="0"/>
              <a:t>Check all pairs </a:t>
            </a:r>
            <a:r>
              <a:rPr lang="en-US" dirty="0">
                <a:latin typeface="Courier New" panose="02070309020205020404" pitchFamily="49" charset="0"/>
              </a:rPr>
              <a:t>(</a:t>
            </a:r>
            <a:r>
              <a:rPr lang="en-US" dirty="0" err="1">
                <a:latin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</a:rPr>
              <a:t>, j)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95DDC9-125D-D771-AF44-8755753AB350}"/>
              </a:ext>
            </a:extLst>
          </p:cNvPr>
          <p:cNvSpPr txBox="1"/>
          <p:nvPr/>
        </p:nvSpPr>
        <p:spPr>
          <a:xfrm>
            <a:off x="137651" y="1376119"/>
            <a:ext cx="276286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Walkthrough</a:t>
            </a:r>
          </a:p>
          <a:p>
            <a:pPr>
              <a:buNone/>
            </a:pPr>
            <a:r>
              <a:rPr lang="en-US" dirty="0" err="1"/>
              <a:t>nums</a:t>
            </a:r>
            <a:r>
              <a:rPr lang="en-US" dirty="0"/>
              <a:t>: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[1,2,2,1]</a:t>
            </a:r>
          </a:p>
          <a:p>
            <a:pPr>
              <a:buNone/>
            </a:pPr>
            <a:r>
              <a:rPr lang="en-US" dirty="0"/>
              <a:t>Pairs checked: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A844ECD-849F-6A44-5553-4C6AFC4A67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400581"/>
              </p:ext>
            </p:extLst>
          </p:nvPr>
        </p:nvGraphicFramePr>
        <p:xfrm>
          <a:off x="137651" y="2576448"/>
          <a:ext cx="8908026" cy="18288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969342">
                  <a:extLst>
                    <a:ext uri="{9D8B030D-6E8A-4147-A177-3AD203B41FA5}">
                      <a16:colId xmlns:a16="http://schemas.microsoft.com/office/drawing/2014/main" val="3283820297"/>
                    </a:ext>
                  </a:extLst>
                </a:gridCol>
                <a:gridCol w="2969342">
                  <a:extLst>
                    <a:ext uri="{9D8B030D-6E8A-4147-A177-3AD203B41FA5}">
                      <a16:colId xmlns:a16="http://schemas.microsoft.com/office/drawing/2014/main" val="1961233104"/>
                    </a:ext>
                  </a:extLst>
                </a:gridCol>
                <a:gridCol w="2969342">
                  <a:extLst>
                    <a:ext uri="{9D8B030D-6E8A-4147-A177-3AD203B41FA5}">
                      <a16:colId xmlns:a16="http://schemas.microsoft.com/office/drawing/2014/main" val="45949085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Pair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Condition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Count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11694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(1,2)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45409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(1,2)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50781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(2,1)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5215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(2,1)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13974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90961488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3DB0F6A-6E69-2748-3630-D63D96967582}"/>
              </a:ext>
            </a:extLst>
          </p:cNvPr>
          <p:cNvSpPr txBox="1"/>
          <p:nvPr/>
        </p:nvSpPr>
        <p:spPr>
          <a:xfrm>
            <a:off x="334296" y="122336"/>
            <a:ext cx="7521677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Pseudocode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count = 0</a:t>
            </a:r>
            <a:br>
              <a:rPr lang="en-US" dirty="0">
                <a:latin typeface="Courier New" panose="02070309020205020404" pitchFamily="49" charset="0"/>
              </a:rPr>
            </a:b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for </a:t>
            </a:r>
            <a:r>
              <a:rPr lang="en-US" dirty="0" err="1">
                <a:latin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</a:rPr>
              <a:t> = 0 to n-1: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    for j = 0 to n-1: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        if </a:t>
            </a:r>
            <a:r>
              <a:rPr lang="en-US" dirty="0" err="1">
                <a:latin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</a:rPr>
              <a:t> != j AND abs(</a:t>
            </a:r>
            <a:r>
              <a:rPr lang="en-US" dirty="0" err="1">
                <a:latin typeface="Courier New" panose="02070309020205020404" pitchFamily="49" charset="0"/>
              </a:rPr>
              <a:t>nums</a:t>
            </a:r>
            <a:r>
              <a:rPr lang="en-US" dirty="0">
                <a:latin typeface="Courier New" panose="02070309020205020404" pitchFamily="49" charset="0"/>
              </a:rPr>
              <a:t>[</a:t>
            </a:r>
            <a:r>
              <a:rPr lang="en-US" dirty="0" err="1">
                <a:latin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</a:rPr>
              <a:t>] - </a:t>
            </a:r>
            <a:r>
              <a:rPr lang="en-US" dirty="0" err="1">
                <a:latin typeface="Courier New" panose="02070309020205020404" pitchFamily="49" charset="0"/>
              </a:rPr>
              <a:t>nums</a:t>
            </a:r>
            <a:r>
              <a:rPr lang="en-US" dirty="0">
                <a:latin typeface="Courier New" panose="02070309020205020404" pitchFamily="49" charset="0"/>
              </a:rPr>
              <a:t>[j]) == k: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            count++</a:t>
            </a:r>
            <a:br>
              <a:rPr lang="en-US" dirty="0">
                <a:latin typeface="Courier New" panose="02070309020205020404" pitchFamily="49" charset="0"/>
              </a:rPr>
            </a:b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return count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47F749-B892-F883-C0A5-D9B3E18A7E49}"/>
              </a:ext>
            </a:extLst>
          </p:cNvPr>
          <p:cNvSpPr txBox="1"/>
          <p:nvPr/>
        </p:nvSpPr>
        <p:spPr>
          <a:xfrm>
            <a:off x="334296" y="2863334"/>
            <a:ext cx="15829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Complexity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CE5281E-E762-E5E3-7A2C-F181B30F06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6832897"/>
              </p:ext>
            </p:extLst>
          </p:nvPr>
        </p:nvGraphicFramePr>
        <p:xfrm>
          <a:off x="838200" y="3452654"/>
          <a:ext cx="8286136" cy="10972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143068">
                  <a:extLst>
                    <a:ext uri="{9D8B030D-6E8A-4147-A177-3AD203B41FA5}">
                      <a16:colId xmlns:a16="http://schemas.microsoft.com/office/drawing/2014/main" val="3121421546"/>
                    </a:ext>
                  </a:extLst>
                </a:gridCol>
                <a:gridCol w="4143068">
                  <a:extLst>
                    <a:ext uri="{9D8B030D-6E8A-4147-A177-3AD203B41FA5}">
                      <a16:colId xmlns:a16="http://schemas.microsoft.com/office/drawing/2014/main" val="210856149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54404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O(n²)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14423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Space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O(1)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54001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6001572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4CA68FD-1BA9-92FE-A399-ED9873FA5701}"/>
              </a:ext>
            </a:extLst>
          </p:cNvPr>
          <p:cNvSpPr txBox="1"/>
          <p:nvPr/>
        </p:nvSpPr>
        <p:spPr>
          <a:xfrm>
            <a:off x="127819" y="86399"/>
            <a:ext cx="397223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Approach 2: Sorting + Two Pointer</a:t>
            </a:r>
          </a:p>
          <a:p>
            <a:pPr>
              <a:buNone/>
            </a:pPr>
            <a:br>
              <a:rPr lang="en-US" dirty="0"/>
            </a:br>
            <a:r>
              <a:rPr lang="en-US" b="1" dirty="0"/>
              <a:t>Idea</a:t>
            </a:r>
          </a:p>
          <a:p>
            <a:pPr>
              <a:buFont typeface="+mj-lt"/>
              <a:buAutoNum type="arabicPeriod"/>
            </a:pPr>
            <a:r>
              <a:rPr lang="en-US" dirty="0"/>
              <a:t>Sort array </a:t>
            </a:r>
          </a:p>
          <a:p>
            <a:pPr>
              <a:buFont typeface="+mj-lt"/>
              <a:buAutoNum type="arabicPeriod"/>
            </a:pPr>
            <a:r>
              <a:rPr lang="en-US" dirty="0"/>
              <a:t>Use two pointers to find difference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E4A008-F995-D78C-045C-76A6F1F23215}"/>
              </a:ext>
            </a:extLst>
          </p:cNvPr>
          <p:cNvSpPr txBox="1"/>
          <p:nvPr/>
        </p:nvSpPr>
        <p:spPr>
          <a:xfrm>
            <a:off x="127819" y="1691600"/>
            <a:ext cx="367726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Walkthrough</a:t>
            </a:r>
          </a:p>
          <a:p>
            <a:pPr>
              <a:buNone/>
            </a:pPr>
            <a:r>
              <a:rPr lang="en-IN" dirty="0" err="1"/>
              <a:t>nums</a:t>
            </a:r>
            <a:r>
              <a:rPr lang="en-IN" dirty="0"/>
              <a:t>: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[1,1,2,2]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4D1FD33-E533-B46A-6521-F149AA0C3C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9989136"/>
              </p:ext>
            </p:extLst>
          </p:nvPr>
        </p:nvGraphicFramePr>
        <p:xfrm>
          <a:off x="127818" y="2841523"/>
          <a:ext cx="12064180" cy="2302771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855408">
                  <a:extLst>
                    <a:ext uri="{9D8B030D-6E8A-4147-A177-3AD203B41FA5}">
                      <a16:colId xmlns:a16="http://schemas.microsoft.com/office/drawing/2014/main" val="49261709"/>
                    </a:ext>
                  </a:extLst>
                </a:gridCol>
                <a:gridCol w="766916">
                  <a:extLst>
                    <a:ext uri="{9D8B030D-6E8A-4147-A177-3AD203B41FA5}">
                      <a16:colId xmlns:a16="http://schemas.microsoft.com/office/drawing/2014/main" val="648166150"/>
                    </a:ext>
                  </a:extLst>
                </a:gridCol>
                <a:gridCol w="993058">
                  <a:extLst>
                    <a:ext uri="{9D8B030D-6E8A-4147-A177-3AD203B41FA5}">
                      <a16:colId xmlns:a16="http://schemas.microsoft.com/office/drawing/2014/main" val="566749277"/>
                    </a:ext>
                  </a:extLst>
                </a:gridCol>
                <a:gridCol w="1189703">
                  <a:extLst>
                    <a:ext uri="{9D8B030D-6E8A-4147-A177-3AD203B41FA5}">
                      <a16:colId xmlns:a16="http://schemas.microsoft.com/office/drawing/2014/main" val="2493887128"/>
                    </a:ext>
                  </a:extLst>
                </a:gridCol>
                <a:gridCol w="1356852">
                  <a:extLst>
                    <a:ext uri="{9D8B030D-6E8A-4147-A177-3AD203B41FA5}">
                      <a16:colId xmlns:a16="http://schemas.microsoft.com/office/drawing/2014/main" val="332594184"/>
                    </a:ext>
                  </a:extLst>
                </a:gridCol>
                <a:gridCol w="1071716">
                  <a:extLst>
                    <a:ext uri="{9D8B030D-6E8A-4147-A177-3AD203B41FA5}">
                      <a16:colId xmlns:a16="http://schemas.microsoft.com/office/drawing/2014/main" val="405330290"/>
                    </a:ext>
                  </a:extLst>
                </a:gridCol>
                <a:gridCol w="1730477">
                  <a:extLst>
                    <a:ext uri="{9D8B030D-6E8A-4147-A177-3AD203B41FA5}">
                      <a16:colId xmlns:a16="http://schemas.microsoft.com/office/drawing/2014/main" val="3374399595"/>
                    </a:ext>
                  </a:extLst>
                </a:gridCol>
                <a:gridCol w="1415846">
                  <a:extLst>
                    <a:ext uri="{9D8B030D-6E8A-4147-A177-3AD203B41FA5}">
                      <a16:colId xmlns:a16="http://schemas.microsoft.com/office/drawing/2014/main" val="3486486418"/>
                    </a:ext>
                  </a:extLst>
                </a:gridCol>
                <a:gridCol w="1356851">
                  <a:extLst>
                    <a:ext uri="{9D8B030D-6E8A-4147-A177-3AD203B41FA5}">
                      <a16:colId xmlns:a16="http://schemas.microsoft.com/office/drawing/2014/main" val="3925145489"/>
                    </a:ext>
                  </a:extLst>
                </a:gridCol>
                <a:gridCol w="1327353">
                  <a:extLst>
                    <a:ext uri="{9D8B030D-6E8A-4147-A177-3AD203B41FA5}">
                      <a16:colId xmlns:a16="http://schemas.microsoft.com/office/drawing/2014/main" val="1864203804"/>
                    </a:ext>
                  </a:extLst>
                </a:gridCol>
              </a:tblGrid>
              <a:tr h="64477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Step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 err="1"/>
                        <a:t>i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j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nums[i]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nums[j]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diff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leftCount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 err="1"/>
                        <a:t>rightCount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Count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65182204"/>
                  </a:ext>
                </a:extLst>
              </a:tr>
              <a:tr h="64477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diff &lt; k → j++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4223696"/>
                  </a:ext>
                </a:extLst>
              </a:tr>
              <a:tr h="36844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diff == 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75490367"/>
                  </a:ext>
                </a:extLst>
              </a:tr>
              <a:tr h="64477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loop ends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5786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2074725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07BB8AE-33C8-A0B5-53F4-CF296F33E6D9}"/>
              </a:ext>
            </a:extLst>
          </p:cNvPr>
          <p:cNvSpPr txBox="1"/>
          <p:nvPr/>
        </p:nvSpPr>
        <p:spPr>
          <a:xfrm>
            <a:off x="127819" y="98322"/>
            <a:ext cx="11916697" cy="6577781"/>
          </a:xfrm>
          <a:prstGeom prst="rect">
            <a:avLst/>
          </a:prstGeom>
          <a:noFill/>
        </p:spPr>
        <p:txBody>
          <a:bodyPr wrap="square" numCol="2">
            <a:spAutoFit/>
          </a:bodyPr>
          <a:lstStyle/>
          <a:p>
            <a:r>
              <a:rPr lang="en-IN" dirty="0"/>
              <a:t>sort(</a:t>
            </a:r>
            <a:r>
              <a:rPr lang="en-IN" dirty="0" err="1"/>
              <a:t>nums</a:t>
            </a:r>
            <a:r>
              <a:rPr lang="en-IN" dirty="0"/>
              <a:t>)</a:t>
            </a:r>
          </a:p>
          <a:p>
            <a:endParaRPr lang="en-IN" dirty="0"/>
          </a:p>
          <a:p>
            <a:r>
              <a:rPr lang="en-IN" dirty="0" err="1"/>
              <a:t>i</a:t>
            </a:r>
            <a:r>
              <a:rPr lang="en-IN" dirty="0"/>
              <a:t> = 0</a:t>
            </a:r>
          </a:p>
          <a:p>
            <a:r>
              <a:rPr lang="en-IN" dirty="0"/>
              <a:t>j = 1</a:t>
            </a:r>
          </a:p>
          <a:p>
            <a:r>
              <a:rPr lang="en-IN" dirty="0"/>
              <a:t>count = 0</a:t>
            </a:r>
          </a:p>
          <a:p>
            <a:endParaRPr lang="en-IN" dirty="0"/>
          </a:p>
          <a:p>
            <a:r>
              <a:rPr lang="en-IN" dirty="0"/>
              <a:t>while j &lt; n:</a:t>
            </a:r>
          </a:p>
          <a:p>
            <a:endParaRPr lang="en-IN" dirty="0"/>
          </a:p>
          <a:p>
            <a:r>
              <a:rPr lang="en-IN" dirty="0"/>
              <a:t>    if </a:t>
            </a:r>
            <a:r>
              <a:rPr lang="en-IN" dirty="0" err="1"/>
              <a:t>i</a:t>
            </a:r>
            <a:r>
              <a:rPr lang="en-IN" dirty="0"/>
              <a:t> == j:</a:t>
            </a:r>
          </a:p>
          <a:p>
            <a:r>
              <a:rPr lang="en-IN" dirty="0"/>
              <a:t>        </a:t>
            </a:r>
            <a:r>
              <a:rPr lang="en-IN" dirty="0" err="1"/>
              <a:t>j++</a:t>
            </a:r>
            <a:endParaRPr lang="en-IN" dirty="0"/>
          </a:p>
          <a:p>
            <a:r>
              <a:rPr lang="en-IN" dirty="0"/>
              <a:t>        continue</a:t>
            </a:r>
          </a:p>
          <a:p>
            <a:endParaRPr lang="en-IN" dirty="0"/>
          </a:p>
          <a:p>
            <a:r>
              <a:rPr lang="en-IN" dirty="0"/>
              <a:t>    diff = </a:t>
            </a:r>
            <a:r>
              <a:rPr lang="en-IN" dirty="0" err="1"/>
              <a:t>nums</a:t>
            </a:r>
            <a:r>
              <a:rPr lang="en-IN" dirty="0"/>
              <a:t>[j] - </a:t>
            </a:r>
            <a:r>
              <a:rPr lang="en-IN" dirty="0" err="1"/>
              <a:t>nums</a:t>
            </a:r>
            <a:r>
              <a:rPr lang="en-IN" dirty="0"/>
              <a:t>[</a:t>
            </a:r>
            <a:r>
              <a:rPr lang="en-IN" dirty="0" err="1"/>
              <a:t>i</a:t>
            </a:r>
            <a:r>
              <a:rPr lang="en-IN" dirty="0"/>
              <a:t>]</a:t>
            </a:r>
          </a:p>
          <a:p>
            <a:endParaRPr lang="en-IN" dirty="0"/>
          </a:p>
          <a:p>
            <a:r>
              <a:rPr lang="en-IN" dirty="0"/>
              <a:t>    if diff == k:</a:t>
            </a:r>
          </a:p>
          <a:p>
            <a:endParaRPr lang="en-IN" dirty="0"/>
          </a:p>
          <a:p>
            <a:r>
              <a:rPr lang="en-IN" dirty="0"/>
              <a:t>        </a:t>
            </a:r>
            <a:r>
              <a:rPr lang="en-IN" dirty="0" err="1"/>
              <a:t>leftCount</a:t>
            </a:r>
            <a:r>
              <a:rPr lang="en-IN" dirty="0"/>
              <a:t> = 1</a:t>
            </a:r>
          </a:p>
          <a:p>
            <a:r>
              <a:rPr lang="en-IN" dirty="0"/>
              <a:t>        </a:t>
            </a:r>
            <a:r>
              <a:rPr lang="en-IN" dirty="0" err="1"/>
              <a:t>rightCount</a:t>
            </a:r>
            <a:r>
              <a:rPr lang="en-IN" dirty="0"/>
              <a:t> = 1</a:t>
            </a:r>
          </a:p>
          <a:p>
            <a:endParaRPr lang="en-IN" dirty="0"/>
          </a:p>
          <a:p>
            <a:r>
              <a:rPr lang="en-IN" dirty="0"/>
              <a:t>        // count duplicates for </a:t>
            </a:r>
            <a:r>
              <a:rPr lang="en-IN" dirty="0" err="1"/>
              <a:t>nums</a:t>
            </a:r>
            <a:r>
              <a:rPr lang="en-IN" dirty="0"/>
              <a:t>[</a:t>
            </a:r>
            <a:r>
              <a:rPr lang="en-IN" dirty="0" err="1"/>
              <a:t>i</a:t>
            </a:r>
            <a:r>
              <a:rPr lang="en-IN" dirty="0"/>
              <a:t>]</a:t>
            </a:r>
          </a:p>
          <a:p>
            <a:r>
              <a:rPr lang="en-IN" dirty="0"/>
              <a:t>        while i+1 &lt; n AND </a:t>
            </a:r>
            <a:r>
              <a:rPr lang="en-IN" dirty="0" err="1"/>
              <a:t>nums</a:t>
            </a:r>
            <a:r>
              <a:rPr lang="en-IN" dirty="0"/>
              <a:t>[</a:t>
            </a:r>
            <a:r>
              <a:rPr lang="en-IN" dirty="0" err="1"/>
              <a:t>i</a:t>
            </a:r>
            <a:r>
              <a:rPr lang="en-IN" dirty="0"/>
              <a:t>] == </a:t>
            </a:r>
            <a:r>
              <a:rPr lang="en-IN" dirty="0" err="1"/>
              <a:t>nums</a:t>
            </a:r>
            <a:r>
              <a:rPr lang="en-IN" dirty="0"/>
              <a:t>[i+1]:</a:t>
            </a:r>
          </a:p>
          <a:p>
            <a:r>
              <a:rPr lang="en-IN" dirty="0"/>
              <a:t>            </a:t>
            </a:r>
            <a:r>
              <a:rPr lang="en-IN" dirty="0" err="1"/>
              <a:t>leftCount</a:t>
            </a:r>
            <a:r>
              <a:rPr lang="en-IN" dirty="0"/>
              <a:t>++</a:t>
            </a:r>
          </a:p>
          <a:p>
            <a:r>
              <a:rPr lang="en-IN" dirty="0"/>
              <a:t>            </a:t>
            </a:r>
            <a:r>
              <a:rPr lang="en-IN" dirty="0" err="1"/>
              <a:t>i</a:t>
            </a:r>
            <a:r>
              <a:rPr lang="en-IN" dirty="0"/>
              <a:t>++</a:t>
            </a:r>
          </a:p>
          <a:p>
            <a:endParaRPr lang="en-IN" dirty="0"/>
          </a:p>
          <a:p>
            <a:r>
              <a:rPr lang="en-IN" dirty="0"/>
              <a:t>        // count duplicates for </a:t>
            </a:r>
            <a:r>
              <a:rPr lang="en-IN" dirty="0" err="1"/>
              <a:t>nums</a:t>
            </a:r>
            <a:r>
              <a:rPr lang="en-IN" dirty="0"/>
              <a:t>[j]</a:t>
            </a:r>
          </a:p>
          <a:p>
            <a:r>
              <a:rPr lang="en-IN" dirty="0"/>
              <a:t>        while j+1 &lt; n AND </a:t>
            </a:r>
            <a:r>
              <a:rPr lang="en-IN" dirty="0" err="1"/>
              <a:t>nums</a:t>
            </a:r>
            <a:r>
              <a:rPr lang="en-IN" dirty="0"/>
              <a:t>[j] == </a:t>
            </a:r>
            <a:r>
              <a:rPr lang="en-IN" dirty="0" err="1"/>
              <a:t>nums</a:t>
            </a:r>
            <a:r>
              <a:rPr lang="en-IN" dirty="0"/>
              <a:t>[j+1]:</a:t>
            </a:r>
          </a:p>
          <a:p>
            <a:r>
              <a:rPr lang="en-IN" dirty="0"/>
              <a:t>            </a:t>
            </a:r>
            <a:r>
              <a:rPr lang="en-IN" dirty="0" err="1"/>
              <a:t>rightCount</a:t>
            </a:r>
            <a:r>
              <a:rPr lang="en-IN" dirty="0"/>
              <a:t>++</a:t>
            </a:r>
          </a:p>
          <a:p>
            <a:r>
              <a:rPr lang="en-IN" dirty="0"/>
              <a:t>            </a:t>
            </a:r>
            <a:r>
              <a:rPr lang="en-IN" dirty="0" err="1"/>
              <a:t>j++</a:t>
            </a:r>
            <a:endParaRPr lang="en-IN" dirty="0"/>
          </a:p>
          <a:p>
            <a:endParaRPr lang="en-IN" dirty="0"/>
          </a:p>
          <a:p>
            <a:r>
              <a:rPr lang="en-IN" dirty="0"/>
              <a:t>        count += </a:t>
            </a:r>
            <a:r>
              <a:rPr lang="en-IN" dirty="0" err="1"/>
              <a:t>leftCount</a:t>
            </a:r>
            <a:r>
              <a:rPr lang="en-IN" dirty="0"/>
              <a:t> * </a:t>
            </a:r>
            <a:r>
              <a:rPr lang="en-IN" dirty="0" err="1"/>
              <a:t>rightCount</a:t>
            </a:r>
            <a:endParaRPr lang="en-IN" dirty="0"/>
          </a:p>
          <a:p>
            <a:endParaRPr lang="en-IN" dirty="0"/>
          </a:p>
          <a:p>
            <a:r>
              <a:rPr lang="en-IN" dirty="0"/>
              <a:t>        </a:t>
            </a:r>
            <a:r>
              <a:rPr lang="en-IN" dirty="0" err="1"/>
              <a:t>i</a:t>
            </a:r>
            <a:r>
              <a:rPr lang="en-IN" dirty="0"/>
              <a:t>++</a:t>
            </a:r>
          </a:p>
          <a:p>
            <a:r>
              <a:rPr lang="en-IN" dirty="0"/>
              <a:t>        </a:t>
            </a:r>
            <a:r>
              <a:rPr lang="en-IN" dirty="0" err="1"/>
              <a:t>j++</a:t>
            </a:r>
            <a:endParaRPr lang="en-IN" dirty="0"/>
          </a:p>
          <a:p>
            <a:endParaRPr lang="en-IN" dirty="0"/>
          </a:p>
          <a:p>
            <a:r>
              <a:rPr lang="en-IN" dirty="0"/>
              <a:t>    else if diff &lt; k:</a:t>
            </a:r>
          </a:p>
          <a:p>
            <a:r>
              <a:rPr lang="en-IN" dirty="0"/>
              <a:t>        </a:t>
            </a:r>
            <a:r>
              <a:rPr lang="en-IN" dirty="0" err="1"/>
              <a:t>j++</a:t>
            </a:r>
            <a:endParaRPr lang="en-IN" dirty="0"/>
          </a:p>
          <a:p>
            <a:endParaRPr lang="en-IN" dirty="0"/>
          </a:p>
          <a:p>
            <a:r>
              <a:rPr lang="en-IN" dirty="0"/>
              <a:t>    else:</a:t>
            </a:r>
          </a:p>
          <a:p>
            <a:r>
              <a:rPr lang="en-IN" dirty="0"/>
              <a:t>        </a:t>
            </a:r>
            <a:r>
              <a:rPr lang="en-IN" dirty="0" err="1"/>
              <a:t>i</a:t>
            </a:r>
            <a:r>
              <a:rPr lang="en-IN" dirty="0"/>
              <a:t>++</a:t>
            </a:r>
          </a:p>
          <a:p>
            <a:endParaRPr lang="en-IN" dirty="0"/>
          </a:p>
          <a:p>
            <a:r>
              <a:rPr lang="en-IN" dirty="0"/>
              <a:t>return count</a:t>
            </a:r>
          </a:p>
        </p:txBody>
      </p:sp>
    </p:spTree>
    <p:extLst>
      <p:ext uri="{BB962C8B-B14F-4D97-AF65-F5344CB8AC3E}">
        <p14:creationId xmlns:p14="http://schemas.microsoft.com/office/powerpoint/2010/main" val="2333145523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00B8D01-B2B8-A5E2-2A78-4162BAF5CD66}"/>
              </a:ext>
            </a:extLst>
          </p:cNvPr>
          <p:cNvSpPr txBox="1"/>
          <p:nvPr/>
        </p:nvSpPr>
        <p:spPr>
          <a:xfrm>
            <a:off x="169606" y="179128"/>
            <a:ext cx="16985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Complexity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F0E118D-043D-BFE4-FD02-17941819CF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1363011"/>
              </p:ext>
            </p:extLst>
          </p:nvPr>
        </p:nvGraphicFramePr>
        <p:xfrm>
          <a:off x="169606" y="680792"/>
          <a:ext cx="10515600" cy="10972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666878724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29836593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543256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O(n log 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612203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Space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O(1)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618639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7703589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D84B762-F3D1-30B4-5EA6-377E21D5FDC1}"/>
              </a:ext>
            </a:extLst>
          </p:cNvPr>
          <p:cNvSpPr txBox="1"/>
          <p:nvPr/>
        </p:nvSpPr>
        <p:spPr>
          <a:xfrm>
            <a:off x="196646" y="147484"/>
            <a:ext cx="4168878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Approach 3: HashMap (Optimal) </a:t>
            </a:r>
          </a:p>
          <a:p>
            <a:pPr>
              <a:buNone/>
            </a:pPr>
            <a:br>
              <a:rPr lang="en-US" dirty="0"/>
            </a:br>
            <a:r>
              <a:rPr lang="en-US" b="1" dirty="0"/>
              <a:t>Key Idea</a:t>
            </a:r>
          </a:p>
          <a:p>
            <a:pPr>
              <a:buNone/>
            </a:pPr>
            <a:r>
              <a:rPr lang="en-US" dirty="0"/>
              <a:t>Instead of checking all pairs:</a:t>
            </a:r>
          </a:p>
          <a:p>
            <a:pPr>
              <a:buNone/>
            </a:pPr>
            <a:r>
              <a:rPr lang="en-US" dirty="0"/>
              <a:t>Check: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num + k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num - k</a:t>
            </a:r>
          </a:p>
          <a:p>
            <a:pPr>
              <a:buNone/>
            </a:pPr>
            <a:br>
              <a:rPr lang="en-US" dirty="0"/>
            </a:br>
            <a:r>
              <a:rPr lang="en-US" b="1" dirty="0"/>
              <a:t>Logic (Text Form)</a:t>
            </a:r>
          </a:p>
          <a:p>
            <a:pPr>
              <a:buFont typeface="+mj-lt"/>
              <a:buAutoNum type="arabicPeriod"/>
            </a:pPr>
            <a:r>
              <a:rPr lang="en-US" dirty="0"/>
              <a:t>Store frequency of each number </a:t>
            </a:r>
          </a:p>
          <a:p>
            <a:pPr>
              <a:buFont typeface="+mj-lt"/>
              <a:buAutoNum type="arabicPeriod"/>
            </a:pPr>
            <a:r>
              <a:rPr lang="en-US" dirty="0"/>
              <a:t>For each number: 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Check if </a:t>
            </a:r>
            <a:r>
              <a:rPr lang="en-US" dirty="0">
                <a:latin typeface="Courier New" panose="02070309020205020404" pitchFamily="49" charset="0"/>
              </a:rPr>
              <a:t>(num + k)</a:t>
            </a:r>
            <a:r>
              <a:rPr lang="en-US" dirty="0"/>
              <a:t> exists </a:t>
            </a:r>
          </a:p>
          <a:p>
            <a:pPr>
              <a:buFont typeface="+mj-lt"/>
              <a:buAutoNum type="arabicPeriod"/>
            </a:pPr>
            <a:r>
              <a:rPr lang="en-US" dirty="0"/>
              <a:t>Add count accordingly </a:t>
            </a:r>
          </a:p>
          <a:p>
            <a:pPr>
              <a:buNone/>
            </a:pPr>
            <a:br>
              <a:rPr lang="en-US" dirty="0"/>
            </a:br>
            <a:r>
              <a:rPr lang="en-US" b="1" dirty="0"/>
              <a:t>Special Case</a:t>
            </a:r>
          </a:p>
          <a:p>
            <a:pPr>
              <a:buNone/>
            </a:pPr>
            <a:r>
              <a:rPr lang="en-US" dirty="0"/>
              <a:t>If </a:t>
            </a:r>
            <a:r>
              <a:rPr lang="en-US" dirty="0">
                <a:latin typeface="Courier New" panose="02070309020205020404" pitchFamily="49" charset="0"/>
              </a:rPr>
              <a:t>k = 0</a:t>
            </a:r>
            <a:r>
              <a:rPr lang="en-US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Count pairs with same numbers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 combination formula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F16397-F8AD-2001-5993-12E4DE3E35DE}"/>
              </a:ext>
            </a:extLst>
          </p:cNvPr>
          <p:cNvSpPr txBox="1"/>
          <p:nvPr/>
        </p:nvSpPr>
        <p:spPr>
          <a:xfrm>
            <a:off x="4906297" y="147484"/>
            <a:ext cx="609600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Walkthrough</a:t>
            </a:r>
          </a:p>
          <a:p>
            <a:pPr>
              <a:buNone/>
            </a:pPr>
            <a:endParaRPr lang="en-IN" b="1" dirty="0"/>
          </a:p>
          <a:p>
            <a:pPr>
              <a:buNone/>
            </a:pPr>
            <a:r>
              <a:rPr lang="en-IN" dirty="0" err="1"/>
              <a:t>nums</a:t>
            </a:r>
            <a:r>
              <a:rPr lang="en-IN" dirty="0"/>
              <a:t>: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[1,2,2,1], k = 1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Map: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1 → 2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2 → 2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Check: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1 → check 2 → exists → 2 × 2 = 4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2 → check 3 → no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Answer: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499286127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A2DF58-55D6-6FF2-715F-C74963FA9085}"/>
              </a:ext>
            </a:extLst>
          </p:cNvPr>
          <p:cNvSpPr txBox="1"/>
          <p:nvPr/>
        </p:nvSpPr>
        <p:spPr>
          <a:xfrm>
            <a:off x="137652" y="0"/>
            <a:ext cx="6096000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Pseudocode (C++-Style)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create map </a:t>
            </a:r>
            <a:r>
              <a:rPr lang="en-IN" dirty="0" err="1">
                <a:latin typeface="Courier New" panose="02070309020205020404" pitchFamily="49" charset="0"/>
              </a:rPr>
              <a:t>mp</a:t>
            </a:r>
            <a:br>
              <a:rPr lang="en-IN" dirty="0">
                <a:latin typeface="Courier New" panose="02070309020205020404" pitchFamily="49" charset="0"/>
              </a:rPr>
            </a:b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for each </a:t>
            </a:r>
            <a:r>
              <a:rPr lang="en-IN" dirty="0" err="1">
                <a:latin typeface="Courier New" panose="02070309020205020404" pitchFamily="49" charset="0"/>
              </a:rPr>
              <a:t>num</a:t>
            </a:r>
            <a:r>
              <a:rPr lang="en-IN" dirty="0">
                <a:latin typeface="Courier New" panose="02070309020205020404" pitchFamily="49" charset="0"/>
              </a:rPr>
              <a:t>: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   </a:t>
            </a:r>
            <a:r>
              <a:rPr lang="en-IN" dirty="0" err="1">
                <a:latin typeface="Courier New" panose="02070309020205020404" pitchFamily="49" charset="0"/>
              </a:rPr>
              <a:t>mp</a:t>
            </a:r>
            <a:r>
              <a:rPr lang="en-IN" dirty="0">
                <a:latin typeface="Courier New" panose="02070309020205020404" pitchFamily="49" charset="0"/>
              </a:rPr>
              <a:t>[</a:t>
            </a:r>
            <a:r>
              <a:rPr lang="en-IN" dirty="0" err="1">
                <a:latin typeface="Courier New" panose="02070309020205020404" pitchFamily="49" charset="0"/>
              </a:rPr>
              <a:t>num</a:t>
            </a:r>
            <a:r>
              <a:rPr lang="en-IN" dirty="0">
                <a:latin typeface="Courier New" panose="02070309020205020404" pitchFamily="49" charset="0"/>
              </a:rPr>
              <a:t>]++</a:t>
            </a:r>
            <a:br>
              <a:rPr lang="en-IN" dirty="0">
                <a:latin typeface="Courier New" panose="02070309020205020404" pitchFamily="49" charset="0"/>
              </a:rPr>
            </a:b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count = 0</a:t>
            </a:r>
            <a:br>
              <a:rPr lang="en-IN" dirty="0">
                <a:latin typeface="Courier New" panose="02070309020205020404" pitchFamily="49" charset="0"/>
              </a:rPr>
            </a:b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if k == 0: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   for each </a:t>
            </a:r>
            <a:r>
              <a:rPr lang="en-IN" dirty="0" err="1">
                <a:latin typeface="Courier New" panose="02070309020205020404" pitchFamily="49" charset="0"/>
              </a:rPr>
              <a:t>num</a:t>
            </a:r>
            <a:r>
              <a:rPr lang="en-IN" dirty="0">
                <a:latin typeface="Courier New" panose="02070309020205020404" pitchFamily="49" charset="0"/>
              </a:rPr>
              <a:t> in map: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       </a:t>
            </a:r>
            <a:r>
              <a:rPr lang="en-IN" dirty="0" err="1">
                <a:latin typeface="Courier New" panose="02070309020205020404" pitchFamily="49" charset="0"/>
              </a:rPr>
              <a:t>freq</a:t>
            </a:r>
            <a:r>
              <a:rPr lang="en-IN" dirty="0">
                <a:latin typeface="Courier New" panose="02070309020205020404" pitchFamily="49" charset="0"/>
              </a:rPr>
              <a:t> = </a:t>
            </a:r>
            <a:r>
              <a:rPr lang="en-IN" dirty="0" err="1">
                <a:latin typeface="Courier New" panose="02070309020205020404" pitchFamily="49" charset="0"/>
              </a:rPr>
              <a:t>mp</a:t>
            </a:r>
            <a:r>
              <a:rPr lang="en-IN" dirty="0">
                <a:latin typeface="Courier New" panose="02070309020205020404" pitchFamily="49" charset="0"/>
              </a:rPr>
              <a:t>[</a:t>
            </a:r>
            <a:r>
              <a:rPr lang="en-IN" dirty="0" err="1">
                <a:latin typeface="Courier New" panose="02070309020205020404" pitchFamily="49" charset="0"/>
              </a:rPr>
              <a:t>num</a:t>
            </a:r>
            <a:r>
              <a:rPr lang="en-IN" dirty="0">
                <a:latin typeface="Courier New" panose="02070309020205020404" pitchFamily="49" charset="0"/>
              </a:rPr>
              <a:t>]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       count += </a:t>
            </a:r>
            <a:r>
              <a:rPr lang="en-IN" dirty="0" err="1">
                <a:latin typeface="Courier New" panose="02070309020205020404" pitchFamily="49" charset="0"/>
              </a:rPr>
              <a:t>freq</a:t>
            </a:r>
            <a:r>
              <a:rPr lang="en-IN" dirty="0">
                <a:latin typeface="Courier New" panose="02070309020205020404" pitchFamily="49" charset="0"/>
              </a:rPr>
              <a:t> * (</a:t>
            </a:r>
            <a:r>
              <a:rPr lang="en-IN" dirty="0" err="1">
                <a:latin typeface="Courier New" panose="02070309020205020404" pitchFamily="49" charset="0"/>
              </a:rPr>
              <a:t>freq</a:t>
            </a:r>
            <a:r>
              <a:rPr lang="en-IN" dirty="0">
                <a:latin typeface="Courier New" panose="02070309020205020404" pitchFamily="49" charset="0"/>
              </a:rPr>
              <a:t> - 1)</a:t>
            </a:r>
            <a:br>
              <a:rPr lang="en-IN" dirty="0">
                <a:latin typeface="Courier New" panose="02070309020205020404" pitchFamily="49" charset="0"/>
              </a:rPr>
            </a:b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else: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   for each </a:t>
            </a:r>
            <a:r>
              <a:rPr lang="en-IN" dirty="0" err="1">
                <a:latin typeface="Courier New" panose="02070309020205020404" pitchFamily="49" charset="0"/>
              </a:rPr>
              <a:t>num</a:t>
            </a:r>
            <a:r>
              <a:rPr lang="en-IN" dirty="0">
                <a:latin typeface="Courier New" panose="02070309020205020404" pitchFamily="49" charset="0"/>
              </a:rPr>
              <a:t> in map: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       if </a:t>
            </a:r>
            <a:r>
              <a:rPr lang="en-IN" dirty="0" err="1">
                <a:latin typeface="Courier New" panose="02070309020205020404" pitchFamily="49" charset="0"/>
              </a:rPr>
              <a:t>mp</a:t>
            </a:r>
            <a:r>
              <a:rPr lang="en-IN" dirty="0">
                <a:latin typeface="Courier New" panose="02070309020205020404" pitchFamily="49" charset="0"/>
              </a:rPr>
              <a:t> contains (</a:t>
            </a:r>
            <a:r>
              <a:rPr lang="en-IN" dirty="0" err="1">
                <a:latin typeface="Courier New" panose="02070309020205020404" pitchFamily="49" charset="0"/>
              </a:rPr>
              <a:t>num</a:t>
            </a:r>
            <a:r>
              <a:rPr lang="en-IN" dirty="0">
                <a:latin typeface="Courier New" panose="02070309020205020404" pitchFamily="49" charset="0"/>
              </a:rPr>
              <a:t> + k):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           count += </a:t>
            </a:r>
            <a:r>
              <a:rPr lang="en-IN" dirty="0" err="1">
                <a:latin typeface="Courier New" panose="02070309020205020404" pitchFamily="49" charset="0"/>
              </a:rPr>
              <a:t>mp</a:t>
            </a:r>
            <a:r>
              <a:rPr lang="en-IN" dirty="0">
                <a:latin typeface="Courier New" panose="02070309020205020404" pitchFamily="49" charset="0"/>
              </a:rPr>
              <a:t>[</a:t>
            </a:r>
            <a:r>
              <a:rPr lang="en-IN" dirty="0" err="1">
                <a:latin typeface="Courier New" panose="02070309020205020404" pitchFamily="49" charset="0"/>
              </a:rPr>
              <a:t>num</a:t>
            </a:r>
            <a:r>
              <a:rPr lang="en-IN" dirty="0">
                <a:latin typeface="Courier New" panose="02070309020205020404" pitchFamily="49" charset="0"/>
              </a:rPr>
              <a:t>] * </a:t>
            </a:r>
            <a:r>
              <a:rPr lang="en-IN" dirty="0" err="1">
                <a:latin typeface="Courier New" panose="02070309020205020404" pitchFamily="49" charset="0"/>
              </a:rPr>
              <a:t>mp</a:t>
            </a:r>
            <a:r>
              <a:rPr lang="en-IN" dirty="0">
                <a:latin typeface="Courier New" panose="02070309020205020404" pitchFamily="49" charset="0"/>
              </a:rPr>
              <a:t>[</a:t>
            </a:r>
            <a:r>
              <a:rPr lang="en-IN" dirty="0" err="1">
                <a:latin typeface="Courier New" panose="02070309020205020404" pitchFamily="49" charset="0"/>
              </a:rPr>
              <a:t>num</a:t>
            </a:r>
            <a:r>
              <a:rPr lang="en-IN" dirty="0">
                <a:latin typeface="Courier New" panose="02070309020205020404" pitchFamily="49" charset="0"/>
              </a:rPr>
              <a:t> + k]</a:t>
            </a:r>
            <a:br>
              <a:rPr lang="en-IN" dirty="0">
                <a:latin typeface="Courier New" panose="02070309020205020404" pitchFamily="49" charset="0"/>
              </a:rPr>
            </a:b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return count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06F507-C5BF-3C6D-69AE-65DB08E5646C}"/>
              </a:ext>
            </a:extLst>
          </p:cNvPr>
          <p:cNvSpPr txBox="1"/>
          <p:nvPr/>
        </p:nvSpPr>
        <p:spPr>
          <a:xfrm>
            <a:off x="6096000" y="115217"/>
            <a:ext cx="46211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Complexity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2B95C05-48D9-8A31-3DB5-2405895D69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4098624"/>
              </p:ext>
            </p:extLst>
          </p:nvPr>
        </p:nvGraphicFramePr>
        <p:xfrm>
          <a:off x="5909187" y="597308"/>
          <a:ext cx="5936226" cy="10972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968113">
                  <a:extLst>
                    <a:ext uri="{9D8B030D-6E8A-4147-A177-3AD203B41FA5}">
                      <a16:colId xmlns:a16="http://schemas.microsoft.com/office/drawing/2014/main" val="4092298670"/>
                    </a:ext>
                  </a:extLst>
                </a:gridCol>
                <a:gridCol w="2968113">
                  <a:extLst>
                    <a:ext uri="{9D8B030D-6E8A-4147-A177-3AD203B41FA5}">
                      <a16:colId xmlns:a16="http://schemas.microsoft.com/office/drawing/2014/main" val="4193431268"/>
                    </a:ext>
                  </a:extLst>
                </a:gridCol>
              </a:tblGrid>
              <a:tr h="32038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1424113"/>
                  </a:ext>
                </a:extLst>
              </a:tr>
              <a:tr h="32038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O(n)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7395330"/>
                  </a:ext>
                </a:extLst>
              </a:tr>
              <a:tr h="32038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Space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O(n)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79534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65080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9815</TotalTime>
  <Words>9282</Words>
  <Application>Microsoft Office PowerPoint</Application>
  <PresentationFormat>Widescreen</PresentationFormat>
  <Paragraphs>1898</Paragraphs>
  <Slides>97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97</vt:i4>
      </vt:variant>
    </vt:vector>
  </HeadingPairs>
  <TitlesOfParts>
    <vt:vector size="106" baseType="lpstr">
      <vt:lpstr>-apple-system</vt:lpstr>
      <vt:lpstr>Aptos</vt:lpstr>
      <vt:lpstr>Aptos Display</vt:lpstr>
      <vt:lpstr>Arial</vt:lpstr>
      <vt:lpstr>Calibri</vt:lpstr>
      <vt:lpstr>Cambria Math</vt:lpstr>
      <vt:lpstr>Courier New</vt:lpstr>
      <vt:lpstr>Source Sans 3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KAARTIK SHUKLA</dc:creator>
  <cp:lastModifiedBy>KAARTIK SHUKLA</cp:lastModifiedBy>
  <cp:revision>227</cp:revision>
  <dcterms:created xsi:type="dcterms:W3CDTF">2025-12-22T07:30:02Z</dcterms:created>
  <dcterms:modified xsi:type="dcterms:W3CDTF">2026-04-15T11:24:47Z</dcterms:modified>
</cp:coreProperties>
</file>