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56" r:id="rId10"/>
    <p:sldId id="257" r:id="rId11"/>
    <p:sldId id="258" r:id="rId12"/>
    <p:sldId id="259" r:id="rId13"/>
    <p:sldId id="262" r:id="rId14"/>
    <p:sldId id="260" r:id="rId15"/>
    <p:sldId id="261" r:id="rId16"/>
    <p:sldId id="271" r:id="rId17"/>
    <p:sldId id="272" r:id="rId18"/>
    <p:sldId id="273" r:id="rId19"/>
    <p:sldId id="274" r:id="rId20"/>
    <p:sldId id="275" r:id="rId21"/>
    <p:sldId id="282" r:id="rId22"/>
    <p:sldId id="283" r:id="rId23"/>
    <p:sldId id="284" r:id="rId24"/>
    <p:sldId id="285" r:id="rId25"/>
    <p:sldId id="276" r:id="rId26"/>
    <p:sldId id="277" r:id="rId27"/>
    <p:sldId id="278" r:id="rId28"/>
    <p:sldId id="279" r:id="rId29"/>
    <p:sldId id="280" r:id="rId30"/>
    <p:sldId id="281" r:id="rId31"/>
    <p:sldId id="286" r:id="rId32"/>
    <p:sldId id="292" r:id="rId33"/>
    <p:sldId id="287" r:id="rId34"/>
    <p:sldId id="288" r:id="rId35"/>
    <p:sldId id="289" r:id="rId36"/>
    <p:sldId id="290" r:id="rId37"/>
    <p:sldId id="291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319FE-2275-7473-3F73-2F51825129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F2D98B-BB21-0085-209B-2BD2DD021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9C010-4F5C-40AF-2B64-6D4FE8366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9E0C-58EC-47E2-83E8-F96D2A829C3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664F5-968E-915C-B76A-621FE0CBB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C2F1B-4C51-38B9-68A1-C39E36525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912E2-A15F-4910-A96C-E32E1F4D0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156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E9B9D-573C-D7B0-AC3F-2FC674F20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0C0FD-472D-D9A3-4363-F504DC8FC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2DA8C-69FC-E863-555C-2C2620DA5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9E0C-58EC-47E2-83E8-F96D2A829C3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D7C7A-DA78-D368-2697-5A3F26A5F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6D3EA-3699-FC49-9FC7-E61C4158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912E2-A15F-4910-A96C-E32E1F4D0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520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76980-0EAD-D93A-EDBC-6743FB123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AFEF4E-8611-D644-32E3-63F306D24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67165-61FD-36DA-93FA-BFF907BF3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9E0C-58EC-47E2-83E8-F96D2A829C3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F2805-E9F8-298E-D0DB-80CCE09C7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69AA7-DFDC-0857-9303-48ADD7D63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912E2-A15F-4910-A96C-E32E1F4D0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141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A60B1-C295-01DE-C233-233A7CB00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16910-BBB8-06CB-2431-EBF5D24932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D5CEC-F13F-F382-A041-8D24482D3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51B47A-4995-1981-F329-A21F7A3FA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9E0C-58EC-47E2-83E8-F96D2A829C3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5B7942-40E2-75C8-8F37-9402FD138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E32A4-D31C-5642-5421-37121E650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912E2-A15F-4910-A96C-E32E1F4D0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405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BAA67-0DD6-6BCB-E5D4-25B76CB1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1FC97-249D-B006-BC35-484E890AE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06E5B-6FF9-A788-E92B-27BD36518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179780-F20A-2FA4-CF98-055C7A20C8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932CA3-ABE2-6B16-3698-CD4FDF48FD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5FA1D0-78C0-49A8-CFAD-CBC8E72D9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9E0C-58EC-47E2-83E8-F96D2A829C3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F8911B-4A36-FB6F-85D2-470F43782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929E90-46D2-D7B9-1241-CEB8D57DF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912E2-A15F-4910-A96C-E32E1F4D0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855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B8C7-2AEB-6C1F-67CA-B22CAEB2E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EA0689-3A7B-2AA1-A034-A359C4D3C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9E0C-58EC-47E2-83E8-F96D2A829C3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81BF6-308E-F729-B022-3CEC3D726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EC1F6E-9907-81CE-ACF7-D5CF8391E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912E2-A15F-4910-A96C-E32E1F4D0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191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419CD7-ECEB-49A1-9E1E-989C6253F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9E0C-58EC-47E2-83E8-F96D2A829C3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C0A11A-5418-B5B9-57A9-570CF0AD9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C840C-BC27-957F-16E5-676453D4B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912E2-A15F-4910-A96C-E32E1F4D0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57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C0F11-4405-31C1-3567-29D1AE4D6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2ADD0-73DE-C0BE-478F-7269E77F4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2C7BBC-A20C-187D-0529-E281B9955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622811-F5CE-3C77-F244-EB414BE37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9E0C-58EC-47E2-83E8-F96D2A829C3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D506A-46FB-68EA-4DD9-042143B19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342E11-8353-9470-196E-FD71150EE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912E2-A15F-4910-A96C-E32E1F4D0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48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CA771-FCFA-8778-D8E2-DCE0C9B2C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70CFD0-3D59-3397-BB50-1F7E9CE479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CBCB10-34F8-C100-2E64-7D926D04CF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844D8-BED3-E84C-5671-A83C1CD4B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9E0C-58EC-47E2-83E8-F96D2A829C3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5A6048-FB77-2CD3-7947-F76FD7252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3EF51-AEED-22EF-D674-AE67C9BBC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912E2-A15F-4910-A96C-E32E1F4D0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846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D0068-E9BE-7AEE-2462-8B5CBB13A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2DEC4-CD75-7363-4BF8-12EC92E12A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C81FF-823C-E7FE-587B-33C0FAF48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9E0C-58EC-47E2-83E8-F96D2A829C3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50AFF-A0D5-F2F9-27F5-451C7B77B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02032-C4EF-EDA2-E931-E7B1D96C7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912E2-A15F-4910-A96C-E32E1F4D0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756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4E2F30-968D-D601-9A42-84FBE0B235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65BA6A-36F4-2366-7A19-CABD933084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9542D-7519-6D7B-23DC-24584927C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9E0C-58EC-47E2-83E8-F96D2A829C3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4ADBD-44DF-FB38-9319-0E4B32A1E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5EB31-C3BE-1625-B0C4-019A03703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912E2-A15F-4910-A96C-E32E1F4D0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887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5CE01C-3195-9F19-B146-2BE5C10EF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2C36F-5F56-0F63-D50D-C21053524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61F2D-F1FB-3EC0-A6F2-D636C25E91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4F9E0C-58EC-47E2-83E8-F96D2A829C3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AFA00-CE3F-4B5C-7D0A-2BBA937AF5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9799F-9190-7572-5950-98520353D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5912E2-A15F-4910-A96C-E32E1F4D0D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448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8FF92B-CE16-3655-B136-20344813B07D}"/>
              </a:ext>
            </a:extLst>
          </p:cNvPr>
          <p:cNvSpPr txBox="1"/>
          <p:nvPr/>
        </p:nvSpPr>
        <p:spPr>
          <a:xfrm>
            <a:off x="0" y="70972"/>
            <a:ext cx="3244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Modified Kaprekar Numbers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5F7B6F-082F-08AF-1CCB-81F271268A74}"/>
              </a:ext>
            </a:extLst>
          </p:cNvPr>
          <p:cNvSpPr txBox="1"/>
          <p:nvPr/>
        </p:nvSpPr>
        <p:spPr>
          <a:xfrm>
            <a:off x="90949" y="440304"/>
            <a:ext cx="612058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Problem Statement</a:t>
            </a:r>
          </a:p>
          <a:p>
            <a:pPr>
              <a:buNone/>
            </a:pPr>
            <a:r>
              <a:rPr lang="en-US" dirty="0"/>
              <a:t>A number </a:t>
            </a:r>
            <a:r>
              <a:rPr lang="en-US" dirty="0">
                <a:latin typeface="Courier New" panose="02070309020205020404" pitchFamily="49" charset="0"/>
              </a:rPr>
              <a:t>n</a:t>
            </a:r>
            <a:r>
              <a:rPr lang="en-US" dirty="0"/>
              <a:t> is called a </a:t>
            </a:r>
            <a:r>
              <a:rPr lang="en-US" b="1" dirty="0"/>
              <a:t>Modified Kaprekar Number</a:t>
            </a:r>
            <a:r>
              <a:rPr lang="en-US" dirty="0"/>
              <a:t> if:</a:t>
            </a:r>
          </a:p>
          <a:p>
            <a:pPr>
              <a:buFont typeface="+mj-lt"/>
              <a:buAutoNum type="arabicPeriod"/>
            </a:pPr>
            <a:r>
              <a:rPr lang="en-US" dirty="0"/>
              <a:t>Square the number → </a:t>
            </a:r>
            <a:r>
              <a:rPr lang="en-US" dirty="0">
                <a:latin typeface="Courier New" panose="02070309020205020404" pitchFamily="49" charset="0"/>
              </a:rPr>
              <a:t>n²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Split the digits of </a:t>
            </a:r>
            <a:r>
              <a:rPr lang="en-US" dirty="0">
                <a:latin typeface="Courier New" panose="02070309020205020404" pitchFamily="49" charset="0"/>
              </a:rPr>
              <a:t>n²</a:t>
            </a:r>
            <a:r>
              <a:rPr lang="en-US" dirty="0"/>
              <a:t> into </a:t>
            </a:r>
            <a:r>
              <a:rPr lang="en-US" b="1" dirty="0"/>
              <a:t>two parts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Right part has </a:t>
            </a:r>
            <a:r>
              <a:rPr lang="en-US" b="1" dirty="0"/>
              <a:t>d digits</a:t>
            </a:r>
            <a:r>
              <a:rPr lang="en-US" dirty="0"/>
              <a:t>, where </a:t>
            </a:r>
            <a:r>
              <a:rPr lang="en-US" dirty="0">
                <a:latin typeface="Courier New" panose="02070309020205020404" pitchFamily="49" charset="0"/>
              </a:rPr>
              <a:t>d = number of digits in n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Left part contains the remaining digits</a:t>
            </a:r>
          </a:p>
          <a:p>
            <a:pPr>
              <a:buFont typeface="+mj-lt"/>
              <a:buAutoNum type="arabicPeriod"/>
            </a:pPr>
            <a:r>
              <a:rPr lang="en-US" dirty="0"/>
              <a:t>Convert both parts to numbers (empty part = 0)</a:t>
            </a:r>
          </a:p>
          <a:p>
            <a:pPr>
              <a:buFont typeface="+mj-lt"/>
              <a:buAutoNum type="arabicPeriod"/>
            </a:pPr>
            <a:r>
              <a:rPr lang="en-US" dirty="0"/>
              <a:t>If:</a:t>
            </a:r>
          </a:p>
          <a:p>
            <a:pPr rtl="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</a:rPr>
              <a:t>left + right = n</a:t>
            </a:r>
          </a:p>
          <a:p>
            <a:pPr>
              <a:buFont typeface="+mj-lt"/>
              <a:buAutoNum type="arabicPeriod"/>
            </a:pPr>
            <a:r>
              <a:rPr lang="en-US" dirty="0"/>
              <a:t>then </a:t>
            </a:r>
            <a:r>
              <a:rPr lang="en-US" dirty="0">
                <a:latin typeface="Courier New" panose="02070309020205020404" pitchFamily="49" charset="0"/>
              </a:rPr>
              <a:t>n</a:t>
            </a:r>
            <a:r>
              <a:rPr lang="en-US" dirty="0"/>
              <a:t> is a </a:t>
            </a:r>
            <a:r>
              <a:rPr lang="en-US" b="1" dirty="0"/>
              <a:t>Modified Kaprekar Number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390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4E795C-BEA6-D0FF-D957-F38F056FD834}"/>
              </a:ext>
            </a:extLst>
          </p:cNvPr>
          <p:cNvSpPr txBox="1"/>
          <p:nvPr/>
        </p:nvSpPr>
        <p:spPr>
          <a:xfrm>
            <a:off x="-1" y="108840"/>
            <a:ext cx="12093678" cy="663609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IN" b="1" dirty="0"/>
              <a:t>Example 1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n = 45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n² = 2025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Number of digits in n =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Split: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Left = "20"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Right = "25"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20 + 25 = 45 </a:t>
            </a:r>
          </a:p>
          <a:p>
            <a:pPr>
              <a:buNone/>
            </a:pPr>
            <a:r>
              <a:rPr lang="en-IN" b="1" dirty="0"/>
              <a:t>45 is a Modified Kaprekar Number</a:t>
            </a:r>
            <a:endParaRPr lang="en-IN" dirty="0"/>
          </a:p>
          <a:p>
            <a:pPr>
              <a:buNone/>
            </a:pPr>
            <a:br>
              <a:rPr lang="en-IN" dirty="0"/>
            </a:br>
            <a:r>
              <a:rPr lang="en-IN" b="1" dirty="0"/>
              <a:t>Example 2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n = 9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n² = 81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Digits in n =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Split: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Left = "8"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Right = "1"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8 + 1 = 9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br>
              <a:rPr lang="en-IN" dirty="0"/>
            </a:br>
            <a:r>
              <a:rPr lang="en-IN" b="1" dirty="0"/>
              <a:t>Example 3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n = 10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n² = 100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Digits in n =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Split: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Left = "1"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Right = "00" →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1 + 0 ≠ 10 ❌</a:t>
            </a:r>
          </a:p>
        </p:txBody>
      </p:sp>
    </p:spTree>
    <p:extLst>
      <p:ext uri="{BB962C8B-B14F-4D97-AF65-F5344CB8AC3E}">
        <p14:creationId xmlns:p14="http://schemas.microsoft.com/office/powerpoint/2010/main" val="3247672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F10DE2-8EB1-1114-DF81-A0182CC49154}"/>
              </a:ext>
            </a:extLst>
          </p:cNvPr>
          <p:cNvSpPr txBox="1"/>
          <p:nvPr/>
        </p:nvSpPr>
        <p:spPr>
          <a:xfrm>
            <a:off x="117987" y="157316"/>
            <a:ext cx="497512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Single Approach (Optimal &amp; Standard)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Core Idea</a:t>
            </a:r>
          </a:p>
          <a:p>
            <a:pPr>
              <a:buNone/>
            </a:pPr>
            <a:r>
              <a:rPr lang="en-US" dirty="0"/>
              <a:t>For every number in a given range:</a:t>
            </a:r>
          </a:p>
          <a:p>
            <a:pPr>
              <a:buFont typeface="+mj-lt"/>
              <a:buAutoNum type="arabicPeriod"/>
            </a:pPr>
            <a:r>
              <a:rPr lang="en-US" dirty="0"/>
              <a:t>Compute square</a:t>
            </a:r>
          </a:p>
          <a:p>
            <a:pPr>
              <a:buFont typeface="+mj-lt"/>
              <a:buAutoNum type="arabicPeriod"/>
            </a:pPr>
            <a:r>
              <a:rPr lang="en-US" dirty="0"/>
              <a:t>Split square using digit count of the number</a:t>
            </a:r>
          </a:p>
          <a:p>
            <a:pPr>
              <a:buFont typeface="+mj-lt"/>
              <a:buAutoNum type="arabicPeriod"/>
            </a:pPr>
            <a:r>
              <a:rPr lang="en-US" dirty="0"/>
              <a:t>Check Kaprekar condition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Logic (Text Form)</a:t>
            </a:r>
          </a:p>
          <a:p>
            <a:pPr>
              <a:buFont typeface="+mj-lt"/>
              <a:buAutoNum type="arabicPeriod"/>
            </a:pPr>
            <a:r>
              <a:rPr lang="en-US" dirty="0"/>
              <a:t>Loop through numbers from </a:t>
            </a:r>
            <a:r>
              <a:rPr lang="en-US" dirty="0">
                <a:latin typeface="Courier New" panose="02070309020205020404" pitchFamily="49" charset="0"/>
              </a:rPr>
              <a:t>p</a:t>
            </a:r>
            <a:r>
              <a:rPr lang="en-US" dirty="0"/>
              <a:t> to </a:t>
            </a:r>
            <a:r>
              <a:rPr lang="en-US" dirty="0">
                <a:latin typeface="Courier New" panose="02070309020205020404" pitchFamily="49" charset="0"/>
              </a:rPr>
              <a:t>q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For each number: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Count digits in the number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Compute square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Convert square to string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Split string into left and right parts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Convert both parts to integers</a:t>
            </a:r>
          </a:p>
          <a:p>
            <a:pPr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dirty="0">
                <a:latin typeface="Courier New" panose="02070309020205020404" pitchFamily="49" charset="0"/>
              </a:rPr>
              <a:t>left + right == number</a:t>
            </a:r>
            <a:r>
              <a:rPr lang="en-US" dirty="0"/>
              <a:t> → Kaprekar</a:t>
            </a:r>
          </a:p>
        </p:txBody>
      </p:sp>
    </p:spTree>
    <p:extLst>
      <p:ext uri="{BB962C8B-B14F-4D97-AF65-F5344CB8AC3E}">
        <p14:creationId xmlns:p14="http://schemas.microsoft.com/office/powerpoint/2010/main" val="1909617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51BB1B-D7B8-292D-5FB1-21CDDF2F3BB7}"/>
              </a:ext>
            </a:extLst>
          </p:cNvPr>
          <p:cNvSpPr txBox="1"/>
          <p:nvPr/>
        </p:nvSpPr>
        <p:spPr>
          <a:xfrm>
            <a:off x="0" y="118944"/>
            <a:ext cx="573220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Pseudocode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for n = p to q: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d = number of digits in 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sq = n * 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s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toString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(sq)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right = last d characters of 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left = remaining characters of 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l = (left == "") ? 0 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toInt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(left)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r = (right == "") ? 0 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toInt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(right)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if l + r == 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print 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A85126-6A01-BE32-23C7-B5E2DC3EE609}"/>
              </a:ext>
            </a:extLst>
          </p:cNvPr>
          <p:cNvSpPr txBox="1"/>
          <p:nvPr/>
        </p:nvSpPr>
        <p:spPr>
          <a:xfrm>
            <a:off x="5823155" y="204044"/>
            <a:ext cx="61205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Time Complexity</a:t>
            </a:r>
          </a:p>
          <a:p>
            <a:pPr>
              <a:buNone/>
            </a:pPr>
            <a:r>
              <a:rPr lang="en-IN" dirty="0"/>
              <a:t>For each number: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Squaring → O(1)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Digit operations → O(d)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O(n × d)</a:t>
            </a:r>
          </a:p>
          <a:p>
            <a:pPr>
              <a:buNone/>
            </a:pPr>
            <a:r>
              <a:rPr lang="en-IN" dirty="0"/>
              <a:t>Since </a:t>
            </a:r>
            <a:r>
              <a:rPr lang="en-IN" dirty="0">
                <a:latin typeface="Courier New" panose="02070309020205020404" pitchFamily="49" charset="0"/>
              </a:rPr>
              <a:t>d ≈ log₁₀(n)</a:t>
            </a:r>
            <a:r>
              <a:rPr lang="en-IN" dirty="0"/>
              <a:t>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O(n log n)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Space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Temporary strings / variables only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O(d)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Edge Cases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Single-digit numbers (1, 9) → valid Kaprekar numbers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Leading zeros in right part → treat as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Empty left part → treat as 0</a:t>
            </a:r>
          </a:p>
        </p:txBody>
      </p:sp>
    </p:spTree>
    <p:extLst>
      <p:ext uri="{BB962C8B-B14F-4D97-AF65-F5344CB8AC3E}">
        <p14:creationId xmlns:p14="http://schemas.microsoft.com/office/powerpoint/2010/main" val="2681410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1D7AF6-A37C-AF9C-26D7-75FC16BD11E4}"/>
              </a:ext>
            </a:extLst>
          </p:cNvPr>
          <p:cNvSpPr txBox="1"/>
          <p:nvPr/>
        </p:nvSpPr>
        <p:spPr>
          <a:xfrm>
            <a:off x="186813" y="127819"/>
            <a:ext cx="11641393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Subarray Division (Birthday Chocolate)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Problem Statement</a:t>
            </a:r>
          </a:p>
          <a:p>
            <a:pPr>
              <a:buNone/>
            </a:pPr>
            <a:r>
              <a:rPr lang="en-US" dirty="0"/>
              <a:t>You are given: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integer array </a:t>
            </a:r>
            <a:r>
              <a:rPr lang="en-US" dirty="0">
                <a:latin typeface="Courier New" panose="02070309020205020404" pitchFamily="49" charset="0"/>
              </a:rPr>
              <a:t>s</a:t>
            </a:r>
            <a:r>
              <a:rPr lang="en-US" dirty="0"/>
              <a:t> (chocolate squares with numbers)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integer </a:t>
            </a:r>
            <a:r>
              <a:rPr lang="en-US" dirty="0">
                <a:latin typeface="Courier New" panose="02070309020205020404" pitchFamily="49" charset="0"/>
              </a:rPr>
              <a:t>d</a:t>
            </a:r>
            <a:r>
              <a:rPr lang="en-US" dirty="0"/>
              <a:t> (target sum / birth day)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integer </a:t>
            </a:r>
            <a:r>
              <a:rPr lang="en-US" dirty="0">
                <a:latin typeface="Courier New" panose="02070309020205020404" pitchFamily="49" charset="0"/>
              </a:rPr>
              <a:t>m</a:t>
            </a:r>
            <a:r>
              <a:rPr lang="en-US" dirty="0"/>
              <a:t> (length of segment / birth month)</a:t>
            </a:r>
          </a:p>
          <a:p>
            <a:pPr>
              <a:buNone/>
            </a:pPr>
            <a:r>
              <a:rPr lang="en-US" dirty="0"/>
              <a:t>You have to find </a:t>
            </a:r>
            <a:r>
              <a:rPr lang="en-US" b="1" dirty="0"/>
              <a:t>how many contiguous subarrays of length </a:t>
            </a:r>
            <a:r>
              <a:rPr lang="en-US" b="1" dirty="0">
                <a:latin typeface="Courier New" panose="02070309020205020404" pitchFamily="49" charset="0"/>
              </a:rPr>
              <a:t>m</a:t>
            </a:r>
            <a:r>
              <a:rPr lang="en-US" dirty="0"/>
              <a:t> have a </a:t>
            </a:r>
            <a:r>
              <a:rPr lang="en-US" b="1" dirty="0"/>
              <a:t>sum equal to </a:t>
            </a:r>
            <a:r>
              <a:rPr lang="en-US" b="1" dirty="0">
                <a:latin typeface="Courier New" panose="02070309020205020404" pitchFamily="49" charset="0"/>
              </a:rPr>
              <a:t>d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Only </a:t>
            </a:r>
            <a:r>
              <a:rPr lang="en-US" b="1" dirty="0"/>
              <a:t>continuous segments</a:t>
            </a:r>
            <a:r>
              <a:rPr lang="en-US" dirty="0"/>
              <a:t> of </a:t>
            </a:r>
            <a:r>
              <a:rPr lang="en-US" b="1" dirty="0"/>
              <a:t>exact length </a:t>
            </a:r>
            <a:r>
              <a:rPr lang="en-US" b="1" dirty="0">
                <a:latin typeface="Courier New" panose="02070309020205020404" pitchFamily="49" charset="0"/>
              </a:rPr>
              <a:t>m</a:t>
            </a:r>
            <a:r>
              <a:rPr lang="en-US" dirty="0"/>
              <a:t> are allowed.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Example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 = [1, 2, 1, 3, 2]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d = 3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m = 2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/>
              <a:t>Possible subarrays of length 2: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[1, 2] → sum = 3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[2, 1] → sum = 3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[1, 3] → sum = 4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[3, 2] → sum = 5 </a:t>
            </a:r>
          </a:p>
          <a:p>
            <a:pPr>
              <a:buNone/>
            </a:pPr>
            <a:r>
              <a:rPr lang="en-US" b="1" dirty="0"/>
              <a:t>Answer: </a:t>
            </a:r>
            <a:r>
              <a:rPr lang="en-US" dirty="0">
                <a:latin typeface="Courier New" panose="02070309020205020404" pitchFamily="49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38911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1AD38D-156C-DBCB-E45D-1B9E6462935B}"/>
              </a:ext>
            </a:extLst>
          </p:cNvPr>
          <p:cNvSpPr txBox="1"/>
          <p:nvPr/>
        </p:nvSpPr>
        <p:spPr>
          <a:xfrm>
            <a:off x="265471" y="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 Walkthrough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 = [1,2,1,3,2], m =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i</a:t>
            </a:r>
            <a:r>
              <a:rPr lang="en-IN" dirty="0"/>
              <a:t> = 0 → [1,2] → sum = 3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i</a:t>
            </a:r>
            <a:r>
              <a:rPr lang="en-IN" dirty="0"/>
              <a:t> = 1 → [2,1] → sum = 3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i</a:t>
            </a:r>
            <a:r>
              <a:rPr lang="en-IN" dirty="0"/>
              <a:t> = 2 → [1,3] → sum = 4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i</a:t>
            </a:r>
            <a:r>
              <a:rPr lang="en-IN" dirty="0"/>
              <a:t> = 3 → [3,2] → sum = 5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D6867-8BA9-BAC9-747B-2671ABDEBCAB}"/>
              </a:ext>
            </a:extLst>
          </p:cNvPr>
          <p:cNvSpPr txBox="1"/>
          <p:nvPr/>
        </p:nvSpPr>
        <p:spPr>
          <a:xfrm>
            <a:off x="265471" y="521834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Time Complexity:</a:t>
            </a:r>
            <a:endParaRPr lang="en-IN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O(n × 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Space Complexity:</a:t>
            </a:r>
            <a:endParaRPr lang="en-IN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O(1)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6B3A85-E74A-8B61-8852-64090C647C5A}"/>
              </a:ext>
            </a:extLst>
          </p:cNvPr>
          <p:cNvSpPr txBox="1"/>
          <p:nvPr/>
        </p:nvSpPr>
        <p:spPr>
          <a:xfrm>
            <a:off x="265471" y="1778175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Pseudocode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count = 0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= 0 to n - m: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sum = 0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for j =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to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+ m - 1: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sum += s[j]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if sum == d: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count++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return count</a:t>
            </a:r>
          </a:p>
        </p:txBody>
      </p:sp>
    </p:spTree>
    <p:extLst>
      <p:ext uri="{BB962C8B-B14F-4D97-AF65-F5344CB8AC3E}">
        <p14:creationId xmlns:p14="http://schemas.microsoft.com/office/powerpoint/2010/main" val="643947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E52508-3E10-8600-F261-E0E46910EB7E}"/>
              </a:ext>
            </a:extLst>
          </p:cNvPr>
          <p:cNvSpPr txBox="1"/>
          <p:nvPr/>
        </p:nvSpPr>
        <p:spPr>
          <a:xfrm>
            <a:off x="78659" y="127819"/>
            <a:ext cx="448350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2: Optimal (Sliding Window)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Key Observation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subarrays are of </a:t>
            </a:r>
            <a:r>
              <a:rPr lang="en-US" b="1" dirty="0"/>
              <a:t>fixed size </a:t>
            </a:r>
            <a:r>
              <a:rPr lang="en-US" b="1" dirty="0">
                <a:latin typeface="Courier New" panose="02070309020205020404" pitchFamily="49" charset="0"/>
              </a:rPr>
              <a:t>m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moving window forward: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Subtract outgoing element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Add incoming element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Logic (Text Form)</a:t>
            </a:r>
          </a:p>
          <a:p>
            <a:pPr>
              <a:buFont typeface="+mj-lt"/>
              <a:buAutoNum type="arabicPeriod"/>
            </a:pPr>
            <a:r>
              <a:rPr lang="en-US" dirty="0"/>
              <a:t>Calculate sum of first </a:t>
            </a:r>
            <a:r>
              <a:rPr lang="en-US" dirty="0">
                <a:latin typeface="Courier New" panose="02070309020205020404" pitchFamily="49" charset="0"/>
              </a:rPr>
              <a:t>m</a:t>
            </a:r>
            <a:r>
              <a:rPr lang="en-US" dirty="0"/>
              <a:t> elements</a:t>
            </a:r>
          </a:p>
          <a:p>
            <a:pPr>
              <a:buFont typeface="+mj-lt"/>
              <a:buAutoNum type="arabicPeriod"/>
            </a:pPr>
            <a:r>
              <a:rPr lang="en-US" dirty="0"/>
              <a:t>If sum equals </a:t>
            </a:r>
            <a:r>
              <a:rPr lang="en-US" dirty="0">
                <a:latin typeface="Courier New" panose="02070309020205020404" pitchFamily="49" charset="0"/>
              </a:rPr>
              <a:t>d</a:t>
            </a:r>
            <a:r>
              <a:rPr lang="en-US" dirty="0"/>
              <a:t>, increment count</a:t>
            </a:r>
          </a:p>
          <a:p>
            <a:pPr>
              <a:buFont typeface="+mj-lt"/>
              <a:buAutoNum type="arabicPeriod"/>
            </a:pPr>
            <a:r>
              <a:rPr lang="en-US" dirty="0"/>
              <a:t>Slide window one step at a time: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Add new element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Remove old element</a:t>
            </a:r>
          </a:p>
          <a:p>
            <a:pPr>
              <a:buFont typeface="+mj-lt"/>
              <a:buAutoNum type="arabicPeriod"/>
            </a:pPr>
            <a:r>
              <a:rPr lang="en-US" dirty="0"/>
              <a:t>Repeat until end of array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DB963-2D02-C918-B81A-0F65D525D297}"/>
              </a:ext>
            </a:extLst>
          </p:cNvPr>
          <p:cNvSpPr txBox="1"/>
          <p:nvPr/>
        </p:nvSpPr>
        <p:spPr>
          <a:xfrm>
            <a:off x="6223820" y="127819"/>
            <a:ext cx="432619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Pseudocode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count = 0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windowSum</a:t>
            </a:r>
            <a:r>
              <a:rPr lang="en-US" dirty="0">
                <a:latin typeface="Courier New" panose="02070309020205020404" pitchFamily="49" charset="0"/>
              </a:rPr>
              <a:t> = 0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= 0 to m-1: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windowSum</a:t>
            </a:r>
            <a:r>
              <a:rPr lang="en-US" dirty="0">
                <a:latin typeface="Courier New" panose="02070309020205020404" pitchFamily="49" charset="0"/>
              </a:rPr>
              <a:t> += s[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if </a:t>
            </a:r>
            <a:r>
              <a:rPr lang="en-US" dirty="0" err="1">
                <a:latin typeface="Courier New" panose="02070309020205020404" pitchFamily="49" charset="0"/>
              </a:rPr>
              <a:t>windowSum</a:t>
            </a:r>
            <a:r>
              <a:rPr lang="en-US" dirty="0">
                <a:latin typeface="Courier New" panose="02070309020205020404" pitchFamily="49" charset="0"/>
              </a:rPr>
              <a:t> == d: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count++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= m to n-1: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windowSum</a:t>
            </a:r>
            <a:r>
              <a:rPr lang="en-US" dirty="0">
                <a:latin typeface="Courier New" panose="02070309020205020404" pitchFamily="49" charset="0"/>
              </a:rPr>
              <a:t> += s[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windowSum</a:t>
            </a:r>
            <a:r>
              <a:rPr lang="en-US" dirty="0">
                <a:latin typeface="Courier New" panose="02070309020205020404" pitchFamily="49" charset="0"/>
              </a:rPr>
              <a:t> -= s[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- m]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if </a:t>
            </a:r>
            <a:r>
              <a:rPr lang="en-US" dirty="0" err="1">
                <a:latin typeface="Courier New" panose="02070309020205020404" pitchFamily="49" charset="0"/>
              </a:rPr>
              <a:t>windowSum</a:t>
            </a:r>
            <a:r>
              <a:rPr lang="en-US" dirty="0">
                <a:latin typeface="Courier New" panose="02070309020205020404" pitchFamily="49" charset="0"/>
              </a:rPr>
              <a:t> == d: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count++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return count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7C87FB-681A-CEDE-E221-204771E3BB50}"/>
              </a:ext>
            </a:extLst>
          </p:cNvPr>
          <p:cNvSpPr txBox="1"/>
          <p:nvPr/>
        </p:nvSpPr>
        <p:spPr>
          <a:xfrm>
            <a:off x="6223820" y="5252853"/>
            <a:ext cx="560438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Time Complexity:</a:t>
            </a:r>
            <a:endParaRPr lang="en-IN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O(n)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Space Complexity:</a:t>
            </a:r>
            <a:endParaRPr lang="en-IN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O(1)</a:t>
            </a:r>
          </a:p>
        </p:txBody>
      </p:sp>
    </p:spTree>
    <p:extLst>
      <p:ext uri="{BB962C8B-B14F-4D97-AF65-F5344CB8AC3E}">
        <p14:creationId xmlns:p14="http://schemas.microsoft.com/office/powerpoint/2010/main" val="3563640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DD923E9-0EE4-C4A9-BEAE-58029DBB2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07614"/>
              </p:ext>
            </p:extLst>
          </p:nvPr>
        </p:nvGraphicFramePr>
        <p:xfrm>
          <a:off x="680884" y="453815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88407201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190732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511555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Time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Space Complexity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2010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Brute Force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 × 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3183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Sliding Window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0209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8460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1D7D7D-462B-852C-8018-0FF412F4DB06}"/>
              </a:ext>
            </a:extLst>
          </p:cNvPr>
          <p:cNvSpPr txBox="1"/>
          <p:nvPr/>
        </p:nvSpPr>
        <p:spPr>
          <a:xfrm>
            <a:off x="304800" y="171497"/>
            <a:ext cx="553556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Divisible Sum Pairs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Problem Statement</a:t>
            </a:r>
          </a:p>
          <a:p>
            <a:pPr>
              <a:buNone/>
            </a:pPr>
            <a:r>
              <a:rPr lang="en-US" dirty="0"/>
              <a:t>You are given: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integer array </a:t>
            </a:r>
            <a:r>
              <a:rPr lang="en-US" dirty="0" err="1">
                <a:latin typeface="Courier New" panose="02070309020205020404" pitchFamily="49" charset="0"/>
              </a:rPr>
              <a:t>arr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integer </a:t>
            </a:r>
            <a:r>
              <a:rPr lang="en-US" dirty="0">
                <a:latin typeface="Courier New" panose="02070309020205020404" pitchFamily="49" charset="0"/>
              </a:rPr>
              <a:t>k</a:t>
            </a:r>
            <a:endParaRPr lang="en-US" dirty="0"/>
          </a:p>
          <a:p>
            <a:pPr>
              <a:buNone/>
            </a:pPr>
            <a:r>
              <a:rPr lang="en-US" dirty="0"/>
              <a:t>You have to </a:t>
            </a:r>
            <a:r>
              <a:rPr lang="en-US" b="1" dirty="0"/>
              <a:t>count the number of pairs (</a:t>
            </a:r>
            <a:r>
              <a:rPr lang="en-US" b="1" dirty="0" err="1"/>
              <a:t>i</a:t>
            </a:r>
            <a:r>
              <a:rPr lang="en-US" b="1" dirty="0"/>
              <a:t>, j)</a:t>
            </a:r>
            <a:r>
              <a:rPr lang="en-US" dirty="0"/>
              <a:t> such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&lt; j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 + </a:t>
            </a:r>
            <a:r>
              <a:rPr lang="en-US" dirty="0" err="1">
                <a:latin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</a:rPr>
              <a:t>[j])</a:t>
            </a:r>
            <a:r>
              <a:rPr lang="en-US" dirty="0"/>
              <a:t> is </a:t>
            </a:r>
            <a:r>
              <a:rPr lang="en-US" b="1" dirty="0"/>
              <a:t>divisible by </a:t>
            </a:r>
            <a:r>
              <a:rPr lang="en-US" b="1" dirty="0">
                <a:latin typeface="Courier New" panose="02070309020205020404" pitchFamily="49" charset="0"/>
              </a:rPr>
              <a:t>k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0918EE-062E-6EA9-67CA-50FFF5056E97}"/>
              </a:ext>
            </a:extLst>
          </p:cNvPr>
          <p:cNvSpPr txBox="1"/>
          <p:nvPr/>
        </p:nvSpPr>
        <p:spPr>
          <a:xfrm>
            <a:off x="226142" y="3023700"/>
            <a:ext cx="435569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</a:rPr>
              <a:t> = [1, 3, 2, 6, 1, 2]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k = 3</a:t>
            </a:r>
          </a:p>
          <a:p>
            <a:pPr>
              <a:buNone/>
            </a:pPr>
            <a:r>
              <a:rPr lang="en-US" b="1" dirty="0"/>
              <a:t>Valid pairs: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(1, 2) → 1 + 2 = 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(3, 6) → 3 + 6 = 9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(2, 1) → 2 + 1 = 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(1, 2) → 1 + 2 = 3</a:t>
            </a:r>
          </a:p>
          <a:p>
            <a:pPr>
              <a:buNone/>
            </a:pPr>
            <a:r>
              <a:rPr lang="en-US" b="1" dirty="0"/>
              <a:t>Answer: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5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F24E12-630B-B1DA-DE0C-5094BBBCD75E}"/>
              </a:ext>
            </a:extLst>
          </p:cNvPr>
          <p:cNvSpPr txBox="1"/>
          <p:nvPr/>
        </p:nvSpPr>
        <p:spPr>
          <a:xfrm>
            <a:off x="6213987" y="273211"/>
            <a:ext cx="574203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1: Brute Force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Logic</a:t>
            </a:r>
          </a:p>
          <a:p>
            <a:pPr>
              <a:buFont typeface="+mj-lt"/>
              <a:buAutoNum type="arabicPeriod"/>
            </a:pPr>
            <a:r>
              <a:rPr lang="en-US" dirty="0"/>
              <a:t>Use two loops</a:t>
            </a:r>
          </a:p>
          <a:p>
            <a:pPr>
              <a:buFont typeface="+mj-lt"/>
              <a:buAutoNum type="arabicPeriod"/>
            </a:pPr>
            <a:r>
              <a:rPr lang="en-US" dirty="0"/>
              <a:t>Pick every possible pair </a:t>
            </a:r>
            <a:r>
              <a:rPr lang="en-US" dirty="0">
                <a:latin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, j)</a:t>
            </a:r>
            <a:r>
              <a:rPr lang="en-US" dirty="0"/>
              <a:t> where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&lt; j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Check if </a:t>
            </a:r>
            <a:r>
              <a:rPr lang="en-US" dirty="0">
                <a:latin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 + </a:t>
            </a:r>
            <a:r>
              <a:rPr lang="en-US" dirty="0" err="1">
                <a:latin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</a:rPr>
              <a:t>[j]) % k == 0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If yes → increase count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213A0D-B176-07F2-29B1-2258E0F9A165}"/>
              </a:ext>
            </a:extLst>
          </p:cNvPr>
          <p:cNvSpPr txBox="1"/>
          <p:nvPr/>
        </p:nvSpPr>
        <p:spPr>
          <a:xfrm>
            <a:off x="6213987" y="2387488"/>
            <a:ext cx="2104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Pseudocode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854B8A-61A8-9A8F-5262-92137E903234}"/>
              </a:ext>
            </a:extLst>
          </p:cNvPr>
          <p:cNvSpPr txBox="1"/>
          <p:nvPr/>
        </p:nvSpPr>
        <p:spPr>
          <a:xfrm>
            <a:off x="6213987" y="2756820"/>
            <a:ext cx="401156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count = 0</a:t>
            </a:r>
          </a:p>
          <a:p>
            <a:endParaRPr lang="en-US" dirty="0"/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= 0 to n-1:</a:t>
            </a:r>
          </a:p>
          <a:p>
            <a:r>
              <a:rPr lang="en-US" dirty="0"/>
              <a:t>    for j = i+1 to n-1:</a:t>
            </a:r>
          </a:p>
          <a:p>
            <a:r>
              <a:rPr lang="en-US" dirty="0"/>
              <a:t>        if (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+ </a:t>
            </a:r>
            <a:r>
              <a:rPr lang="en-US" dirty="0" err="1"/>
              <a:t>arr</a:t>
            </a:r>
            <a:r>
              <a:rPr lang="en-US" dirty="0"/>
              <a:t>[j]) % k == 0:</a:t>
            </a:r>
          </a:p>
          <a:p>
            <a:r>
              <a:rPr lang="en-US" dirty="0"/>
              <a:t>            count++</a:t>
            </a:r>
          </a:p>
          <a:p>
            <a:endParaRPr lang="en-US" dirty="0"/>
          </a:p>
          <a:p>
            <a:r>
              <a:rPr lang="en-US" dirty="0"/>
              <a:t>return count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91FF68-6884-CB95-2C52-77611D0ADE8A}"/>
              </a:ext>
            </a:extLst>
          </p:cNvPr>
          <p:cNvSpPr txBox="1"/>
          <p:nvPr/>
        </p:nvSpPr>
        <p:spPr>
          <a:xfrm>
            <a:off x="6213987" y="5209852"/>
            <a:ext cx="35887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Time Complexity:</a:t>
            </a:r>
            <a:endParaRPr lang="en-IN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O(n²)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Space Complexity:</a:t>
            </a:r>
            <a:endParaRPr lang="en-IN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O(1)</a:t>
            </a:r>
          </a:p>
        </p:txBody>
      </p:sp>
    </p:spTree>
    <p:extLst>
      <p:ext uri="{BB962C8B-B14F-4D97-AF65-F5344CB8AC3E}">
        <p14:creationId xmlns:p14="http://schemas.microsoft.com/office/powerpoint/2010/main" val="1088042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E7C39A-5AAF-4484-D59B-B99310BFA86F}"/>
              </a:ext>
            </a:extLst>
          </p:cNvPr>
          <p:cNvSpPr txBox="1"/>
          <p:nvPr/>
        </p:nvSpPr>
        <p:spPr>
          <a:xfrm>
            <a:off x="0" y="114199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2: Optimal (Remainder Frequency Method)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Key Observation:</a:t>
            </a:r>
          </a:p>
          <a:p>
            <a:pPr>
              <a:buNone/>
            </a:pPr>
            <a:r>
              <a:rPr lang="en-US" dirty="0"/>
              <a:t>If: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(a + b) % k == 0</a:t>
            </a:r>
          </a:p>
          <a:p>
            <a:pPr>
              <a:buNone/>
            </a:pPr>
            <a:r>
              <a:rPr lang="en-US" dirty="0"/>
              <a:t>then: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(a % k + b % k) % k == 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B808C9-6154-6CA8-B754-0E9ACB1CAC42}"/>
              </a:ext>
            </a:extLst>
          </p:cNvPr>
          <p:cNvSpPr txBox="1"/>
          <p:nvPr/>
        </p:nvSpPr>
        <p:spPr>
          <a:xfrm>
            <a:off x="0" y="2558478"/>
            <a:ext cx="644996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Logic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an array </a:t>
            </a:r>
            <a:r>
              <a:rPr lang="en-US" dirty="0" err="1">
                <a:latin typeface="Courier New" panose="02070309020205020404" pitchFamily="49" charset="0"/>
              </a:rPr>
              <a:t>freq</a:t>
            </a:r>
            <a:r>
              <a:rPr lang="en-US" dirty="0">
                <a:latin typeface="Courier New" panose="02070309020205020404" pitchFamily="49" charset="0"/>
              </a:rPr>
              <a:t>[k]</a:t>
            </a:r>
            <a:r>
              <a:rPr lang="en-US" dirty="0"/>
              <a:t> initialized to 0</a:t>
            </a:r>
          </a:p>
          <a:p>
            <a:pPr>
              <a:buFont typeface="+mj-lt"/>
              <a:buAutoNum type="arabicPeriod"/>
            </a:pPr>
            <a:r>
              <a:rPr lang="en-US" dirty="0"/>
              <a:t>For each element: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Compute </a:t>
            </a:r>
            <a:r>
              <a:rPr lang="en-US" dirty="0">
                <a:latin typeface="Courier New" panose="02070309020205020404" pitchFamily="49" charset="0"/>
              </a:rPr>
              <a:t>remainder = </a:t>
            </a:r>
            <a:r>
              <a:rPr lang="en-US" dirty="0" err="1">
                <a:latin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 % k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Required pair remainder = </a:t>
            </a:r>
            <a:r>
              <a:rPr lang="en-US" dirty="0">
                <a:latin typeface="Courier New" panose="02070309020205020404" pitchFamily="49" charset="0"/>
              </a:rPr>
              <a:t>(k - remainder) % k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Add </a:t>
            </a:r>
            <a:r>
              <a:rPr lang="en-US" dirty="0" err="1">
                <a:latin typeface="Courier New" panose="02070309020205020404" pitchFamily="49" charset="0"/>
              </a:rPr>
              <a:t>freq</a:t>
            </a:r>
            <a:r>
              <a:rPr lang="en-US" dirty="0">
                <a:latin typeface="Courier New" panose="02070309020205020404" pitchFamily="49" charset="0"/>
              </a:rPr>
              <a:t>[required]</a:t>
            </a:r>
            <a:r>
              <a:rPr lang="en-US" dirty="0"/>
              <a:t> to count</a:t>
            </a:r>
          </a:p>
          <a:p>
            <a:pPr>
              <a:buFont typeface="+mj-lt"/>
              <a:buAutoNum type="arabicPeriod"/>
            </a:pPr>
            <a:r>
              <a:rPr lang="en-US" dirty="0"/>
              <a:t>Increment </a:t>
            </a:r>
            <a:r>
              <a:rPr lang="en-US" dirty="0" err="1">
                <a:latin typeface="Courier New" panose="02070309020205020404" pitchFamily="49" charset="0"/>
              </a:rPr>
              <a:t>freq</a:t>
            </a:r>
            <a:r>
              <a:rPr lang="en-US" dirty="0">
                <a:latin typeface="Courier New" panose="02070309020205020404" pitchFamily="49" charset="0"/>
              </a:rPr>
              <a:t>[remainder]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81DB78-3F3E-8BDE-A3D0-F2A7D917D9E0}"/>
              </a:ext>
            </a:extLst>
          </p:cNvPr>
          <p:cNvSpPr txBox="1"/>
          <p:nvPr/>
        </p:nvSpPr>
        <p:spPr>
          <a:xfrm>
            <a:off x="6658897" y="3574141"/>
            <a:ext cx="32126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Time Complexity:</a:t>
            </a:r>
            <a:endParaRPr lang="en-IN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O(n)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Space Complexity:</a:t>
            </a:r>
            <a:endParaRPr lang="en-IN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O(k)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A2FD9C-4E2B-5181-C9A3-5BEE2F98AE09}"/>
              </a:ext>
            </a:extLst>
          </p:cNvPr>
          <p:cNvSpPr txBox="1"/>
          <p:nvPr/>
        </p:nvSpPr>
        <p:spPr>
          <a:xfrm>
            <a:off x="6658897" y="434820"/>
            <a:ext cx="513981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Pseudocode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freq</a:t>
            </a:r>
            <a:r>
              <a:rPr lang="en-US" dirty="0">
                <a:latin typeface="Courier New" panose="02070309020205020404" pitchFamily="49" charset="0"/>
              </a:rPr>
              <a:t>[0...k-1] = 0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count = 0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for num in </a:t>
            </a:r>
            <a:r>
              <a:rPr lang="en-US" dirty="0" err="1">
                <a:latin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</a:rPr>
              <a:t>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rem = num % k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required = (k - rem) % k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count += </a:t>
            </a:r>
            <a:r>
              <a:rPr lang="en-US" dirty="0" err="1">
                <a:latin typeface="Courier New" panose="02070309020205020404" pitchFamily="49" charset="0"/>
              </a:rPr>
              <a:t>freq</a:t>
            </a:r>
            <a:r>
              <a:rPr lang="en-US" dirty="0">
                <a:latin typeface="Courier New" panose="02070309020205020404" pitchFamily="49" charset="0"/>
              </a:rPr>
              <a:t>[required]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freq</a:t>
            </a:r>
            <a:r>
              <a:rPr lang="en-US" dirty="0">
                <a:latin typeface="Courier New" panose="02070309020205020404" pitchFamily="49" charset="0"/>
              </a:rPr>
              <a:t>[rem]++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return count</a:t>
            </a:r>
          </a:p>
        </p:txBody>
      </p:sp>
    </p:spTree>
    <p:extLst>
      <p:ext uri="{BB962C8B-B14F-4D97-AF65-F5344CB8AC3E}">
        <p14:creationId xmlns:p14="http://schemas.microsoft.com/office/powerpoint/2010/main" val="967776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A18C92-A807-67AF-2507-607A76A3582E}"/>
              </a:ext>
            </a:extLst>
          </p:cNvPr>
          <p:cNvSpPr txBox="1"/>
          <p:nvPr/>
        </p:nvSpPr>
        <p:spPr>
          <a:xfrm>
            <a:off x="78658" y="163019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Climbing the Leaderboard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Problem Statement</a:t>
            </a:r>
          </a:p>
          <a:p>
            <a:pPr>
              <a:buNone/>
            </a:pPr>
            <a:r>
              <a:rPr lang="en-US" dirty="0"/>
              <a:t>You are given: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leaderboard of scores (descending order, may contain duplicates)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player’s scores in multiple games</a:t>
            </a:r>
          </a:p>
          <a:p>
            <a:pPr>
              <a:buNone/>
            </a:pPr>
            <a:r>
              <a:rPr lang="en-US" dirty="0"/>
              <a:t>Your task is to find the </a:t>
            </a:r>
            <a:r>
              <a:rPr lang="en-US" b="1" dirty="0"/>
              <a:t>rank of the player after each game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Ranking Rule: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Higher score → better rank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Same score → same rank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Next rank is skipped if duplicates exist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Example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ranked = [100, 100, 50, 40, 40, 20, 10]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player = [5, 25, 50, 120]</a:t>
            </a:r>
          </a:p>
          <a:p>
            <a:pPr>
              <a:buNone/>
            </a:pPr>
            <a:r>
              <a:rPr lang="en-US" b="1" dirty="0"/>
              <a:t>Output</a:t>
            </a: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[6, 4, 2, 1]</a:t>
            </a:r>
          </a:p>
        </p:txBody>
      </p:sp>
    </p:spTree>
    <p:extLst>
      <p:ext uri="{BB962C8B-B14F-4D97-AF65-F5344CB8AC3E}">
        <p14:creationId xmlns:p14="http://schemas.microsoft.com/office/powerpoint/2010/main" val="2049836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C40CB4-ADF6-4034-CC37-8DDF837FE951}"/>
              </a:ext>
            </a:extLst>
          </p:cNvPr>
          <p:cNvSpPr txBox="1"/>
          <p:nvPr/>
        </p:nvSpPr>
        <p:spPr>
          <a:xfrm>
            <a:off x="0" y="88491"/>
            <a:ext cx="12192000" cy="6676104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IN" b="1" dirty="0"/>
              <a:t>Brute Force Walkthrough</a:t>
            </a:r>
          </a:p>
          <a:p>
            <a:pPr>
              <a:buNone/>
            </a:pPr>
            <a:r>
              <a:rPr lang="en-IN" b="1" dirty="0"/>
              <a:t>Idea</a:t>
            </a:r>
          </a:p>
          <a:p>
            <a:pPr>
              <a:buNone/>
            </a:pPr>
            <a:r>
              <a:rPr lang="en-IN" dirty="0"/>
              <a:t>For </a:t>
            </a:r>
            <a:r>
              <a:rPr lang="en-IN" b="1" dirty="0"/>
              <a:t>each player score</a:t>
            </a:r>
            <a:r>
              <a:rPr lang="en-IN" dirty="0"/>
              <a:t>, compare it with </a:t>
            </a:r>
            <a:r>
              <a:rPr lang="en-IN" b="1" dirty="0"/>
              <a:t>every leaderboard score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Player Score = 5</a:t>
            </a:r>
          </a:p>
          <a:p>
            <a:pPr>
              <a:buNone/>
            </a:pPr>
            <a:r>
              <a:rPr lang="en-IN" dirty="0"/>
              <a:t>Compare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100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50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40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20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10 </a:t>
            </a:r>
          </a:p>
          <a:p>
            <a:pPr>
              <a:buNone/>
            </a:pPr>
            <a:r>
              <a:rPr lang="en-IN" dirty="0"/>
              <a:t>No score ≤ 5</a:t>
            </a:r>
            <a:br>
              <a:rPr lang="en-IN" dirty="0"/>
            </a:br>
            <a:r>
              <a:rPr lang="en-IN" dirty="0"/>
              <a:t>Rank = </a:t>
            </a:r>
            <a:r>
              <a:rPr lang="en-IN" dirty="0">
                <a:latin typeface="Courier New" panose="02070309020205020404" pitchFamily="49" charset="0"/>
              </a:rPr>
              <a:t>5 + 1 = 6</a:t>
            </a: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Player Score = 25</a:t>
            </a:r>
          </a:p>
          <a:p>
            <a:pPr>
              <a:buNone/>
            </a:pPr>
            <a:r>
              <a:rPr lang="en-IN" dirty="0"/>
              <a:t>Compare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100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50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40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20 (first ≤ found)</a:t>
            </a:r>
          </a:p>
          <a:p>
            <a:pPr>
              <a:buNone/>
            </a:pPr>
            <a:r>
              <a:rPr lang="en-IN" dirty="0"/>
              <a:t>Index = 3</a:t>
            </a:r>
            <a:br>
              <a:rPr lang="en-IN" dirty="0"/>
            </a:br>
            <a:r>
              <a:rPr lang="en-IN" dirty="0"/>
              <a:t>Rank = </a:t>
            </a:r>
            <a:r>
              <a:rPr lang="en-IN" dirty="0">
                <a:latin typeface="Courier New" panose="02070309020205020404" pitchFamily="49" charset="0"/>
              </a:rPr>
              <a:t>3 + 1 = 4</a:t>
            </a: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Player Score = 50</a:t>
            </a:r>
          </a:p>
          <a:p>
            <a:pPr>
              <a:buNone/>
            </a:pPr>
            <a:r>
              <a:rPr lang="en-IN" dirty="0"/>
              <a:t>Compare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100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50</a:t>
            </a:r>
          </a:p>
          <a:p>
            <a:pPr>
              <a:buNone/>
            </a:pPr>
            <a:r>
              <a:rPr lang="en-IN" dirty="0"/>
              <a:t>Index = 1</a:t>
            </a:r>
            <a:br>
              <a:rPr lang="en-IN" dirty="0"/>
            </a:br>
            <a:r>
              <a:rPr lang="en-IN" dirty="0"/>
              <a:t>Rank = </a:t>
            </a:r>
            <a:r>
              <a:rPr lang="en-IN" dirty="0">
                <a:latin typeface="Courier New" panose="02070309020205020404" pitchFamily="49" charset="0"/>
              </a:rPr>
              <a:t>1 + 1 = 2</a:t>
            </a: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Player Score = 120</a:t>
            </a:r>
          </a:p>
          <a:p>
            <a:pPr>
              <a:buNone/>
            </a:pPr>
            <a:r>
              <a:rPr lang="en-IN" dirty="0"/>
              <a:t>Compare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100</a:t>
            </a:r>
          </a:p>
          <a:p>
            <a:pPr>
              <a:buNone/>
            </a:pPr>
            <a:r>
              <a:rPr lang="en-IN" dirty="0"/>
              <a:t>Index = 0</a:t>
            </a:r>
            <a:br>
              <a:rPr lang="en-IN" dirty="0"/>
            </a:br>
            <a:r>
              <a:rPr lang="en-IN" dirty="0"/>
              <a:t>Rank = </a:t>
            </a:r>
            <a:r>
              <a:rPr lang="en-IN" dirty="0">
                <a:latin typeface="Courier New" panose="02070309020205020404" pitchFamily="49" charset="0"/>
              </a:rPr>
              <a:t>0 + 1 = 1</a:t>
            </a: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Final Output (Brute Force)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[6, 4, 2, 1]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0904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29FA22-87C4-F114-3DE9-EC75FF29B8E9}"/>
              </a:ext>
            </a:extLst>
          </p:cNvPr>
          <p:cNvSpPr txBox="1"/>
          <p:nvPr/>
        </p:nvSpPr>
        <p:spPr>
          <a:xfrm>
            <a:off x="422786" y="377127"/>
            <a:ext cx="787563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Pseudocode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uniqueScores</a:t>
            </a:r>
            <a:r>
              <a:rPr lang="en-IN" dirty="0">
                <a:latin typeface="Courier New" panose="02070309020205020404" pitchFamily="49" charset="0"/>
              </a:rPr>
              <a:t> = remove duplicates from ranked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for p in player: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rank = </a:t>
            </a:r>
            <a:r>
              <a:rPr lang="en-IN" dirty="0" err="1">
                <a:latin typeface="Courier New" panose="02070309020205020404" pitchFamily="49" charset="0"/>
              </a:rPr>
              <a:t>uniqueScores.size</a:t>
            </a:r>
            <a:r>
              <a:rPr lang="en-IN" dirty="0">
                <a:latin typeface="Courier New" panose="02070309020205020404" pitchFamily="49" charset="0"/>
              </a:rPr>
              <a:t> + 1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for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= 0 to uniqueScores.size-1: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if p &gt;= </a:t>
            </a:r>
            <a:r>
              <a:rPr lang="en-IN" dirty="0" err="1">
                <a:latin typeface="Courier New" panose="02070309020205020404" pitchFamily="49" charset="0"/>
              </a:rPr>
              <a:t>uniqueScores</a:t>
            </a:r>
            <a:r>
              <a:rPr lang="en-IN" dirty="0">
                <a:latin typeface="Courier New" panose="02070309020205020404" pitchFamily="49" charset="0"/>
              </a:rPr>
              <a:t>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   rank =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+ 1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   break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print rank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0C0E95-92D5-1F32-8AF8-0CA82401777B}"/>
              </a:ext>
            </a:extLst>
          </p:cNvPr>
          <p:cNvSpPr txBox="1"/>
          <p:nvPr/>
        </p:nvSpPr>
        <p:spPr>
          <a:xfrm>
            <a:off x="422786" y="368754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Complexity (Brute Force)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Time:</a:t>
            </a:r>
            <a:r>
              <a:rPr lang="en-IN" dirty="0"/>
              <a:t> </a:t>
            </a:r>
            <a:r>
              <a:rPr lang="en-IN" dirty="0">
                <a:latin typeface="Courier New" panose="02070309020205020404" pitchFamily="49" charset="0"/>
              </a:rPr>
              <a:t>O(n × m)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Space:</a:t>
            </a:r>
            <a:r>
              <a:rPr lang="en-IN" dirty="0"/>
              <a:t> </a:t>
            </a:r>
            <a:r>
              <a:rPr lang="en-IN" dirty="0">
                <a:latin typeface="Courier New" panose="02070309020205020404" pitchFamily="49" charset="0"/>
              </a:rPr>
              <a:t>O(n)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707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B135F8-91EB-58B3-78DD-50343D099BD9}"/>
              </a:ext>
            </a:extLst>
          </p:cNvPr>
          <p:cNvSpPr txBox="1"/>
          <p:nvPr/>
        </p:nvSpPr>
        <p:spPr>
          <a:xfrm>
            <a:off x="98323" y="68826"/>
            <a:ext cx="12015019" cy="6685935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IN" b="1" dirty="0"/>
              <a:t>Optimal Walkthrough (Two Pointer Method)</a:t>
            </a:r>
          </a:p>
          <a:p>
            <a:pPr>
              <a:buNone/>
            </a:pPr>
            <a:r>
              <a:rPr lang="en-IN" b="1" dirty="0"/>
              <a:t>Idea</a:t>
            </a:r>
          </a:p>
          <a:p>
            <a:pPr>
              <a:buNone/>
            </a:pPr>
            <a:r>
              <a:rPr lang="en-IN" dirty="0"/>
              <a:t>Start from </a:t>
            </a:r>
            <a:r>
              <a:rPr lang="en-IN" b="1" dirty="0"/>
              <a:t>lowest leaderboard score</a:t>
            </a:r>
            <a:r>
              <a:rPr lang="en-IN" dirty="0"/>
              <a:t> and move upward.</a:t>
            </a: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Initial Setup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unique = [100, 50, 40, 20, 10]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pointer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= 4   // pointing to 10</a:t>
            </a: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Player Score = 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5 &lt; 10 → no movement</a:t>
            </a:r>
          </a:p>
          <a:p>
            <a:pPr>
              <a:buNone/>
            </a:pPr>
            <a:r>
              <a:rPr lang="en-IN" dirty="0"/>
              <a:t>Rank = </a:t>
            </a:r>
            <a:r>
              <a:rPr lang="en-IN" dirty="0">
                <a:latin typeface="Courier New" panose="02070309020205020404" pitchFamily="49" charset="0"/>
              </a:rPr>
              <a:t>I + 2 = 6</a:t>
            </a: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Player Score = 25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25 ≥ 10 → </a:t>
            </a:r>
            <a:r>
              <a:rPr lang="en-IN" dirty="0" err="1"/>
              <a:t>i</a:t>
            </a:r>
            <a:r>
              <a:rPr lang="en-IN" dirty="0"/>
              <a:t> = 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25 ≥ 20 → </a:t>
            </a:r>
            <a:r>
              <a:rPr lang="en-IN" dirty="0" err="1"/>
              <a:t>i</a:t>
            </a:r>
            <a:r>
              <a:rPr lang="en-IN" dirty="0"/>
              <a:t> =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25 &lt; 40 → stop</a:t>
            </a:r>
          </a:p>
          <a:p>
            <a:pPr>
              <a:buNone/>
            </a:pPr>
            <a:r>
              <a:rPr lang="en-IN" dirty="0"/>
              <a:t>Rank = </a:t>
            </a:r>
            <a:r>
              <a:rPr lang="en-IN" dirty="0">
                <a:latin typeface="Courier New" panose="02070309020205020404" pitchFamily="49" charset="0"/>
              </a:rPr>
              <a:t>2 + 2 = 4</a:t>
            </a: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Player Score = 50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50 ≥ 40 → </a:t>
            </a:r>
            <a:r>
              <a:rPr lang="en-IN" dirty="0" err="1"/>
              <a:t>i</a:t>
            </a:r>
            <a:r>
              <a:rPr lang="en-IN" dirty="0"/>
              <a:t> =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50 ≥ 50 → </a:t>
            </a:r>
            <a:r>
              <a:rPr lang="en-IN" dirty="0" err="1"/>
              <a:t>i</a:t>
            </a:r>
            <a:r>
              <a:rPr lang="en-IN" dirty="0"/>
              <a:t> =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50 &lt; 100 → stop</a:t>
            </a:r>
          </a:p>
          <a:p>
            <a:pPr>
              <a:buNone/>
            </a:pPr>
            <a:r>
              <a:rPr lang="en-IN" dirty="0"/>
              <a:t>Rank = </a:t>
            </a:r>
            <a:r>
              <a:rPr lang="en-IN" dirty="0">
                <a:latin typeface="Courier New" panose="02070309020205020404" pitchFamily="49" charset="0"/>
              </a:rPr>
              <a:t>0 + 2 = 2</a:t>
            </a: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Player Score = 120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120 ≥ 100 → </a:t>
            </a:r>
            <a:r>
              <a:rPr lang="en-IN" dirty="0" err="1"/>
              <a:t>i</a:t>
            </a:r>
            <a:r>
              <a:rPr lang="en-IN" dirty="0"/>
              <a:t> = -1</a:t>
            </a:r>
          </a:p>
          <a:p>
            <a:pPr>
              <a:buNone/>
            </a:pPr>
            <a:r>
              <a:rPr lang="en-IN" dirty="0"/>
              <a:t>Rank = </a:t>
            </a:r>
            <a:r>
              <a:rPr lang="en-IN" dirty="0">
                <a:latin typeface="Courier New" panose="02070309020205020404" pitchFamily="49" charset="0"/>
              </a:rPr>
              <a:t>-1 + 2 = 1</a:t>
            </a: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Final Output (Optimal)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[6, 4, 2, 1]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Complexity (Optimal)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Time:</a:t>
            </a:r>
            <a:r>
              <a:rPr lang="en-IN" dirty="0"/>
              <a:t> </a:t>
            </a:r>
            <a:r>
              <a:rPr lang="en-IN" dirty="0">
                <a:latin typeface="Courier New" panose="02070309020205020404" pitchFamily="49" charset="0"/>
              </a:rPr>
              <a:t>O(n + m)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Space:</a:t>
            </a:r>
            <a:r>
              <a:rPr lang="en-IN" dirty="0"/>
              <a:t> </a:t>
            </a:r>
            <a:r>
              <a:rPr lang="en-IN" dirty="0">
                <a:latin typeface="Courier New" panose="02070309020205020404" pitchFamily="49" charset="0"/>
              </a:rPr>
              <a:t>O(n)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2531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6D4F56-4815-EF6E-56BF-94A9BDE54196}"/>
              </a:ext>
            </a:extLst>
          </p:cNvPr>
          <p:cNvSpPr txBox="1"/>
          <p:nvPr/>
        </p:nvSpPr>
        <p:spPr>
          <a:xfrm>
            <a:off x="108156" y="167148"/>
            <a:ext cx="7620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Logic (Two Pointer)</a:t>
            </a:r>
          </a:p>
          <a:p>
            <a:pPr>
              <a:buFont typeface="+mj-lt"/>
              <a:buAutoNum type="arabicPeriod"/>
            </a:pPr>
            <a:r>
              <a:rPr lang="en-IN" dirty="0"/>
              <a:t>Remove duplicates from leaderboard</a:t>
            </a:r>
          </a:p>
          <a:p>
            <a:pPr>
              <a:buFont typeface="+mj-lt"/>
              <a:buAutoNum type="arabicPeriod"/>
            </a:pPr>
            <a:r>
              <a:rPr lang="en-IN" dirty="0"/>
              <a:t>Start pointer from last index</a:t>
            </a:r>
          </a:p>
          <a:p>
            <a:pPr>
              <a:buFont typeface="+mj-lt"/>
              <a:buAutoNum type="arabicPeriod"/>
            </a:pPr>
            <a:r>
              <a:rPr lang="en-IN" dirty="0"/>
              <a:t>For each player score: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Move pointer while </a:t>
            </a:r>
            <a:r>
              <a:rPr lang="en-IN" dirty="0" err="1">
                <a:latin typeface="Courier New" panose="02070309020205020404" pitchFamily="49" charset="0"/>
              </a:rPr>
              <a:t>playerScore</a:t>
            </a:r>
            <a:r>
              <a:rPr lang="en-IN" dirty="0">
                <a:latin typeface="Courier New" panose="02070309020205020404" pitchFamily="49" charset="0"/>
              </a:rPr>
              <a:t> &gt;= leaderboard[pointer]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Rank = pointer + 2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Pseudocode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unique = remove duplicates from ranked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= </a:t>
            </a:r>
            <a:r>
              <a:rPr lang="en-IN" dirty="0" err="1">
                <a:latin typeface="Courier New" panose="02070309020205020404" pitchFamily="49" charset="0"/>
              </a:rPr>
              <a:t>unique.size</a:t>
            </a:r>
            <a:r>
              <a:rPr lang="en-IN" dirty="0">
                <a:latin typeface="Courier New" panose="02070309020205020404" pitchFamily="49" charset="0"/>
              </a:rPr>
              <a:t> - 1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for p in player: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while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&gt;= 0 and p &gt;= unique[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--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rank =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+ 2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print rank</a:t>
            </a:r>
          </a:p>
        </p:txBody>
      </p:sp>
    </p:spTree>
    <p:extLst>
      <p:ext uri="{BB962C8B-B14F-4D97-AF65-F5344CB8AC3E}">
        <p14:creationId xmlns:p14="http://schemas.microsoft.com/office/powerpoint/2010/main" val="1691638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339A39-03D2-0F17-0A99-4743E28F589C}"/>
              </a:ext>
            </a:extLst>
          </p:cNvPr>
          <p:cNvSpPr txBox="1"/>
          <p:nvPr/>
        </p:nvSpPr>
        <p:spPr>
          <a:xfrm>
            <a:off x="108155" y="82159"/>
            <a:ext cx="546673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Cut the Sticks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Problem Explanation (Easy Language)</a:t>
            </a:r>
          </a:p>
          <a:p>
            <a:pPr>
              <a:buNone/>
            </a:pPr>
            <a:r>
              <a:rPr lang="en-US" dirty="0"/>
              <a:t>You are given an array representing </a:t>
            </a:r>
            <a:r>
              <a:rPr lang="en-US" b="1" dirty="0"/>
              <a:t>lengths of sticks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Operation: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Find the </a:t>
            </a:r>
            <a:r>
              <a:rPr lang="en-US" b="1" dirty="0"/>
              <a:t>smallest non-zero stick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Cut that length from </a:t>
            </a:r>
            <a:r>
              <a:rPr lang="en-US" b="1" dirty="0"/>
              <a:t>all sticks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Remove sticks that become </a:t>
            </a:r>
            <a:r>
              <a:rPr lang="en-US" dirty="0">
                <a:latin typeface="Courier New" panose="02070309020205020404" pitchFamily="49" charset="0"/>
              </a:rPr>
              <a:t>0</a:t>
            </a:r>
            <a:endParaRPr lang="en-US" dirty="0"/>
          </a:p>
          <a:p>
            <a:pPr>
              <a:buNone/>
            </a:pPr>
            <a:r>
              <a:rPr lang="en-US" dirty="0"/>
              <a:t>After each cut, print </a:t>
            </a:r>
            <a:r>
              <a:rPr lang="en-US" b="1" dirty="0"/>
              <a:t>how many sticks remain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Repeat until no sticks are left.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C59B93-90F6-1A7B-D6A9-11D1FA315519}"/>
              </a:ext>
            </a:extLst>
          </p:cNvPr>
          <p:cNvSpPr txBox="1"/>
          <p:nvPr/>
        </p:nvSpPr>
        <p:spPr>
          <a:xfrm>
            <a:off x="108155" y="306811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</a:t>
            </a:r>
          </a:p>
          <a:p>
            <a:pPr>
              <a:buNone/>
            </a:pPr>
            <a:r>
              <a:rPr lang="en-US" b="1" dirty="0"/>
              <a:t>Input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sticks = [5,4,4 2, 2, 8]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EFC11C-2BE9-72AF-148D-FE59B56E925E}"/>
              </a:ext>
            </a:extLst>
          </p:cNvPr>
          <p:cNvSpPr txBox="1"/>
          <p:nvPr/>
        </p:nvSpPr>
        <p:spPr>
          <a:xfrm>
            <a:off x="108155" y="4230018"/>
            <a:ext cx="25760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Step-by-Step Process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08E5488-D2C3-2674-90F1-B810C77578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802827"/>
              </p:ext>
            </p:extLst>
          </p:nvPr>
        </p:nvGraphicFramePr>
        <p:xfrm>
          <a:off x="120443" y="4837923"/>
          <a:ext cx="1051560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12218995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2613306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3462511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00655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Smallest Stick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Remaining Sticks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9734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[3,2,2,6]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534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[1,4]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7263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[3]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6362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666237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2275F83-DED1-1AFB-F9CE-5FD74333851C}"/>
              </a:ext>
            </a:extLst>
          </p:cNvPr>
          <p:cNvSpPr txBox="1"/>
          <p:nvPr/>
        </p:nvSpPr>
        <p:spPr>
          <a:xfrm>
            <a:off x="10980176" y="5013659"/>
            <a:ext cx="109138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Output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6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4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2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16906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1DB958-D74D-40B3-EBF9-A71AC78E473C}"/>
              </a:ext>
            </a:extLst>
          </p:cNvPr>
          <p:cNvSpPr txBox="1"/>
          <p:nvPr/>
        </p:nvSpPr>
        <p:spPr>
          <a:xfrm>
            <a:off x="78659" y="150986"/>
            <a:ext cx="586002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1: Brute Force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Idea</a:t>
            </a:r>
          </a:p>
          <a:p>
            <a:pPr>
              <a:buNone/>
            </a:pPr>
            <a:r>
              <a:rPr lang="en-US" dirty="0"/>
              <a:t>Repeat the cutting process until array becomes empty.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While sticks are not empty: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Count sticks &gt; 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Find minimum stick length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Subtract minimum from all sticks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Remove zeros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84C5EF-06F2-5068-23FE-CDDBABEB4E0E}"/>
              </a:ext>
            </a:extLst>
          </p:cNvPr>
          <p:cNvSpPr txBox="1"/>
          <p:nvPr/>
        </p:nvSpPr>
        <p:spPr>
          <a:xfrm>
            <a:off x="157316" y="3429000"/>
            <a:ext cx="44736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Pseudocode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while sticks not empty: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print size of sticks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minVal</a:t>
            </a:r>
            <a:r>
              <a:rPr lang="en-US" dirty="0">
                <a:latin typeface="Courier New" panose="02070309020205020404" pitchFamily="49" charset="0"/>
              </a:rPr>
              <a:t> = minimum(sticks)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for each stick: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stick = stick - </a:t>
            </a:r>
            <a:r>
              <a:rPr lang="en-US" dirty="0" err="1">
                <a:latin typeface="Courier New" panose="02070309020205020404" pitchFamily="49" charset="0"/>
              </a:rPr>
              <a:t>minVal</a:t>
            </a: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remove all zero sticks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C6167A-3B86-63B5-7E42-356F1CDBEE7A}"/>
              </a:ext>
            </a:extLst>
          </p:cNvPr>
          <p:cNvSpPr txBox="1"/>
          <p:nvPr/>
        </p:nvSpPr>
        <p:spPr>
          <a:xfrm>
            <a:off x="157316" y="550668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Time Complexity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O(n²)</a:t>
            </a:r>
          </a:p>
          <a:p>
            <a:pPr>
              <a:buNone/>
            </a:pPr>
            <a:r>
              <a:rPr lang="en-US" b="1" dirty="0"/>
              <a:t>Space Complexity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O(1)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5B503A-8ADD-3EB8-92CB-8395277D8647}"/>
              </a:ext>
            </a:extLst>
          </p:cNvPr>
          <p:cNvSpPr txBox="1"/>
          <p:nvPr/>
        </p:nvSpPr>
        <p:spPr>
          <a:xfrm>
            <a:off x="5860026" y="197346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2: Optimal (Sorting)</a:t>
            </a:r>
          </a:p>
          <a:p>
            <a:pPr>
              <a:buNone/>
            </a:pPr>
            <a:r>
              <a:rPr lang="en-US" b="1" dirty="0"/>
              <a:t>Key Observation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Only when the </a:t>
            </a:r>
            <a:r>
              <a:rPr lang="en-US" b="1" dirty="0"/>
              <a:t>minimum value changes</a:t>
            </a:r>
            <a:r>
              <a:rPr lang="en-US" dirty="0"/>
              <a:t>, count changes.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Sorting helps avoid repeated scans.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Sort the array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count = total sticks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Traverse sorted array: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Whenever value changes, print remaining count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809BDE-F2F6-3658-F653-5E823C6985EE}"/>
              </a:ext>
            </a:extLst>
          </p:cNvPr>
          <p:cNvSpPr txBox="1"/>
          <p:nvPr/>
        </p:nvSpPr>
        <p:spPr>
          <a:xfrm>
            <a:off x="5860026" y="3175181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Pseudocode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sort(sticks)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n = size(sticks)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 n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= 1 to n-1: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if sticks[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 != sticks[i-1]: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print (n -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501D7F-FB1F-4612-D2B8-871DA7352C23}"/>
              </a:ext>
            </a:extLst>
          </p:cNvPr>
          <p:cNvSpPr txBox="1"/>
          <p:nvPr/>
        </p:nvSpPr>
        <p:spPr>
          <a:xfrm>
            <a:off x="5938684" y="564518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Complexity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Time: O(n log n)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Space: O(1)</a:t>
            </a:r>
          </a:p>
        </p:txBody>
      </p:sp>
    </p:spTree>
    <p:extLst>
      <p:ext uri="{BB962C8B-B14F-4D97-AF65-F5344CB8AC3E}">
        <p14:creationId xmlns:p14="http://schemas.microsoft.com/office/powerpoint/2010/main" val="1565799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D8B4DD-82FF-C91D-11A8-84919E3DDA2B}"/>
              </a:ext>
            </a:extLst>
          </p:cNvPr>
          <p:cNvSpPr txBox="1"/>
          <p:nvPr/>
        </p:nvSpPr>
        <p:spPr>
          <a:xfrm>
            <a:off x="176980" y="159464"/>
            <a:ext cx="22810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Lisa’s Workbook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5EC067-A6DB-19B6-41B8-3CD2B5760A61}"/>
              </a:ext>
            </a:extLst>
          </p:cNvPr>
          <p:cNvSpPr txBox="1"/>
          <p:nvPr/>
        </p:nvSpPr>
        <p:spPr>
          <a:xfrm>
            <a:off x="176980" y="528796"/>
            <a:ext cx="48079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Problem Explanation</a:t>
            </a:r>
          </a:p>
          <a:p>
            <a:pPr>
              <a:buNone/>
            </a:pPr>
            <a:r>
              <a:rPr lang="en-US" dirty="0"/>
              <a:t>Lisa has a workbook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n</a:t>
            </a:r>
            <a:r>
              <a:rPr lang="en-US" dirty="0"/>
              <a:t> chapters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chapter has some number of problems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page can contain </a:t>
            </a:r>
            <a:r>
              <a:rPr lang="en-US" b="1" dirty="0"/>
              <a:t>at most </a:t>
            </a:r>
            <a:r>
              <a:rPr lang="en-US" b="1" dirty="0">
                <a:latin typeface="Courier New" panose="02070309020205020404" pitchFamily="49" charset="0"/>
              </a:rPr>
              <a:t>k</a:t>
            </a:r>
            <a:r>
              <a:rPr lang="en-US" b="1" dirty="0"/>
              <a:t> problems</a:t>
            </a:r>
            <a:endParaRPr lang="en-US" dirty="0"/>
          </a:p>
          <a:p>
            <a:pPr>
              <a:buNone/>
            </a:pPr>
            <a:r>
              <a:rPr lang="en-US" dirty="0"/>
              <a:t>A problem is </a:t>
            </a:r>
            <a:r>
              <a:rPr lang="en-US" b="1" dirty="0"/>
              <a:t>special</a:t>
            </a:r>
            <a:r>
              <a:rPr lang="en-US" dirty="0"/>
              <a:t> if: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problem number == page number</a:t>
            </a:r>
          </a:p>
          <a:p>
            <a:pPr>
              <a:buNone/>
            </a:pPr>
            <a:r>
              <a:rPr lang="en-US" dirty="0"/>
              <a:t>You must count </a:t>
            </a:r>
            <a:r>
              <a:rPr lang="en-US" b="1" dirty="0"/>
              <a:t>total special problems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8858A1-40D5-D648-419F-D2BF831A66B7}"/>
              </a:ext>
            </a:extLst>
          </p:cNvPr>
          <p:cNvSpPr txBox="1"/>
          <p:nvPr/>
        </p:nvSpPr>
        <p:spPr>
          <a:xfrm>
            <a:off x="176980" y="2987763"/>
            <a:ext cx="33528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</a:t>
            </a:r>
          </a:p>
          <a:p>
            <a:pPr>
              <a:buNone/>
            </a:pPr>
            <a:r>
              <a:rPr lang="en-US" b="1" dirty="0"/>
              <a:t>Input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n = 5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k = 3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</a:rPr>
              <a:t> = [4, 2, 6, 1, 10]</a:t>
            </a:r>
          </a:p>
        </p:txBody>
      </p:sp>
    </p:spTree>
    <p:extLst>
      <p:ext uri="{BB962C8B-B14F-4D97-AF65-F5344CB8AC3E}">
        <p14:creationId xmlns:p14="http://schemas.microsoft.com/office/powerpoint/2010/main" val="1412093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6BB4274-E7DD-D77A-1895-7A86B08A9A21}"/>
              </a:ext>
            </a:extLst>
          </p:cNvPr>
          <p:cNvSpPr txBox="1"/>
          <p:nvPr/>
        </p:nvSpPr>
        <p:spPr>
          <a:xfrm>
            <a:off x="0" y="161721"/>
            <a:ext cx="3726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Page Construction Walkthrough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7EBF696-08C9-87E2-BD33-2480A342AD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487406"/>
              </p:ext>
            </p:extLst>
          </p:nvPr>
        </p:nvGraphicFramePr>
        <p:xfrm>
          <a:off x="130277" y="531053"/>
          <a:ext cx="1051560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05396595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599728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997326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534409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Chapter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Problems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Pages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Special Problem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7440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1–2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Problem 1 on page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1620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Problem 2 on page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1928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4–5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Problem 4 on page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6492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3143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7–10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Problem 7 on page 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754823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1BD8516-CAAE-991B-5613-AAB602D7834B}"/>
              </a:ext>
            </a:extLst>
          </p:cNvPr>
          <p:cNvSpPr txBox="1"/>
          <p:nvPr/>
        </p:nvSpPr>
        <p:spPr>
          <a:xfrm>
            <a:off x="10874478" y="982002"/>
            <a:ext cx="11872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Output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9AC02E-BEE7-BF48-E79F-1EA9D70AD0DD}"/>
              </a:ext>
            </a:extLst>
          </p:cNvPr>
          <p:cNvSpPr txBox="1"/>
          <p:nvPr/>
        </p:nvSpPr>
        <p:spPr>
          <a:xfrm>
            <a:off x="130276" y="2833496"/>
            <a:ext cx="781418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(Optimal Simulation)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Idea</a:t>
            </a:r>
          </a:p>
          <a:p>
            <a:pPr>
              <a:buNone/>
            </a:pPr>
            <a:r>
              <a:rPr lang="en-US" dirty="0"/>
              <a:t>Simulate page numbering and check if page number lies within problem range.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Initialize </a:t>
            </a:r>
            <a:r>
              <a:rPr lang="en-US" dirty="0">
                <a:latin typeface="Courier New" panose="02070309020205020404" pitchFamily="49" charset="0"/>
              </a:rPr>
              <a:t>page = 1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count = 0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each chapter: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 problems in range </a:t>
            </a:r>
            <a:r>
              <a:rPr lang="en-US" dirty="0">
                <a:latin typeface="Courier New" panose="02070309020205020404" pitchFamily="49" charset="0"/>
              </a:rPr>
              <a:t>[1..arr[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]]</a:t>
            </a:r>
            <a:r>
              <a:rPr lang="en-US" dirty="0"/>
              <a:t> in chunks of size </a:t>
            </a:r>
            <a:r>
              <a:rPr lang="en-US" dirty="0">
                <a:latin typeface="Courier New" panose="02070309020205020404" pitchFamily="49" charset="0"/>
              </a:rPr>
              <a:t>k</a:t>
            </a:r>
            <a:endParaRPr lang="en-US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If </a:t>
            </a:r>
            <a:r>
              <a:rPr lang="en-US" dirty="0">
                <a:latin typeface="Courier New" panose="02070309020205020404" pitchFamily="49" charset="0"/>
              </a:rPr>
              <a:t>page</a:t>
            </a:r>
            <a:r>
              <a:rPr lang="en-US" dirty="0"/>
              <a:t> lies within this chunk → increment count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Move to next page</a:t>
            </a:r>
          </a:p>
        </p:txBody>
      </p:sp>
    </p:spTree>
    <p:extLst>
      <p:ext uri="{BB962C8B-B14F-4D97-AF65-F5344CB8AC3E}">
        <p14:creationId xmlns:p14="http://schemas.microsoft.com/office/powerpoint/2010/main" val="19455427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A0C94D-7F4F-399B-DBB0-93AE9A1BA630}"/>
              </a:ext>
            </a:extLst>
          </p:cNvPr>
          <p:cNvSpPr txBox="1"/>
          <p:nvPr/>
        </p:nvSpPr>
        <p:spPr>
          <a:xfrm>
            <a:off x="98322" y="119792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Pseudocode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page = 1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special = 0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for each chapter problems: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start = 1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while start &lt;= problems: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end = min(start + k - 1, problems)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if page &gt;= start and page &lt;= end: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    special++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page++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start = end + 1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return special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EC8F5E-677D-06B7-1C34-AA277239F455}"/>
              </a:ext>
            </a:extLst>
          </p:cNvPr>
          <p:cNvSpPr txBox="1"/>
          <p:nvPr/>
        </p:nvSpPr>
        <p:spPr>
          <a:xfrm>
            <a:off x="98322" y="3885888"/>
            <a:ext cx="1445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Complexity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54A3750-7DA0-A940-DFA4-D5A7056CE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615947"/>
              </p:ext>
            </p:extLst>
          </p:nvPr>
        </p:nvGraphicFramePr>
        <p:xfrm>
          <a:off x="631723" y="4829170"/>
          <a:ext cx="10515600" cy="7315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29211391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940318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659362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5531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Lisa’s Workbook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O(total problems)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6906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6491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2DFDDF-6C24-62FF-0DED-B9473E506968}"/>
              </a:ext>
            </a:extLst>
          </p:cNvPr>
          <p:cNvSpPr txBox="1"/>
          <p:nvPr/>
        </p:nvSpPr>
        <p:spPr>
          <a:xfrm>
            <a:off x="344129" y="132674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Array DS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Problem in Simple Words</a:t>
            </a:r>
          </a:p>
          <a:p>
            <a:pPr>
              <a:buNone/>
            </a:pPr>
            <a:r>
              <a:rPr lang="en-US" dirty="0"/>
              <a:t>You are given an </a:t>
            </a:r>
            <a:r>
              <a:rPr lang="en-US" b="1" dirty="0"/>
              <a:t>array of integers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Your task is to </a:t>
            </a:r>
            <a:r>
              <a:rPr lang="en-US" b="1" dirty="0"/>
              <a:t>print the array in reverse order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You are </a:t>
            </a:r>
            <a:r>
              <a:rPr lang="en-US" b="1" dirty="0"/>
              <a:t>NOT rotating</a:t>
            </a:r>
            <a:r>
              <a:rPr lang="en-US" dirty="0"/>
              <a:t>, only </a:t>
            </a:r>
            <a:r>
              <a:rPr lang="en-US" b="1" dirty="0"/>
              <a:t>reversing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Example</a:t>
            </a:r>
          </a:p>
          <a:p>
            <a:pPr>
              <a:buNone/>
            </a:pPr>
            <a:r>
              <a:rPr lang="en-US" b="1" dirty="0"/>
              <a:t>Input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</a:rPr>
              <a:t> = [1, 4, 3, 2]</a:t>
            </a:r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2 3 4 1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What Does Reverse Mean?</a:t>
            </a:r>
          </a:p>
          <a:p>
            <a:pPr>
              <a:buNone/>
            </a:pPr>
            <a:r>
              <a:rPr lang="en-US" dirty="0"/>
              <a:t>Original: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[1, 4, 3, 2]</a:t>
            </a:r>
          </a:p>
          <a:p>
            <a:pPr>
              <a:buNone/>
            </a:pPr>
            <a:r>
              <a:rPr lang="en-US" dirty="0"/>
              <a:t>Reversed: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[2, 3, 4, 1]</a:t>
            </a:r>
          </a:p>
          <a:p>
            <a:pPr>
              <a:buNone/>
            </a:pPr>
            <a:r>
              <a:rPr lang="en-US" dirty="0"/>
              <a:t>First becomes last</a:t>
            </a:r>
            <a:br>
              <a:rPr lang="en-US" dirty="0"/>
            </a:br>
            <a:r>
              <a:rPr lang="en-US" dirty="0" err="1"/>
              <a:t>Last</a:t>
            </a:r>
            <a:r>
              <a:rPr lang="en-US" dirty="0"/>
              <a:t> becomes first</a:t>
            </a:r>
          </a:p>
        </p:txBody>
      </p:sp>
    </p:spTree>
    <p:extLst>
      <p:ext uri="{BB962C8B-B14F-4D97-AF65-F5344CB8AC3E}">
        <p14:creationId xmlns:p14="http://schemas.microsoft.com/office/powerpoint/2010/main" val="35098863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FD1366-8843-19DB-51A1-B489FC6BA79C}"/>
              </a:ext>
            </a:extLst>
          </p:cNvPr>
          <p:cNvSpPr txBox="1"/>
          <p:nvPr/>
        </p:nvSpPr>
        <p:spPr>
          <a:xfrm>
            <a:off x="294967" y="138609"/>
            <a:ext cx="53094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1: Brute Force (Using Extra Array)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Brute Force 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 a new array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Traverse the original array </a:t>
            </a:r>
            <a:r>
              <a:rPr lang="en-US" b="1" dirty="0"/>
              <a:t>from end to start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Insert elements into new array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Brute Force Logic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an empty array </a:t>
            </a:r>
            <a:r>
              <a:rPr lang="en-US" dirty="0">
                <a:latin typeface="Courier New" panose="02070309020205020404" pitchFamily="49" charset="0"/>
              </a:rPr>
              <a:t>rev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Loop from </a:t>
            </a:r>
            <a:r>
              <a:rPr lang="en-US" dirty="0">
                <a:latin typeface="Courier New" panose="02070309020205020404" pitchFamily="49" charset="0"/>
              </a:rPr>
              <a:t>n-1</a:t>
            </a:r>
            <a:r>
              <a:rPr lang="en-US" dirty="0"/>
              <a:t> down to </a:t>
            </a:r>
            <a:r>
              <a:rPr lang="en-US" dirty="0">
                <a:latin typeface="Courier New" panose="02070309020205020404" pitchFamily="49" charset="0"/>
              </a:rPr>
              <a:t>0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Push each element into </a:t>
            </a:r>
            <a:r>
              <a:rPr lang="en-US" dirty="0">
                <a:latin typeface="Courier New" panose="02070309020205020404" pitchFamily="49" charset="0"/>
              </a:rPr>
              <a:t>rev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Print or return </a:t>
            </a:r>
            <a:r>
              <a:rPr lang="en-US" dirty="0">
                <a:latin typeface="Courier New" panose="02070309020205020404" pitchFamily="49" charset="0"/>
              </a:rPr>
              <a:t>rev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B9CFC9-66F9-C663-467C-6BBCB5DD97DE}"/>
              </a:ext>
            </a:extLst>
          </p:cNvPr>
          <p:cNvSpPr txBox="1"/>
          <p:nvPr/>
        </p:nvSpPr>
        <p:spPr>
          <a:xfrm>
            <a:off x="294967" y="360242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Brute Force Walkthrough</a:t>
            </a:r>
          </a:p>
          <a:p>
            <a:pPr>
              <a:buNone/>
            </a:pPr>
            <a:r>
              <a:rPr lang="en-US" b="1" dirty="0" err="1"/>
              <a:t>arr</a:t>
            </a:r>
            <a:r>
              <a:rPr lang="en-US" b="1" dirty="0"/>
              <a:t> = </a:t>
            </a:r>
            <a:r>
              <a:rPr lang="en-US" b="1" dirty="0">
                <a:latin typeface="Courier New" panose="02070309020205020404" pitchFamily="49" charset="0"/>
              </a:rPr>
              <a:t>[1, 4, 3, 2]</a:t>
            </a:r>
            <a:endParaRPr lang="en-US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1044A90-7EDB-4E9D-C36A-1778260601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678193"/>
              </p:ext>
            </p:extLst>
          </p:nvPr>
        </p:nvGraphicFramePr>
        <p:xfrm>
          <a:off x="294967" y="4335588"/>
          <a:ext cx="1051560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8688992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285416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4552107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833782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 Added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New Array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3802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[2]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6355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[2, 3]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7818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[2, 3, 4]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056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[2, 3, 4, 1]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84167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28DF1F0-6A34-DAF5-3644-058563173041}"/>
              </a:ext>
            </a:extLst>
          </p:cNvPr>
          <p:cNvSpPr txBox="1"/>
          <p:nvPr/>
        </p:nvSpPr>
        <p:spPr>
          <a:xfrm>
            <a:off x="294967" y="6350059"/>
            <a:ext cx="33528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Output = </a:t>
            </a:r>
            <a:r>
              <a:rPr lang="en-US" b="1" dirty="0">
                <a:latin typeface="Courier New" panose="02070309020205020404" pitchFamily="49" charset="0"/>
              </a:rPr>
              <a:t>[2, 3, 4, 1]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054332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048A0F-391F-6F26-39BF-2A6B6ED1F56C}"/>
              </a:ext>
            </a:extLst>
          </p:cNvPr>
          <p:cNvSpPr txBox="1"/>
          <p:nvPr/>
        </p:nvSpPr>
        <p:spPr>
          <a:xfrm>
            <a:off x="78658" y="137652"/>
            <a:ext cx="117692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2: In-place Two Pointer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Idea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Swap first and last, move inward.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430EAF-30E7-9575-7DF1-67E70E5793A3}"/>
              </a:ext>
            </a:extLst>
          </p:cNvPr>
          <p:cNvSpPr txBox="1"/>
          <p:nvPr/>
        </p:nvSpPr>
        <p:spPr>
          <a:xfrm>
            <a:off x="157317" y="1909263"/>
            <a:ext cx="1126776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Pseudocode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left = 0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right = n-1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while left &lt; right: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swap(</a:t>
            </a:r>
            <a:r>
              <a:rPr lang="en-IN" dirty="0" err="1">
                <a:latin typeface="Courier New" panose="02070309020205020404" pitchFamily="49" charset="0"/>
              </a:rPr>
              <a:t>arr</a:t>
            </a:r>
            <a:r>
              <a:rPr lang="en-IN" dirty="0">
                <a:latin typeface="Courier New" panose="02070309020205020404" pitchFamily="49" charset="0"/>
              </a:rPr>
              <a:t>[left], </a:t>
            </a:r>
            <a:r>
              <a:rPr lang="en-IN" dirty="0" err="1">
                <a:latin typeface="Courier New" panose="02070309020205020404" pitchFamily="49" charset="0"/>
              </a:rPr>
              <a:t>arr</a:t>
            </a:r>
            <a:r>
              <a:rPr lang="en-IN" dirty="0">
                <a:latin typeface="Courier New" panose="02070309020205020404" pitchFamily="49" charset="0"/>
              </a:rPr>
              <a:t>[right])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left++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right--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return </a:t>
            </a:r>
            <a:r>
              <a:rPr lang="en-IN" dirty="0" err="1">
                <a:latin typeface="Courier New" panose="02070309020205020404" pitchFamily="49" charset="0"/>
              </a:rPr>
              <a:t>arr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Complexity</a:t>
            </a:r>
          </a:p>
          <a:p>
            <a:pPr>
              <a:buNone/>
            </a:pPr>
            <a:r>
              <a:rPr lang="en-IN" dirty="0"/>
              <a:t>| Time | O(n) |</a:t>
            </a:r>
            <a:br>
              <a:rPr lang="en-IN" dirty="0"/>
            </a:br>
            <a:r>
              <a:rPr lang="en-IN" dirty="0"/>
              <a:t>| Space | O(1)|</a:t>
            </a:r>
          </a:p>
        </p:txBody>
      </p:sp>
    </p:spTree>
    <p:extLst>
      <p:ext uri="{BB962C8B-B14F-4D97-AF65-F5344CB8AC3E}">
        <p14:creationId xmlns:p14="http://schemas.microsoft.com/office/powerpoint/2010/main" val="37834996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071C3F-AFDC-6C65-C1B3-101CECAB8B64}"/>
              </a:ext>
            </a:extLst>
          </p:cNvPr>
          <p:cNvSpPr txBox="1"/>
          <p:nvPr/>
        </p:nvSpPr>
        <p:spPr>
          <a:xfrm>
            <a:off x="265471" y="155224"/>
            <a:ext cx="1059917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3: Using STL (C++ Shortcut)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If allowed: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reverse(</a:t>
            </a:r>
            <a:r>
              <a:rPr lang="en-US" dirty="0" err="1">
                <a:latin typeface="Courier New" panose="02070309020205020404" pitchFamily="49" charset="0"/>
              </a:rPr>
              <a:t>arr.begin</a:t>
            </a:r>
            <a:r>
              <a:rPr lang="en-US" dirty="0">
                <a:latin typeface="Courier New" panose="02070309020205020404" pitchFamily="49" charset="0"/>
              </a:rPr>
              <a:t>(), </a:t>
            </a:r>
            <a:r>
              <a:rPr lang="en-US" dirty="0" err="1">
                <a:latin typeface="Courier New" panose="02070309020205020404" pitchFamily="49" charset="0"/>
              </a:rPr>
              <a:t>arr.end</a:t>
            </a:r>
            <a:r>
              <a:rPr lang="en-US" dirty="0">
                <a:latin typeface="Courier New" panose="02070309020205020404" pitchFamily="49" charset="0"/>
              </a:rPr>
              <a:t>());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/>
              <a:t>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Time → </a:t>
            </a:r>
            <a:r>
              <a:rPr lang="en-US" dirty="0">
                <a:latin typeface="Courier New" panose="02070309020205020404" pitchFamily="49" charset="0"/>
              </a:rPr>
              <a:t>O(n)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Space → </a:t>
            </a:r>
            <a:r>
              <a:rPr lang="en-US" dirty="0">
                <a:latin typeface="Courier New" panose="02070309020205020404" pitchFamily="49" charset="0"/>
              </a:rPr>
              <a:t>O(1)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2572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50CAA7-8F81-870E-53E0-621B98EB787F}"/>
              </a:ext>
            </a:extLst>
          </p:cNvPr>
          <p:cNvSpPr txBox="1"/>
          <p:nvPr/>
        </p:nvSpPr>
        <p:spPr>
          <a:xfrm>
            <a:off x="147483" y="200993"/>
            <a:ext cx="617465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Left Rotation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Problem in Simple Words</a:t>
            </a:r>
          </a:p>
          <a:p>
            <a:pPr>
              <a:buNone/>
            </a:pPr>
            <a:r>
              <a:rPr lang="en-US" dirty="0"/>
              <a:t>You are given: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array </a:t>
            </a:r>
            <a:r>
              <a:rPr lang="en-US" dirty="0" err="1">
                <a:latin typeface="Courier New" panose="02070309020205020404" pitchFamily="49" charset="0"/>
              </a:rPr>
              <a:t>arr</a:t>
            </a:r>
            <a:r>
              <a:rPr lang="en-US" dirty="0"/>
              <a:t> of size </a:t>
            </a:r>
            <a:r>
              <a:rPr lang="en-US" dirty="0">
                <a:latin typeface="Courier New" panose="02070309020205020404" pitchFamily="49" charset="0"/>
              </a:rPr>
              <a:t>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integer </a:t>
            </a:r>
            <a:r>
              <a:rPr lang="en-US" dirty="0">
                <a:latin typeface="Courier New" panose="02070309020205020404" pitchFamily="49" charset="0"/>
              </a:rPr>
              <a:t>d</a:t>
            </a:r>
            <a:r>
              <a:rPr lang="en-US" dirty="0"/>
              <a:t> (number of left rotations)</a:t>
            </a:r>
          </a:p>
          <a:p>
            <a:pPr>
              <a:buNone/>
            </a:pPr>
            <a:r>
              <a:rPr lang="en-US" b="1" dirty="0"/>
              <a:t>Left rotation</a:t>
            </a:r>
            <a:r>
              <a:rPr lang="en-US" dirty="0"/>
              <a:t> means: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Move each element </a:t>
            </a:r>
            <a:r>
              <a:rPr lang="en-US" b="1" dirty="0">
                <a:latin typeface="Courier New" panose="02070309020205020404" pitchFamily="49" charset="0"/>
              </a:rPr>
              <a:t>d</a:t>
            </a:r>
            <a:r>
              <a:rPr lang="en-US" b="1" dirty="0"/>
              <a:t> positions to the left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Elements shifted out from the front re-appear at the 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7D656F-CA2D-11DD-5BBE-B9AD1CA781EF}"/>
              </a:ext>
            </a:extLst>
          </p:cNvPr>
          <p:cNvSpPr txBox="1"/>
          <p:nvPr/>
        </p:nvSpPr>
        <p:spPr>
          <a:xfrm>
            <a:off x="6538452" y="200993"/>
            <a:ext cx="550606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Input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</a:rPr>
              <a:t> = [1, 2, 3, 4, 5]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d = 2</a:t>
            </a:r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[3, 4, 5, 1, 2]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What Exactly Happens?</a:t>
            </a:r>
          </a:p>
          <a:p>
            <a:pPr>
              <a:buNone/>
            </a:pPr>
            <a:r>
              <a:rPr lang="en-US" dirty="0"/>
              <a:t>Original: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[1, 2, 3, 4, 5]</a:t>
            </a:r>
          </a:p>
          <a:p>
            <a:pPr>
              <a:buNone/>
            </a:pPr>
            <a:r>
              <a:rPr lang="en-US" dirty="0"/>
              <a:t>After 1 left rotation: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[2, 3, 4, 5, 1]</a:t>
            </a:r>
          </a:p>
          <a:p>
            <a:pPr>
              <a:buNone/>
            </a:pPr>
            <a:r>
              <a:rPr lang="en-US" dirty="0"/>
              <a:t>After 2 left rotations: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[3, 4, 5, 1, 2]</a:t>
            </a:r>
          </a:p>
        </p:txBody>
      </p:sp>
    </p:spTree>
    <p:extLst>
      <p:ext uri="{BB962C8B-B14F-4D97-AF65-F5344CB8AC3E}">
        <p14:creationId xmlns:p14="http://schemas.microsoft.com/office/powerpoint/2010/main" val="39324494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2BA5FA-4A8A-2F1F-0B05-D86E1FF830A9}"/>
              </a:ext>
            </a:extLst>
          </p:cNvPr>
          <p:cNvSpPr txBox="1"/>
          <p:nvPr/>
        </p:nvSpPr>
        <p:spPr>
          <a:xfrm>
            <a:off x="186813" y="139457"/>
            <a:ext cx="516193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1: Brute Force (Rotate One by One)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Brute Force 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 </a:t>
            </a:r>
            <a:r>
              <a:rPr lang="en-US" b="1" dirty="0"/>
              <a:t>one left rotation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Repeat it </a:t>
            </a:r>
            <a:r>
              <a:rPr lang="en-US" b="1" dirty="0">
                <a:latin typeface="Courier New" panose="02070309020205020404" pitchFamily="49" charset="0"/>
              </a:rPr>
              <a:t>d</a:t>
            </a:r>
            <a:r>
              <a:rPr lang="en-US" b="1" dirty="0"/>
              <a:t> times</a:t>
            </a:r>
            <a:endParaRPr lang="en-US" dirty="0"/>
          </a:p>
          <a:p>
            <a:pPr>
              <a:buNone/>
            </a:pPr>
            <a:br>
              <a:rPr lang="en-US" dirty="0"/>
            </a:br>
            <a:r>
              <a:rPr lang="en-US" b="1" dirty="0"/>
              <a:t>Brute Force Logic</a:t>
            </a:r>
          </a:p>
          <a:p>
            <a:pPr>
              <a:buFont typeface="+mj-lt"/>
              <a:buAutoNum type="arabicPeriod"/>
            </a:pPr>
            <a:r>
              <a:rPr lang="en-US" dirty="0"/>
              <a:t>Repeat </a:t>
            </a:r>
            <a:r>
              <a:rPr lang="en-US" dirty="0">
                <a:latin typeface="Courier New" panose="02070309020205020404" pitchFamily="49" charset="0"/>
              </a:rPr>
              <a:t>d</a:t>
            </a:r>
            <a:r>
              <a:rPr lang="en-US" dirty="0"/>
              <a:t> times:</a:t>
            </a:r>
          </a:p>
          <a:p>
            <a:pPr>
              <a:buFont typeface="+mj-lt"/>
              <a:buAutoNum type="arabicPeriod"/>
            </a:pPr>
            <a:r>
              <a:rPr lang="en-US" dirty="0"/>
              <a:t>Store first element</a:t>
            </a:r>
          </a:p>
          <a:p>
            <a:pPr>
              <a:buFont typeface="+mj-lt"/>
              <a:buAutoNum type="arabicPeriod"/>
            </a:pPr>
            <a:r>
              <a:rPr lang="en-US" dirty="0"/>
              <a:t>Shift all elements one position left</a:t>
            </a:r>
          </a:p>
          <a:p>
            <a:pPr>
              <a:buFont typeface="+mj-lt"/>
              <a:buAutoNum type="arabicPeriod"/>
            </a:pPr>
            <a:r>
              <a:rPr lang="en-US" dirty="0"/>
              <a:t>Put stored element at the 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28B242-7B87-F8E4-55BF-68A93F041948}"/>
              </a:ext>
            </a:extLst>
          </p:cNvPr>
          <p:cNvSpPr txBox="1"/>
          <p:nvPr/>
        </p:nvSpPr>
        <p:spPr>
          <a:xfrm>
            <a:off x="6607277" y="139457"/>
            <a:ext cx="499478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Brute Force Walkthrough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 err="1"/>
              <a:t>arr</a:t>
            </a:r>
            <a:r>
              <a:rPr lang="en-US" b="1" dirty="0"/>
              <a:t> = </a:t>
            </a:r>
            <a:r>
              <a:rPr lang="en-US" b="1" dirty="0">
                <a:latin typeface="Courier New" panose="02070309020205020404" pitchFamily="49" charset="0"/>
              </a:rPr>
              <a:t>[1,2,3,4,5]</a:t>
            </a:r>
            <a:r>
              <a:rPr lang="en-US" b="1" dirty="0"/>
              <a:t>, d = 2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Rotation 1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temp = 1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[2,3,4,5,_]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[2,3,4,5,1]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Rotation 2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temp = 2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[3,4,5,1,_]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[3,4,5,1,2]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E3D685-FF7D-318F-0F1E-EADC52274247}"/>
              </a:ext>
            </a:extLst>
          </p:cNvPr>
          <p:cNvSpPr txBox="1"/>
          <p:nvPr/>
        </p:nvSpPr>
        <p:spPr>
          <a:xfrm>
            <a:off x="6607277" y="4088415"/>
            <a:ext cx="53290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Brute Force Pseudocode (C++-Style)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for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= 1 to d: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temp = </a:t>
            </a:r>
            <a:r>
              <a:rPr lang="en-IN" dirty="0" err="1">
                <a:latin typeface="Courier New" panose="02070309020205020404" pitchFamily="49" charset="0"/>
              </a:rPr>
              <a:t>arr</a:t>
            </a:r>
            <a:r>
              <a:rPr lang="en-IN" dirty="0">
                <a:latin typeface="Courier New" panose="02070309020205020404" pitchFamily="49" charset="0"/>
              </a:rPr>
              <a:t>[0]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for j = 0 to n-2: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</a:t>
            </a:r>
            <a:r>
              <a:rPr lang="en-IN" dirty="0" err="1">
                <a:latin typeface="Courier New" panose="02070309020205020404" pitchFamily="49" charset="0"/>
              </a:rPr>
              <a:t>arr</a:t>
            </a:r>
            <a:r>
              <a:rPr lang="en-IN" dirty="0">
                <a:latin typeface="Courier New" panose="02070309020205020404" pitchFamily="49" charset="0"/>
              </a:rPr>
              <a:t>[j] = </a:t>
            </a:r>
            <a:r>
              <a:rPr lang="en-IN" dirty="0" err="1">
                <a:latin typeface="Courier New" panose="02070309020205020404" pitchFamily="49" charset="0"/>
              </a:rPr>
              <a:t>arr</a:t>
            </a:r>
            <a:r>
              <a:rPr lang="en-IN" dirty="0">
                <a:latin typeface="Courier New" panose="02070309020205020404" pitchFamily="49" charset="0"/>
              </a:rPr>
              <a:t>[j+1]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</a:t>
            </a:r>
            <a:r>
              <a:rPr lang="en-IN" dirty="0" err="1">
                <a:latin typeface="Courier New" panose="02070309020205020404" pitchFamily="49" charset="0"/>
              </a:rPr>
              <a:t>arr</a:t>
            </a:r>
            <a:r>
              <a:rPr lang="en-IN" dirty="0">
                <a:latin typeface="Courier New" panose="02070309020205020404" pitchFamily="49" charset="0"/>
              </a:rPr>
              <a:t>[n-1] = temp</a:t>
            </a:r>
          </a:p>
        </p:txBody>
      </p:sp>
    </p:spTree>
    <p:extLst>
      <p:ext uri="{BB962C8B-B14F-4D97-AF65-F5344CB8AC3E}">
        <p14:creationId xmlns:p14="http://schemas.microsoft.com/office/powerpoint/2010/main" val="41136539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1CF8FF-63D5-80E1-65A7-B0991581835B}"/>
              </a:ext>
            </a:extLst>
          </p:cNvPr>
          <p:cNvSpPr txBox="1"/>
          <p:nvPr/>
        </p:nvSpPr>
        <p:spPr>
          <a:xfrm>
            <a:off x="304800" y="110302"/>
            <a:ext cx="2979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Brute Force Complexity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0FC5E4-79FB-BDA2-DDC8-5A5E1EFC9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680558"/>
              </p:ext>
            </p:extLst>
          </p:nvPr>
        </p:nvGraphicFramePr>
        <p:xfrm>
          <a:off x="838200" y="709447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5153290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874541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9521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 × 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8614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746006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1967C45-F1DD-44E0-27BD-A95ABA60D91A}"/>
              </a:ext>
            </a:extLst>
          </p:cNvPr>
          <p:cNvSpPr txBox="1"/>
          <p:nvPr/>
        </p:nvSpPr>
        <p:spPr>
          <a:xfrm>
            <a:off x="304800" y="2135405"/>
            <a:ext cx="484730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APPROACH 2: Better (Using Extra Array)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Copy elements starting from index </a:t>
            </a:r>
            <a:r>
              <a:rPr lang="en-IN" dirty="0">
                <a:latin typeface="Courier New" panose="02070309020205020404" pitchFamily="49" charset="0"/>
              </a:rPr>
              <a:t>d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Then copy first </a:t>
            </a:r>
            <a:r>
              <a:rPr lang="en-IN" dirty="0">
                <a:latin typeface="Courier New" panose="02070309020205020404" pitchFamily="49" charset="0"/>
              </a:rPr>
              <a:t>d</a:t>
            </a:r>
            <a:r>
              <a:rPr lang="en-IN" dirty="0"/>
              <a:t> elements at the end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Logic</a:t>
            </a:r>
          </a:p>
          <a:p>
            <a:pPr>
              <a:buFont typeface="+mj-lt"/>
              <a:buAutoNum type="arabicPeriod"/>
            </a:pPr>
            <a:r>
              <a:rPr lang="en-IN" dirty="0"/>
              <a:t>Create a new array </a:t>
            </a:r>
            <a:r>
              <a:rPr lang="en-IN" dirty="0">
                <a:latin typeface="Courier New" panose="02070309020205020404" pitchFamily="49" charset="0"/>
              </a:rPr>
              <a:t>temp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Copy </a:t>
            </a:r>
            <a:r>
              <a:rPr lang="en-IN" dirty="0" err="1">
                <a:latin typeface="Courier New" panose="02070309020205020404" pitchFamily="49" charset="0"/>
              </a:rPr>
              <a:t>arr</a:t>
            </a:r>
            <a:r>
              <a:rPr lang="en-IN" dirty="0">
                <a:latin typeface="Courier New" panose="02070309020205020404" pitchFamily="49" charset="0"/>
              </a:rPr>
              <a:t>[d…n-1]</a:t>
            </a:r>
            <a:r>
              <a:rPr lang="en-IN" dirty="0"/>
              <a:t> into </a:t>
            </a:r>
            <a:r>
              <a:rPr lang="en-IN" dirty="0">
                <a:latin typeface="Courier New" panose="02070309020205020404" pitchFamily="49" charset="0"/>
              </a:rPr>
              <a:t>temp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Copy </a:t>
            </a:r>
            <a:r>
              <a:rPr lang="en-IN" dirty="0" err="1">
                <a:latin typeface="Courier New" panose="02070309020205020404" pitchFamily="49" charset="0"/>
              </a:rPr>
              <a:t>arr</a:t>
            </a:r>
            <a:r>
              <a:rPr lang="en-IN" dirty="0">
                <a:latin typeface="Courier New" panose="02070309020205020404" pitchFamily="49" charset="0"/>
              </a:rPr>
              <a:t>[0…d-1]</a:t>
            </a:r>
            <a:r>
              <a:rPr lang="en-IN" dirty="0"/>
              <a:t> into </a:t>
            </a:r>
            <a:r>
              <a:rPr lang="en-IN" dirty="0">
                <a:latin typeface="Courier New" panose="02070309020205020404" pitchFamily="49" charset="0"/>
              </a:rPr>
              <a:t>temp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Copy </a:t>
            </a:r>
            <a:r>
              <a:rPr lang="en-IN" dirty="0">
                <a:latin typeface="Courier New" panose="02070309020205020404" pitchFamily="49" charset="0"/>
              </a:rPr>
              <a:t>temp</a:t>
            </a:r>
            <a:r>
              <a:rPr lang="en-IN" dirty="0"/>
              <a:t> back to </a:t>
            </a:r>
            <a:r>
              <a:rPr lang="en-IN" dirty="0" err="1">
                <a:latin typeface="Courier New" panose="02070309020205020404" pitchFamily="49" charset="0"/>
              </a:rPr>
              <a:t>arr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90532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E4AE9EB-DDF6-4DA6-638D-6E506A462767}"/>
              </a:ext>
            </a:extLst>
          </p:cNvPr>
          <p:cNvSpPr txBox="1"/>
          <p:nvPr/>
        </p:nvSpPr>
        <p:spPr>
          <a:xfrm>
            <a:off x="186813" y="11700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Walkthrough</a:t>
            </a:r>
          </a:p>
          <a:p>
            <a:pPr>
              <a:buNone/>
            </a:pPr>
            <a:r>
              <a:rPr lang="en-US" b="1" dirty="0" err="1"/>
              <a:t>arr</a:t>
            </a:r>
            <a:r>
              <a:rPr lang="en-US" b="1" dirty="0"/>
              <a:t> = </a:t>
            </a:r>
            <a:r>
              <a:rPr lang="en-US" b="1" dirty="0">
                <a:latin typeface="Courier New" panose="02070309020205020404" pitchFamily="49" charset="0"/>
              </a:rPr>
              <a:t>[1,2,3,4,5]</a:t>
            </a:r>
            <a:r>
              <a:rPr lang="en-US" b="1" dirty="0"/>
              <a:t>, d = 2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C1EA3E7-86BE-4C13-E240-7A7E40F144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330008"/>
              </p:ext>
            </p:extLst>
          </p:nvPr>
        </p:nvGraphicFramePr>
        <p:xfrm>
          <a:off x="186813" y="876602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30289013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488299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temp array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0698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Copy from index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[3,4,5]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0812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Append first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[3,4,5,1,2]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358908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5931056-3FE5-EC49-A8D1-B5F957DE2AB9}"/>
              </a:ext>
            </a:extLst>
          </p:cNvPr>
          <p:cNvSpPr txBox="1"/>
          <p:nvPr/>
        </p:nvSpPr>
        <p:spPr>
          <a:xfrm>
            <a:off x="186813" y="2264072"/>
            <a:ext cx="507344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Pseudocode (C++-Style)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d = d % n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temp = new array of size n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index = 0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for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= d to n-1: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temp[index++] = </a:t>
            </a:r>
            <a:r>
              <a:rPr lang="en-IN" dirty="0" err="1">
                <a:latin typeface="Courier New" panose="02070309020205020404" pitchFamily="49" charset="0"/>
              </a:rPr>
              <a:t>arr</a:t>
            </a:r>
            <a:r>
              <a:rPr lang="en-IN" dirty="0">
                <a:latin typeface="Courier New" panose="02070309020205020404" pitchFamily="49" charset="0"/>
              </a:rPr>
              <a:t>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for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= 0 to d-1: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temp[index++] = </a:t>
            </a:r>
            <a:r>
              <a:rPr lang="en-IN" dirty="0" err="1">
                <a:latin typeface="Courier New" panose="02070309020205020404" pitchFamily="49" charset="0"/>
              </a:rPr>
              <a:t>arr</a:t>
            </a:r>
            <a:r>
              <a:rPr lang="en-IN" dirty="0">
                <a:latin typeface="Courier New" panose="02070309020205020404" pitchFamily="49" charset="0"/>
              </a:rPr>
              <a:t>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copy temp to </a:t>
            </a:r>
            <a:r>
              <a:rPr lang="en-IN" dirty="0" err="1">
                <a:latin typeface="Courier New" panose="02070309020205020404" pitchFamily="49" charset="0"/>
              </a:rPr>
              <a:t>arr</a:t>
            </a:r>
            <a:endParaRPr lang="en-IN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049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272A3C-94F1-0E7D-2440-06F9B5890913}"/>
              </a:ext>
            </a:extLst>
          </p:cNvPr>
          <p:cNvSpPr txBox="1"/>
          <p:nvPr/>
        </p:nvSpPr>
        <p:spPr>
          <a:xfrm>
            <a:off x="285135" y="149631"/>
            <a:ext cx="2202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Complexity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399159-687E-9E15-EFCE-FC9256E7D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732023"/>
              </p:ext>
            </p:extLst>
          </p:nvPr>
        </p:nvGraphicFramePr>
        <p:xfrm>
          <a:off x="523568" y="670125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60168607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135026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6815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9623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53365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8EF83CC-8FAE-A948-46C2-24E18DDFFDE9}"/>
              </a:ext>
            </a:extLst>
          </p:cNvPr>
          <p:cNvSpPr txBox="1"/>
          <p:nvPr/>
        </p:nvSpPr>
        <p:spPr>
          <a:xfrm>
            <a:off x="285135" y="1940558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APPROACH 3: Optimal (Reversal Algorithm)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Key Insight</a:t>
            </a:r>
          </a:p>
          <a:p>
            <a:pPr>
              <a:buNone/>
            </a:pPr>
            <a:r>
              <a:rPr lang="en-IN" dirty="0"/>
              <a:t>Rotation can be done using </a:t>
            </a:r>
            <a:r>
              <a:rPr lang="en-IN" b="1" dirty="0"/>
              <a:t>three reversals</a:t>
            </a:r>
            <a:r>
              <a:rPr lang="en-IN" dirty="0"/>
              <a:t>.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Optimal Logic</a:t>
            </a:r>
          </a:p>
          <a:p>
            <a:pPr>
              <a:buFont typeface="+mj-lt"/>
              <a:buAutoNum type="arabicPeriod"/>
            </a:pPr>
            <a:r>
              <a:rPr lang="en-IN" dirty="0"/>
              <a:t>Reverse first </a:t>
            </a:r>
            <a:r>
              <a:rPr lang="en-IN" dirty="0">
                <a:latin typeface="Courier New" panose="02070309020205020404" pitchFamily="49" charset="0"/>
              </a:rPr>
              <a:t>d</a:t>
            </a:r>
            <a:r>
              <a:rPr lang="en-IN" dirty="0"/>
              <a:t> elements</a:t>
            </a:r>
          </a:p>
          <a:p>
            <a:pPr>
              <a:buFont typeface="+mj-lt"/>
              <a:buAutoNum type="arabicPeriod"/>
            </a:pPr>
            <a:r>
              <a:rPr lang="en-IN" dirty="0"/>
              <a:t>Reverse remaining </a:t>
            </a:r>
            <a:r>
              <a:rPr lang="en-IN" dirty="0">
                <a:latin typeface="Courier New" panose="02070309020205020404" pitchFamily="49" charset="0"/>
              </a:rPr>
              <a:t>n-d</a:t>
            </a:r>
            <a:r>
              <a:rPr lang="en-IN" dirty="0"/>
              <a:t> elements</a:t>
            </a:r>
          </a:p>
          <a:p>
            <a:pPr>
              <a:buFont typeface="+mj-lt"/>
              <a:buAutoNum type="arabicPeriod"/>
            </a:pPr>
            <a:r>
              <a:rPr lang="en-IN" dirty="0"/>
              <a:t>Reverse the entire array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Optimal Walkthrough</a:t>
            </a:r>
          </a:p>
          <a:p>
            <a:pPr>
              <a:buNone/>
            </a:pPr>
            <a:r>
              <a:rPr lang="en-IN" b="1" dirty="0" err="1"/>
              <a:t>arr</a:t>
            </a:r>
            <a:r>
              <a:rPr lang="en-IN" b="1" dirty="0"/>
              <a:t> = </a:t>
            </a:r>
            <a:r>
              <a:rPr lang="en-IN" b="1" dirty="0">
                <a:latin typeface="Courier New" panose="02070309020205020404" pitchFamily="49" charset="0"/>
              </a:rPr>
              <a:t>[1,2,3,4,5]</a:t>
            </a:r>
            <a:r>
              <a:rPr lang="en-IN" b="1" dirty="0"/>
              <a:t>, d = 2</a:t>
            </a:r>
          </a:p>
        </p:txBody>
      </p:sp>
    </p:spTree>
    <p:extLst>
      <p:ext uri="{BB962C8B-B14F-4D97-AF65-F5344CB8AC3E}">
        <p14:creationId xmlns:p14="http://schemas.microsoft.com/office/powerpoint/2010/main" val="7024620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F8ADFB5-1036-647A-6446-680B513294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125481"/>
              </p:ext>
            </p:extLst>
          </p:nvPr>
        </p:nvGraphicFramePr>
        <p:xfrm>
          <a:off x="651387" y="231607"/>
          <a:ext cx="1051560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07262128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008527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Array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3115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Reverse first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[2,1,3,4,5]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030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Reverse last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[2,1,5,4,3]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3458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Reverse whole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[3,4,5,1,2]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640740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9E6A314-7768-6692-9F1E-D7BBA8ECCC60}"/>
              </a:ext>
            </a:extLst>
          </p:cNvPr>
          <p:cNvSpPr txBox="1"/>
          <p:nvPr/>
        </p:nvSpPr>
        <p:spPr>
          <a:xfrm>
            <a:off x="560439" y="1934863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Optimal Pseudocode (C++-Style)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d = d % n</a:t>
            </a:r>
          </a:p>
          <a:p>
            <a:pPr rtl="0">
              <a:buNone/>
            </a:pPr>
            <a:endParaRPr lang="pt-BR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reverse(arr, 0, d-1)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reverse(arr, d, n-1)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reverse(arr, 0, n-1)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EA1B1D-3375-956B-DA99-03C27DE00665}"/>
              </a:ext>
            </a:extLst>
          </p:cNvPr>
          <p:cNvSpPr txBox="1"/>
          <p:nvPr/>
        </p:nvSpPr>
        <p:spPr>
          <a:xfrm>
            <a:off x="560439" y="3846560"/>
            <a:ext cx="2812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Optimal Complexity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74A83F7-A092-8B6A-5B94-38D81B1BE8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94862"/>
              </p:ext>
            </p:extLst>
          </p:nvPr>
        </p:nvGraphicFramePr>
        <p:xfrm>
          <a:off x="651387" y="4455544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14772746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389436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3283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623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4053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94641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E9371B-7553-748C-4DAC-0BA107EA3997}"/>
              </a:ext>
            </a:extLst>
          </p:cNvPr>
          <p:cNvSpPr txBox="1"/>
          <p:nvPr/>
        </p:nvSpPr>
        <p:spPr>
          <a:xfrm>
            <a:off x="78658" y="157317"/>
            <a:ext cx="5555226" cy="4365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Balanced Brackets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Problem in Simple Words</a:t>
            </a:r>
          </a:p>
          <a:p>
            <a:pPr>
              <a:buNone/>
            </a:pPr>
            <a:r>
              <a:rPr lang="en-US" dirty="0"/>
              <a:t>You are given a string containing: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( )  { }  [ ]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Check if the brackets are </a:t>
            </a:r>
            <a:r>
              <a:rPr lang="en-US" b="1" dirty="0"/>
              <a:t>balanced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Every opening bracket has a matching closing bracket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Order must be correct 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Example</a:t>
            </a:r>
          </a:p>
          <a:p>
            <a:pPr>
              <a:buNone/>
            </a:pPr>
            <a:r>
              <a:rPr lang="en-US" b="1" dirty="0"/>
              <a:t>Valid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{[()]} → true</a:t>
            </a:r>
          </a:p>
          <a:p>
            <a:pPr>
              <a:buNone/>
            </a:pPr>
            <a:r>
              <a:rPr lang="en-US" b="1" dirty="0"/>
              <a:t>Invalid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{[(])} → false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2A3832-7B57-1DD7-D49A-0C2DBE20973D}"/>
              </a:ext>
            </a:extLst>
          </p:cNvPr>
          <p:cNvSpPr txBox="1"/>
          <p:nvPr/>
        </p:nvSpPr>
        <p:spPr>
          <a:xfrm>
            <a:off x="5869857" y="235975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Approach 1: Brute Force (Repeated Replacement) 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Idea</a:t>
            </a:r>
          </a:p>
          <a:p>
            <a:pPr>
              <a:buNone/>
            </a:pPr>
            <a:r>
              <a:rPr lang="en-IN" dirty="0"/>
              <a:t>Remove valid pairs repeatedly: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()  {}  []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Pseudocode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while string contains "()" or "{}" or "[]":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remove them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if string is empty: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return true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else: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return false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Time → O(n²)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Space → O(n)</a:t>
            </a:r>
          </a:p>
        </p:txBody>
      </p:sp>
    </p:spTree>
    <p:extLst>
      <p:ext uri="{BB962C8B-B14F-4D97-AF65-F5344CB8AC3E}">
        <p14:creationId xmlns:p14="http://schemas.microsoft.com/office/powerpoint/2010/main" val="29194022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2B6063-3713-31C9-0D7C-69535EFBD94C}"/>
              </a:ext>
            </a:extLst>
          </p:cNvPr>
          <p:cNvSpPr txBox="1"/>
          <p:nvPr/>
        </p:nvSpPr>
        <p:spPr>
          <a:xfrm>
            <a:off x="0" y="98323"/>
            <a:ext cx="12034683" cy="6759677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en-IN" dirty="0"/>
              <a:t>bool </a:t>
            </a:r>
            <a:r>
              <a:rPr lang="en-IN" dirty="0" err="1"/>
              <a:t>isBalanced</a:t>
            </a:r>
            <a:r>
              <a:rPr lang="en-IN" dirty="0"/>
              <a:t>(string str) {</a:t>
            </a:r>
            <a:br>
              <a:rPr lang="en-IN" dirty="0"/>
            </a:br>
            <a:r>
              <a:rPr lang="en-IN" dirty="0"/>
              <a:t>// Keep removing valid pairs</a:t>
            </a:r>
            <a:br>
              <a:rPr lang="en-IN" dirty="0"/>
            </a:br>
            <a:r>
              <a:rPr lang="en-IN" dirty="0"/>
              <a:t>while (true) {</a:t>
            </a:r>
            <a:br>
              <a:rPr lang="en-IN" dirty="0"/>
            </a:br>
            <a:r>
              <a:rPr lang="en-IN" dirty="0"/>
              <a:t>int </a:t>
            </a:r>
            <a:r>
              <a:rPr lang="en-IN" dirty="0" err="1"/>
              <a:t>originalLength</a:t>
            </a:r>
            <a:r>
              <a:rPr lang="en-IN" dirty="0"/>
              <a:t> = </a:t>
            </a:r>
            <a:r>
              <a:rPr lang="en-IN" dirty="0" err="1"/>
              <a:t>str.length</a:t>
            </a:r>
            <a:r>
              <a:rPr lang="en-IN" dirty="0"/>
              <a:t>();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// Remove all possible pairs</a:t>
            </a:r>
            <a:br>
              <a:rPr lang="en-IN" dirty="0"/>
            </a:br>
            <a:r>
              <a:rPr lang="en-IN" dirty="0" err="1"/>
              <a:t>size_t</a:t>
            </a:r>
            <a:r>
              <a:rPr lang="en-IN" dirty="0"/>
              <a:t> </a:t>
            </a:r>
            <a:r>
              <a:rPr lang="en-IN" dirty="0" err="1"/>
              <a:t>pos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while ((</a:t>
            </a:r>
            <a:r>
              <a:rPr lang="en-IN" dirty="0" err="1"/>
              <a:t>pos</a:t>
            </a:r>
            <a:r>
              <a:rPr lang="en-IN" dirty="0"/>
              <a:t> = </a:t>
            </a:r>
            <a:r>
              <a:rPr lang="en-IN" dirty="0" err="1"/>
              <a:t>str.find</a:t>
            </a:r>
            <a:r>
              <a:rPr lang="en-IN" dirty="0"/>
              <a:t>("()")) != string::</a:t>
            </a:r>
            <a:r>
              <a:rPr lang="en-IN" dirty="0" err="1"/>
              <a:t>npos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 err="1"/>
              <a:t>str.erase</a:t>
            </a:r>
            <a:r>
              <a:rPr lang="en-IN" dirty="0"/>
              <a:t>(</a:t>
            </a:r>
            <a:r>
              <a:rPr lang="en-IN" dirty="0" err="1"/>
              <a:t>pos</a:t>
            </a:r>
            <a:r>
              <a:rPr lang="en-IN" dirty="0"/>
              <a:t>, 2);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while ((</a:t>
            </a:r>
            <a:r>
              <a:rPr lang="en-IN" dirty="0" err="1"/>
              <a:t>pos</a:t>
            </a:r>
            <a:r>
              <a:rPr lang="en-IN" dirty="0"/>
              <a:t> = </a:t>
            </a:r>
            <a:r>
              <a:rPr lang="en-IN" dirty="0" err="1"/>
              <a:t>str.find</a:t>
            </a:r>
            <a:r>
              <a:rPr lang="en-IN" dirty="0"/>
              <a:t>("{}")) != string::</a:t>
            </a:r>
            <a:r>
              <a:rPr lang="en-IN" dirty="0" err="1"/>
              <a:t>npos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 err="1"/>
              <a:t>str.erase</a:t>
            </a:r>
            <a:r>
              <a:rPr lang="en-IN" dirty="0"/>
              <a:t>(</a:t>
            </a:r>
            <a:r>
              <a:rPr lang="en-IN" dirty="0" err="1"/>
              <a:t>pos</a:t>
            </a:r>
            <a:r>
              <a:rPr lang="en-IN" dirty="0"/>
              <a:t>, 2);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while ((</a:t>
            </a:r>
            <a:r>
              <a:rPr lang="en-IN" dirty="0" err="1"/>
              <a:t>pos</a:t>
            </a:r>
            <a:r>
              <a:rPr lang="en-IN" dirty="0"/>
              <a:t> = </a:t>
            </a:r>
            <a:r>
              <a:rPr lang="en-IN" dirty="0" err="1"/>
              <a:t>str.find</a:t>
            </a:r>
            <a:r>
              <a:rPr lang="en-IN" dirty="0"/>
              <a:t>("[]")) != string::</a:t>
            </a:r>
            <a:r>
              <a:rPr lang="en-IN" dirty="0" err="1"/>
              <a:t>npos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 err="1"/>
              <a:t>str.erase</a:t>
            </a:r>
            <a:r>
              <a:rPr lang="en-IN" dirty="0"/>
              <a:t>(</a:t>
            </a:r>
            <a:r>
              <a:rPr lang="en-IN" dirty="0" err="1"/>
              <a:t>pos</a:t>
            </a:r>
            <a:r>
              <a:rPr lang="en-IN" dirty="0"/>
              <a:t>, 2);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// If no change happened, break</a:t>
            </a:r>
            <a:br>
              <a:rPr lang="en-IN" dirty="0"/>
            </a:br>
            <a:r>
              <a:rPr lang="en-IN" dirty="0"/>
              <a:t>if (</a:t>
            </a:r>
            <a:r>
              <a:rPr lang="en-IN" dirty="0" err="1"/>
              <a:t>str.length</a:t>
            </a:r>
            <a:r>
              <a:rPr lang="en-IN" dirty="0"/>
              <a:t>() == </a:t>
            </a:r>
            <a:r>
              <a:rPr lang="en-IN" dirty="0" err="1"/>
              <a:t>originalLength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break;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// If empty → balanced</a:t>
            </a:r>
            <a:br>
              <a:rPr lang="en-IN" dirty="0"/>
            </a:br>
            <a:r>
              <a:rPr lang="en-IN" dirty="0"/>
              <a:t>return </a:t>
            </a:r>
            <a:r>
              <a:rPr lang="en-IN" dirty="0" err="1"/>
              <a:t>str.empty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18012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076167-B58E-5A64-606F-CFB2B627DAB4}"/>
              </a:ext>
            </a:extLst>
          </p:cNvPr>
          <p:cNvSpPr txBox="1"/>
          <p:nvPr/>
        </p:nvSpPr>
        <p:spPr>
          <a:xfrm>
            <a:off x="226142" y="206477"/>
            <a:ext cx="447367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2: Stack (Optimal) 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Key 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Opening brackets → push to stack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Closing brackets → check top 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Logic 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stack </a:t>
            </a:r>
          </a:p>
          <a:p>
            <a:pPr>
              <a:buFont typeface="+mj-lt"/>
              <a:buAutoNum type="arabicPeriod"/>
            </a:pPr>
            <a:r>
              <a:rPr lang="en-US" dirty="0"/>
              <a:t>Traverse string </a:t>
            </a:r>
          </a:p>
          <a:p>
            <a:pPr>
              <a:buFont typeface="+mj-lt"/>
              <a:buAutoNum type="arabicPeriod"/>
            </a:pPr>
            <a:r>
              <a:rPr lang="en-US" dirty="0"/>
              <a:t>If opening → push </a:t>
            </a:r>
          </a:p>
          <a:p>
            <a:pPr>
              <a:buFont typeface="+mj-lt"/>
              <a:buAutoNum type="arabicPeriod"/>
            </a:pPr>
            <a:r>
              <a:rPr lang="en-US" dirty="0"/>
              <a:t>If closing: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Check top of stack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If mismatch → false </a:t>
            </a:r>
          </a:p>
          <a:p>
            <a:pPr>
              <a:buFont typeface="+mj-lt"/>
              <a:buAutoNum type="arabicPeriod"/>
            </a:pPr>
            <a:r>
              <a:rPr lang="en-US" dirty="0"/>
              <a:t>At end: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If stack empty → true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5B07A0-4874-AF2F-D103-6225AB5E2375}"/>
              </a:ext>
            </a:extLst>
          </p:cNvPr>
          <p:cNvSpPr txBox="1"/>
          <p:nvPr/>
        </p:nvSpPr>
        <p:spPr>
          <a:xfrm>
            <a:off x="68826" y="4887083"/>
            <a:ext cx="27137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Walkthrough</a:t>
            </a:r>
          </a:p>
          <a:p>
            <a:pPr>
              <a:buNone/>
            </a:pPr>
            <a:r>
              <a:rPr lang="en-IN" dirty="0"/>
              <a:t>Input: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{[()]}</a:t>
            </a:r>
          </a:p>
        </p:txBody>
      </p:sp>
    </p:spTree>
    <p:extLst>
      <p:ext uri="{BB962C8B-B14F-4D97-AF65-F5344CB8AC3E}">
        <p14:creationId xmlns:p14="http://schemas.microsoft.com/office/powerpoint/2010/main" val="8818511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E54A4E9-C502-844B-1F35-A6E1D7369B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552347"/>
              </p:ext>
            </p:extLst>
          </p:nvPr>
        </p:nvGraphicFramePr>
        <p:xfrm>
          <a:off x="287594" y="243405"/>
          <a:ext cx="10515600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05743623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7056121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5366367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168541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Stack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0277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{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{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push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9714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[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{[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push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4031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(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{[(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push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915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{[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4432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{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6959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empty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96882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E2101F5-66CD-3336-D187-1A825E6F7DF3}"/>
              </a:ext>
            </a:extLst>
          </p:cNvPr>
          <p:cNvSpPr txBox="1"/>
          <p:nvPr/>
        </p:nvSpPr>
        <p:spPr>
          <a:xfrm>
            <a:off x="167148" y="29518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 Stack empty → valid</a:t>
            </a:r>
          </a:p>
        </p:txBody>
      </p:sp>
    </p:spTree>
    <p:extLst>
      <p:ext uri="{BB962C8B-B14F-4D97-AF65-F5344CB8AC3E}">
        <p14:creationId xmlns:p14="http://schemas.microsoft.com/office/powerpoint/2010/main" val="28601443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EE6E2A-B314-1D14-A6C6-9EC8C3483968}"/>
              </a:ext>
            </a:extLst>
          </p:cNvPr>
          <p:cNvSpPr txBox="1"/>
          <p:nvPr/>
        </p:nvSpPr>
        <p:spPr>
          <a:xfrm>
            <a:off x="452284" y="197346"/>
            <a:ext cx="60960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Pseudocode (C++-Style)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create stack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for each char c in string: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if c is opening: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push c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else: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if stack empty: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    return false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top = </a:t>
            </a:r>
            <a:r>
              <a:rPr lang="en-US" dirty="0" err="1">
                <a:latin typeface="Courier New" panose="02070309020205020404" pitchFamily="49" charset="0"/>
              </a:rPr>
              <a:t>stack.top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if not matching(top, c):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    return false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pop stack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if stack empty: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return true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else: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return false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324DBF-318D-9C7D-2E0A-B8838069A3E5}"/>
              </a:ext>
            </a:extLst>
          </p:cNvPr>
          <p:cNvSpPr txBox="1"/>
          <p:nvPr/>
        </p:nvSpPr>
        <p:spPr>
          <a:xfrm>
            <a:off x="5643716" y="1973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Complexity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A13223-46E1-1C59-4BD0-02AC25C60D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997093"/>
              </p:ext>
            </p:extLst>
          </p:nvPr>
        </p:nvGraphicFramePr>
        <p:xfrm>
          <a:off x="5571203" y="788112"/>
          <a:ext cx="6241026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20513">
                  <a:extLst>
                    <a:ext uri="{9D8B030D-6E8A-4147-A177-3AD203B41FA5}">
                      <a16:colId xmlns:a16="http://schemas.microsoft.com/office/drawing/2014/main" val="2603571658"/>
                    </a:ext>
                  </a:extLst>
                </a:gridCol>
                <a:gridCol w="3120513">
                  <a:extLst>
                    <a:ext uri="{9D8B030D-6E8A-4147-A177-3AD203B41FA5}">
                      <a16:colId xmlns:a16="http://schemas.microsoft.com/office/drawing/2014/main" val="11035247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0628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8127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4969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36099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101174-67DF-4CE2-927F-DC5483C936B1}"/>
              </a:ext>
            </a:extLst>
          </p:cNvPr>
          <p:cNvSpPr txBox="1"/>
          <p:nvPr/>
        </p:nvSpPr>
        <p:spPr>
          <a:xfrm>
            <a:off x="176981" y="104873"/>
            <a:ext cx="402139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Student Marks Sum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Problem in Simple Words</a:t>
            </a:r>
          </a:p>
          <a:p>
            <a:pPr>
              <a:buNone/>
            </a:pPr>
            <a:r>
              <a:rPr lang="en-IN" dirty="0"/>
              <a:t>You are given: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list of </a:t>
            </a:r>
            <a:r>
              <a:rPr lang="en-IN" dirty="0">
                <a:latin typeface="Courier New" panose="02070309020205020404" pitchFamily="49" charset="0"/>
              </a:rPr>
              <a:t>(name, marks)</a:t>
            </a:r>
            <a:r>
              <a:rPr lang="en-IN" dirty="0"/>
              <a:t> pairs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query name </a:t>
            </a:r>
          </a:p>
          <a:p>
            <a:pPr>
              <a:buNone/>
            </a:pPr>
            <a:r>
              <a:rPr lang="en-IN" dirty="0"/>
              <a:t>Return the </a:t>
            </a:r>
            <a:r>
              <a:rPr lang="en-IN" b="1" dirty="0"/>
              <a:t>total marks of that student</a:t>
            </a:r>
            <a:endParaRPr lang="en-IN" dirty="0"/>
          </a:p>
          <a:p>
            <a:pPr>
              <a:buNone/>
            </a:pPr>
            <a:br>
              <a:rPr lang="en-IN" dirty="0"/>
            </a:br>
            <a:r>
              <a:rPr lang="en-IN" b="1" dirty="0"/>
              <a:t>Example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Input: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3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Krishna 67 68 69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Arjun 70 98 63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Malika 52 56 60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Query: Malika</a:t>
            </a:r>
          </a:p>
          <a:p>
            <a:pPr>
              <a:buNone/>
            </a:pPr>
            <a:r>
              <a:rPr lang="en-IN" dirty="0"/>
              <a:t>Output: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168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E78688-F415-33C4-F06D-C21BC943D2B1}"/>
              </a:ext>
            </a:extLst>
          </p:cNvPr>
          <p:cNvSpPr txBox="1"/>
          <p:nvPr/>
        </p:nvSpPr>
        <p:spPr>
          <a:xfrm>
            <a:off x="5329084" y="104873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1: Linear Search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Idea</a:t>
            </a:r>
          </a:p>
          <a:p>
            <a:pPr>
              <a:buNone/>
            </a:pPr>
            <a:r>
              <a:rPr lang="en-US" dirty="0"/>
              <a:t>Store all data → search for the query name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Pseudocode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for each student: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if name == query: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return sum of marks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Time → O(n)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Space → O(n)</a:t>
            </a:r>
          </a:p>
        </p:txBody>
      </p:sp>
    </p:spTree>
    <p:extLst>
      <p:ext uri="{BB962C8B-B14F-4D97-AF65-F5344CB8AC3E}">
        <p14:creationId xmlns:p14="http://schemas.microsoft.com/office/powerpoint/2010/main" val="33755414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52C0E0-F9F2-DF69-79F9-5942A4B776E7}"/>
              </a:ext>
            </a:extLst>
          </p:cNvPr>
          <p:cNvSpPr txBox="1"/>
          <p:nvPr/>
        </p:nvSpPr>
        <p:spPr>
          <a:xfrm>
            <a:off x="226142" y="167147"/>
            <a:ext cx="3972232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Approach 2: HashMap (Optimal)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Key Idea</a:t>
            </a:r>
          </a:p>
          <a:p>
            <a:pPr>
              <a:buNone/>
            </a:pPr>
            <a:r>
              <a:rPr lang="en-IN" dirty="0"/>
              <a:t>Use map: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name → total marks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Logic (Text Form)</a:t>
            </a:r>
          </a:p>
          <a:p>
            <a:pPr>
              <a:buFont typeface="+mj-lt"/>
              <a:buAutoNum type="arabicPeriod"/>
            </a:pPr>
            <a:r>
              <a:rPr lang="en-IN" dirty="0"/>
              <a:t>Create map </a:t>
            </a:r>
          </a:p>
          <a:p>
            <a:pPr>
              <a:buFont typeface="+mj-lt"/>
              <a:buAutoNum type="arabicPeriod"/>
            </a:pPr>
            <a:r>
              <a:rPr lang="en-IN" dirty="0"/>
              <a:t>Store name and sum of marks </a:t>
            </a:r>
          </a:p>
          <a:p>
            <a:pPr>
              <a:buFont typeface="+mj-lt"/>
              <a:buAutoNum type="arabicPeriod"/>
            </a:pPr>
            <a:r>
              <a:rPr lang="en-IN" dirty="0"/>
              <a:t>Return value for query 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Walkthrough</a:t>
            </a:r>
          </a:p>
          <a:p>
            <a:pPr>
              <a:buNone/>
            </a:pPr>
            <a:r>
              <a:rPr lang="en-IN" dirty="0"/>
              <a:t>Data: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Malika → 52 + 56 + 60 = 168</a:t>
            </a:r>
          </a:p>
          <a:p>
            <a:pPr>
              <a:buNone/>
            </a:pPr>
            <a:r>
              <a:rPr lang="en-IN" dirty="0"/>
              <a:t>Map: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Krishna: 204,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Arjun: 231,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Malika: 168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IN" dirty="0"/>
              <a:t>Query: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Malika → 168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572D76-5791-5EE0-8625-597E9135922C}"/>
              </a:ext>
            </a:extLst>
          </p:cNvPr>
          <p:cNvSpPr txBox="1"/>
          <p:nvPr/>
        </p:nvSpPr>
        <p:spPr>
          <a:xfrm>
            <a:off x="5250425" y="167147"/>
            <a:ext cx="340196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Pseudocode (C++-Style)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create map </a:t>
            </a:r>
            <a:r>
              <a:rPr lang="en-IN" dirty="0" err="1">
                <a:latin typeface="Courier New" panose="02070309020205020404" pitchFamily="49" charset="0"/>
              </a:rPr>
              <a:t>mp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for each student: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sum = 0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for each mark: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sum += mark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</a:t>
            </a:r>
            <a:r>
              <a:rPr lang="en-IN" dirty="0" err="1">
                <a:latin typeface="Courier New" panose="02070309020205020404" pitchFamily="49" charset="0"/>
              </a:rPr>
              <a:t>mp</a:t>
            </a:r>
            <a:r>
              <a:rPr lang="en-IN" dirty="0">
                <a:latin typeface="Courier New" panose="02070309020205020404" pitchFamily="49" charset="0"/>
              </a:rPr>
              <a:t>[name] = sum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return </a:t>
            </a:r>
            <a:r>
              <a:rPr lang="en-IN" dirty="0" err="1">
                <a:latin typeface="Courier New" panose="02070309020205020404" pitchFamily="49" charset="0"/>
              </a:rPr>
              <a:t>mp</a:t>
            </a:r>
            <a:r>
              <a:rPr lang="en-IN" dirty="0">
                <a:latin typeface="Courier New" panose="02070309020205020404" pitchFamily="49" charset="0"/>
              </a:rPr>
              <a:t>[query]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D5CB05-E468-E590-21FF-0FFB4F0B5600}"/>
              </a:ext>
            </a:extLst>
          </p:cNvPr>
          <p:cNvSpPr txBox="1"/>
          <p:nvPr/>
        </p:nvSpPr>
        <p:spPr>
          <a:xfrm>
            <a:off x="5250425" y="3429000"/>
            <a:ext cx="3106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Complexity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3268191-1EF7-F675-402D-63111E402C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144372"/>
              </p:ext>
            </p:extLst>
          </p:nvPr>
        </p:nvGraphicFramePr>
        <p:xfrm>
          <a:off x="5014452" y="4070553"/>
          <a:ext cx="6744930" cy="114797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72465">
                  <a:extLst>
                    <a:ext uri="{9D8B030D-6E8A-4147-A177-3AD203B41FA5}">
                      <a16:colId xmlns:a16="http://schemas.microsoft.com/office/drawing/2014/main" val="1708058905"/>
                    </a:ext>
                  </a:extLst>
                </a:gridCol>
                <a:gridCol w="3372465">
                  <a:extLst>
                    <a:ext uri="{9D8B030D-6E8A-4147-A177-3AD203B41FA5}">
                      <a16:colId xmlns:a16="http://schemas.microsoft.com/office/drawing/2014/main" val="330497176"/>
                    </a:ext>
                  </a:extLst>
                </a:gridCol>
              </a:tblGrid>
              <a:tr h="3826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6415528"/>
                  </a:ext>
                </a:extLst>
              </a:tr>
              <a:tr h="3826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157025"/>
                  </a:ext>
                </a:extLst>
              </a:tr>
              <a:tr h="3826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2242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18166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258DA3-7B14-DA5C-0DC7-9E96C055A3A0}"/>
              </a:ext>
            </a:extLst>
          </p:cNvPr>
          <p:cNvSpPr txBox="1"/>
          <p:nvPr/>
        </p:nvSpPr>
        <p:spPr>
          <a:xfrm>
            <a:off x="106507" y="93022"/>
            <a:ext cx="434080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1: Brute Force (Linear Search)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 all students in a list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Traverse and find matching name 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Pseudocode (C++-Style)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create list of students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for each student: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if name == query: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return sum of marks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0AA611-49E8-0CEE-EFAB-AED74720C088}"/>
              </a:ext>
            </a:extLst>
          </p:cNvPr>
          <p:cNvSpPr txBox="1"/>
          <p:nvPr/>
        </p:nvSpPr>
        <p:spPr>
          <a:xfrm>
            <a:off x="5478607" y="93022"/>
            <a:ext cx="15560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Walkthrough</a:t>
            </a:r>
          </a:p>
          <a:p>
            <a:pPr>
              <a:buNone/>
            </a:pPr>
            <a:r>
              <a:rPr lang="en-IN" dirty="0"/>
              <a:t>Data: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1B71215-EAF2-C086-002D-BEDC16E8A5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398228"/>
              </p:ext>
            </p:extLst>
          </p:nvPr>
        </p:nvGraphicFramePr>
        <p:xfrm>
          <a:off x="4132118" y="869474"/>
          <a:ext cx="7953375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51125">
                  <a:extLst>
                    <a:ext uri="{9D8B030D-6E8A-4147-A177-3AD203B41FA5}">
                      <a16:colId xmlns:a16="http://schemas.microsoft.com/office/drawing/2014/main" val="2545491913"/>
                    </a:ext>
                  </a:extLst>
                </a:gridCol>
                <a:gridCol w="2651125">
                  <a:extLst>
                    <a:ext uri="{9D8B030D-6E8A-4147-A177-3AD203B41FA5}">
                      <a16:colId xmlns:a16="http://schemas.microsoft.com/office/drawing/2014/main" val="2433138842"/>
                    </a:ext>
                  </a:extLst>
                </a:gridCol>
                <a:gridCol w="2651125">
                  <a:extLst>
                    <a:ext uri="{9D8B030D-6E8A-4147-A177-3AD203B41FA5}">
                      <a16:colId xmlns:a16="http://schemas.microsoft.com/office/drawing/2014/main" val="25601118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Marks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2279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Krishna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67,68,69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5518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Arjun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70,98,63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3004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Malika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52,56,60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168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773870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28B1518-FB60-4552-E9C9-6FC914F56683}"/>
              </a:ext>
            </a:extLst>
          </p:cNvPr>
          <p:cNvSpPr txBox="1"/>
          <p:nvPr/>
        </p:nvSpPr>
        <p:spPr>
          <a:xfrm>
            <a:off x="4221307" y="2610627"/>
            <a:ext cx="60942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Search: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 Krishna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 Arjun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 Malika  → return 168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3DB6EC-9FA1-4B71-959D-3EE48817DC87}"/>
              </a:ext>
            </a:extLst>
          </p:cNvPr>
          <p:cNvSpPr txBox="1"/>
          <p:nvPr/>
        </p:nvSpPr>
        <p:spPr>
          <a:xfrm>
            <a:off x="200458" y="3810956"/>
            <a:ext cx="1856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Complexity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A5B5238-F976-B19B-5DCF-7387F657B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00138"/>
              </p:ext>
            </p:extLst>
          </p:nvPr>
        </p:nvGraphicFramePr>
        <p:xfrm>
          <a:off x="200458" y="4377445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1246419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171924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9923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3172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4254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06839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7FAEBA-B958-A05A-4011-281C01DB0E62}"/>
              </a:ext>
            </a:extLst>
          </p:cNvPr>
          <p:cNvSpPr txBox="1"/>
          <p:nvPr/>
        </p:nvSpPr>
        <p:spPr>
          <a:xfrm>
            <a:off x="0" y="0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Student Marks Sum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Problem in Simple Words</a:t>
            </a:r>
          </a:p>
          <a:p>
            <a:pPr>
              <a:buNone/>
            </a:pPr>
            <a:r>
              <a:rPr lang="en-US" dirty="0"/>
              <a:t>You are given: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array </a:t>
            </a:r>
            <a:r>
              <a:rPr lang="en-US" dirty="0">
                <a:latin typeface="Courier New" panose="02070309020205020404" pitchFamily="49" charset="0"/>
              </a:rPr>
              <a:t>marks[]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character </a:t>
            </a:r>
            <a:r>
              <a:rPr lang="en-US" dirty="0">
                <a:latin typeface="Courier New" panose="02070309020205020404" pitchFamily="49" charset="0"/>
              </a:rPr>
              <a:t>gender</a:t>
            </a:r>
            <a:r>
              <a:rPr lang="en-US" dirty="0"/>
              <a:t> → </a:t>
            </a:r>
            <a:r>
              <a:rPr lang="en-US" dirty="0">
                <a:latin typeface="Courier New" panose="02070309020205020404" pitchFamily="49" charset="0"/>
              </a:rPr>
              <a:t>'b'</a:t>
            </a:r>
            <a:r>
              <a:rPr lang="en-US" dirty="0"/>
              <a:t> or </a:t>
            </a:r>
            <a:r>
              <a:rPr lang="en-US" dirty="0">
                <a:latin typeface="Courier New" panose="02070309020205020404" pitchFamily="49" charset="0"/>
              </a:rPr>
              <a:t>‘g’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Courier New" panose="02070309020205020404" pitchFamily="49" charset="0"/>
            </a:endParaRPr>
          </a:p>
          <a:p>
            <a:r>
              <a:rPr lang="en-IN" dirty="0"/>
              <a:t>Important Rule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955E6D-E26E-2092-862C-BA47AAEBD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134331"/>
              </p:ext>
            </p:extLst>
          </p:nvPr>
        </p:nvGraphicFramePr>
        <p:xfrm>
          <a:off x="169606" y="2339094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16978667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328865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Student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1710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0, 2, 4, ...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Boys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43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1, 3, 5, ...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Girls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601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83791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6A64F2-C53C-BAFA-7CAF-158F3141EA94}"/>
              </a:ext>
            </a:extLst>
          </p:cNvPr>
          <p:cNvSpPr txBox="1"/>
          <p:nvPr/>
        </p:nvSpPr>
        <p:spPr>
          <a:xfrm>
            <a:off x="108155" y="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Goal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If </a:t>
            </a:r>
            <a:r>
              <a:rPr lang="en-IN" dirty="0">
                <a:latin typeface="Courier New" panose="02070309020205020404" pitchFamily="49" charset="0"/>
              </a:rPr>
              <a:t>gender = 'b'</a:t>
            </a:r>
            <a:r>
              <a:rPr lang="en-IN" dirty="0"/>
              <a:t> → sum marks at </a:t>
            </a:r>
            <a:r>
              <a:rPr lang="en-IN" b="1" dirty="0"/>
              <a:t>even indices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If </a:t>
            </a:r>
            <a:r>
              <a:rPr lang="en-IN" dirty="0">
                <a:latin typeface="Courier New" panose="02070309020205020404" pitchFamily="49" charset="0"/>
              </a:rPr>
              <a:t>gender = 'g'</a:t>
            </a:r>
            <a:r>
              <a:rPr lang="en-IN" dirty="0"/>
              <a:t> → sum marks at </a:t>
            </a:r>
            <a:r>
              <a:rPr lang="en-IN" b="1" dirty="0"/>
              <a:t>odd indices</a:t>
            </a:r>
            <a:r>
              <a:rPr lang="en-IN" dirty="0"/>
              <a:t> 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Example</a:t>
            </a:r>
          </a:p>
          <a:p>
            <a:pPr>
              <a:buNone/>
            </a:pPr>
            <a:r>
              <a:rPr lang="en-IN" b="1" dirty="0"/>
              <a:t>Input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marks = [3,2,5]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gender = 'b'</a:t>
            </a:r>
          </a:p>
          <a:p>
            <a:pPr>
              <a:buNone/>
            </a:pPr>
            <a:r>
              <a:rPr lang="en-IN" b="1" dirty="0"/>
              <a:t>Output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8</a:t>
            </a:r>
          </a:p>
          <a:p>
            <a:pPr>
              <a:buNone/>
            </a:pPr>
            <a:r>
              <a:rPr lang="en-IN" b="1" dirty="0"/>
              <a:t>Explanation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Boys → index 0 and 2 → 3 + 5 = 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3AC6F6-1950-A686-335E-8F7EF375633F}"/>
              </a:ext>
            </a:extLst>
          </p:cNvPr>
          <p:cNvSpPr txBox="1"/>
          <p:nvPr/>
        </p:nvSpPr>
        <p:spPr>
          <a:xfrm>
            <a:off x="216310" y="3686187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Approach 1: Brute Force (Check Every Index)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Traverse whole array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Check index condition 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50565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EBB1F0-8FEA-30CA-7241-46B3D477143A}"/>
              </a:ext>
            </a:extLst>
          </p:cNvPr>
          <p:cNvSpPr txBox="1"/>
          <p:nvPr/>
        </p:nvSpPr>
        <p:spPr>
          <a:xfrm>
            <a:off x="68826" y="6927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Walkthrough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marks = [1,2,3,4,5], gender = 'g'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CEF136-0058-453B-2145-E90712124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475815"/>
              </p:ext>
            </p:extLst>
          </p:nvPr>
        </p:nvGraphicFramePr>
        <p:xfrm>
          <a:off x="208935" y="1104711"/>
          <a:ext cx="1051560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1196184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0291535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5162501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088046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 err="1"/>
                        <a:t>i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marks[</a:t>
                      </a:r>
                      <a:r>
                        <a:rPr lang="en-IN" b="1" dirty="0" err="1"/>
                        <a:t>i</a:t>
                      </a:r>
                      <a:r>
                        <a:rPr lang="en-IN" b="1" dirty="0"/>
                        <a:t>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8882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skip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653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0020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skip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9260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8753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skip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885487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ED568FE-96F3-F7FB-9C8B-4324EC1C582B}"/>
              </a:ext>
            </a:extLst>
          </p:cNvPr>
          <p:cNvSpPr txBox="1"/>
          <p:nvPr/>
        </p:nvSpPr>
        <p:spPr>
          <a:xfrm>
            <a:off x="4208207" y="3372403"/>
            <a:ext cx="811161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Pseudocode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sum = 0</a:t>
            </a: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</a:b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</a:b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for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0 to n-1:</a:t>
            </a: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</a:b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</a:b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if gender == 'b' AND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% 2 == 0:</a:t>
            </a: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</a:b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sum += marks[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</a:t>
            </a: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</a:b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</a:b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else if gender == 'g' AND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% 2 != 0:</a:t>
            </a: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</a:b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sum += marks[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</a:t>
            </a: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</a:b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</a:b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return sum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663AB7-7842-8D24-7EBD-B803D8BF32F1}"/>
              </a:ext>
            </a:extLst>
          </p:cNvPr>
          <p:cNvSpPr txBox="1"/>
          <p:nvPr/>
        </p:nvSpPr>
        <p:spPr>
          <a:xfrm>
            <a:off x="208935" y="3363729"/>
            <a:ext cx="1501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Answer = 6</a:t>
            </a:r>
          </a:p>
        </p:txBody>
      </p:sp>
    </p:spTree>
    <p:extLst>
      <p:ext uri="{BB962C8B-B14F-4D97-AF65-F5344CB8AC3E}">
        <p14:creationId xmlns:p14="http://schemas.microsoft.com/office/powerpoint/2010/main" val="34056726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88D954-6D7D-53C5-AA83-2E71B3B76E19}"/>
              </a:ext>
            </a:extLst>
          </p:cNvPr>
          <p:cNvSpPr txBox="1"/>
          <p:nvPr/>
        </p:nvSpPr>
        <p:spPr>
          <a:xfrm>
            <a:off x="0" y="70972"/>
            <a:ext cx="20156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Complexity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7CACD0-342E-5013-7989-C700E7E367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687145"/>
              </p:ext>
            </p:extLst>
          </p:nvPr>
        </p:nvGraphicFramePr>
        <p:xfrm>
          <a:off x="140110" y="571802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0681578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738698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138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480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4557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00745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DB8C86-8857-760B-D262-2B5E9C4E4AD4}"/>
              </a:ext>
            </a:extLst>
          </p:cNvPr>
          <p:cNvSpPr txBox="1"/>
          <p:nvPr/>
        </p:nvSpPr>
        <p:spPr>
          <a:xfrm>
            <a:off x="157316" y="137652"/>
            <a:ext cx="4139381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Approach 2: Optimized (Jump by 2)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Key Idea</a:t>
            </a:r>
          </a:p>
          <a:p>
            <a:pPr>
              <a:buNone/>
            </a:pPr>
            <a:r>
              <a:rPr lang="en-IN" dirty="0"/>
              <a:t>Instead of checking every index: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Directly jump to required indices 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If </a:t>
            </a:r>
            <a:r>
              <a:rPr lang="en-IN" dirty="0">
                <a:latin typeface="Courier New" panose="02070309020205020404" pitchFamily="49" charset="0"/>
              </a:rPr>
              <a:t>'b'</a:t>
            </a:r>
            <a:r>
              <a:rPr lang="en-IN" dirty="0"/>
              <a:t> → start from index </a:t>
            </a:r>
            <a:r>
              <a:rPr lang="en-IN" dirty="0">
                <a:latin typeface="Courier New" panose="02070309020205020404" pitchFamily="49" charset="0"/>
              </a:rPr>
              <a:t>0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If </a:t>
            </a:r>
            <a:r>
              <a:rPr lang="en-IN" dirty="0">
                <a:latin typeface="Courier New" panose="02070309020205020404" pitchFamily="49" charset="0"/>
              </a:rPr>
              <a:t>'g'</a:t>
            </a:r>
            <a:r>
              <a:rPr lang="en-IN" dirty="0"/>
              <a:t> → start from index </a:t>
            </a:r>
            <a:r>
              <a:rPr lang="en-IN" dirty="0">
                <a:latin typeface="Courier New" panose="02070309020205020404" pitchFamily="49" charset="0"/>
              </a:rPr>
              <a:t>1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Move with step </a:t>
            </a:r>
            <a:r>
              <a:rPr lang="en-IN" dirty="0">
                <a:latin typeface="Courier New" panose="02070309020205020404" pitchFamily="49" charset="0"/>
              </a:rPr>
              <a:t>+2</a:t>
            </a:r>
            <a:r>
              <a:rPr lang="en-IN" dirty="0"/>
              <a:t> 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Pseudocode (C++-Style)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sum = 0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if gender == 'b':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start = 0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else: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start = 1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for 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 = start to n-1 step 2: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sum += marks[</a:t>
            </a:r>
            <a:r>
              <a:rPr lang="en-IN" dirty="0" err="1">
                <a:latin typeface="Courier New" panose="02070309020205020404" pitchFamily="49" charset="0"/>
              </a:rPr>
              <a:t>i</a:t>
            </a:r>
            <a:r>
              <a:rPr lang="en-IN" dirty="0">
                <a:latin typeface="Courier New" panose="02070309020205020404" pitchFamily="49" charset="0"/>
              </a:rPr>
              <a:t>]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return sum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B0014A-27BF-E0CD-E470-4BB5175DD78B}"/>
              </a:ext>
            </a:extLst>
          </p:cNvPr>
          <p:cNvSpPr txBox="1"/>
          <p:nvPr/>
        </p:nvSpPr>
        <p:spPr>
          <a:xfrm>
            <a:off x="4965291" y="137652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Walkthrough (Optimized)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Example:</a:t>
            </a:r>
          </a:p>
          <a:p>
            <a:pPr>
              <a:buNone/>
            </a:pPr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marks = [1,2,3,4,5], gender = 'g'</a:t>
            </a:r>
          </a:p>
          <a:p>
            <a:pPr>
              <a:buNone/>
            </a:pPr>
            <a:r>
              <a:rPr lang="en-US" dirty="0"/>
              <a:t>Start:</a:t>
            </a:r>
          </a:p>
          <a:p>
            <a:pPr>
              <a:buNone/>
            </a:pPr>
            <a:endParaRPr lang="en-US" dirty="0"/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= 1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6432D7B-3CEC-9609-CB05-1BA94D792E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698073"/>
              </p:ext>
            </p:extLst>
          </p:nvPr>
        </p:nvGraphicFramePr>
        <p:xfrm>
          <a:off x="4768647" y="2557919"/>
          <a:ext cx="7177548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92516">
                  <a:extLst>
                    <a:ext uri="{9D8B030D-6E8A-4147-A177-3AD203B41FA5}">
                      <a16:colId xmlns:a16="http://schemas.microsoft.com/office/drawing/2014/main" val="3494972595"/>
                    </a:ext>
                  </a:extLst>
                </a:gridCol>
                <a:gridCol w="2392516">
                  <a:extLst>
                    <a:ext uri="{9D8B030D-6E8A-4147-A177-3AD203B41FA5}">
                      <a16:colId xmlns:a16="http://schemas.microsoft.com/office/drawing/2014/main" val="850628630"/>
                    </a:ext>
                  </a:extLst>
                </a:gridCol>
                <a:gridCol w="2392516">
                  <a:extLst>
                    <a:ext uri="{9D8B030D-6E8A-4147-A177-3AD203B41FA5}">
                      <a16:colId xmlns:a16="http://schemas.microsoft.com/office/drawing/2014/main" val="27435277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 err="1"/>
                        <a:t>i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marks[</a:t>
                      </a:r>
                      <a:r>
                        <a:rPr lang="en-IN" b="1" dirty="0" err="1"/>
                        <a:t>i</a:t>
                      </a:r>
                      <a:r>
                        <a:rPr lang="en-IN" b="1" dirty="0"/>
                        <a:t>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0055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4082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829526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51D1BEC-8BBA-858A-8BD1-7992A264A870}"/>
              </a:ext>
            </a:extLst>
          </p:cNvPr>
          <p:cNvSpPr txBox="1"/>
          <p:nvPr/>
        </p:nvSpPr>
        <p:spPr>
          <a:xfrm>
            <a:off x="4768647" y="3767142"/>
            <a:ext cx="1877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Answer = 6</a:t>
            </a:r>
          </a:p>
        </p:txBody>
      </p:sp>
    </p:spTree>
    <p:extLst>
      <p:ext uri="{BB962C8B-B14F-4D97-AF65-F5344CB8AC3E}">
        <p14:creationId xmlns:p14="http://schemas.microsoft.com/office/powerpoint/2010/main" val="517106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A989B0-FB05-4BAA-8FC2-5908735208BC}"/>
              </a:ext>
            </a:extLst>
          </p:cNvPr>
          <p:cNvSpPr txBox="1"/>
          <p:nvPr/>
        </p:nvSpPr>
        <p:spPr>
          <a:xfrm>
            <a:off x="0" y="149631"/>
            <a:ext cx="17894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Complexity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41A341-172C-6BAF-AB60-43472E60C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908408"/>
              </p:ext>
            </p:extLst>
          </p:nvPr>
        </p:nvGraphicFramePr>
        <p:xfrm>
          <a:off x="179439" y="518963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5994003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131086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1086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O(n/2) ≈ 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3023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5076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72522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D42777-EE97-4F34-A8A8-11EE5387255B}"/>
              </a:ext>
            </a:extLst>
          </p:cNvPr>
          <p:cNvSpPr txBox="1"/>
          <p:nvPr/>
        </p:nvSpPr>
        <p:spPr>
          <a:xfrm>
            <a:off x="85723" y="187038"/>
            <a:ext cx="609426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Sparse Arrays</a:t>
            </a:r>
          </a:p>
          <a:p>
            <a:pPr>
              <a:buNone/>
            </a:pPr>
            <a:br>
              <a:rPr lang="en-IN" dirty="0"/>
            </a:br>
            <a:r>
              <a:rPr lang="en-IN" b="1" dirty="0"/>
              <a:t>Problem in Simple Words</a:t>
            </a:r>
          </a:p>
          <a:p>
            <a:pPr>
              <a:buNone/>
            </a:pPr>
            <a:r>
              <a:rPr lang="en-IN" dirty="0"/>
              <a:t>You are given: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list of strings → </a:t>
            </a:r>
            <a:r>
              <a:rPr lang="en-IN" dirty="0">
                <a:latin typeface="Courier New" panose="02070309020205020404" pitchFamily="49" charset="0"/>
              </a:rPr>
              <a:t>strings[]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list of queries → </a:t>
            </a:r>
            <a:r>
              <a:rPr lang="en-IN" dirty="0">
                <a:latin typeface="Courier New" panose="02070309020205020404" pitchFamily="49" charset="0"/>
              </a:rPr>
              <a:t>queries[]</a:t>
            </a:r>
            <a:r>
              <a:rPr lang="en-IN" dirty="0"/>
              <a:t> </a:t>
            </a:r>
          </a:p>
          <a:p>
            <a:pPr>
              <a:buNone/>
            </a:pPr>
            <a:r>
              <a:rPr lang="en-IN" dirty="0"/>
              <a:t>For each query, count:</a:t>
            </a:r>
          </a:p>
          <a:p>
            <a:pPr>
              <a:buNone/>
            </a:pPr>
            <a:r>
              <a:rPr lang="en-IN" dirty="0"/>
              <a:t>How many times it appears in </a:t>
            </a:r>
            <a:r>
              <a:rPr lang="en-IN" dirty="0">
                <a:latin typeface="Courier New" panose="02070309020205020404" pitchFamily="49" charset="0"/>
              </a:rPr>
              <a:t>strings[]</a:t>
            </a:r>
            <a:endParaRPr lang="en-IN" dirty="0"/>
          </a:p>
          <a:p>
            <a:pPr>
              <a:buNone/>
            </a:pPr>
            <a:br>
              <a:rPr lang="en-IN" dirty="0"/>
            </a:br>
            <a:r>
              <a:rPr lang="en-IN" b="1" dirty="0"/>
              <a:t>Example</a:t>
            </a:r>
          </a:p>
          <a:p>
            <a:pPr>
              <a:buNone/>
            </a:pPr>
            <a:r>
              <a:rPr lang="en-IN" b="1" dirty="0"/>
              <a:t>Input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strings = ["aba", "baba", "aba", "</a:t>
            </a:r>
            <a:r>
              <a:rPr lang="en-IN" dirty="0" err="1">
                <a:latin typeface="Courier New" panose="02070309020205020404" pitchFamily="49" charset="0"/>
              </a:rPr>
              <a:t>xzxb</a:t>
            </a:r>
            <a:r>
              <a:rPr lang="en-IN" dirty="0">
                <a:latin typeface="Courier New" panose="02070309020205020404" pitchFamily="49" charset="0"/>
              </a:rPr>
              <a:t>"]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queries = ["aba", "</a:t>
            </a:r>
            <a:r>
              <a:rPr lang="en-IN" dirty="0" err="1">
                <a:latin typeface="Courier New" panose="02070309020205020404" pitchFamily="49" charset="0"/>
              </a:rPr>
              <a:t>xzxb</a:t>
            </a:r>
            <a:r>
              <a:rPr lang="en-IN" dirty="0">
                <a:latin typeface="Courier New" panose="02070309020205020404" pitchFamily="49" charset="0"/>
              </a:rPr>
              <a:t>", "ab"]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Output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[2, 1, 0]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359A0D-2805-1351-BDA3-B7A69BAA274C}"/>
              </a:ext>
            </a:extLst>
          </p:cNvPr>
          <p:cNvSpPr txBox="1"/>
          <p:nvPr/>
        </p:nvSpPr>
        <p:spPr>
          <a:xfrm>
            <a:off x="6413789" y="187038"/>
            <a:ext cx="4434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Explanation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22CB181-8EB4-6C95-035F-2C44D265D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342367"/>
              </p:ext>
            </p:extLst>
          </p:nvPr>
        </p:nvGraphicFramePr>
        <p:xfrm>
          <a:off x="6600827" y="703220"/>
          <a:ext cx="5161684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80842">
                  <a:extLst>
                    <a:ext uri="{9D8B030D-6E8A-4147-A177-3AD203B41FA5}">
                      <a16:colId xmlns:a16="http://schemas.microsoft.com/office/drawing/2014/main" val="2929295487"/>
                    </a:ext>
                  </a:extLst>
                </a:gridCol>
                <a:gridCol w="2580842">
                  <a:extLst>
                    <a:ext uri="{9D8B030D-6E8A-4147-A177-3AD203B41FA5}">
                      <a16:colId xmlns:a16="http://schemas.microsoft.com/office/drawing/2014/main" val="11720790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Query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7291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"aba"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4394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"xzxb"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7927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"ab"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0028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0464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70A060-C78A-36AF-55CA-DC4E81F82050}"/>
              </a:ext>
            </a:extLst>
          </p:cNvPr>
          <p:cNvSpPr txBox="1"/>
          <p:nvPr/>
        </p:nvSpPr>
        <p:spPr>
          <a:xfrm>
            <a:off x="85725" y="106556"/>
            <a:ext cx="38004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1: Brute Force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Idea</a:t>
            </a:r>
          </a:p>
          <a:p>
            <a:pPr>
              <a:buNone/>
            </a:pPr>
            <a:r>
              <a:rPr lang="en-US" dirty="0"/>
              <a:t>For each query: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Traverse entire </a:t>
            </a:r>
            <a:r>
              <a:rPr lang="en-US" dirty="0">
                <a:latin typeface="Courier New" panose="02070309020205020404" pitchFamily="49" charset="0"/>
              </a:rPr>
              <a:t>strings[]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Count matches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1E45A3-6032-A2CA-BE06-CDDEC323F108}"/>
              </a:ext>
            </a:extLst>
          </p:cNvPr>
          <p:cNvSpPr txBox="1"/>
          <p:nvPr/>
        </p:nvSpPr>
        <p:spPr>
          <a:xfrm>
            <a:off x="85725" y="1959417"/>
            <a:ext cx="29172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Walkthrough</a:t>
            </a:r>
          </a:p>
          <a:p>
            <a:pPr>
              <a:buNone/>
            </a:pPr>
            <a:r>
              <a:rPr lang="en-IN" dirty="0"/>
              <a:t>Query = </a:t>
            </a:r>
            <a:r>
              <a:rPr lang="en-IN" dirty="0">
                <a:latin typeface="Courier New" panose="02070309020205020404" pitchFamily="49" charset="0"/>
              </a:rPr>
              <a:t>"aba"</a:t>
            </a:r>
            <a:endParaRPr lang="en-IN" dirty="0"/>
          </a:p>
          <a:p>
            <a:pPr>
              <a:buNone/>
            </a:pPr>
            <a:r>
              <a:rPr lang="en-IN" dirty="0"/>
              <a:t>Check: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81C8099-7DE7-BBDE-4B35-E2BBFE85A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679597"/>
              </p:ext>
            </p:extLst>
          </p:nvPr>
        </p:nvGraphicFramePr>
        <p:xfrm>
          <a:off x="183572" y="2981282"/>
          <a:ext cx="1051560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24952093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9973817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Match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7766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aba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4069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baba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0693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aba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9303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xzxb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725455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6888363-86C0-79B2-FD95-4D776ED6E1C7}"/>
              </a:ext>
            </a:extLst>
          </p:cNvPr>
          <p:cNvSpPr txBox="1"/>
          <p:nvPr/>
        </p:nvSpPr>
        <p:spPr>
          <a:xfrm>
            <a:off x="183572" y="5000398"/>
            <a:ext cx="1666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Count = 2</a:t>
            </a:r>
          </a:p>
        </p:txBody>
      </p:sp>
    </p:spTree>
    <p:extLst>
      <p:ext uri="{BB962C8B-B14F-4D97-AF65-F5344CB8AC3E}">
        <p14:creationId xmlns:p14="http://schemas.microsoft.com/office/powerpoint/2010/main" val="41755682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677FA0-F713-2EF0-5776-3078B6F76DB1}"/>
              </a:ext>
            </a:extLst>
          </p:cNvPr>
          <p:cNvSpPr txBox="1"/>
          <p:nvPr/>
        </p:nvSpPr>
        <p:spPr>
          <a:xfrm>
            <a:off x="148071" y="138005"/>
            <a:ext cx="455901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Pseudocode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result = []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for each query: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count = 0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for each string in strings: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if string == query: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    count++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result.push_back</a:t>
            </a:r>
            <a:r>
              <a:rPr lang="en-US" dirty="0">
                <a:latin typeface="Courier New" panose="02070309020205020404" pitchFamily="49" charset="0"/>
              </a:rPr>
              <a:t>(count)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return result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6F25E3-8062-86CD-2E5F-1D9168843603}"/>
              </a:ext>
            </a:extLst>
          </p:cNvPr>
          <p:cNvSpPr txBox="1"/>
          <p:nvPr/>
        </p:nvSpPr>
        <p:spPr>
          <a:xfrm>
            <a:off x="6580043" y="138005"/>
            <a:ext cx="27717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Complexity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A4E48D6-1E1C-5861-7B5E-1B350833D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059799"/>
              </p:ext>
            </p:extLst>
          </p:nvPr>
        </p:nvGraphicFramePr>
        <p:xfrm>
          <a:off x="6411191" y="845820"/>
          <a:ext cx="547601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38005">
                  <a:extLst>
                    <a:ext uri="{9D8B030D-6E8A-4147-A177-3AD203B41FA5}">
                      <a16:colId xmlns:a16="http://schemas.microsoft.com/office/drawing/2014/main" val="1338024882"/>
                    </a:ext>
                  </a:extLst>
                </a:gridCol>
                <a:gridCol w="2738005">
                  <a:extLst>
                    <a:ext uri="{9D8B030D-6E8A-4147-A177-3AD203B41FA5}">
                      <a16:colId xmlns:a16="http://schemas.microsoft.com/office/drawing/2014/main" val="33855951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6584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 × q)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042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7483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23436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86F033-5B34-05F4-C5FB-A6FFF87C389A}"/>
              </a:ext>
            </a:extLst>
          </p:cNvPr>
          <p:cNvSpPr txBox="1"/>
          <p:nvPr/>
        </p:nvSpPr>
        <p:spPr>
          <a:xfrm>
            <a:off x="179243" y="86050"/>
            <a:ext cx="374852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2: HashMap (Optimal)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Key Idea</a:t>
            </a:r>
          </a:p>
          <a:p>
            <a:pPr>
              <a:buNone/>
            </a:pPr>
            <a:r>
              <a:rPr lang="en-US" dirty="0"/>
              <a:t>Store frequency of strings: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string → count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Logic (Text Form)</a:t>
            </a:r>
          </a:p>
          <a:p>
            <a:pPr>
              <a:buFont typeface="+mj-lt"/>
              <a:buAutoNum type="arabicPeriod"/>
            </a:pPr>
            <a:r>
              <a:rPr lang="en-US" dirty="0"/>
              <a:t>Traverse </a:t>
            </a:r>
            <a:r>
              <a:rPr lang="en-US" dirty="0">
                <a:latin typeface="Courier New" panose="02070309020205020404" pitchFamily="49" charset="0"/>
              </a:rPr>
              <a:t>strings[]</a:t>
            </a:r>
            <a:r>
              <a:rPr lang="en-US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Store frequency in map </a:t>
            </a:r>
          </a:p>
          <a:p>
            <a:pPr>
              <a:buFont typeface="+mj-lt"/>
              <a:buAutoNum type="arabicPeriod"/>
            </a:pPr>
            <a:r>
              <a:rPr lang="en-US" dirty="0"/>
              <a:t>For each query: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Return map value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E0E992-7D31-BD1D-CEAB-23B168FD31C2}"/>
              </a:ext>
            </a:extLst>
          </p:cNvPr>
          <p:cNvSpPr txBox="1"/>
          <p:nvPr/>
        </p:nvSpPr>
        <p:spPr>
          <a:xfrm>
            <a:off x="179243" y="3225371"/>
            <a:ext cx="609426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Walkthrough (Step-by-Step)</a:t>
            </a:r>
          </a:p>
          <a:p>
            <a:pPr>
              <a:buNone/>
            </a:pPr>
            <a:r>
              <a:rPr lang="en-IN" b="1" dirty="0"/>
              <a:t>Step 1: Build Map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strings = ["aba", "baba", "aba", "</a:t>
            </a:r>
            <a:r>
              <a:rPr lang="en-IN" dirty="0" err="1">
                <a:latin typeface="Courier New" panose="02070309020205020404" pitchFamily="49" charset="0"/>
              </a:rPr>
              <a:t>xzxb</a:t>
            </a:r>
            <a:r>
              <a:rPr lang="en-IN" dirty="0">
                <a:latin typeface="Courier New" panose="02070309020205020404" pitchFamily="49" charset="0"/>
              </a:rPr>
              <a:t>"]</a:t>
            </a:r>
          </a:p>
          <a:p>
            <a:pPr>
              <a:buNone/>
            </a:pPr>
            <a:r>
              <a:rPr lang="en-IN" dirty="0"/>
              <a:t>Map: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"aba"  → 2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"baba" → 1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"</a:t>
            </a:r>
            <a:r>
              <a:rPr lang="en-IN" dirty="0" err="1">
                <a:latin typeface="Courier New" panose="02070309020205020404" pitchFamily="49" charset="0"/>
              </a:rPr>
              <a:t>xzxb</a:t>
            </a:r>
            <a:r>
              <a:rPr lang="en-IN" dirty="0">
                <a:latin typeface="Courier New" panose="02070309020205020404" pitchFamily="49" charset="0"/>
              </a:rPr>
              <a:t>" → 1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Step 2: Answer Queries</a:t>
            </a:r>
          </a:p>
        </p:txBody>
      </p:sp>
    </p:spTree>
    <p:extLst>
      <p:ext uri="{BB962C8B-B14F-4D97-AF65-F5344CB8AC3E}">
        <p14:creationId xmlns:p14="http://schemas.microsoft.com/office/powerpoint/2010/main" val="23835741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48DF713-0717-5A09-8B33-D8F5E9A22E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816889"/>
              </p:ext>
            </p:extLst>
          </p:nvPr>
        </p:nvGraphicFramePr>
        <p:xfrm>
          <a:off x="162791" y="349928"/>
          <a:ext cx="1051560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21702057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813908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Query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3359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"aba"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8930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"</a:t>
                      </a:r>
                      <a:r>
                        <a:rPr lang="en-IN" dirty="0" err="1"/>
                        <a:t>xzxb</a:t>
                      </a:r>
                      <a:r>
                        <a:rPr lang="en-IN" dirty="0"/>
                        <a:t>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6523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"ab"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696637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CB141CD-CECE-E8C2-7627-3B80CEA3A406}"/>
              </a:ext>
            </a:extLst>
          </p:cNvPr>
          <p:cNvSpPr txBox="1"/>
          <p:nvPr/>
        </p:nvSpPr>
        <p:spPr>
          <a:xfrm>
            <a:off x="162791" y="2126085"/>
            <a:ext cx="455468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Pseudocode (C++-Style)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create map </a:t>
            </a:r>
            <a:r>
              <a:rPr lang="en-US" dirty="0" err="1">
                <a:latin typeface="Courier New" panose="02070309020205020404" pitchFamily="49" charset="0"/>
              </a:rPr>
              <a:t>mp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for each string s in strings: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mp</a:t>
            </a:r>
            <a:r>
              <a:rPr lang="en-US" dirty="0">
                <a:latin typeface="Courier New" panose="02070309020205020404" pitchFamily="49" charset="0"/>
              </a:rPr>
              <a:t>[s]++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result = []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for each query q: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</a:rPr>
              <a:t>result.push_back</a:t>
            </a:r>
            <a:r>
              <a:rPr lang="en-US" dirty="0">
                <a:latin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</a:rPr>
              <a:t>mp</a:t>
            </a:r>
            <a:r>
              <a:rPr lang="en-US" dirty="0">
                <a:latin typeface="Courier New" panose="02070309020205020404" pitchFamily="49" charset="0"/>
              </a:rPr>
              <a:t>[q])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return result</a:t>
            </a:r>
          </a:p>
        </p:txBody>
      </p:sp>
    </p:spTree>
    <p:extLst>
      <p:ext uri="{BB962C8B-B14F-4D97-AF65-F5344CB8AC3E}">
        <p14:creationId xmlns:p14="http://schemas.microsoft.com/office/powerpoint/2010/main" val="5014814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872BCB-6161-EACB-762B-3B5460160467}"/>
              </a:ext>
            </a:extLst>
          </p:cNvPr>
          <p:cNvSpPr txBox="1"/>
          <p:nvPr/>
        </p:nvSpPr>
        <p:spPr>
          <a:xfrm>
            <a:off x="200025" y="189407"/>
            <a:ext cx="24808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Complexity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F1614F-C000-20E8-B910-3C4891C0B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890615"/>
              </p:ext>
            </p:extLst>
          </p:nvPr>
        </p:nvGraphicFramePr>
        <p:xfrm>
          <a:off x="200025" y="802972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5678968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473287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8011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 + q)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615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8651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5070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0B2906-C955-B1A9-98E1-7DBD8AAD9803}"/>
              </a:ext>
            </a:extLst>
          </p:cNvPr>
          <p:cNvSpPr txBox="1"/>
          <p:nvPr/>
        </p:nvSpPr>
        <p:spPr>
          <a:xfrm>
            <a:off x="145473" y="103910"/>
            <a:ext cx="11959936" cy="6494318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buNone/>
            </a:pPr>
            <a:r>
              <a:rPr lang="en-US" b="1" dirty="0"/>
              <a:t>Fair Rations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Problem in Simple Words</a:t>
            </a:r>
          </a:p>
          <a:p>
            <a:pPr>
              <a:buNone/>
            </a:pPr>
            <a:r>
              <a:rPr lang="en-US" dirty="0"/>
              <a:t>You are given an array </a:t>
            </a:r>
            <a:r>
              <a:rPr lang="en-US" dirty="0">
                <a:latin typeface="Courier New" panose="02070309020205020404" pitchFamily="49" charset="0"/>
              </a:rPr>
              <a:t>B</a:t>
            </a:r>
            <a:r>
              <a:rPr lang="en-US" dirty="0"/>
              <a:t> 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element = number of loaves a person has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Rule: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one step, you can give </a:t>
            </a:r>
            <a:r>
              <a:rPr lang="en-US" b="1" dirty="0"/>
              <a:t>1 loaf to person </a:t>
            </a:r>
            <a:r>
              <a:rPr lang="en-US" b="1" dirty="0" err="1"/>
              <a:t>i</a:t>
            </a:r>
            <a:r>
              <a:rPr lang="en-US" b="1" dirty="0"/>
              <a:t> and 1 loaf to person i+1</a:t>
            </a:r>
            <a:r>
              <a:rPr lang="en-US" dirty="0"/>
              <a:t>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Goal: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Make </a:t>
            </a:r>
            <a:r>
              <a:rPr lang="en-US" b="1" dirty="0"/>
              <a:t>all numbers even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Return </a:t>
            </a:r>
            <a:r>
              <a:rPr lang="en-US" b="1" dirty="0"/>
              <a:t>minimum loaves distributed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not possible → return </a:t>
            </a:r>
            <a:r>
              <a:rPr lang="en-US" dirty="0">
                <a:latin typeface="Courier New" panose="02070309020205020404" pitchFamily="49" charset="0"/>
              </a:rPr>
              <a:t>"NO"</a:t>
            </a:r>
            <a:r>
              <a:rPr lang="en-US" dirty="0"/>
              <a:t> 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Example</a:t>
            </a:r>
          </a:p>
          <a:p>
            <a:pPr>
              <a:buNone/>
            </a:pPr>
            <a:r>
              <a:rPr lang="en-US" b="1" dirty="0"/>
              <a:t>Input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B = [2,3,4,5,6]</a:t>
            </a:r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4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Explanation</a:t>
            </a:r>
          </a:p>
          <a:p>
            <a:pPr>
              <a:buNone/>
            </a:pPr>
            <a:r>
              <a:rPr lang="en-US" dirty="0"/>
              <a:t>Initial: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[2,3,4,5,6]</a:t>
            </a:r>
          </a:p>
          <a:p>
            <a:pPr>
              <a:buNone/>
            </a:pPr>
            <a:r>
              <a:rPr lang="en-US" dirty="0"/>
              <a:t>Step 1 (index 1 is odd):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[2,4,5,5,6]   (+2 loaves)</a:t>
            </a:r>
          </a:p>
          <a:p>
            <a:pPr>
              <a:buNone/>
            </a:pPr>
            <a:r>
              <a:rPr lang="en-US" dirty="0"/>
              <a:t>Step 2 (index 2 is odd):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[2,4,6,6,6]   (+2 loaves)</a:t>
            </a:r>
          </a:p>
          <a:p>
            <a:pPr>
              <a:buNone/>
            </a:pPr>
            <a:r>
              <a:rPr lang="en-US" dirty="0"/>
              <a:t>Total loaves: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66370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DFFE0D-D1F6-3FA6-EA08-E53A33735165}"/>
              </a:ext>
            </a:extLst>
          </p:cNvPr>
          <p:cNvSpPr txBox="1"/>
          <p:nvPr/>
        </p:nvSpPr>
        <p:spPr>
          <a:xfrm>
            <a:off x="176645" y="103909"/>
            <a:ext cx="5216237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Approach 1: Brute Force Thinking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Idea</a:t>
            </a:r>
          </a:p>
          <a:p>
            <a:pPr>
              <a:buNone/>
            </a:pPr>
            <a:r>
              <a:rPr lang="en-US" dirty="0"/>
              <a:t>Try all combinations</a:t>
            </a:r>
            <a:br>
              <a:rPr lang="en-US" dirty="0"/>
            </a:br>
            <a:r>
              <a:rPr lang="en-US" dirty="0"/>
              <a:t>Not practical → too complex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Approach 2: Greedy (Optimal)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Key Idea</a:t>
            </a:r>
          </a:p>
          <a:p>
            <a:pPr>
              <a:buNone/>
            </a:pPr>
            <a:r>
              <a:rPr lang="en-US" dirty="0"/>
              <a:t>If a person has </a:t>
            </a:r>
            <a:r>
              <a:rPr lang="en-US" b="1" dirty="0"/>
              <a:t>odd loaves</a:t>
            </a:r>
            <a:r>
              <a:rPr lang="en-US" dirty="0"/>
              <a:t>, we must fix it</a:t>
            </a:r>
          </a:p>
          <a:p>
            <a:pPr>
              <a:buNone/>
            </a:pPr>
            <a:r>
              <a:rPr lang="en-US" dirty="0"/>
              <a:t>Only way: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Give 1 loaf to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</a:rPr>
              <a:t>i+1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So: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If B[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 is odd → fix it immediately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Logic (Text Form)</a:t>
            </a:r>
          </a:p>
          <a:p>
            <a:pPr>
              <a:buFont typeface="+mj-lt"/>
              <a:buAutoNum type="arabicPeriod"/>
            </a:pPr>
            <a:r>
              <a:rPr lang="en-US" dirty="0"/>
              <a:t>Traverse array from left to right </a:t>
            </a:r>
          </a:p>
          <a:p>
            <a:pPr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dirty="0">
                <a:latin typeface="Courier New" panose="02070309020205020404" pitchFamily="49" charset="0"/>
              </a:rPr>
              <a:t>B[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</a:t>
            </a:r>
            <a:r>
              <a:rPr lang="en-US" dirty="0"/>
              <a:t> is odd: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Add 1 to </a:t>
            </a:r>
            <a:r>
              <a:rPr lang="en-US" dirty="0">
                <a:latin typeface="Courier New" panose="02070309020205020404" pitchFamily="49" charset="0"/>
              </a:rPr>
              <a:t>B[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</a:t>
            </a:r>
            <a:r>
              <a:rPr lang="en-US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Add 1 to </a:t>
            </a:r>
            <a:r>
              <a:rPr lang="en-US" dirty="0">
                <a:latin typeface="Courier New" panose="02070309020205020404" pitchFamily="49" charset="0"/>
              </a:rPr>
              <a:t>B[i+1]</a:t>
            </a:r>
            <a:r>
              <a:rPr lang="en-US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Increase count by 2 </a:t>
            </a:r>
          </a:p>
          <a:p>
            <a:pPr>
              <a:buFont typeface="+mj-lt"/>
              <a:buAutoNum type="arabicPeriod"/>
            </a:pPr>
            <a:r>
              <a:rPr lang="en-US" dirty="0"/>
              <a:t>At end: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If last element is odd → return </a:t>
            </a:r>
            <a:r>
              <a:rPr lang="en-US" dirty="0">
                <a:latin typeface="Courier New" panose="02070309020205020404" pitchFamily="49" charset="0"/>
              </a:rPr>
              <a:t>"NO"</a:t>
            </a:r>
            <a:r>
              <a:rPr lang="en-US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Else return count</a:t>
            </a:r>
          </a:p>
        </p:txBody>
      </p:sp>
    </p:spTree>
    <p:extLst>
      <p:ext uri="{BB962C8B-B14F-4D97-AF65-F5344CB8AC3E}">
        <p14:creationId xmlns:p14="http://schemas.microsoft.com/office/powerpoint/2010/main" val="27056307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552A05-3D08-A5B3-3070-05E1510D4689}"/>
              </a:ext>
            </a:extLst>
          </p:cNvPr>
          <p:cNvSpPr txBox="1"/>
          <p:nvPr/>
        </p:nvSpPr>
        <p:spPr>
          <a:xfrm>
            <a:off x="116897" y="0"/>
            <a:ext cx="60942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Walkthrough (Step-by-Step)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B = [2,3,4,5,6]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0B8A13-A81F-6698-C960-0F9918823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530258"/>
              </p:ext>
            </p:extLst>
          </p:nvPr>
        </p:nvGraphicFramePr>
        <p:xfrm>
          <a:off x="245918" y="923330"/>
          <a:ext cx="1051560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06370383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1644249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12466131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4363327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950945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 err="1"/>
                        <a:t>i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B[</a:t>
                      </a:r>
                      <a:r>
                        <a:rPr lang="en-IN" b="1" dirty="0" err="1"/>
                        <a:t>i</a:t>
                      </a:r>
                      <a:r>
                        <a:rPr lang="en-IN" b="1" dirty="0"/>
                        <a:t>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1215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even → skip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[2,3,4,5,6]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2118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odd → fix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[2,4,5,5,6]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548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odd → fix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[2,4,6,6,6]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3727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even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803293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862ED7A-7B99-D895-591B-AC713C8AE36E}"/>
              </a:ext>
            </a:extLst>
          </p:cNvPr>
          <p:cNvSpPr txBox="1"/>
          <p:nvPr/>
        </p:nvSpPr>
        <p:spPr>
          <a:xfrm>
            <a:off x="245918" y="2910599"/>
            <a:ext cx="36922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Final: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All even → answer = 4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Edge Case</a:t>
            </a:r>
          </a:p>
          <a:p>
            <a:pPr>
              <a:buNone/>
            </a:pPr>
            <a:r>
              <a:rPr lang="en-US" b="1" dirty="0"/>
              <a:t>Input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B = [1,2]</a:t>
            </a:r>
          </a:p>
          <a:p>
            <a:pPr>
              <a:buNone/>
            </a:pPr>
            <a:r>
              <a:rPr lang="en-US" dirty="0"/>
              <a:t>Process: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[2,3]</a:t>
            </a:r>
          </a:p>
          <a:p>
            <a:pPr>
              <a:buNone/>
            </a:pPr>
            <a:r>
              <a:rPr lang="en-US" dirty="0"/>
              <a:t>Last element is odd → ❌</a:t>
            </a:r>
          </a:p>
          <a:p>
            <a:pPr>
              <a:buNone/>
            </a:pPr>
            <a:r>
              <a:rPr lang="en-US" dirty="0"/>
              <a:t>Output: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5444300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CF7C56-4D7A-73B0-21E2-FD4B4224B603}"/>
              </a:ext>
            </a:extLst>
          </p:cNvPr>
          <p:cNvSpPr txBox="1"/>
          <p:nvPr/>
        </p:nvSpPr>
        <p:spPr>
          <a:xfrm>
            <a:off x="148071" y="93023"/>
            <a:ext cx="384203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Pseudocode (C++-Style)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count = 0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 = 0 to n-1: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if B[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 is odd: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B[</a:t>
            </a:r>
            <a:r>
              <a:rPr lang="en-US" dirty="0" err="1">
                <a:latin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</a:rPr>
              <a:t>]++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B[i+1]++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count += 2</a:t>
            </a:r>
            <a:br>
              <a:rPr lang="en-US" dirty="0">
                <a:latin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if last element is odd: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return "NO"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else: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return 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196BDE-45F7-9056-3FF9-071697A40B30}"/>
              </a:ext>
            </a:extLst>
          </p:cNvPr>
          <p:cNvSpPr txBox="1"/>
          <p:nvPr/>
        </p:nvSpPr>
        <p:spPr>
          <a:xfrm>
            <a:off x="6881379" y="93023"/>
            <a:ext cx="3031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Complexity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B9C3F8-990F-1453-DBA6-E16F0DDA4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052445"/>
              </p:ext>
            </p:extLst>
          </p:nvPr>
        </p:nvGraphicFramePr>
        <p:xfrm>
          <a:off x="6792191" y="595154"/>
          <a:ext cx="43053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52650">
                  <a:extLst>
                    <a:ext uri="{9D8B030D-6E8A-4147-A177-3AD203B41FA5}">
                      <a16:colId xmlns:a16="http://schemas.microsoft.com/office/drawing/2014/main" val="201796841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1584178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7398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101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0775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5267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4038</TotalTime>
  <Words>5093</Words>
  <Application>Microsoft Office PowerPoint</Application>
  <PresentationFormat>Widescreen</PresentationFormat>
  <Paragraphs>1123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KAARTIK SHUKLA</dc:creator>
  <cp:lastModifiedBy>KAARTIK SHUKLA</cp:lastModifiedBy>
  <cp:revision>169</cp:revision>
  <dcterms:created xsi:type="dcterms:W3CDTF">2025-12-28T05:25:34Z</dcterms:created>
  <dcterms:modified xsi:type="dcterms:W3CDTF">2026-04-09T16:02:15Z</dcterms:modified>
</cp:coreProperties>
</file>