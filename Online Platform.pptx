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straint" id="{3A3D993F-716D-4A32-881D-842D9A54689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8591-82F8-7089-927F-93DD291DB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F349CF-A1BA-6AD1-65EB-43B97F92A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13A8A-5D5F-E363-CB8F-FCB21E3E3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994F9-6DDE-495C-B28B-4553294D3F2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B8953-FC44-6229-33EE-D4EFF3C9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9DF29-3511-DB8B-AB2E-2CB9F9D71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0905-F878-40AF-B532-8FAB1E057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690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2E812-0170-72DD-AE09-C7FF102B6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00926-D3B8-FE76-0805-22AC0C5D6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09353-1DF1-0F61-98F7-DCB174782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994F9-6DDE-495C-B28B-4553294D3F2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86F88-7025-5E98-0670-B5131878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87DAB-CF51-628F-DC7B-42A3A532C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0905-F878-40AF-B532-8FAB1E057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268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E2342-FC26-A4D5-6FC0-8D45FF0B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0D4C6-179C-4AB6-CD4A-CB9A10898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C8465-C3DE-1E20-85B5-8E67F2BE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994F9-6DDE-495C-B28B-4553294D3F2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3AB26-E9B6-280A-EAFF-6C90863AE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899AB-3E8C-B911-52E4-8F443CEC7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0905-F878-40AF-B532-8FAB1E057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015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4DC6F-8B58-82CF-0C59-C507F7781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412B3-BB7C-5057-2ED0-96E794C44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87882-B779-D52B-9792-372908173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0EE3E-49FF-BA78-4F8E-10FB3136B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994F9-6DDE-495C-B28B-4553294D3F2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58623-108C-114F-03AD-D03A3B490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35367-B10A-4A2B-0D6B-4D766EFFB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0905-F878-40AF-B532-8FAB1E057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958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D41CE-432E-98D5-CFA4-EF2BE4824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07ECB-E8B7-B3F4-89A6-2D7CD401F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BD8607-3AC1-A6CC-E447-F0B82C772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45DAAF-ED04-7E2C-F48F-1E33D7D9B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B8D362-842A-BB44-4133-35BEA2C23D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848837-D7A5-58E6-3B18-D1B90261F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994F9-6DDE-495C-B28B-4553294D3F2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14509-37E3-5424-D192-102E65F06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4AFD47-5E6F-3654-4CEC-2E2B4061C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0905-F878-40AF-B532-8FAB1E057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827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C2A75-2EC9-E4B9-6D00-19A1B615B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6AE0FB-E19C-F81D-05D5-3DEB08074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994F9-6DDE-495C-B28B-4553294D3F2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32E69C-B91C-C7A1-9EF1-FD6BC5194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B58DD-EBC7-1BAD-EDF8-36DE919A3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0905-F878-40AF-B532-8FAB1E057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370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2130FF-D977-6930-0288-59A9B1960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994F9-6DDE-495C-B28B-4553294D3F2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8D0421-21AA-8EE0-79C8-971D97CA5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B71FA-6345-4C38-6551-9D128B0C5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0905-F878-40AF-B532-8FAB1E057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398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BCDC7-5B28-113D-16D2-9E26497B1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A8D30-1456-FEF0-515D-2F6D45BC5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033A9-2D2A-7DF9-9860-B3D171044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D5564-B92A-0657-0CC9-6FA50E20E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994F9-6DDE-495C-B28B-4553294D3F2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219B8-49AB-7EFB-F611-517654042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44C4B-5231-998C-60D7-FB1F77B05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0905-F878-40AF-B532-8FAB1E057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203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D5E56-22E9-8946-D9E2-2D8BCFF60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DAFF3A-74C4-BA8A-ECCA-51161AC516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53080-0EA0-643E-CCD2-8CA8287FC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B78E8-D09B-D18C-FA1F-486F248C4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994F9-6DDE-495C-B28B-4553294D3F2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4CA27-7B2A-2112-F667-40AA8C10D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DD3D0-119A-8ED2-7EF8-D3AE717BC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0905-F878-40AF-B532-8FAB1E057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09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36B01-5831-38DC-D207-2AD9E86C9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084BA-7346-6F0B-3486-0C3CAD31A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19647-F62A-9778-7D30-9AE930C90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994F9-6DDE-495C-B28B-4553294D3F2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EA154-07A1-3AD2-32DD-7C8DA8D12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96AE0-202B-515E-F0FA-21F0ABAB5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0905-F878-40AF-B532-8FAB1E057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718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6F7860-B44C-FF41-B581-2866E71AFF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FC299F-EA5E-FE98-5043-619D2EB6AE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63665-7126-9D84-6AF4-E7043449E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994F9-6DDE-495C-B28B-4553294D3F2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86649-1F3A-2480-A99B-4AF2A9873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6E1E9-1A78-3173-0007-2490E2CCC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0905-F878-40AF-B532-8FAB1E057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647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2F548A-6553-8346-4ECD-DED8A9C62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18B79-2935-A786-7465-1741C6A68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62235-9F8E-A39A-C324-2A11558F37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B994F9-6DDE-495C-B28B-4553294D3F2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55E55-2D25-A9AC-EE62-5E98E31F7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C3C85-EF95-BEE0-37E5-933C32A7E2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40905-F878-40AF-B532-8FAB1E057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535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E5508D-6ABC-159C-366B-348DA78093B9}"/>
              </a:ext>
            </a:extLst>
          </p:cNvPr>
          <p:cNvSpPr txBox="1"/>
          <p:nvPr/>
        </p:nvSpPr>
        <p:spPr>
          <a:xfrm>
            <a:off x="387061" y="182571"/>
            <a:ext cx="112299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Constraints are one of the </a:t>
            </a:r>
            <a:r>
              <a:rPr lang="en-US" b="1" dirty="0"/>
              <a:t>most important parts</a:t>
            </a:r>
            <a:r>
              <a:rPr lang="en-US" dirty="0"/>
              <a:t> of coding questions.</a:t>
            </a:r>
            <a:br>
              <a:rPr lang="en-US" dirty="0"/>
            </a:br>
            <a:r>
              <a:rPr lang="en-US" dirty="0"/>
              <a:t>They tell you: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4774A-0EEA-1B4F-3CB2-03709EC86C0F}"/>
              </a:ext>
            </a:extLst>
          </p:cNvPr>
          <p:cNvSpPr txBox="1"/>
          <p:nvPr/>
        </p:nvSpPr>
        <p:spPr>
          <a:xfrm>
            <a:off x="387061" y="806025"/>
            <a:ext cx="60942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How large the input can be</a:t>
            </a:r>
            <a:br>
              <a:rPr lang="en-US" dirty="0"/>
            </a:br>
            <a:r>
              <a:rPr lang="en-US" dirty="0"/>
              <a:t>Which approach will pass</a:t>
            </a:r>
            <a:br>
              <a:rPr lang="en-US" dirty="0"/>
            </a:br>
            <a:r>
              <a:rPr lang="en-US" dirty="0"/>
              <a:t>Which approach will give TLE (Time Limit Exceeded)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8501BB-D4B9-B3C6-5EA5-5D30BF121FA6}"/>
              </a:ext>
            </a:extLst>
          </p:cNvPr>
          <p:cNvSpPr txBox="1"/>
          <p:nvPr/>
        </p:nvSpPr>
        <p:spPr>
          <a:xfrm>
            <a:off x="387061" y="1821470"/>
            <a:ext cx="609426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are Constraints?</a:t>
            </a:r>
          </a:p>
          <a:p>
            <a:pPr lvl="1"/>
            <a:r>
              <a:rPr lang="en-US" dirty="0"/>
              <a:t>Example:</a:t>
            </a:r>
          </a:p>
          <a:p>
            <a:pPr lvl="1"/>
            <a:r>
              <a:rPr lang="en-US" dirty="0">
                <a:latin typeface="Courier New" panose="02070309020205020404" pitchFamily="49" charset="0"/>
              </a:rPr>
              <a:t>1 &lt;= n &lt;= 10^5</a:t>
            </a:r>
          </a:p>
          <a:p>
            <a:pPr lvl="1"/>
            <a:r>
              <a:rPr lang="en-US" dirty="0"/>
              <a:t>Meaning: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Minimum value of </a:t>
            </a:r>
            <a:r>
              <a:rPr lang="en-US" dirty="0">
                <a:latin typeface="Courier New" panose="02070309020205020404" pitchFamily="49" charset="0"/>
              </a:rPr>
              <a:t>n</a:t>
            </a:r>
            <a:r>
              <a:rPr lang="en-US" dirty="0"/>
              <a:t> = 1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Maximum value of </a:t>
            </a:r>
            <a:r>
              <a:rPr lang="en-US" dirty="0">
                <a:latin typeface="Courier New" panose="02070309020205020404" pitchFamily="49" charset="0"/>
              </a:rPr>
              <a:t>n</a:t>
            </a:r>
            <a:r>
              <a:rPr lang="en-US" dirty="0"/>
              <a:t> = 100000 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Why Constraints Matter?</a:t>
            </a:r>
          </a:p>
          <a:p>
            <a:pPr lvl="1"/>
            <a:r>
              <a:rPr lang="en-US" dirty="0"/>
              <a:t>Suppose:</a:t>
            </a:r>
          </a:p>
          <a:p>
            <a:pPr lvl="1"/>
            <a:r>
              <a:rPr lang="en-US" dirty="0">
                <a:latin typeface="Courier New" panose="02070309020205020404" pitchFamily="49" charset="0"/>
              </a:rPr>
              <a:t>n = 100000</a:t>
            </a:r>
          </a:p>
          <a:p>
            <a:pPr lvl="1"/>
            <a:r>
              <a:rPr lang="en-US" dirty="0"/>
              <a:t>If you use:</a:t>
            </a:r>
          </a:p>
          <a:p>
            <a:pPr lvl="1"/>
            <a:r>
              <a:rPr lang="en-US" dirty="0">
                <a:latin typeface="Courier New" panose="02070309020205020404" pitchFamily="49" charset="0"/>
              </a:rPr>
              <a:t>Nested loops → O(n²)</a:t>
            </a:r>
          </a:p>
          <a:p>
            <a:pPr lvl="1"/>
            <a:r>
              <a:rPr lang="en-US" dirty="0"/>
              <a:t>Then operations become:</a:t>
            </a:r>
          </a:p>
          <a:p>
            <a:pPr lvl="1"/>
            <a:r>
              <a:rPr lang="en-US" dirty="0">
                <a:latin typeface="Courier New" panose="02070309020205020404" pitchFamily="49" charset="0"/>
              </a:rPr>
              <a:t>100000 × 100000 = 10^10</a:t>
            </a:r>
          </a:p>
          <a:p>
            <a:pPr lvl="1"/>
            <a:r>
              <a:rPr lang="en-US" dirty="0"/>
              <a:t>Too slow → TLE</a:t>
            </a:r>
          </a:p>
        </p:txBody>
      </p:sp>
    </p:spTree>
    <p:extLst>
      <p:ext uri="{BB962C8B-B14F-4D97-AF65-F5344CB8AC3E}">
        <p14:creationId xmlns:p14="http://schemas.microsoft.com/office/powerpoint/2010/main" val="328231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21FC98-D1EA-3F14-4D7F-EA38040288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376897"/>
              </p:ext>
            </p:extLst>
          </p:nvPr>
        </p:nvGraphicFramePr>
        <p:xfrm>
          <a:off x="0" y="615553"/>
          <a:ext cx="8520546" cy="3354392"/>
        </p:xfrm>
        <a:graphic>
          <a:graphicData uri="http://schemas.openxmlformats.org/drawingml/2006/table">
            <a:tbl>
              <a:tblPr/>
              <a:tblGrid>
                <a:gridCol w="4260273">
                  <a:extLst>
                    <a:ext uri="{9D8B030D-6E8A-4147-A177-3AD203B41FA5}">
                      <a16:colId xmlns:a16="http://schemas.microsoft.com/office/drawing/2014/main" val="2985696027"/>
                    </a:ext>
                  </a:extLst>
                </a:gridCol>
                <a:gridCol w="4260273">
                  <a:extLst>
                    <a:ext uri="{9D8B030D-6E8A-4147-A177-3AD203B41FA5}">
                      <a16:colId xmlns:a16="http://schemas.microsoft.com/office/drawing/2014/main" val="56411643"/>
                    </a:ext>
                  </a:extLst>
                </a:gridCol>
              </a:tblGrid>
              <a:tr h="419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Constraint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Expected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44305"/>
                  </a:ext>
                </a:extLst>
              </a:tr>
              <a:tr h="419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 ≤ 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O(n!) possible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083380"/>
                  </a:ext>
                </a:extLst>
              </a:tr>
              <a:tr h="419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 ≤ 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O(2^n) possible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459719"/>
                  </a:ext>
                </a:extLst>
              </a:tr>
              <a:tr h="419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 ≤ 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O(n³) acceptable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355503"/>
                  </a:ext>
                </a:extLst>
              </a:tr>
              <a:tr h="419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 ≤ 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O(n²) acceptable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280713"/>
                  </a:ext>
                </a:extLst>
              </a:tr>
              <a:tr h="419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 ≤ 10⁵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O(n log n) or 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778259"/>
                  </a:ext>
                </a:extLst>
              </a:tr>
              <a:tr h="419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 ≤ 10⁶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O(n)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773418"/>
                  </a:ext>
                </a:extLst>
              </a:tr>
              <a:tr h="419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 ≥ 10⁷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Need very optimized 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626274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8558B95B-9EF2-08B0-0A5F-3ED0B6186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556664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Golden Rule for Constraints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EBDB62-AEEB-7C01-2A54-42AB831449F6}"/>
              </a:ext>
            </a:extLst>
          </p:cNvPr>
          <p:cNvSpPr txBox="1"/>
          <p:nvPr/>
        </p:nvSpPr>
        <p:spPr>
          <a:xfrm>
            <a:off x="-13854" y="4123833"/>
            <a:ext cx="61098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Time Complexity vs Operations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Computer roughly performs:</a:t>
            </a:r>
          </a:p>
          <a:p>
            <a:pPr>
              <a:buNone/>
            </a:pP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10^8 operations/sec</a:t>
            </a:r>
          </a:p>
        </p:txBody>
      </p:sp>
    </p:spTree>
    <p:extLst>
      <p:ext uri="{BB962C8B-B14F-4D97-AF65-F5344CB8AC3E}">
        <p14:creationId xmlns:p14="http://schemas.microsoft.com/office/powerpoint/2010/main" val="986987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124D48-2215-A4A6-017A-FF231AE74353}"/>
              </a:ext>
            </a:extLst>
          </p:cNvPr>
          <p:cNvSpPr txBox="1"/>
          <p:nvPr/>
        </p:nvSpPr>
        <p:spPr>
          <a:xfrm>
            <a:off x="75334" y="137452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Quick Estimation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9C8047-CE80-8D11-7150-14982BBEA1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794251"/>
              </p:ext>
            </p:extLst>
          </p:nvPr>
        </p:nvGraphicFramePr>
        <p:xfrm>
          <a:off x="394854" y="626327"/>
          <a:ext cx="10120746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73582">
                  <a:extLst>
                    <a:ext uri="{9D8B030D-6E8A-4147-A177-3AD203B41FA5}">
                      <a16:colId xmlns:a16="http://schemas.microsoft.com/office/drawing/2014/main" val="3193596549"/>
                    </a:ext>
                  </a:extLst>
                </a:gridCol>
                <a:gridCol w="3373582">
                  <a:extLst>
                    <a:ext uri="{9D8B030D-6E8A-4147-A177-3AD203B41FA5}">
                      <a16:colId xmlns:a16="http://schemas.microsoft.com/office/drawing/2014/main" val="1324977927"/>
                    </a:ext>
                  </a:extLst>
                </a:gridCol>
                <a:gridCol w="3373582">
                  <a:extLst>
                    <a:ext uri="{9D8B030D-6E8A-4147-A177-3AD203B41FA5}">
                      <a16:colId xmlns:a16="http://schemas.microsoft.com/office/drawing/2014/main" val="3086325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n = 10³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n = 10⁵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6169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3254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O(log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5508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150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O(n 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2804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63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O(n³)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4046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O(2^n)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882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8736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3C725D-3223-45D5-372E-EC12EBA1CB3F}"/>
              </a:ext>
            </a:extLst>
          </p:cNvPr>
          <p:cNvSpPr txBox="1"/>
          <p:nvPr/>
        </p:nvSpPr>
        <p:spPr>
          <a:xfrm>
            <a:off x="75334" y="0"/>
            <a:ext cx="60942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1 — Two Sum</a:t>
            </a:r>
          </a:p>
          <a:p>
            <a:pPr>
              <a:buNone/>
            </a:pPr>
            <a:r>
              <a:rPr lang="en-US" dirty="0"/>
              <a:t>Constraint: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2 &lt;= </a:t>
            </a:r>
            <a:r>
              <a:rPr lang="en-US" dirty="0" err="1">
                <a:latin typeface="Courier New" panose="02070309020205020404" pitchFamily="49" charset="0"/>
              </a:rPr>
              <a:t>nums.length</a:t>
            </a:r>
            <a:r>
              <a:rPr lang="en-US" dirty="0">
                <a:latin typeface="Courier New" panose="02070309020205020404" pitchFamily="49" charset="0"/>
              </a:rPr>
              <a:t> &lt;= 10^4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Can we use O(n²)?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10^4 × 10^4 = 10^8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Borderline</a:t>
            </a:r>
          </a:p>
          <a:p>
            <a:pPr>
              <a:buNone/>
            </a:pPr>
            <a:r>
              <a:rPr lang="en-US" dirty="0"/>
              <a:t>May pass in some platforms, but risky.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9D02BD-CE27-B7D0-2178-636B68DB68EE}"/>
              </a:ext>
            </a:extLst>
          </p:cNvPr>
          <p:cNvSpPr txBox="1"/>
          <p:nvPr/>
        </p:nvSpPr>
        <p:spPr>
          <a:xfrm>
            <a:off x="75334" y="3176930"/>
            <a:ext cx="60942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Better Solution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Use HashMap: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O(n)</a:t>
            </a:r>
          </a:p>
          <a:p>
            <a:pPr>
              <a:buNone/>
            </a:pPr>
            <a:r>
              <a:rPr lang="en-US" dirty="0"/>
              <a:t>Best choice</a:t>
            </a:r>
          </a:p>
        </p:txBody>
      </p:sp>
    </p:spTree>
    <p:extLst>
      <p:ext uri="{BB962C8B-B14F-4D97-AF65-F5344CB8AC3E}">
        <p14:creationId xmlns:p14="http://schemas.microsoft.com/office/powerpoint/2010/main" val="3078782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65924B-8EF7-D80B-AA29-57DE98D6AEC3}"/>
              </a:ext>
            </a:extLst>
          </p:cNvPr>
          <p:cNvSpPr txBox="1"/>
          <p:nvPr/>
        </p:nvSpPr>
        <p:spPr>
          <a:xfrm>
            <a:off x="220806" y="79215"/>
            <a:ext cx="482917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 2 — Bubble Sort</a:t>
            </a:r>
          </a:p>
          <a:p>
            <a:pPr>
              <a:buNone/>
            </a:pPr>
            <a:r>
              <a:rPr lang="en-IN" dirty="0"/>
              <a:t>Constraint: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n &lt;= 10^5</a:t>
            </a:r>
          </a:p>
          <a:p>
            <a:pPr>
              <a:buNone/>
            </a:pPr>
            <a:r>
              <a:rPr lang="en-IN" dirty="0"/>
              <a:t>Bubble sort complexity: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O(n²)</a:t>
            </a:r>
          </a:p>
          <a:p>
            <a:pPr>
              <a:buNone/>
            </a:pPr>
            <a:r>
              <a:rPr lang="en-IN" dirty="0"/>
              <a:t>Operations: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10^5 × 10^5 = 10^10</a:t>
            </a:r>
          </a:p>
          <a:p>
            <a:pPr>
              <a:buNone/>
            </a:pPr>
            <a:r>
              <a:rPr lang="en-IN" dirty="0"/>
              <a:t>Impossible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Correct Approach</a:t>
            </a:r>
          </a:p>
          <a:p>
            <a:pPr>
              <a:buNone/>
            </a:pPr>
            <a:r>
              <a:rPr lang="en-IN" dirty="0"/>
              <a:t>Use: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Merge Sort / STL sort</a:t>
            </a:r>
          </a:p>
          <a:p>
            <a:pPr>
              <a:buNone/>
            </a:pPr>
            <a:r>
              <a:rPr lang="en-IN" dirty="0"/>
              <a:t>Complexity: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O(n log n)</a:t>
            </a:r>
          </a:p>
        </p:txBody>
      </p:sp>
    </p:spTree>
    <p:extLst>
      <p:ext uri="{BB962C8B-B14F-4D97-AF65-F5344CB8AC3E}">
        <p14:creationId xmlns:p14="http://schemas.microsoft.com/office/powerpoint/2010/main" val="3827272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B01284-24D9-A35D-9C8A-9F035E477F45}"/>
              </a:ext>
            </a:extLst>
          </p:cNvPr>
          <p:cNvSpPr txBox="1"/>
          <p:nvPr/>
        </p:nvSpPr>
        <p:spPr>
          <a:xfrm>
            <a:off x="96116" y="99858"/>
            <a:ext cx="53487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Understanding Common Constraint Patterns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Pattern 1: Small Constraints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n &lt;= 20</a:t>
            </a:r>
          </a:p>
          <a:p>
            <a:pPr>
              <a:buNone/>
            </a:pPr>
            <a:r>
              <a:rPr lang="en-US" dirty="0"/>
              <a:t>Usually means: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Backtracking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Recursion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Bitmasking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Possible complexities: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	O(2^n), O(n!)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B3E0A8-F12F-A73E-A85D-361FDA2F6458}"/>
              </a:ext>
            </a:extLst>
          </p:cNvPr>
          <p:cNvSpPr txBox="1"/>
          <p:nvPr/>
        </p:nvSpPr>
        <p:spPr>
          <a:xfrm>
            <a:off x="96116" y="3348520"/>
            <a:ext cx="60942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Pattern 2: Medium Constraints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n &lt;= 1000</a:t>
            </a:r>
          </a:p>
          <a:p>
            <a:pPr>
              <a:buNone/>
            </a:pPr>
            <a:r>
              <a:rPr lang="en-US" dirty="0"/>
              <a:t>Usually: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Nested loops acceptable </a:t>
            </a:r>
          </a:p>
          <a:p>
            <a:pPr>
              <a:buNone/>
            </a:pPr>
            <a:r>
              <a:rPr lang="en-US" dirty="0"/>
              <a:t>Possible: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O(n²)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73C45B-1EB4-ADEA-6623-4897ABBFA4F6}"/>
              </a:ext>
            </a:extLst>
          </p:cNvPr>
          <p:cNvSpPr txBox="1"/>
          <p:nvPr/>
        </p:nvSpPr>
        <p:spPr>
          <a:xfrm>
            <a:off x="5444836" y="811875"/>
            <a:ext cx="609426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Pattern 3: Large Constraints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n &lt;= 10^5</a:t>
            </a:r>
          </a:p>
          <a:p>
            <a:pPr>
              <a:buNone/>
            </a:pPr>
            <a:r>
              <a:rPr lang="en-US" dirty="0"/>
              <a:t>Usually requires: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HashMap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Sliding Window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Binary Search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Heap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Greedy </a:t>
            </a:r>
          </a:p>
          <a:p>
            <a:pPr>
              <a:buNone/>
            </a:pPr>
            <a:r>
              <a:rPr lang="en-US" dirty="0"/>
              <a:t>Target: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	O(n) or O(n log n)</a:t>
            </a:r>
          </a:p>
        </p:txBody>
      </p:sp>
    </p:spTree>
    <p:extLst>
      <p:ext uri="{BB962C8B-B14F-4D97-AF65-F5344CB8AC3E}">
        <p14:creationId xmlns:p14="http://schemas.microsoft.com/office/powerpoint/2010/main" val="4147284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8D96C2-6594-EF5A-03DA-44DF5642EE62}"/>
              </a:ext>
            </a:extLst>
          </p:cNvPr>
          <p:cNvSpPr txBox="1"/>
          <p:nvPr/>
        </p:nvSpPr>
        <p:spPr>
          <a:xfrm>
            <a:off x="85724" y="213744"/>
            <a:ext cx="60942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Space Constraints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Memory Limit = 256 MB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F751E8-7EB8-8044-A2BE-D4A524D3DB25}"/>
              </a:ext>
            </a:extLst>
          </p:cNvPr>
          <p:cNvSpPr txBox="1"/>
          <p:nvPr/>
        </p:nvSpPr>
        <p:spPr>
          <a:xfrm>
            <a:off x="85724" y="1270061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Important Approximation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F2D325-9387-EC96-113B-A990CDC2B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8043"/>
              </p:ext>
            </p:extLst>
          </p:nvPr>
        </p:nvGraphicFramePr>
        <p:xfrm>
          <a:off x="193963" y="1710034"/>
          <a:ext cx="10515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468405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229538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4232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 bytes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6069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long </a:t>
                      </a:r>
                      <a:r>
                        <a:rPr lang="en-IN" b="1" dirty="0" err="1"/>
                        <a:t>long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 bytes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3884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 byte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74715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9F2E2C4-FDED-688C-82FB-8FA814B30B41}"/>
              </a:ext>
            </a:extLst>
          </p:cNvPr>
          <p:cNvSpPr txBox="1"/>
          <p:nvPr/>
        </p:nvSpPr>
        <p:spPr>
          <a:xfrm>
            <a:off x="210416" y="3274613"/>
            <a:ext cx="60942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int </a:t>
            </a: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[100000]</a:t>
            </a:r>
          </a:p>
          <a:p>
            <a:pPr>
              <a:buNone/>
            </a:pPr>
            <a:r>
              <a:rPr lang="en-US" dirty="0"/>
              <a:t>Memory: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100000 × 4 = 400000 bytes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≈ 0.4 MB</a:t>
            </a:r>
          </a:p>
          <a:p>
            <a:pPr>
              <a:buNone/>
            </a:pPr>
            <a:r>
              <a:rPr lang="en-US" dirty="0"/>
              <a:t>Safe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But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int </a:t>
            </a: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[100000000]</a:t>
            </a:r>
          </a:p>
          <a:p>
            <a:pPr>
              <a:buNone/>
            </a:pPr>
            <a:r>
              <a:rPr lang="en-US" dirty="0"/>
              <a:t>Memory: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100000000 × 4 = 400 MB</a:t>
            </a:r>
          </a:p>
          <a:p>
            <a:pPr>
              <a:buNone/>
            </a:pPr>
            <a:r>
              <a:rPr lang="en-US" dirty="0"/>
              <a:t>Memory Limit Exceeded</a:t>
            </a:r>
          </a:p>
        </p:txBody>
      </p:sp>
    </p:spTree>
    <p:extLst>
      <p:ext uri="{BB962C8B-B14F-4D97-AF65-F5344CB8AC3E}">
        <p14:creationId xmlns:p14="http://schemas.microsoft.com/office/powerpoint/2010/main" val="1454798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763DB2-EC3B-AFFE-3295-41451BD305BF}"/>
              </a:ext>
            </a:extLst>
          </p:cNvPr>
          <p:cNvSpPr txBox="1"/>
          <p:nvPr/>
        </p:nvSpPr>
        <p:spPr>
          <a:xfrm>
            <a:off x="96115" y="148672"/>
            <a:ext cx="456940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Constraints Help Identify Algorithm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Example 1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n &lt;= 10^5</a:t>
            </a:r>
          </a:p>
          <a:p>
            <a:pPr>
              <a:buNone/>
            </a:pPr>
            <a:r>
              <a:rPr lang="en-IN" dirty="0"/>
              <a:t>Immediately think:</a:t>
            </a:r>
          </a:p>
          <a:p>
            <a:pPr>
              <a:buNone/>
            </a:pPr>
            <a:r>
              <a:rPr lang="en-IN" dirty="0"/>
              <a:t>O(n)</a:t>
            </a:r>
            <a:br>
              <a:rPr lang="en-IN" dirty="0"/>
            </a:br>
            <a:r>
              <a:rPr lang="en-IN" dirty="0"/>
              <a:t>O(n log n)</a:t>
            </a:r>
          </a:p>
          <a:p>
            <a:pPr>
              <a:buNone/>
            </a:pPr>
            <a:r>
              <a:rPr lang="en-IN" dirty="0"/>
              <a:t>O(n²)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Example 2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n &lt;= 500</a:t>
            </a:r>
          </a:p>
          <a:p>
            <a:pPr>
              <a:buNone/>
            </a:pPr>
            <a:r>
              <a:rPr lang="en-IN" dirty="0"/>
              <a:t>O(n²) may work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Example 3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n &lt;= 15</a:t>
            </a:r>
          </a:p>
          <a:p>
            <a:pPr>
              <a:buNone/>
            </a:pPr>
            <a:r>
              <a:rPr lang="en-IN" dirty="0"/>
              <a:t>Backtracking possible</a:t>
            </a:r>
          </a:p>
        </p:txBody>
      </p:sp>
    </p:spTree>
    <p:extLst>
      <p:ext uri="{BB962C8B-B14F-4D97-AF65-F5344CB8AC3E}">
        <p14:creationId xmlns:p14="http://schemas.microsoft.com/office/powerpoint/2010/main" val="2411638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34C3E3-6E5E-F4B1-27A8-6D21AB85D28B}"/>
              </a:ext>
            </a:extLst>
          </p:cNvPr>
          <p:cNvSpPr txBox="1"/>
          <p:nvPr/>
        </p:nvSpPr>
        <p:spPr>
          <a:xfrm>
            <a:off x="1732" y="0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Integer Range Constraints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559FEC-F7EC-5252-1F82-6AC667C15287}"/>
              </a:ext>
            </a:extLst>
          </p:cNvPr>
          <p:cNvSpPr txBox="1"/>
          <p:nvPr/>
        </p:nvSpPr>
        <p:spPr>
          <a:xfrm>
            <a:off x="109105" y="369332"/>
            <a:ext cx="365240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int Range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-2^31 to 2^31-1</a:t>
            </a:r>
          </a:p>
          <a:p>
            <a:pPr>
              <a:buNone/>
            </a:pPr>
            <a:r>
              <a:rPr lang="en-US" dirty="0"/>
              <a:t>Approx: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-2 billion to +2 billion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long </a:t>
            </a:r>
            <a:r>
              <a:rPr lang="en-US" b="1" dirty="0" err="1"/>
              <a:t>long</a:t>
            </a:r>
            <a:r>
              <a:rPr lang="en-US" b="1" dirty="0"/>
              <a:t> Range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-2^63 to 2^63-1</a:t>
            </a:r>
          </a:p>
          <a:p>
            <a:pPr>
              <a:buNone/>
            </a:pPr>
            <a:r>
              <a:rPr lang="en-US" dirty="0"/>
              <a:t>Very large numbers.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Common Mistake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If constraint says: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10^18</a:t>
            </a:r>
          </a:p>
          <a:p>
            <a:pPr>
              <a:buNone/>
            </a:pPr>
            <a:r>
              <a:rPr lang="en-US" dirty="0"/>
              <a:t>int fails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Use: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long </a:t>
            </a:r>
            <a:r>
              <a:rPr lang="en-US" dirty="0" err="1">
                <a:latin typeface="Courier New" panose="02070309020205020404" pitchFamily="49" charset="0"/>
              </a:rPr>
              <a:t>long</a:t>
            </a:r>
            <a:endParaRPr lang="en-US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71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FC529E-6815-96BF-EDA8-CCE13B08D390}"/>
              </a:ext>
            </a:extLst>
          </p:cNvPr>
          <p:cNvSpPr txBox="1"/>
          <p:nvPr/>
        </p:nvSpPr>
        <p:spPr>
          <a:xfrm>
            <a:off x="116897" y="85498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Constraints help you decide: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CF8674-FDF2-1203-6129-6DD7461B9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255460"/>
              </p:ext>
            </p:extLst>
          </p:nvPr>
        </p:nvGraphicFramePr>
        <p:xfrm>
          <a:off x="838200" y="541122"/>
          <a:ext cx="105156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53935211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285182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Constraint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Data Structure / Algorithm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96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Small 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Recursion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9848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Medium 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DP / Nested loops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2198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Large 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HashMap / Heap / Sliding Window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319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Sorted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Binary Search / Two Pointer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75884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D6EF651-314E-3CCD-ACBE-33A27D2F9E3D}"/>
              </a:ext>
            </a:extLst>
          </p:cNvPr>
          <p:cNvSpPr txBox="1"/>
          <p:nvPr/>
        </p:nvSpPr>
        <p:spPr>
          <a:xfrm>
            <a:off x="116897" y="2456214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Final Cheat Sheet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011873-C5A5-15C3-AE51-301CAAA9F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884310"/>
              </p:ext>
            </p:extLst>
          </p:nvPr>
        </p:nvGraphicFramePr>
        <p:xfrm>
          <a:off x="838200" y="3001689"/>
          <a:ext cx="10515600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265342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163863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n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Best 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1192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factorial possible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2170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exponential possible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0186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cubic possible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8434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quadratic possible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860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linear or n log 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4605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linear 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0005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232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642</Words>
  <Application>Microsoft Office PowerPoint</Application>
  <PresentationFormat>Widescreen</PresentationFormat>
  <Paragraphs>202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KAARTIK SHUKLA</dc:creator>
  <cp:lastModifiedBy>KAARTIK SHUKLA</cp:lastModifiedBy>
  <cp:revision>20</cp:revision>
  <dcterms:created xsi:type="dcterms:W3CDTF">2026-05-07T15:51:53Z</dcterms:created>
  <dcterms:modified xsi:type="dcterms:W3CDTF">2026-05-08T07:33:30Z</dcterms:modified>
</cp:coreProperties>
</file>