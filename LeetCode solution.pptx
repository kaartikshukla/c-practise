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61" r:id="rId4"/>
    <p:sldId id="266" r:id="rId5"/>
    <p:sldId id="262" r:id="rId6"/>
    <p:sldId id="267" r:id="rId7"/>
    <p:sldId id="263" r:id="rId8"/>
    <p:sldId id="268" r:id="rId9"/>
    <p:sldId id="269" r:id="rId10"/>
    <p:sldId id="259" r:id="rId11"/>
    <p:sldId id="260" r:id="rId12"/>
    <p:sldId id="273" r:id="rId13"/>
    <p:sldId id="264" r:id="rId14"/>
    <p:sldId id="274" r:id="rId15"/>
    <p:sldId id="265" r:id="rId16"/>
    <p:sldId id="275" r:id="rId17"/>
    <p:sldId id="276" r:id="rId18"/>
    <p:sldId id="277" r:id="rId19"/>
    <p:sldId id="280" r:id="rId20"/>
    <p:sldId id="281" r:id="rId21"/>
    <p:sldId id="278" r:id="rId22"/>
    <p:sldId id="279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SA-1_II_Sem" id="{A3EB61D3-E3BF-4FD8-8A00-9C6655171965}">
          <p14:sldIdLst>
            <p14:sldId id="257"/>
            <p14:sldId id="258"/>
          </p14:sldIdLst>
        </p14:section>
        <p14:section name="DSA-2_IV_Sem" id="{8AFF97ED-2AD2-48E7-9934-07110F94CA49}">
          <p14:sldIdLst>
            <p14:sldId id="261"/>
            <p14:sldId id="266"/>
            <p14:sldId id="262"/>
            <p14:sldId id="267"/>
            <p14:sldId id="263"/>
            <p14:sldId id="268"/>
            <p14:sldId id="269"/>
            <p14:sldId id="259"/>
            <p14:sldId id="260"/>
            <p14:sldId id="273"/>
            <p14:sldId id="264"/>
            <p14:sldId id="274"/>
            <p14:sldId id="265"/>
            <p14:sldId id="275"/>
            <p14:sldId id="276"/>
            <p14:sldId id="277"/>
            <p14:sldId id="280"/>
            <p14:sldId id="281"/>
            <p14:sldId id="278"/>
            <p14:sldId id="279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2FA15-6A89-4217-BB3F-A8A4DB5A2184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A0ACE-2DF8-47C4-8375-0D3454305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17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5990-3B7E-E5F8-759F-7BE6CEDD2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EA50E-96B2-9B42-5B9A-AF52CD7B9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74D74-2A38-0C62-FF22-B2A97D5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E52F6-C171-3C79-82DC-17985941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91195-3664-1566-DD3A-57EB05B4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82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72FA-D881-F452-4800-C5F8D6C5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F3B6-369E-74AD-1581-7F016AF5D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8E22-2F7E-2F33-A745-D5A5A9140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80C7B-7B71-78DA-4E11-E81D37AC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C6B04-BC71-862A-053E-5AB43242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97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3960-4AB4-4FAD-67F2-BFE80F5D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C39C3-5268-8D6E-E0F6-92AAAF48E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65B0E-D8C6-482A-9550-071B847F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4CDC-1065-88C3-CC8E-3CAE8408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0590-241C-2969-AADE-DA929337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4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35B2-CF81-C146-A383-D1D254C7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C902-4BA4-D6EF-90E0-D2C6FB5D7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C5BB0-AD85-59C5-D0ED-80A4C5439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E4B62-4586-8586-CDD3-0D68DCBBF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32CDD-999D-4624-3E13-DBFDF9CC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9479-9FC7-1DC7-5CBF-F274E2ED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6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99D3-3FEF-15BD-A0EF-FB8E4FEC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A680D-471B-0927-C604-BB26AA2EE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1E9A2-ED13-E3CB-7C57-1C7650487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F4EA2-125D-E31C-A8FA-A5C6345FD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B7279-BAEC-AABD-D4E4-8671BB5B0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C20E4-D22E-F4C2-7B23-9E93B5A3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72411-738B-8CAD-DA83-AF55FBB3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FA146-8F1C-08C8-FFE2-E78E06A1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52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1B5F-C645-8AFC-48B1-C23D06B1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79ECC-D941-63C0-0EE7-5A8C9F3A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2A79B-8834-1E61-56C9-0674FE13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DF49F-DDBA-4BAD-E64D-B87747E8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8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65338-6820-E2C8-674B-F725326B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506EE-526F-CA6C-2BD4-2F5A0EB9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7C95B-ED78-FB29-2CA1-38CD4F87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03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CE9A-2F42-1A4D-1330-AAF974BA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EDEC-8EEA-4A09-BB55-9968A109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45E85-BFC1-AFCC-358D-534A749A0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43F6-79E3-6819-6E37-270499A1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2D2D5-AFEC-D868-82FB-CC84107D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13128-7A93-E3B2-80CD-74919B543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03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A184-0064-B657-D97F-9768509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43918-0BA5-D042-6D22-EB3D57A48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BE7F3-4309-C5BC-D3F0-A5E09C717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617B7-2380-8F6B-A33C-AF70A766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622CE-741C-F94A-8137-51792DBE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CE252-72DD-B913-1EFB-4A353C42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18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0B31-98B1-A0B7-560F-F7122F5F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17C0C-7038-37F0-2B2F-56026C8EA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635B-A9A6-2CD8-C38E-30E514C7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B2AE-84EC-14BF-CBB7-6EF191DC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F655-CA8D-84F8-4943-D88D7C29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7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F68689-288D-B169-E5BF-F8AF0D6F6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D9D94-BD8B-6FD0-687D-7EAEC7660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1DA0F-D8EE-7A27-FE59-C7F3C898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D5CFC-9D4F-72B4-B647-C7D22AA9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5ADCC-FAF8-E0B0-4CF5-1F786CD1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01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84FDE-A0BD-9077-D260-9FB75C3E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4E409-D06B-4776-5DCC-3B028242C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DCBD5-47C8-743E-D169-448A864F1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100D9-9907-4119-97D1-136C316F8130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73FDF-FA41-508B-97A5-493AB127C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9F112-913C-D6B0-6FA6-8CB35976D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C810B-9580-44A1-AEC3-9674EA4A7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60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1930-7C69-09F1-F23C-93F70E04E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4" y="138983"/>
            <a:ext cx="11700386" cy="785249"/>
          </a:xfrm>
        </p:spPr>
        <p:txBody>
          <a:bodyPr/>
          <a:lstStyle/>
          <a:p>
            <a:r>
              <a:rPr lang="en-IN" dirty="0"/>
              <a:t>231. Power of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34CE5-CE23-A15E-7B6B-F2E9AF811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4" y="1307690"/>
            <a:ext cx="11700386" cy="5411327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class Solution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bool </a:t>
            </a:r>
            <a:r>
              <a:rPr lang="en-IN" dirty="0" err="1"/>
              <a:t>isPowerOfTwo</a:t>
            </a:r>
            <a:r>
              <a:rPr lang="en-IN" dirty="0"/>
              <a:t>(int n) {</a:t>
            </a:r>
          </a:p>
          <a:p>
            <a:pPr marL="0" indent="0">
              <a:buNone/>
            </a:pPr>
            <a:r>
              <a:rPr lang="en-IN" dirty="0"/>
              <a:t>        int temp = n;</a:t>
            </a:r>
          </a:p>
          <a:p>
            <a:pPr marL="0" indent="0">
              <a:buNone/>
            </a:pPr>
            <a:r>
              <a:rPr lang="en-IN" dirty="0"/>
              <a:t>        int a = 0;</a:t>
            </a:r>
          </a:p>
          <a:p>
            <a:pPr marL="0" indent="0">
              <a:buNone/>
            </a:pPr>
            <a:r>
              <a:rPr lang="en-IN" dirty="0"/>
              <a:t>        if(n &lt;= 0){</a:t>
            </a:r>
          </a:p>
          <a:p>
            <a:pPr marL="0" indent="0">
              <a:buNone/>
            </a:pPr>
            <a:r>
              <a:rPr lang="en-IN" dirty="0"/>
              <a:t>            return false;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while(temp != 1){</a:t>
            </a:r>
          </a:p>
          <a:p>
            <a:pPr marL="0" indent="0">
              <a:buNone/>
            </a:pPr>
            <a:r>
              <a:rPr lang="en-IN" dirty="0"/>
              <a:t>            if(temp%2 == 1){</a:t>
            </a:r>
          </a:p>
          <a:p>
            <a:pPr marL="0" indent="0">
              <a:buNone/>
            </a:pPr>
            <a:r>
              <a:rPr lang="en-IN" dirty="0"/>
              <a:t>                a = 1;</a:t>
            </a:r>
          </a:p>
          <a:p>
            <a:pPr marL="0" indent="0">
              <a:buNone/>
            </a:pPr>
            <a:r>
              <a:rPr lang="en-IN" dirty="0"/>
              <a:t>                break;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    temp /=2;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if(a == 0){</a:t>
            </a:r>
          </a:p>
          <a:p>
            <a:pPr marL="0" indent="0">
              <a:buNone/>
            </a:pPr>
            <a:r>
              <a:rPr lang="en-IN" dirty="0"/>
              <a:t>            return true;</a:t>
            </a:r>
          </a:p>
          <a:p>
            <a:pPr marL="0" indent="0">
              <a:buNone/>
            </a:pPr>
            <a:r>
              <a:rPr lang="en-IN" dirty="0"/>
              <a:t>        }else{</a:t>
            </a:r>
          </a:p>
          <a:p>
            <a:pPr marL="0" indent="0">
              <a:buNone/>
            </a:pPr>
            <a:r>
              <a:rPr lang="en-IN" dirty="0"/>
              <a:t>            return false;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608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928B-A340-7137-671C-FB60A8E8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E2B0-02E6-15AD-05A3-0560EB52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4" y="138983"/>
            <a:ext cx="5958348" cy="785249"/>
          </a:xfrm>
        </p:spPr>
        <p:txBody>
          <a:bodyPr>
            <a:normAutofit/>
          </a:bodyPr>
          <a:lstStyle/>
          <a:p>
            <a:r>
              <a:rPr lang="en-IN" dirty="0"/>
              <a:t>258. Add Digits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040E7A-233F-D74C-5630-D7EF140A0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1" y="924231"/>
            <a:ext cx="4117259" cy="4532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addDigits</a:t>
            </a:r>
            <a:r>
              <a:rPr lang="en-IN" sz="2400" dirty="0"/>
              <a:t>(int </a:t>
            </a:r>
            <a:r>
              <a:rPr lang="en-IN" sz="2400" dirty="0" err="1"/>
              <a:t>num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    while (</a:t>
            </a:r>
            <a:r>
              <a:rPr lang="en-IN" sz="2400" dirty="0" err="1"/>
              <a:t>num</a:t>
            </a:r>
            <a:r>
              <a:rPr lang="en-IN" sz="2400" dirty="0"/>
              <a:t> &gt;= 10) {</a:t>
            </a:r>
          </a:p>
          <a:p>
            <a:pPr marL="0" indent="0">
              <a:buNone/>
            </a:pPr>
            <a:r>
              <a:rPr lang="en-IN" sz="2400" dirty="0"/>
              <a:t>            int sum = 0;</a:t>
            </a:r>
          </a:p>
          <a:p>
            <a:pPr marL="0" indent="0">
              <a:buNone/>
            </a:pPr>
            <a:r>
              <a:rPr lang="en-IN" sz="2400" dirty="0"/>
              <a:t>            while (</a:t>
            </a:r>
            <a:r>
              <a:rPr lang="en-IN" sz="2400" dirty="0" err="1"/>
              <a:t>num</a:t>
            </a:r>
            <a:r>
              <a:rPr lang="en-IN" sz="2400" dirty="0"/>
              <a:t> &gt; 0) {</a:t>
            </a:r>
          </a:p>
          <a:p>
            <a:pPr marL="0" indent="0">
              <a:buNone/>
            </a:pPr>
            <a:r>
              <a:rPr lang="en-IN" sz="2400" dirty="0"/>
              <a:t>                sum += </a:t>
            </a:r>
            <a:r>
              <a:rPr lang="en-IN" sz="2400" dirty="0" err="1"/>
              <a:t>num</a:t>
            </a:r>
            <a:r>
              <a:rPr lang="en-IN" sz="2400" dirty="0"/>
              <a:t> % 10;</a:t>
            </a:r>
          </a:p>
          <a:p>
            <a:pPr marL="0" indent="0">
              <a:buNone/>
            </a:pPr>
            <a:r>
              <a:rPr lang="en-IN" sz="2400" dirty="0"/>
              <a:t>                </a:t>
            </a:r>
            <a:r>
              <a:rPr lang="en-IN" sz="2400" dirty="0" err="1"/>
              <a:t>num</a:t>
            </a:r>
            <a:r>
              <a:rPr lang="en-IN" sz="2400" dirty="0"/>
              <a:t> /= 10;</a:t>
            </a:r>
          </a:p>
          <a:p>
            <a:pPr marL="0" indent="0">
              <a:buNone/>
            </a:pPr>
            <a:r>
              <a:rPr lang="en-IN" sz="2400" dirty="0"/>
              <a:t>            }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num</a:t>
            </a:r>
            <a:r>
              <a:rPr lang="en-IN" sz="2400" dirty="0"/>
              <a:t> = sum;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    return </a:t>
            </a:r>
            <a:r>
              <a:rPr lang="en-IN" sz="2400" dirty="0" err="1"/>
              <a:t>num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872FF-CFA1-BF03-BE18-2E3E84E14392}"/>
              </a:ext>
            </a:extLst>
          </p:cNvPr>
          <p:cNvSpPr txBox="1"/>
          <p:nvPr/>
        </p:nvSpPr>
        <p:spPr>
          <a:xfrm>
            <a:off x="1042219" y="5552987"/>
            <a:ext cx="5958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O(d)</a:t>
            </a:r>
            <a:r>
              <a:rPr lang="en-US" sz="2000" dirty="0"/>
              <a:t> per iteration, where </a:t>
            </a:r>
            <a:r>
              <a:rPr lang="en-US" sz="2000" dirty="0">
                <a:latin typeface="Courier New" panose="02070309020205020404" pitchFamily="49" charset="0"/>
              </a:rPr>
              <a:t>d</a:t>
            </a:r>
            <a:r>
              <a:rPr lang="en-US" sz="2000" dirty="0"/>
              <a:t> = number of digits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Runs few times → acceptable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902CF-5588-3459-77F0-E9B97F0A22F9}"/>
              </a:ext>
            </a:extLst>
          </p:cNvPr>
          <p:cNvSpPr txBox="1"/>
          <p:nvPr/>
        </p:nvSpPr>
        <p:spPr>
          <a:xfrm>
            <a:off x="6666271" y="243602"/>
            <a:ext cx="4375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addDigits</a:t>
            </a:r>
            <a:r>
              <a:rPr lang="en-US" sz="2400" dirty="0"/>
              <a:t>(int num) {</a:t>
            </a:r>
          </a:p>
          <a:p>
            <a:r>
              <a:rPr lang="en-US" sz="2400" dirty="0"/>
              <a:t>        if (num == 0) return 0;</a:t>
            </a:r>
          </a:p>
          <a:p>
            <a:r>
              <a:rPr lang="en-US" sz="2400" dirty="0"/>
              <a:t>        return 1 + (num - 1) % 9;</a:t>
            </a:r>
          </a:p>
          <a:p>
            <a:r>
              <a:rPr lang="en-US" sz="2400" dirty="0"/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99A66-A7D4-BB26-8C5F-F779E1D99B79}"/>
              </a:ext>
            </a:extLst>
          </p:cNvPr>
          <p:cNvSpPr txBox="1"/>
          <p:nvPr/>
        </p:nvSpPr>
        <p:spPr>
          <a:xfrm>
            <a:off x="6803924" y="2257969"/>
            <a:ext cx="54667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O(1)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No loops, no recursion</a:t>
            </a:r>
          </a:p>
        </p:txBody>
      </p:sp>
    </p:spTree>
    <p:extLst>
      <p:ext uri="{BB962C8B-B14F-4D97-AF65-F5344CB8AC3E}">
        <p14:creationId xmlns:p14="http://schemas.microsoft.com/office/powerpoint/2010/main" val="93317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480F8-2F3E-5032-11D4-678A64A2FC5C}"/>
              </a:ext>
            </a:extLst>
          </p:cNvPr>
          <p:cNvSpPr txBox="1"/>
          <p:nvPr/>
        </p:nvSpPr>
        <p:spPr>
          <a:xfrm>
            <a:off x="639097" y="1588531"/>
            <a:ext cx="99207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Brute Force Approach</a:t>
            </a:r>
          </a:p>
          <a:p>
            <a:pPr>
              <a:buNone/>
            </a:pPr>
            <a:r>
              <a:rPr lang="en-US" sz="2400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Start with a variable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>
                <a:latin typeface="Courier New" panose="02070309020205020404" pitchFamily="49" charset="0"/>
              </a:rPr>
              <a:t> = 0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Use two loops: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Outer loop selects starting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Inner loop selects ending index </a:t>
            </a:r>
            <a:r>
              <a:rPr lang="en-US" sz="2400" dirty="0">
                <a:latin typeface="Courier New" panose="02070309020205020404" pitchFamily="49" charset="0"/>
              </a:rPr>
              <a:t>j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For each substring from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 to </a:t>
            </a:r>
            <a:r>
              <a:rPr lang="en-US" sz="2400" dirty="0">
                <a:latin typeface="Courier New" panose="02070309020205020404" pitchFamily="49" charset="0"/>
              </a:rPr>
              <a:t>j</a:t>
            </a:r>
            <a:r>
              <a:rPr lang="en-US" sz="2400" dirty="0"/>
              <a:t>, maintain a </a:t>
            </a:r>
            <a:r>
              <a:rPr lang="en-US" sz="2400" b="1" dirty="0"/>
              <a:t>frequency array or set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Check if the current character is already present (means repeating).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not repeating, increase substring length and update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repeating, stop extending this substring and move to next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After checking all possible substrings, return </a:t>
            </a:r>
            <a:r>
              <a:rPr lang="en-US" sz="2400" dirty="0" err="1">
                <a:latin typeface="Courier New" panose="02070309020205020404" pitchFamily="49" charset="0"/>
              </a:rPr>
              <a:t>maxLen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A3108-89C1-B420-DE94-050DF1C75E93}"/>
              </a:ext>
            </a:extLst>
          </p:cNvPr>
          <p:cNvSpPr txBox="1"/>
          <p:nvPr/>
        </p:nvSpPr>
        <p:spPr>
          <a:xfrm>
            <a:off x="639097" y="353961"/>
            <a:ext cx="10432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Longest Substring Without Repeating Characters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5898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5C9A98-3C67-9A05-DEDB-D76913A68891}"/>
              </a:ext>
            </a:extLst>
          </p:cNvPr>
          <p:cNvSpPr txBox="1"/>
          <p:nvPr/>
        </p:nvSpPr>
        <p:spPr>
          <a:xfrm>
            <a:off x="491613" y="596828"/>
            <a:ext cx="113562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Outer loop →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Inner loop →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Checking unique characters → O(n)</a:t>
            </a:r>
          </a:p>
          <a:p>
            <a:pPr>
              <a:buNone/>
            </a:pPr>
            <a:r>
              <a:rPr lang="en-US" sz="2400" dirty="0"/>
              <a:t>Total: </a:t>
            </a:r>
            <a:r>
              <a:rPr lang="en-US" sz="2400" b="1" dirty="0"/>
              <a:t>O(n³)</a:t>
            </a:r>
            <a:r>
              <a:rPr lang="en-US" sz="2400" dirty="0"/>
              <a:t> (Worst case)</a:t>
            </a:r>
          </a:p>
          <a:p>
            <a:pPr>
              <a:buNone/>
            </a:pPr>
            <a:r>
              <a:rPr lang="en-US" sz="2400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O(n) (for checking characters)</a:t>
            </a:r>
          </a:p>
        </p:txBody>
      </p:sp>
    </p:spTree>
    <p:extLst>
      <p:ext uri="{BB962C8B-B14F-4D97-AF65-F5344CB8AC3E}">
        <p14:creationId xmlns:p14="http://schemas.microsoft.com/office/powerpoint/2010/main" val="96818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B5660-DE1A-935D-8F81-3B5AD6779D79}"/>
                  </a:ext>
                </a:extLst>
              </p:cNvPr>
              <p:cNvSpPr txBox="1"/>
              <p:nvPr/>
            </p:nvSpPr>
            <p:spPr>
              <a:xfrm>
                <a:off x="127817" y="425098"/>
                <a:ext cx="11857705" cy="5601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Optimized Sliding Window — Steps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Create a frequency array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</a:t>
                </a:r>
                <a:r>
                  <a:rPr lang="en-US" sz="2000" dirty="0"/>
                  <a:t> of size 256 initialized to 0 (for all ASCII characters).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Initialize two pointers: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>
                    <a:latin typeface="Courier New" panose="02070309020205020404" pitchFamily="49" charset="0"/>
                  </a:rPr>
                  <a:t>l = 0</a:t>
                </a:r>
                <a:r>
                  <a:rPr lang="en-US" sz="2000" dirty="0"/>
                  <a:t> (left side of window)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>
                    <a:latin typeface="Courier New" panose="02070309020205020404" pitchFamily="49" charset="0"/>
                  </a:rPr>
                  <a:t>r = 0</a:t>
                </a:r>
                <a:r>
                  <a:rPr lang="en-US" sz="2000" dirty="0"/>
                  <a:t> (right side of window)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Start expanding the window by moving pointer </a:t>
                </a:r>
                <a:r>
                  <a:rPr lang="en-US" sz="2000" dirty="0">
                    <a:latin typeface="Courier New" panose="02070309020205020404" pitchFamily="49" charset="0"/>
                  </a:rPr>
                  <a:t>r</a:t>
                </a:r>
                <a:r>
                  <a:rPr lang="en-US" sz="2000" dirty="0"/>
                  <a:t> to the right.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Increase the frequency of the character </a:t>
                </a:r>
                <a:r>
                  <a:rPr lang="en-US" sz="2000" dirty="0">
                    <a:latin typeface="Courier New" panose="02070309020205020404" pitchFamily="49" charset="0"/>
                  </a:rPr>
                  <a:t>s[r]</a:t>
                </a:r>
                <a:r>
                  <a:rPr lang="en-US" sz="2000" dirty="0"/>
                  <a:t> in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</a:t>
                </a:r>
                <a:r>
                  <a:rPr lang="en-US" sz="20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If the frequency of the current character becomes </a:t>
                </a:r>
                <a:r>
                  <a:rPr lang="en-US" sz="2000" b="1" dirty="0"/>
                  <a:t>greater than 1</a:t>
                </a:r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this means we found a </a:t>
                </a:r>
                <a:r>
                  <a:rPr lang="en-US" sz="2000" b="1" dirty="0"/>
                  <a:t>duplicate</a:t>
                </a:r>
                <a:r>
                  <a:rPr lang="en-US" sz="20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Shrink the window from the left: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Decrease </a:t>
                </a:r>
                <a:r>
                  <a:rPr lang="en-US" sz="2000" dirty="0">
                    <a:latin typeface="Courier New" panose="02070309020205020404" pitchFamily="49" charset="0"/>
                  </a:rPr>
                  <a:t>count[s[l]]</a:t>
                </a:r>
                <a:endParaRPr lang="en-US" sz="2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Move </a:t>
                </a:r>
                <a:r>
                  <a:rPr lang="en-US" sz="2000" dirty="0">
                    <a:latin typeface="Courier New" panose="02070309020205020404" pitchFamily="49" charset="0"/>
                  </a:rPr>
                  <a:t>l</a:t>
                </a:r>
                <a:r>
                  <a:rPr lang="en-US" sz="2000" dirty="0"/>
                  <a:t> forward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000" dirty="0"/>
                  <a:t>Repeat until the duplicate is removed.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After removing duplicates, calculate the current window size: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/>
                        <m:t>current</m:t>
                      </m:r>
                      <m:r>
                        <m:rPr>
                          <m:nor/>
                        </m:rPr>
                        <a:rPr lang="en-US" sz="2000" b="0" i="1"/>
                        <m:t> </m:t>
                      </m:r>
                      <m:r>
                        <m:rPr>
                          <m:nor/>
                        </m:rPr>
                        <a:rPr lang="en-US" sz="2000" b="0" i="1"/>
                        <m:t>length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b="0" dirty="0"/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Update </a:t>
                </a:r>
                <a:r>
                  <a:rPr lang="en-US" sz="2000" dirty="0" err="1">
                    <a:latin typeface="Courier New" panose="02070309020205020404" pitchFamily="49" charset="0"/>
                  </a:rPr>
                  <a:t>maxLen</a:t>
                </a:r>
                <a:r>
                  <a:rPr lang="en-US" sz="2000" dirty="0"/>
                  <a:t> with the maximum window size found so far.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Move </a:t>
                </a:r>
                <a:r>
                  <a:rPr lang="en-US" sz="2000" dirty="0">
                    <a:latin typeface="Courier New" panose="02070309020205020404" pitchFamily="49" charset="0"/>
                  </a:rPr>
                  <a:t>r</a:t>
                </a:r>
                <a:r>
                  <a:rPr lang="en-US" sz="2000" dirty="0"/>
                  <a:t> forward and continue until the end of string.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/>
                  <a:t>Return </a:t>
                </a:r>
                <a:r>
                  <a:rPr lang="en-US" sz="2000" dirty="0" err="1">
                    <a:latin typeface="Courier New" panose="02070309020205020404" pitchFamily="49" charset="0"/>
                  </a:rPr>
                  <a:t>maxLen</a:t>
                </a:r>
                <a:r>
                  <a:rPr lang="en-US" sz="2000" dirty="0"/>
                  <a:t> as the longest substring without repeating characters.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BB5660-DE1A-935D-8F81-3B5AD6779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7" y="425098"/>
                <a:ext cx="11857705" cy="5601533"/>
              </a:xfrm>
              <a:prstGeom prst="rect">
                <a:avLst/>
              </a:prstGeom>
              <a:blipFill>
                <a:blip r:embed="rId2"/>
                <a:stretch>
                  <a:fillRect l="-566" t="-653" b="-1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08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3178A-B04A-8DE5-26FD-DC731B3243C2}"/>
              </a:ext>
            </a:extLst>
          </p:cNvPr>
          <p:cNvSpPr txBox="1"/>
          <p:nvPr/>
        </p:nvSpPr>
        <p:spPr>
          <a:xfrm>
            <a:off x="501444" y="429681"/>
            <a:ext cx="103140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Time Complexity</a:t>
            </a:r>
          </a:p>
          <a:p>
            <a:pPr>
              <a:buNone/>
            </a:pPr>
            <a:r>
              <a:rPr lang="en-US" sz="2400" dirty="0"/>
              <a:t>Sliding Window processes each character </a:t>
            </a:r>
            <a:r>
              <a:rPr lang="en-US" sz="2400" b="1" dirty="0"/>
              <a:t>at most 2 times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r</a:t>
            </a:r>
            <a:r>
              <a:rPr lang="en-US" sz="2400" dirty="0"/>
              <a:t> moves n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l</a:t>
            </a:r>
            <a:r>
              <a:rPr lang="en-US" sz="2400" dirty="0"/>
              <a:t> moves n times</a:t>
            </a:r>
          </a:p>
          <a:p>
            <a:pPr>
              <a:buNone/>
            </a:pPr>
            <a:r>
              <a:rPr lang="en-US" sz="2400" dirty="0"/>
              <a:t>So: </a:t>
            </a:r>
            <a:r>
              <a:rPr lang="en-US" sz="2400" b="1" dirty="0"/>
              <a:t>O(n)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count array = </a:t>
            </a:r>
            <a:r>
              <a:rPr lang="en-US" sz="2400" b="1" dirty="0"/>
              <a:t>O(1)</a:t>
            </a:r>
            <a:r>
              <a:rPr lang="en-US" sz="2400" dirty="0"/>
              <a:t> fixed size 256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587AA-EC45-2A99-E0C3-28C25ED68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348802"/>
              </p:ext>
            </p:extLst>
          </p:nvPr>
        </p:nvGraphicFramePr>
        <p:xfrm>
          <a:off x="570269" y="4393991"/>
          <a:ext cx="1051560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730667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77684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032785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1276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117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Brute Force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O(n³)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Check all substrings and verify uniqueness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655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Sliding Window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Always maintain a non-repeating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35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BCD2C7-B6EC-1DD1-BB56-9DE8FD8390C5}"/>
              </a:ext>
            </a:extLst>
          </p:cNvPr>
          <p:cNvSpPr txBox="1"/>
          <p:nvPr/>
        </p:nvSpPr>
        <p:spPr>
          <a:xfrm>
            <a:off x="501444" y="34890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Final 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368248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30D98-7E24-76CD-2F78-C4303C663CC1}"/>
              </a:ext>
            </a:extLst>
          </p:cNvPr>
          <p:cNvSpPr txBox="1"/>
          <p:nvPr/>
        </p:nvSpPr>
        <p:spPr>
          <a:xfrm>
            <a:off x="324464" y="247954"/>
            <a:ext cx="11493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974. Subarray Sums Divisible by K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BDD8F-3413-31F8-37DA-60FEFECC9D28}"/>
              </a:ext>
            </a:extLst>
          </p:cNvPr>
          <p:cNvSpPr txBox="1"/>
          <p:nvPr/>
        </p:nvSpPr>
        <p:spPr>
          <a:xfrm>
            <a:off x="324463" y="960622"/>
            <a:ext cx="113562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Brute Force Approach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Convert the array into prefix sum form.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Count how many prefix sums are divisible by k.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Check every pair of prefix sums (</a:t>
            </a:r>
            <a:r>
              <a:rPr lang="en-US" sz="2000" dirty="0" err="1"/>
              <a:t>i</a:t>
            </a:r>
            <a:r>
              <a:rPr lang="en-US" sz="2000" dirty="0"/>
              <a:t>, j).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difference of the two prefix sums is divisible by k, increase count.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count.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CAD60-0886-1720-21B4-F38E2FE518FF}"/>
              </a:ext>
            </a:extLst>
          </p:cNvPr>
          <p:cNvSpPr txBox="1"/>
          <p:nvPr/>
        </p:nvSpPr>
        <p:spPr>
          <a:xfrm>
            <a:off x="196644" y="3027507"/>
            <a:ext cx="117495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Approach (Using Prefix Sums + Checking All Pairs)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1: Building prefix sum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2: Counting prefix sum divisible by k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Step 3: Checking every pair (</a:t>
            </a:r>
            <a:r>
              <a:rPr lang="en-IN" dirty="0" err="1"/>
              <a:t>i</a:t>
            </a:r>
            <a:r>
              <a:rPr lang="en-IN" dirty="0"/>
              <a:t>, j) → </a:t>
            </a:r>
            <a:r>
              <a:rPr lang="en-IN" b="1" dirty="0"/>
              <a:t>O(n²)</a:t>
            </a:r>
            <a:br>
              <a:rPr lang="en-IN" dirty="0"/>
            </a:br>
            <a:r>
              <a:rPr lang="en-IN" dirty="0"/>
              <a:t>This is because there are ≈ n(n−1)/2 pairs.</a:t>
            </a:r>
          </a:p>
          <a:p>
            <a:pPr>
              <a:buNone/>
            </a:pPr>
            <a:r>
              <a:rPr lang="en-IN" b="1" dirty="0"/>
              <a:t>Total Time Complexity = O(n²)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Prefix array: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extra significant space.</a:t>
            </a:r>
          </a:p>
          <a:p>
            <a:pPr>
              <a:buNone/>
            </a:pPr>
            <a:r>
              <a:rPr lang="en-IN" b="1" dirty="0"/>
              <a:t>Total Space Complexity = O(n)</a:t>
            </a:r>
          </a:p>
        </p:txBody>
      </p:sp>
    </p:spTree>
    <p:extLst>
      <p:ext uri="{BB962C8B-B14F-4D97-AF65-F5344CB8AC3E}">
        <p14:creationId xmlns:p14="http://schemas.microsoft.com/office/powerpoint/2010/main" val="330927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827B11-73CC-9D25-1088-4A493E844960}"/>
              </a:ext>
            </a:extLst>
          </p:cNvPr>
          <p:cNvSpPr txBox="1"/>
          <p:nvPr/>
        </p:nvSpPr>
        <p:spPr>
          <a:xfrm>
            <a:off x="157315" y="142288"/>
            <a:ext cx="1154307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Optimal Approach — Steps (Prefix Sum + </a:t>
            </a:r>
            <a:r>
              <a:rPr lang="en-US" sz="2000" b="1" dirty="0" err="1"/>
              <a:t>Hashmap</a:t>
            </a:r>
            <a:r>
              <a:rPr lang="en-US" sz="20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Start with sum = 0 and result = 0.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remainder 0 with frequency 1 in the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every element in the array: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Add the element to sum.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Find remainder of sum when divided by 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If remainder is negative, make it positive by adding 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Add the frequency of this remainder to result.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Increase the frequency of this remainder in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2C15A-FDFE-431D-69AB-642C20B4AB84}"/>
              </a:ext>
            </a:extLst>
          </p:cNvPr>
          <p:cNvSpPr txBox="1"/>
          <p:nvPr/>
        </p:nvSpPr>
        <p:spPr>
          <a:xfrm>
            <a:off x="304800" y="3312387"/>
            <a:ext cx="116610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Optimal Approach — Prefix Sum + </a:t>
            </a:r>
            <a:r>
              <a:rPr lang="en-IN" b="1" dirty="0" err="1"/>
              <a:t>Hashmap</a:t>
            </a:r>
            <a:r>
              <a:rPr lang="en-IN" b="1" dirty="0"/>
              <a:t> (Remainder Frequency)</a:t>
            </a:r>
          </a:p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You traverse the array once → </a:t>
            </a:r>
            <a:r>
              <a:rPr lang="en-IN" b="1" dirty="0"/>
              <a:t>O(n)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 operations (add, mod, </a:t>
            </a:r>
            <a:r>
              <a:rPr lang="en-IN" dirty="0" err="1"/>
              <a:t>hashmap</a:t>
            </a:r>
            <a:r>
              <a:rPr lang="en-IN" dirty="0"/>
              <a:t> lookup, update) = </a:t>
            </a:r>
            <a:r>
              <a:rPr lang="en-IN" b="1" dirty="0"/>
              <a:t>O(1)</a:t>
            </a:r>
            <a:r>
              <a:rPr lang="en-IN" dirty="0"/>
              <a:t> average.</a:t>
            </a:r>
          </a:p>
          <a:p>
            <a:pPr>
              <a:buNone/>
            </a:pPr>
            <a:r>
              <a:rPr lang="en-IN" b="1" dirty="0"/>
              <a:t>Total Time Complexity = O(n)</a:t>
            </a:r>
          </a:p>
          <a:p>
            <a:pPr>
              <a:buNone/>
            </a:pP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Hashmap</a:t>
            </a:r>
            <a:r>
              <a:rPr lang="en-IN" dirty="0"/>
              <a:t> stores at most </a:t>
            </a:r>
            <a:r>
              <a:rPr lang="en-IN" b="1" dirty="0"/>
              <a:t>k</a:t>
            </a:r>
            <a:r>
              <a:rPr lang="en-IN" dirty="0"/>
              <a:t> remainders (0 to k−1)</a:t>
            </a:r>
          </a:p>
          <a:p>
            <a:pPr>
              <a:buNone/>
            </a:pPr>
            <a:r>
              <a:rPr lang="en-IN" b="1" dirty="0"/>
              <a:t>Space Complexity = O(k)</a:t>
            </a:r>
          </a:p>
          <a:p>
            <a:pPr>
              <a:buNone/>
            </a:pPr>
            <a:r>
              <a:rPr lang="en-IN" dirty="0"/>
              <a:t>(If k is constant compared to n, this becomes </a:t>
            </a:r>
            <a:r>
              <a:rPr lang="en-IN" b="1" dirty="0"/>
              <a:t>O(1)</a:t>
            </a:r>
            <a:r>
              <a:rPr lang="en-IN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151133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44C577-3FA4-45F4-6FF0-35B461ED7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736089"/>
              </p:ext>
            </p:extLst>
          </p:nvPr>
        </p:nvGraphicFramePr>
        <p:xfrm>
          <a:off x="838200" y="176150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881153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74238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6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95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Brute Force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O(n²)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77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Optimal (Prefix + Hashmap)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O(k)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9765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FBAA9D-0B01-B7B2-8357-7F1C909E0939}"/>
              </a:ext>
            </a:extLst>
          </p:cNvPr>
          <p:cNvSpPr txBox="1"/>
          <p:nvPr/>
        </p:nvSpPr>
        <p:spPr>
          <a:xfrm>
            <a:off x="1081549" y="7887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292332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23B6D-3921-416F-CAFD-BF52BC26C07F}"/>
              </a:ext>
            </a:extLst>
          </p:cNvPr>
          <p:cNvSpPr txBox="1"/>
          <p:nvPr/>
        </p:nvSpPr>
        <p:spPr>
          <a:xfrm>
            <a:off x="206476" y="1063979"/>
            <a:ext cx="1178396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1. Brute-Force Approach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Start from the first element of the array.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each element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, compare it with every element after it (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</a:t>
            </a:r>
            <a:r>
              <a:rPr lang="en-US" sz="2000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Calculate </a:t>
            </a:r>
            <a:r>
              <a:rPr lang="en-US" sz="2000" dirty="0">
                <a:latin typeface="Courier New" panose="02070309020205020404" pitchFamily="49" charset="0"/>
              </a:rPr>
              <a:t>abs(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 –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])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result is equal to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return </a:t>
            </a:r>
            <a:r>
              <a:rPr lang="en-US" sz="2000" b="1" dirty="0"/>
              <a:t>true</a:t>
            </a:r>
            <a:r>
              <a:rPr lang="en-US" sz="2000" dirty="0"/>
              <a:t> (pair found).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all pairs are checked and no match is found,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2. Two-Pointer Approach (Optimized)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Sort the array in increasing order.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Initialize two pointers: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 = 0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j = 1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While pointer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 is within the array: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Compute the difference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[j] –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equals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return </a:t>
            </a:r>
            <a:r>
              <a:rPr lang="en-US" sz="2000" b="1" dirty="0"/>
              <a:t>true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is </a:t>
            </a:r>
            <a:r>
              <a:rPr lang="en-US" sz="2000" b="1" dirty="0"/>
              <a:t>greater</a:t>
            </a:r>
            <a:r>
              <a:rPr lang="en-US" sz="2000" dirty="0"/>
              <a:t> than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move the </a:t>
            </a:r>
            <a:r>
              <a:rPr lang="en-US" sz="2000" b="1" dirty="0" err="1"/>
              <a:t>i</a:t>
            </a:r>
            <a:r>
              <a:rPr lang="en-US" sz="2000" b="1" dirty="0"/>
              <a:t> pointer</a:t>
            </a:r>
            <a:r>
              <a:rPr lang="en-US" sz="2000" dirty="0"/>
              <a:t> forward.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difference is </a:t>
            </a:r>
            <a:r>
              <a:rPr lang="en-US" sz="2000" b="1" dirty="0"/>
              <a:t>less</a:t>
            </a:r>
            <a:r>
              <a:rPr lang="en-US" sz="2000" dirty="0"/>
              <a:t> than </a:t>
            </a:r>
            <a:r>
              <a:rPr lang="en-US" sz="2000" dirty="0">
                <a:latin typeface="Courier New" panose="02070309020205020404" pitchFamily="49" charset="0"/>
              </a:rPr>
              <a:t>x</a:t>
            </a:r>
            <a:r>
              <a:rPr lang="en-US" sz="2000" dirty="0"/>
              <a:t>, move the </a:t>
            </a:r>
            <a:r>
              <a:rPr lang="en-US" sz="2000" b="1" dirty="0"/>
              <a:t>j pointer</a:t>
            </a:r>
            <a:r>
              <a:rPr lang="en-US" sz="2000" dirty="0"/>
              <a:t> forward.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Ensure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never becomes equal to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; if it does, increase </a:t>
            </a:r>
            <a:r>
              <a:rPr lang="en-US" sz="2000" dirty="0">
                <a:latin typeface="Courier New" panose="02070309020205020404" pitchFamily="49" charset="0"/>
              </a:rPr>
              <a:t>j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no pair is found,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12052-D5F6-C4D6-CB26-0C83CF5CCD35}"/>
              </a:ext>
            </a:extLst>
          </p:cNvPr>
          <p:cNvSpPr txBox="1"/>
          <p:nvPr/>
        </p:nvSpPr>
        <p:spPr>
          <a:xfrm rot="10800000" flipH="1" flipV="1">
            <a:off x="460034" y="417647"/>
            <a:ext cx="639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Find Pair Given Difference</a:t>
            </a:r>
          </a:p>
        </p:txBody>
      </p:sp>
    </p:spTree>
    <p:extLst>
      <p:ext uri="{BB962C8B-B14F-4D97-AF65-F5344CB8AC3E}">
        <p14:creationId xmlns:p14="http://schemas.microsoft.com/office/powerpoint/2010/main" val="213082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995912-13E4-6432-A9F1-2B20208F04E9}"/>
              </a:ext>
            </a:extLst>
          </p:cNvPr>
          <p:cNvSpPr txBox="1"/>
          <p:nvPr/>
        </p:nvSpPr>
        <p:spPr>
          <a:xfrm>
            <a:off x="245807" y="231339"/>
            <a:ext cx="99994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3. </a:t>
            </a:r>
            <a:r>
              <a:rPr lang="en-US" sz="2000" b="1" dirty="0" err="1"/>
              <a:t>Hashmap</a:t>
            </a:r>
            <a:r>
              <a:rPr lang="en-US" sz="2000" b="1" dirty="0"/>
              <a:t> Approach (Most Efficient) — Steps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Create an empty </a:t>
            </a:r>
            <a:r>
              <a:rPr lang="en-US" sz="2000" dirty="0" err="1"/>
              <a:t>hashmap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Traverse the array from left to right.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every element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 if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 + x</a:t>
            </a:r>
            <a:r>
              <a:rPr lang="en-US" sz="2000" dirty="0"/>
              <a:t> exists in the map.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 if </a:t>
            </a:r>
            <a:r>
              <a:rPr lang="en-US" sz="2000" dirty="0" err="1">
                <a:latin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 - x</a:t>
            </a:r>
            <a:r>
              <a:rPr lang="en-US" sz="2000" dirty="0"/>
              <a:t> exists in the map.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any of the above exists, return </a:t>
            </a:r>
            <a:r>
              <a:rPr lang="en-US" sz="2000" b="1" dirty="0"/>
              <a:t>true</a:t>
            </a:r>
            <a:r>
              <a:rPr lang="en-US" sz="2000" dirty="0"/>
              <a:t> (pair found).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not found, insert the current element into the map.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the loop ends and no valid pair appears, return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6633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10797-AE2C-4EE4-1F2C-A9BA1A584DBA}"/>
              </a:ext>
            </a:extLst>
          </p:cNvPr>
          <p:cNvSpPr txBox="1"/>
          <p:nvPr/>
        </p:nvSpPr>
        <p:spPr>
          <a:xfrm>
            <a:off x="245807" y="419286"/>
            <a:ext cx="1152340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Brute Force — O(n²) Time, O(1)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every element, you compare it with </a:t>
            </a:r>
            <a:r>
              <a:rPr lang="en-US" b="1" dirty="0"/>
              <a:t>every other element</a:t>
            </a:r>
            <a:r>
              <a:rPr lang="en-US" dirty="0"/>
              <a:t> → two nested loops.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Nested loops = </a:t>
            </a:r>
            <a:r>
              <a:rPr lang="en-US" b="1" dirty="0"/>
              <a:t>n × n = O(n²)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extra data structure used → </a:t>
            </a:r>
            <a:r>
              <a:rPr lang="en-US" b="1" dirty="0"/>
              <a:t>O(1) space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Two-Pointer Approach — O(n log n) Time, O(1)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step is </a:t>
            </a:r>
            <a:r>
              <a:rPr lang="en-US" b="1" dirty="0"/>
              <a:t>sorting</a:t>
            </a:r>
            <a:r>
              <a:rPr lang="en-US" dirty="0"/>
              <a:t>, which takes </a:t>
            </a:r>
            <a:r>
              <a:rPr lang="en-US" b="1" dirty="0"/>
              <a:t>O(n log 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sorting, the two pointers move only forward →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dominated by sorting → </a:t>
            </a:r>
            <a:r>
              <a:rPr lang="en-US" b="1" dirty="0"/>
              <a:t>O(n log 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few variables used → </a:t>
            </a:r>
            <a:r>
              <a:rPr lang="en-US" b="1" dirty="0"/>
              <a:t>O(1) space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3. </a:t>
            </a:r>
            <a:r>
              <a:rPr lang="en-US" b="1" dirty="0" err="1"/>
              <a:t>Hashmap</a:t>
            </a:r>
            <a:r>
              <a:rPr lang="en-US" b="1" dirty="0"/>
              <a:t> Approach — O(n) Time, O(n)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traverse the array once →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lookup and insert in </a:t>
            </a:r>
            <a:r>
              <a:rPr lang="en-US" dirty="0" err="1"/>
              <a:t>hashmap</a:t>
            </a:r>
            <a:r>
              <a:rPr lang="en-US" dirty="0"/>
              <a:t> takes </a:t>
            </a:r>
            <a:r>
              <a:rPr lang="en-US" b="1" dirty="0"/>
              <a:t>O(1)</a:t>
            </a:r>
            <a:r>
              <a:rPr lang="en-US" dirty="0"/>
              <a:t> average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store elements in the </a:t>
            </a:r>
            <a:r>
              <a:rPr lang="en-US" dirty="0" err="1"/>
              <a:t>hashmap</a:t>
            </a:r>
            <a:r>
              <a:rPr lang="en-US" dirty="0"/>
              <a:t> → needs </a:t>
            </a:r>
            <a:r>
              <a:rPr lang="en-US" b="1" dirty="0"/>
              <a:t>O(n)</a:t>
            </a:r>
            <a:r>
              <a:rPr lang="en-US" dirty="0"/>
              <a:t> space.</a:t>
            </a:r>
          </a:p>
        </p:txBody>
      </p:sp>
    </p:spTree>
    <p:extLst>
      <p:ext uri="{BB962C8B-B14F-4D97-AF65-F5344CB8AC3E}">
        <p14:creationId xmlns:p14="http://schemas.microsoft.com/office/powerpoint/2010/main" val="1916798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34CF4A-9643-B729-1913-B0791041B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753754"/>
              </p:ext>
            </p:extLst>
          </p:nvPr>
        </p:nvGraphicFramePr>
        <p:xfrm>
          <a:off x="156905" y="174420"/>
          <a:ext cx="6076745" cy="55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76745">
                  <a:extLst>
                    <a:ext uri="{9D8B030D-6E8A-4147-A177-3AD203B41FA5}">
                      <a16:colId xmlns:a16="http://schemas.microsoft.com/office/drawing/2014/main" val="273445740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600" u="none" strike="noStrike" dirty="0">
                          <a:effectLst/>
                        </a:rPr>
                        <a:t>Swap two numbers</a:t>
                      </a:r>
                      <a:endParaRPr lang="en-IN" sz="3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956980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B6F9F3-FD93-4003-9D25-3D971072665B}"/>
              </a:ext>
            </a:extLst>
          </p:cNvPr>
          <p:cNvSpPr txBox="1"/>
          <p:nvPr/>
        </p:nvSpPr>
        <p:spPr>
          <a:xfrm>
            <a:off x="156906" y="894734"/>
            <a:ext cx="116811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Swap using temp variable (simple method)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two numbers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Store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in a temporary variable </a:t>
            </a:r>
            <a:r>
              <a:rPr lang="en-US" sz="2000" dirty="0">
                <a:latin typeface="Courier New" panose="02070309020205020404" pitchFamily="49" charset="0"/>
              </a:rPr>
              <a:t>temp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Assign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Assign </a:t>
            </a:r>
            <a:r>
              <a:rPr lang="en-US" sz="2000" dirty="0">
                <a:latin typeface="Courier New" panose="02070309020205020404" pitchFamily="49" charset="0"/>
              </a:rPr>
              <a:t>temp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new values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Swap using addition–subtraction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Add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the result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Subtract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(which is </a:t>
            </a:r>
            <a:r>
              <a:rPr lang="en-US" sz="2000" dirty="0" err="1"/>
              <a:t>a+b</a:t>
            </a:r>
            <a:r>
              <a:rPr lang="en-US" sz="2000" dirty="0"/>
              <a:t>)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to get original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, and store it in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Subtract the new value of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from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to get original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, and store it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swapped values.</a:t>
            </a:r>
          </a:p>
          <a:p>
            <a:pPr>
              <a:buNone/>
            </a:pPr>
            <a:br>
              <a:rPr lang="en-US" sz="2000" dirty="0"/>
            </a:br>
            <a:r>
              <a:rPr lang="en-US" sz="2000" b="1" dirty="0"/>
              <a:t>Swap using XOR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the result in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XOR the new value of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 with the new value of </a:t>
            </a:r>
            <a:r>
              <a:rPr lang="en-US" sz="2000" dirty="0">
                <a:latin typeface="Courier New" panose="02070309020205020404" pitchFamily="49" charset="0"/>
              </a:rPr>
              <a:t>b</a:t>
            </a:r>
            <a:r>
              <a:rPr lang="en-US" sz="2000" dirty="0"/>
              <a:t> and store in </a:t>
            </a:r>
            <a:r>
              <a:rPr lang="en-US" sz="2000" dirty="0">
                <a:latin typeface="Courier New" panose="02070309020205020404" pitchFamily="49" charset="0"/>
              </a:rPr>
              <a:t>a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Return the swapped values.</a:t>
            </a:r>
          </a:p>
        </p:txBody>
      </p:sp>
    </p:spTree>
    <p:extLst>
      <p:ext uri="{BB962C8B-B14F-4D97-AF65-F5344CB8AC3E}">
        <p14:creationId xmlns:p14="http://schemas.microsoft.com/office/powerpoint/2010/main" val="324533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53CED-EB71-DC2A-DCDA-854CD5736B3A}"/>
              </a:ext>
            </a:extLst>
          </p:cNvPr>
          <p:cNvSpPr txBox="1"/>
          <p:nvPr/>
        </p:nvSpPr>
        <p:spPr>
          <a:xfrm>
            <a:off x="747252" y="1191509"/>
            <a:ext cx="99305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Addition–Subtraction Swap</a:t>
            </a:r>
          </a:p>
          <a:p>
            <a:pPr>
              <a:buNone/>
            </a:pPr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br>
              <a:rPr lang="en-IN" sz="2000" dirty="0"/>
            </a:br>
            <a:r>
              <a:rPr lang="en-IN" sz="2000" b="1" dirty="0"/>
              <a:t>Space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Only uses constant number of arithmetic operations</a:t>
            </a:r>
            <a:br>
              <a:rPr lang="en-IN" sz="2000" dirty="0"/>
            </a:br>
            <a:r>
              <a:rPr lang="en-IN" sz="2000" dirty="0"/>
              <a:t>No loop, no extra memory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000" b="1" dirty="0"/>
              <a:t>2. XOR Swap</a:t>
            </a:r>
          </a:p>
          <a:p>
            <a:pPr>
              <a:buNone/>
            </a:pPr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br>
              <a:rPr lang="en-IN" sz="2000" dirty="0"/>
            </a:br>
            <a:r>
              <a:rPr lang="en-IN" sz="2000" b="1" dirty="0"/>
              <a:t>Space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	Only bitwise operations (XOR)</a:t>
            </a:r>
            <a:br>
              <a:rPr lang="en-IN" sz="2000" dirty="0"/>
            </a:br>
            <a:r>
              <a:rPr lang="en-IN" sz="2000" dirty="0"/>
              <a:t>	No extra variable needed</a:t>
            </a:r>
            <a:br>
              <a:rPr lang="en-IN" sz="2000" dirty="0"/>
            </a:br>
            <a:r>
              <a:rPr lang="en-IN" sz="2000" dirty="0"/>
              <a:t>	Constant work</a:t>
            </a:r>
          </a:p>
        </p:txBody>
      </p:sp>
    </p:spTree>
    <p:extLst>
      <p:ext uri="{BB962C8B-B14F-4D97-AF65-F5344CB8AC3E}">
        <p14:creationId xmlns:p14="http://schemas.microsoft.com/office/powerpoint/2010/main" val="120198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962673-2CBF-982B-E30B-444334A4A4B1}"/>
              </a:ext>
            </a:extLst>
          </p:cNvPr>
          <p:cNvSpPr txBox="1"/>
          <p:nvPr/>
        </p:nvSpPr>
        <p:spPr>
          <a:xfrm>
            <a:off x="314632" y="238121"/>
            <a:ext cx="5987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effectLst/>
                <a:latin typeface="Source Sans 3"/>
              </a:rPr>
              <a:t>Toggle bits in the given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987C0-2AD0-648B-D32F-31512099CE23}"/>
              </a:ext>
            </a:extLst>
          </p:cNvPr>
          <p:cNvSpPr txBox="1"/>
          <p:nvPr/>
        </p:nvSpPr>
        <p:spPr>
          <a:xfrm>
            <a:off x="393290" y="1101213"/>
            <a:ext cx="8632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Step 1:- Create a mask</a:t>
            </a:r>
          </a:p>
          <a:p>
            <a:r>
              <a:rPr lang="en-IN" sz="3600" dirty="0"/>
              <a:t>	[1&lt;&lt;(r-l+1)]-1</a:t>
            </a:r>
          </a:p>
          <a:p>
            <a:r>
              <a:rPr lang="en-IN" sz="3600" dirty="0"/>
              <a:t>Step 2:- Update mask</a:t>
            </a:r>
          </a:p>
          <a:p>
            <a:r>
              <a:rPr lang="en-IN" sz="3600" dirty="0"/>
              <a:t>	mask = mask &lt;&lt; (l-1)</a:t>
            </a:r>
          </a:p>
          <a:p>
            <a:r>
              <a:rPr lang="en-IN" sz="3600" dirty="0"/>
              <a:t>Step 3:- Find result</a:t>
            </a:r>
          </a:p>
          <a:p>
            <a:r>
              <a:rPr lang="en-IN" sz="3600" dirty="0"/>
              <a:t>	result = n ^mask</a:t>
            </a:r>
          </a:p>
        </p:txBody>
      </p:sp>
    </p:spTree>
    <p:extLst>
      <p:ext uri="{BB962C8B-B14F-4D97-AF65-F5344CB8AC3E}">
        <p14:creationId xmlns:p14="http://schemas.microsoft.com/office/powerpoint/2010/main" val="1951968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8CFD4-F300-5A6C-7A99-BF5E062A3FEC}"/>
              </a:ext>
            </a:extLst>
          </p:cNvPr>
          <p:cNvSpPr txBox="1"/>
          <p:nvPr/>
        </p:nvSpPr>
        <p:spPr>
          <a:xfrm>
            <a:off x="1415845" y="1076913"/>
            <a:ext cx="88293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Time Complexity: O(1)</a:t>
            </a:r>
          </a:p>
          <a:p>
            <a:pPr>
              <a:buNone/>
            </a:pPr>
            <a:r>
              <a:rPr lang="en-US" sz="2000" dirty="0"/>
              <a:t>Only a few bitwise operations</a:t>
            </a:r>
            <a:br>
              <a:rPr lang="en-US" sz="2000" dirty="0"/>
            </a:br>
            <a:r>
              <a:rPr lang="en-US" sz="2000" dirty="0"/>
              <a:t>No loop</a:t>
            </a:r>
            <a:br>
              <a:rPr lang="en-US" sz="2000" dirty="0"/>
            </a:br>
            <a:r>
              <a:rPr lang="en-US" sz="2000" dirty="0"/>
              <a:t>Constant-time shifting and XOR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Space Complexity: O(1)</a:t>
            </a:r>
          </a:p>
          <a:p>
            <a:pPr>
              <a:buNone/>
            </a:pPr>
            <a:r>
              <a:rPr lang="en-US" sz="2000" dirty="0"/>
              <a:t>Only a few integer variables</a:t>
            </a:r>
            <a:br>
              <a:rPr lang="en-US" sz="2000" dirty="0"/>
            </a:br>
            <a:r>
              <a:rPr lang="en-US" sz="2000" dirty="0"/>
              <a:t>No extra array or data structure used</a:t>
            </a:r>
          </a:p>
        </p:txBody>
      </p:sp>
    </p:spTree>
    <p:extLst>
      <p:ext uri="{BB962C8B-B14F-4D97-AF65-F5344CB8AC3E}">
        <p14:creationId xmlns:p14="http://schemas.microsoft.com/office/powerpoint/2010/main" val="2924242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328AC7-DC0F-5AF5-CB90-B6D6A69BE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22846"/>
              </p:ext>
            </p:extLst>
          </p:nvPr>
        </p:nvGraphicFramePr>
        <p:xfrm>
          <a:off x="451875" y="302239"/>
          <a:ext cx="5054190" cy="434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4190">
                  <a:extLst>
                    <a:ext uri="{9D8B030D-6E8A-4147-A177-3AD203B41FA5}">
                      <a16:colId xmlns:a16="http://schemas.microsoft.com/office/drawing/2014/main" val="237576244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u="none" strike="noStrike" dirty="0">
                          <a:effectLst/>
                        </a:rPr>
                        <a:t>Number is sparse or not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09065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7B55FC-C1CF-2787-7723-0AEFCC31334B}"/>
              </a:ext>
            </a:extLst>
          </p:cNvPr>
          <p:cNvSpPr txBox="1"/>
          <p:nvPr/>
        </p:nvSpPr>
        <p:spPr>
          <a:xfrm>
            <a:off x="333888" y="1014528"/>
            <a:ext cx="114844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1: Brute Force (Check Adjacent Bits by Shifting Right One-by-One)</a:t>
            </a:r>
          </a:p>
          <a:p>
            <a:pPr>
              <a:buNone/>
            </a:pPr>
            <a:r>
              <a:rPr lang="en-US" sz="2000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the number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Repeatedly check the last two bits using </a:t>
            </a:r>
            <a:r>
              <a:rPr lang="en-US" sz="2000" dirty="0">
                <a:latin typeface="Courier New" panose="02070309020205020404" pitchFamily="49" charset="0"/>
              </a:rPr>
              <a:t>n &amp; 3</a:t>
            </a:r>
            <a:r>
              <a:rPr lang="en-US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</a:rPr>
              <a:t>3</a:t>
            </a:r>
            <a:r>
              <a:rPr lang="en-US" sz="2000" dirty="0"/>
              <a:t> in binary is </a:t>
            </a:r>
            <a:r>
              <a:rPr lang="en-US" sz="2000" dirty="0">
                <a:latin typeface="Courier New" panose="02070309020205020404" pitchFamily="49" charset="0"/>
              </a:rPr>
              <a:t>11</a:t>
            </a:r>
            <a:r>
              <a:rPr lang="en-US" sz="2000" dirty="0"/>
              <a:t>, so </a:t>
            </a:r>
            <a:r>
              <a:rPr lang="en-US" sz="2000" dirty="0">
                <a:latin typeface="Courier New" panose="02070309020205020404" pitchFamily="49" charset="0"/>
              </a:rPr>
              <a:t>n &amp; 3</a:t>
            </a:r>
            <a:r>
              <a:rPr lang="en-US" sz="2000" dirty="0"/>
              <a:t> checks two adjacent bits at once.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>
                <a:latin typeface="Courier New" panose="02070309020205020404" pitchFamily="49" charset="0"/>
              </a:rPr>
              <a:t>(n &amp; 3) == 3</a:t>
            </a:r>
            <a:r>
              <a:rPr lang="en-US" sz="2000" dirty="0"/>
              <a:t>, then two consecutive 1s → </a:t>
            </a:r>
            <a:r>
              <a:rPr lang="en-US" sz="2000" b="1" dirty="0"/>
              <a:t>not sparse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Right shift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 by 1 bit and continue.</a:t>
            </a:r>
          </a:p>
          <a:p>
            <a:pPr>
              <a:buNone/>
            </a:pPr>
            <a:r>
              <a:rPr lang="en-US" sz="2000" b="1" dirty="0"/>
              <a:t>Time Complexity: O(log n)</a:t>
            </a:r>
          </a:p>
          <a:p>
            <a:pPr>
              <a:buNone/>
            </a:pPr>
            <a:r>
              <a:rPr lang="en-US" sz="2000" dirty="0"/>
              <a:t>Because you check each bit once.</a:t>
            </a:r>
          </a:p>
          <a:p>
            <a:pPr>
              <a:buNone/>
            </a:pPr>
            <a:r>
              <a:rPr lang="en-US" sz="2000" b="1" dirty="0"/>
              <a:t>Space Complexity: O(1)</a:t>
            </a:r>
          </a:p>
          <a:p>
            <a:pPr>
              <a:buNone/>
            </a:pPr>
            <a:r>
              <a:rPr lang="en-US" sz="2000" dirty="0"/>
              <a:t>Only variable used.</a:t>
            </a:r>
          </a:p>
        </p:txBody>
      </p:sp>
    </p:spTree>
    <p:extLst>
      <p:ext uri="{BB962C8B-B14F-4D97-AF65-F5344CB8AC3E}">
        <p14:creationId xmlns:p14="http://schemas.microsoft.com/office/powerpoint/2010/main" val="1279017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0AA3DF-AB79-37A4-CA2C-E7D737CCC9E2}"/>
              </a:ext>
            </a:extLst>
          </p:cNvPr>
          <p:cNvSpPr txBox="1"/>
          <p:nvPr/>
        </p:nvSpPr>
        <p:spPr>
          <a:xfrm>
            <a:off x="285136" y="412218"/>
            <a:ext cx="109433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Approach 2: Optimized Using (n &amp; (n &gt;&gt; 1))</a:t>
            </a:r>
          </a:p>
          <a:p>
            <a:pPr>
              <a:buNone/>
            </a:pPr>
            <a:r>
              <a:rPr lang="en-US" sz="2000" b="1" dirty="0"/>
              <a:t>Logic</a:t>
            </a:r>
          </a:p>
          <a:p>
            <a:pPr>
              <a:buNone/>
            </a:pPr>
            <a:r>
              <a:rPr lang="en-US" sz="2000" dirty="0"/>
              <a:t>This is the most efficient and most popular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a number has consecutive 1s, then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n &amp; (n &gt;&gt; 1)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will produce a non-zero value.</a:t>
            </a:r>
          </a:p>
          <a:p>
            <a:pPr>
              <a:buNone/>
            </a:pPr>
            <a:r>
              <a:rPr lang="en-US" sz="2000" dirty="0"/>
              <a:t>Because shifting right aligns adjacent bits, and </a:t>
            </a:r>
            <a:r>
              <a:rPr lang="en-US" sz="2000" dirty="0" err="1"/>
              <a:t>AND</a:t>
            </a:r>
            <a:r>
              <a:rPr lang="en-US" sz="2000" dirty="0"/>
              <a:t> reveals where both are 1.</a:t>
            </a:r>
          </a:p>
          <a:p>
            <a:pPr>
              <a:buNone/>
            </a:pPr>
            <a:r>
              <a:rPr lang="en-US" sz="2000" dirty="0"/>
              <a:t>Example:</a:t>
            </a:r>
            <a:br>
              <a:rPr lang="en-US" sz="2000" dirty="0"/>
            </a:br>
            <a:r>
              <a:rPr lang="en-US" sz="2000" dirty="0"/>
              <a:t>n = 12 → 1100</a:t>
            </a:r>
            <a:br>
              <a:rPr lang="en-US" sz="2000" dirty="0"/>
            </a:br>
            <a:r>
              <a:rPr lang="en-US" sz="2000" dirty="0"/>
              <a:t>n &gt;&gt; 1 = 0110</a:t>
            </a:r>
            <a:br>
              <a:rPr lang="en-US" sz="2000" dirty="0"/>
            </a:br>
            <a:r>
              <a:rPr lang="en-US" sz="2000" dirty="0"/>
              <a:t>n &amp; (n &gt;&gt; 1) = 0100 ≠ 0 → </a:t>
            </a:r>
            <a:r>
              <a:rPr lang="en-US" sz="2000" b="1" dirty="0"/>
              <a:t>not sparse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If result == 0 → </a:t>
            </a:r>
            <a:r>
              <a:rPr lang="en-US" sz="2000" b="1" dirty="0"/>
              <a:t>sparse</a:t>
            </a:r>
            <a:endParaRPr lang="en-US" sz="2000" dirty="0"/>
          </a:p>
          <a:p>
            <a:pPr>
              <a:buNone/>
            </a:pPr>
            <a:r>
              <a:rPr lang="en-US" sz="2000" b="1" dirty="0"/>
              <a:t>Time Complexity: O(1)</a:t>
            </a:r>
          </a:p>
          <a:p>
            <a:pPr>
              <a:buNone/>
            </a:pPr>
            <a:r>
              <a:rPr lang="en-US" sz="2000" dirty="0"/>
              <a:t>Only two operations: shift + AND.</a:t>
            </a:r>
          </a:p>
          <a:p>
            <a:pPr>
              <a:buNone/>
            </a:pPr>
            <a:r>
              <a:rPr lang="en-US" sz="2000" b="1" dirty="0"/>
              <a:t>Space Complexity: O(1)</a:t>
            </a:r>
          </a:p>
        </p:txBody>
      </p:sp>
    </p:spTree>
    <p:extLst>
      <p:ext uri="{BB962C8B-B14F-4D97-AF65-F5344CB8AC3E}">
        <p14:creationId xmlns:p14="http://schemas.microsoft.com/office/powerpoint/2010/main" val="369821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EB147-33C3-9178-1E32-67E5292FA2F4}"/>
              </a:ext>
            </a:extLst>
          </p:cNvPr>
          <p:cNvSpPr txBox="1"/>
          <p:nvPr/>
        </p:nvSpPr>
        <p:spPr>
          <a:xfrm>
            <a:off x="68826" y="952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Next Greater Element in Circular Array</a:t>
            </a:r>
            <a:endParaRPr lang="en-IN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2ED5EA-D8FA-E8DC-9523-04EEC487FCAF}"/>
                  </a:ext>
                </a:extLst>
              </p:cNvPr>
              <p:cNvSpPr txBox="1"/>
              <p:nvPr/>
            </p:nvSpPr>
            <p:spPr>
              <a:xfrm>
                <a:off x="68826" y="761091"/>
                <a:ext cx="11965858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Brute Force Method</a:t>
                </a:r>
              </a:p>
              <a:p>
                <a:pPr>
                  <a:buNone/>
                </a:pPr>
                <a:r>
                  <a:rPr lang="en-IN" sz="2400" b="1" dirty="0"/>
                  <a:t>Approach</a:t>
                </a:r>
              </a:p>
              <a:p>
                <a:pPr>
                  <a:buNone/>
                </a:pPr>
                <a:r>
                  <a:rPr lang="en-IN" sz="2400" dirty="0"/>
                  <a:t>In this method, we check the </a:t>
                </a:r>
                <a:r>
                  <a:rPr lang="en-IN" sz="2400" b="1" dirty="0"/>
                  <a:t>next elements one by one in a circular manner</a:t>
                </a:r>
                <a:r>
                  <a:rPr lang="en-IN" sz="2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For each index 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i</a:t>
                </a:r>
                <a:r>
                  <a:rPr lang="en-IN" sz="2400" dirty="0"/>
                  <a:t>, compare 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arr</a:t>
                </a:r>
                <a:r>
                  <a:rPr lang="en-IN" sz="2400" dirty="0">
                    <a:latin typeface="Courier New" panose="02070309020205020404" pitchFamily="49" charset="0"/>
                  </a:rPr>
                  <a:t>[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i</a:t>
                </a:r>
                <a:r>
                  <a:rPr lang="en-IN" sz="2400" dirty="0">
                    <a:latin typeface="Courier New" panose="02070309020205020404" pitchFamily="49" charset="0"/>
                  </a:rPr>
                  <a:t>]</a:t>
                </a:r>
                <a:r>
                  <a:rPr lang="en-IN" sz="2400" dirty="0"/>
                  <a:t> with the next elements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Use modulo (</a:t>
                </a:r>
                <a:r>
                  <a:rPr lang="en-IN" sz="2400" dirty="0">
                    <a:latin typeface="Courier New" panose="02070309020205020404" pitchFamily="49" charset="0"/>
                  </a:rPr>
                  <a:t>(</a:t>
                </a:r>
                <a:r>
                  <a:rPr lang="en-IN" sz="2400" dirty="0" err="1">
                    <a:latin typeface="Courier New" panose="02070309020205020404" pitchFamily="49" charset="0"/>
                  </a:rPr>
                  <a:t>i</a:t>
                </a:r>
                <a:r>
                  <a:rPr lang="en-IN" sz="2400" dirty="0">
                    <a:latin typeface="Courier New" panose="02070309020205020404" pitchFamily="49" charset="0"/>
                  </a:rPr>
                  <a:t> + j) % n</a:t>
                </a:r>
                <a:r>
                  <a:rPr lang="en-IN" sz="2400" dirty="0"/>
                  <a:t>) to wrap around the array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The moment a greater element is found, store it in the result array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If no greater element is found after checking all elements, store </a:t>
                </a:r>
                <a:r>
                  <a:rPr lang="en-IN" sz="2400" dirty="0">
                    <a:latin typeface="Courier New" panose="02070309020205020404" pitchFamily="49" charset="0"/>
                  </a:rPr>
                  <a:t>-1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This approach directly simulates the circular traversal.</a:t>
                </a:r>
              </a:p>
              <a:p>
                <a:pPr>
                  <a:buNone/>
                </a:pPr>
                <a:endParaRPr lang="en-IN" sz="2400" dirty="0"/>
              </a:p>
              <a:p>
                <a:pPr>
                  <a:buNone/>
                </a:pPr>
                <a:r>
                  <a:rPr lang="en-IN" sz="2400" b="1" dirty="0"/>
                  <a:t>Time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Outer loop runs </a:t>
                </a:r>
                <a:r>
                  <a:rPr lang="en-IN" sz="2400" dirty="0">
                    <a:latin typeface="Courier New" panose="02070309020205020404" pitchFamily="49" charset="0"/>
                  </a:rPr>
                  <a:t>n</a:t>
                </a:r>
                <a:r>
                  <a:rPr lang="en-IN" sz="2400" dirty="0"/>
                  <a:t> times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Inner loop also runs up to </a:t>
                </a:r>
                <a:r>
                  <a:rPr lang="en-IN" sz="2400" dirty="0">
                    <a:latin typeface="Courier New" panose="02070309020205020404" pitchFamily="49" charset="0"/>
                  </a:rPr>
                  <a:t>n</a:t>
                </a:r>
                <a:r>
                  <a:rPr lang="en-IN" sz="2400" dirty="0"/>
                  <a:t> times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Time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sz="2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Result array of size </a:t>
                </a:r>
                <a:r>
                  <a:rPr lang="en-IN" sz="2400" dirty="0">
                    <a:latin typeface="Courier New" panose="02070309020205020404" pitchFamily="49" charset="0"/>
                  </a:rPr>
                  <a:t>n</a:t>
                </a:r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Space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2ED5EA-D8FA-E8DC-9523-04EEC487F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6" y="761091"/>
                <a:ext cx="11965858" cy="6001643"/>
              </a:xfrm>
              <a:prstGeom prst="rect">
                <a:avLst/>
              </a:prstGeom>
              <a:blipFill>
                <a:blip r:embed="rId2"/>
                <a:stretch>
                  <a:fillRect l="-764" t="-813" b="-3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438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CAE01-AFC5-413B-832B-6D73F487BC02}"/>
              </a:ext>
            </a:extLst>
          </p:cNvPr>
          <p:cNvSpPr txBox="1"/>
          <p:nvPr/>
        </p:nvSpPr>
        <p:spPr>
          <a:xfrm>
            <a:off x="304797" y="507645"/>
            <a:ext cx="115430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Optimal Solution (Using Stack)</a:t>
            </a:r>
          </a:p>
          <a:p>
            <a:pPr>
              <a:buNone/>
            </a:pPr>
            <a:r>
              <a:rPr lang="en-US" b="1" dirty="0"/>
              <a:t>Approach</a:t>
            </a:r>
          </a:p>
          <a:p>
            <a:pPr>
              <a:buNone/>
            </a:pPr>
            <a:r>
              <a:rPr lang="en-US" dirty="0"/>
              <a:t>This approach uses a </a:t>
            </a:r>
            <a:r>
              <a:rPr lang="en-US" b="1" dirty="0"/>
              <a:t>stack</a:t>
            </a:r>
            <a:r>
              <a:rPr lang="en-US" dirty="0"/>
              <a:t> to efficiently find the next greater element.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the array </a:t>
            </a:r>
            <a:r>
              <a:rPr lang="en-US" b="1" dirty="0"/>
              <a:t>twice (0 to 2n−1)</a:t>
            </a:r>
            <a:r>
              <a:rPr lang="en-US" dirty="0"/>
              <a:t> to simulate circular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modulo 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% n</a:t>
            </a:r>
            <a:r>
              <a:rPr lang="en-US" dirty="0"/>
              <a:t>) to access circular indices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a stack of indices whose next greater element is not found yet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current element is greater than the element at the stack top: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Pop the index from the stack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Assign the current element as its next greater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Push indices only during the </a:t>
            </a:r>
            <a:r>
              <a:rPr lang="en-US" b="1" dirty="0"/>
              <a:t>first traversal</a:t>
            </a:r>
            <a:endParaRPr lang="en-US" dirty="0"/>
          </a:p>
          <a:p>
            <a:pPr>
              <a:buNone/>
            </a:pPr>
            <a:r>
              <a:rPr lang="en-US" dirty="0"/>
              <a:t>This ensures each element is processed efficiently.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7AE565-7291-2A50-2571-66D08896D5BF}"/>
                  </a:ext>
                </a:extLst>
              </p:cNvPr>
              <p:cNvSpPr txBox="1"/>
              <p:nvPr/>
            </p:nvSpPr>
            <p:spPr>
              <a:xfrm>
                <a:off x="304797" y="3666631"/>
                <a:ext cx="959628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Time Complexity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Time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Complexity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Stack can store up to </a:t>
                </a:r>
                <a:r>
                  <a:rPr lang="en-IN" dirty="0">
                    <a:latin typeface="Courier New" panose="02070309020205020404" pitchFamily="49" charset="0"/>
                  </a:rPr>
                  <a:t>n</a:t>
                </a:r>
                <a:r>
                  <a:rPr lang="en-IN" dirty="0"/>
                  <a:t> indices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Result array of size </a:t>
                </a:r>
                <a:r>
                  <a:rPr lang="en-IN" dirty="0">
                    <a:latin typeface="Courier New" panose="02070309020205020404" pitchFamily="49" charset="0"/>
                  </a:rPr>
                  <a:t>n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Space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Complexity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7AE565-7291-2A50-2571-66D08896D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7" y="3666631"/>
                <a:ext cx="9596285" cy="1754326"/>
              </a:xfrm>
              <a:prstGeom prst="rect">
                <a:avLst/>
              </a:prstGeom>
              <a:blipFill>
                <a:blip r:embed="rId2"/>
                <a:stretch>
                  <a:fillRect l="-508" t="-1389" b="-17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A4AAF3-206E-4CF6-23AE-98868F0FB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113752"/>
              </p:ext>
            </p:extLst>
          </p:nvPr>
        </p:nvGraphicFramePr>
        <p:xfrm>
          <a:off x="2064774" y="5708671"/>
          <a:ext cx="8524568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1142">
                  <a:extLst>
                    <a:ext uri="{9D8B030D-6E8A-4147-A177-3AD203B41FA5}">
                      <a16:colId xmlns:a16="http://schemas.microsoft.com/office/drawing/2014/main" val="4204909637"/>
                    </a:ext>
                  </a:extLst>
                </a:gridCol>
                <a:gridCol w="2131142">
                  <a:extLst>
                    <a:ext uri="{9D8B030D-6E8A-4147-A177-3AD203B41FA5}">
                      <a16:colId xmlns:a16="http://schemas.microsoft.com/office/drawing/2014/main" val="2573893643"/>
                    </a:ext>
                  </a:extLst>
                </a:gridCol>
                <a:gridCol w="2131142">
                  <a:extLst>
                    <a:ext uri="{9D8B030D-6E8A-4147-A177-3AD203B41FA5}">
                      <a16:colId xmlns:a16="http://schemas.microsoft.com/office/drawing/2014/main" val="2468813296"/>
                    </a:ext>
                  </a:extLst>
                </a:gridCol>
                <a:gridCol w="2131142">
                  <a:extLst>
                    <a:ext uri="{9D8B030D-6E8A-4147-A177-3AD203B41FA5}">
                      <a16:colId xmlns:a16="http://schemas.microsoft.com/office/drawing/2014/main" val="580224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88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67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Stack (Optimal)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02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417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0BD04-7DE1-8BA9-D821-11056FF6B0A3}"/>
              </a:ext>
            </a:extLst>
          </p:cNvPr>
          <p:cNvSpPr txBox="1"/>
          <p:nvPr/>
        </p:nvSpPr>
        <p:spPr>
          <a:xfrm>
            <a:off x="98323" y="2479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 Sized Subarray Maximum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B45BA-D055-195D-03DB-284CBDD0AD68}"/>
              </a:ext>
            </a:extLst>
          </p:cNvPr>
          <p:cNvSpPr txBox="1"/>
          <p:nvPr/>
        </p:nvSpPr>
        <p:spPr>
          <a:xfrm>
            <a:off x="98323" y="790929"/>
            <a:ext cx="120051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Brute Force Method</a:t>
            </a:r>
          </a:p>
          <a:p>
            <a:pPr>
              <a:buNone/>
            </a:pPr>
            <a:r>
              <a:rPr lang="en-US" sz="2400" b="1" dirty="0"/>
              <a:t>Approach</a:t>
            </a:r>
          </a:p>
          <a:p>
            <a:pPr>
              <a:buNone/>
            </a:pPr>
            <a:r>
              <a:rPr lang="en-US" sz="2400" dirty="0"/>
              <a:t>In the brute force approach, we consider </a:t>
            </a:r>
            <a:r>
              <a:rPr lang="en-US" sz="2400" b="1" dirty="0"/>
              <a:t>each possible subarray of size </a:t>
            </a:r>
            <a:r>
              <a:rPr lang="en-US" sz="2400" b="1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Start from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= 0</a:t>
            </a:r>
            <a:r>
              <a:rPr lang="en-US" sz="2400" dirty="0"/>
              <a:t> to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= n − k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each starting index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/>
              <a:t>, traverse the next </a:t>
            </a:r>
            <a:r>
              <a:rPr lang="en-US" sz="2400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Find the maximum among these </a:t>
            </a:r>
            <a:r>
              <a:rPr lang="en-US" sz="2400" dirty="0">
                <a:latin typeface="Courier New" panose="02070309020205020404" pitchFamily="49" charset="0"/>
              </a:rPr>
              <a:t>k</a:t>
            </a:r>
            <a:r>
              <a:rPr lang="en-US" sz="2400" dirty="0"/>
              <a:t>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Store this maximum in the result array</a:t>
            </a:r>
          </a:p>
          <a:p>
            <a:pPr>
              <a:buNone/>
            </a:pPr>
            <a:r>
              <a:rPr lang="en-US" sz="2400" dirty="0"/>
              <a:t>This approach checks all elements in every window explicitly.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49233-8E5B-6E35-4C2B-29FB31503F20}"/>
                  </a:ext>
                </a:extLst>
              </p:cNvPr>
              <p:cNvSpPr txBox="1"/>
              <p:nvPr/>
            </p:nvSpPr>
            <p:spPr>
              <a:xfrm>
                <a:off x="678426" y="3932391"/>
                <a:ext cx="1066800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Time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Outer loop runs </a:t>
                </a:r>
                <a:r>
                  <a:rPr lang="en-IN" sz="2400" dirty="0">
                    <a:latin typeface="Courier New" panose="02070309020205020404" pitchFamily="49" charset="0"/>
                  </a:rPr>
                  <a:t>(n − k + 1)</a:t>
                </a:r>
                <a:r>
                  <a:rPr lang="en-IN" sz="2400" dirty="0"/>
                  <a:t> times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Inner loop runs </a:t>
                </a:r>
                <a:r>
                  <a:rPr lang="en-IN" sz="2400" dirty="0">
                    <a:latin typeface="Courier New" panose="02070309020205020404" pitchFamily="49" charset="0"/>
                  </a:rPr>
                  <a:t>k</a:t>
                </a:r>
                <a:r>
                  <a:rPr lang="en-IN" sz="2400" dirty="0"/>
                  <a:t> times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Time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Result array stores </a:t>
                </a:r>
                <a:r>
                  <a:rPr lang="en-IN" sz="2400" dirty="0">
                    <a:latin typeface="Courier New" panose="02070309020205020404" pitchFamily="49" charset="0"/>
                  </a:rPr>
                  <a:t>(n − k + 1)</a:t>
                </a:r>
                <a:r>
                  <a:rPr lang="en-IN" sz="2400" dirty="0"/>
                  <a:t> elements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Space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49233-8E5B-6E35-4C2B-29FB31503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3932391"/>
                <a:ext cx="10668000" cy="2677656"/>
              </a:xfrm>
              <a:prstGeom prst="rect">
                <a:avLst/>
              </a:prstGeom>
              <a:blipFill>
                <a:blip r:embed="rId2"/>
                <a:stretch>
                  <a:fillRect l="-857" t="-1822" b="-20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73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A4ADB-BCBA-632C-6DE6-3117EF950B6D}"/>
              </a:ext>
            </a:extLst>
          </p:cNvPr>
          <p:cNvSpPr txBox="1"/>
          <p:nvPr/>
        </p:nvSpPr>
        <p:spPr>
          <a:xfrm>
            <a:off x="157316" y="304062"/>
            <a:ext cx="115627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Optimal Method (Deque / Sliding Window)</a:t>
            </a:r>
          </a:p>
          <a:p>
            <a:pPr>
              <a:buNone/>
            </a:pPr>
            <a:r>
              <a:rPr lang="en-US" sz="2400" b="1" dirty="0"/>
              <a:t>Approach</a:t>
            </a:r>
          </a:p>
          <a:p>
            <a:pPr>
              <a:buNone/>
            </a:pPr>
            <a:r>
              <a:rPr lang="en-US" sz="2400" dirty="0"/>
              <a:t>This approach uses a </a:t>
            </a:r>
            <a:r>
              <a:rPr lang="en-US" sz="2400" b="1" dirty="0"/>
              <a:t>deque (double-ended queue)</a:t>
            </a:r>
            <a:r>
              <a:rPr lang="en-US" sz="2400" dirty="0"/>
              <a:t> to store </a:t>
            </a:r>
            <a:r>
              <a:rPr lang="en-US" sz="2400" b="1" dirty="0"/>
              <a:t>indices of array elements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The deque maintains elements in </a:t>
            </a:r>
            <a:r>
              <a:rPr lang="en-US" sz="2400" b="1" dirty="0"/>
              <a:t>decreasing order of values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Remove indices from the </a:t>
            </a:r>
            <a:r>
              <a:rPr lang="en-US" sz="2400" b="1" dirty="0"/>
              <a:t>front</a:t>
            </a:r>
            <a:r>
              <a:rPr lang="en-US" sz="2400" dirty="0"/>
              <a:t> if they are </a:t>
            </a:r>
            <a:r>
              <a:rPr lang="en-US" sz="2400" b="1" dirty="0"/>
              <a:t>outside the current window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Remove indices from the </a:t>
            </a:r>
            <a:r>
              <a:rPr lang="en-US" sz="2400" b="1" dirty="0"/>
              <a:t>back</a:t>
            </a:r>
            <a:r>
              <a:rPr lang="en-US" sz="2400" dirty="0"/>
              <a:t> whose values are </a:t>
            </a:r>
            <a:r>
              <a:rPr lang="en-US" sz="2400" b="1" dirty="0"/>
              <a:t>smaller than the current element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Insert the current index at the </a:t>
            </a:r>
            <a:r>
              <a:rPr lang="en-US" sz="2400" b="1" dirty="0"/>
              <a:t>back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/>
              <a:t>front of the deque always holds the index of the maximum element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Once the first window is formed (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≥ k−1</a:t>
            </a:r>
            <a:r>
              <a:rPr lang="en-US" sz="2400" dirty="0"/>
              <a:t>), add the maximum to the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C2607-A025-3BEA-CF38-BEDF5D7DC0EB}"/>
                  </a:ext>
                </a:extLst>
              </p:cNvPr>
              <p:cNvSpPr txBox="1"/>
              <p:nvPr/>
            </p:nvSpPr>
            <p:spPr>
              <a:xfrm>
                <a:off x="1307690" y="4459046"/>
                <a:ext cx="1052051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Time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Each element is pushed and popped </a:t>
                </a:r>
                <a:r>
                  <a:rPr lang="en-IN" sz="2400" b="1" dirty="0"/>
                  <a:t>at most once</a:t>
                </a:r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Time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IN" sz="2400" b="1" dirty="0"/>
                  <a:t>Space Complexity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dirty="0"/>
                  <a:t>Deque stores at most </a:t>
                </a:r>
                <a:r>
                  <a:rPr lang="en-IN" sz="2400" dirty="0">
                    <a:latin typeface="Courier New" panose="02070309020205020404" pitchFamily="49" charset="0"/>
                  </a:rPr>
                  <a:t>k</a:t>
                </a:r>
                <a:r>
                  <a:rPr lang="en-IN" sz="2400" dirty="0"/>
                  <a:t> indices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Space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Complexity</m:t>
                      </m:r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C2607-A025-3BEA-CF38-BEDF5D7DC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90" y="4459046"/>
                <a:ext cx="10520516" cy="2308324"/>
              </a:xfrm>
              <a:prstGeom prst="rect">
                <a:avLst/>
              </a:prstGeom>
              <a:blipFill>
                <a:blip r:embed="rId2"/>
                <a:stretch>
                  <a:fillRect l="-928" t="-2111" b="-23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61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9F32C-07BE-EB40-6B28-1DC9DDF7405E}"/>
              </a:ext>
            </a:extLst>
          </p:cNvPr>
          <p:cNvSpPr txBox="1"/>
          <p:nvPr/>
        </p:nvSpPr>
        <p:spPr>
          <a:xfrm>
            <a:off x="226141" y="297115"/>
            <a:ext cx="4444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Time Needed to Buy Tickets</a:t>
            </a:r>
            <a:endParaRPr lang="en-IN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C4D852-E094-2B77-C332-0DE1EF90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719128"/>
            <a:ext cx="1176662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Take the array tickets and the index k as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Initialize a variable time to 0 to store the total time taken.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Continue the process as long as the number of tickets required by the person at index k is greater than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Traverse the array from the first person to the last person.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person, check whether the number of tickets required is greater than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yes, decrease the ticket count of that person by one and increase the value of time by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reducing the ticket count, check whether the current person is the person at index k and whether their ticket count has become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both conditions are satisfied, stop the process and output the value of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Repeat the above steps until the required person completes buying all tickets.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CEA77-D42C-0ABD-8E5E-C5B8CD006527}"/>
              </a:ext>
            </a:extLst>
          </p:cNvPr>
          <p:cNvSpPr txBox="1"/>
          <p:nvPr/>
        </p:nvSpPr>
        <p:spPr>
          <a:xfrm>
            <a:off x="226141" y="4322020"/>
            <a:ext cx="316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Time &amp; Space Complexity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4AA4A0-62CD-DD88-5AC7-EC27C8DFF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210283"/>
              </p:ext>
            </p:extLst>
          </p:nvPr>
        </p:nvGraphicFramePr>
        <p:xfrm>
          <a:off x="838200" y="4847147"/>
          <a:ext cx="10515600" cy="1188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25202">
                  <a:extLst>
                    <a:ext uri="{9D8B030D-6E8A-4147-A177-3AD203B41FA5}">
                      <a16:colId xmlns:a16="http://schemas.microsoft.com/office/drawing/2014/main" val="1652203990"/>
                    </a:ext>
                  </a:extLst>
                </a:gridCol>
                <a:gridCol w="6490398">
                  <a:extLst>
                    <a:ext uri="{9D8B030D-6E8A-4147-A177-3AD203B41FA5}">
                      <a16:colId xmlns:a16="http://schemas.microsoft.com/office/drawing/2014/main" val="3421734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263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O(n × max(tickets))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344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73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154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482091-F9C7-80B4-1650-103234AB26BE}"/>
              </a:ext>
            </a:extLst>
          </p:cNvPr>
          <p:cNvSpPr txBox="1"/>
          <p:nvPr/>
        </p:nvSpPr>
        <p:spPr>
          <a:xfrm>
            <a:off x="167148" y="156579"/>
            <a:ext cx="1169055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Optimal Algorithm Steps: Time Needed to Buy Tickets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Take the array </a:t>
            </a:r>
            <a:r>
              <a:rPr lang="en-US" sz="2000" dirty="0">
                <a:latin typeface="Courier New" panose="02070309020205020404" pitchFamily="49" charset="0"/>
              </a:rPr>
              <a:t>tickets</a:t>
            </a:r>
            <a:r>
              <a:rPr lang="en-US" sz="2000" dirty="0"/>
              <a:t> and the index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 as input.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Initialize a variable </a:t>
            </a:r>
            <a:r>
              <a:rPr lang="en-US" sz="2000" dirty="0">
                <a:latin typeface="Courier New" panose="02070309020205020404" pitchFamily="49" charset="0"/>
              </a:rPr>
              <a:t>time</a:t>
            </a:r>
            <a:r>
              <a:rPr lang="en-US" sz="2000" dirty="0"/>
              <a:t> to 0.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Note the number of tickets required by the target person as </a:t>
            </a:r>
            <a:r>
              <a:rPr lang="en-US" sz="2000" dirty="0">
                <a:latin typeface="Courier New" panose="02070309020205020404" pitchFamily="49" charset="0"/>
              </a:rPr>
              <a:t>tickets[k]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Traverse the array from index </a:t>
            </a:r>
            <a:r>
              <a:rPr lang="en-US" sz="2000" dirty="0">
                <a:latin typeface="Courier New" panose="02070309020205020404" pitchFamily="49" charset="0"/>
              </a:rPr>
              <a:t>0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n−1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For each person at index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, check whether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is less than or equal to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is less than or equal to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, add the minimum of </a:t>
            </a:r>
            <a:r>
              <a:rPr lang="en-US" sz="2000" dirty="0">
                <a:latin typeface="Courier New" panose="02070309020205020404" pitchFamily="49" charset="0"/>
              </a:rPr>
              <a:t>tickets[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tickets[k]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time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/>
              <a:t> is greater than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, add the minimum of </a:t>
            </a:r>
            <a:r>
              <a:rPr lang="en-US" sz="2000" dirty="0">
                <a:latin typeface="Courier New" panose="02070309020205020404" pitchFamily="49" charset="0"/>
              </a:rPr>
              <a:t>tickets[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]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tickets[k] − 1</a:t>
            </a:r>
            <a:r>
              <a:rPr lang="en-US" sz="2000" dirty="0"/>
              <a:t> to </a:t>
            </a:r>
            <a:r>
              <a:rPr lang="en-US" sz="2000" dirty="0">
                <a:latin typeface="Courier New" panose="02070309020205020404" pitchFamily="49" charset="0"/>
              </a:rPr>
              <a:t>time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Continue this process for all people in the queue.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After the traversal is complete, the value stored in </a:t>
            </a:r>
            <a:r>
              <a:rPr lang="en-US" sz="2000" dirty="0">
                <a:latin typeface="Courier New" panose="02070309020205020404" pitchFamily="49" charset="0"/>
              </a:rPr>
              <a:t>time</a:t>
            </a:r>
            <a:r>
              <a:rPr lang="en-US" sz="2000" dirty="0"/>
              <a:t> gives the total time required for the person at index </a:t>
            </a:r>
            <a:r>
              <a:rPr lang="en-US" sz="2000" dirty="0">
                <a:latin typeface="Courier New" panose="02070309020205020404" pitchFamily="49" charset="0"/>
              </a:rPr>
              <a:t>k</a:t>
            </a:r>
            <a:r>
              <a:rPr lang="en-US" sz="2000" dirty="0"/>
              <a:t> to buy all tickets.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1065F-D5D6-F70A-293B-9C4DC3CAA0E9}"/>
              </a:ext>
            </a:extLst>
          </p:cNvPr>
          <p:cNvSpPr txBox="1"/>
          <p:nvPr/>
        </p:nvSpPr>
        <p:spPr>
          <a:xfrm>
            <a:off x="167148" y="36344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Time and Space Complexity (Optimal Approach)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CB184-5AE4-E8D6-7FE8-73AB5A854EBA}"/>
              </a:ext>
            </a:extLst>
          </p:cNvPr>
          <p:cNvSpPr txBox="1"/>
          <p:nvPr/>
        </p:nvSpPr>
        <p:spPr>
          <a:xfrm>
            <a:off x="167147" y="4165938"/>
            <a:ext cx="117593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Time Complexity:</a:t>
            </a:r>
            <a:br>
              <a:rPr lang="en-US" sz="2000" dirty="0"/>
            </a:br>
            <a:r>
              <a:rPr lang="en-US" sz="2000" dirty="0"/>
              <a:t>The time complexity of the optimal approach is </a:t>
            </a:r>
            <a:r>
              <a:rPr lang="en-US" sz="2000" b="1" dirty="0"/>
              <a:t>O(n)</a:t>
            </a:r>
            <a:r>
              <a:rPr lang="en-US" sz="2000" dirty="0"/>
              <a:t>, where </a:t>
            </a:r>
            <a:r>
              <a:rPr lang="en-US" sz="2000" dirty="0">
                <a:latin typeface="Courier New" panose="02070309020205020404" pitchFamily="49" charset="0"/>
              </a:rPr>
              <a:t>n</a:t>
            </a:r>
            <a:r>
              <a:rPr lang="en-US" sz="2000" dirty="0"/>
              <a:t> is the number of people in the queue.</a:t>
            </a:r>
          </a:p>
          <a:p>
            <a:pPr>
              <a:buNone/>
            </a:pPr>
            <a:r>
              <a:rPr lang="en-US" sz="2000" b="1" dirty="0"/>
              <a:t>Space Complexity:</a:t>
            </a:r>
            <a:br>
              <a:rPr lang="en-US" sz="2000" dirty="0"/>
            </a:br>
            <a:r>
              <a:rPr lang="en-US" sz="2000" dirty="0"/>
              <a:t>The space complexity is </a:t>
            </a:r>
            <a:r>
              <a:rPr lang="en-US" sz="2000" b="1" dirty="0"/>
              <a:t>O(1)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63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2878</Words>
  <Application>Microsoft Office PowerPoint</Application>
  <PresentationFormat>Widescreen</PresentationFormat>
  <Paragraphs>358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-apple-system</vt:lpstr>
      <vt:lpstr>Aptos</vt:lpstr>
      <vt:lpstr>Aptos Display</vt:lpstr>
      <vt:lpstr>Arial</vt:lpstr>
      <vt:lpstr>Calibri</vt:lpstr>
      <vt:lpstr>Cambria Math</vt:lpstr>
      <vt:lpstr>Courier New</vt:lpstr>
      <vt:lpstr>Source Sans 3</vt:lpstr>
      <vt:lpstr>Office Theme</vt:lpstr>
      <vt:lpstr>231. Power of Two</vt:lpstr>
      <vt:lpstr>258. Add Digits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45</cp:revision>
  <dcterms:created xsi:type="dcterms:W3CDTF">2025-12-02T14:33:29Z</dcterms:created>
  <dcterms:modified xsi:type="dcterms:W3CDTF">2025-12-19T16:16:26Z</dcterms:modified>
</cp:coreProperties>
</file>