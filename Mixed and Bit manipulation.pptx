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6" r:id="rId3"/>
    <p:sldId id="262" r:id="rId4"/>
    <p:sldId id="267" r:id="rId5"/>
    <p:sldId id="263" r:id="rId6"/>
    <p:sldId id="268" r:id="rId7"/>
    <p:sldId id="269" r:id="rId8"/>
    <p:sldId id="259" r:id="rId9"/>
    <p:sldId id="260" r:id="rId10"/>
    <p:sldId id="273" r:id="rId11"/>
    <p:sldId id="264" r:id="rId12"/>
    <p:sldId id="274" r:id="rId13"/>
    <p:sldId id="265" r:id="rId14"/>
    <p:sldId id="275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20A-A14B-1C20-2A42-6613AA321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79BAE-5188-25FB-3E25-FB51BD032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83005-6C15-E3F4-5756-9C37AAE9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A73F-5DD3-DE5E-3236-5FA34C7B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31932-305C-41DD-1524-A6301200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79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259E-667A-70CC-A961-57B55980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A986-D939-DE4F-CCCE-5088C64E7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6A743-2C00-DC7F-3E56-404C80B2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F79AE-A9B9-B57E-9D8D-F26A24C6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5D3D6-430F-AEAA-3CA8-3CEB9AE2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63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E764F-E550-FF54-6133-FAE432004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3E55E-5E6E-A8C2-9267-CB2CE2F21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D4F0E-C757-652A-9343-B6290190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653A2-5EC1-7507-CFE3-FAF0FB23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DB106-98C5-1C5F-BE5A-A0960B64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10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715B-3880-2665-8938-3CDD4493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12EE-F714-E112-B1C4-1AA4838FD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655DC-8135-2BFD-B0E6-5A910A338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80B78-4DE2-468F-26A2-43D5E037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C81BF-74D0-E37D-5B4B-670E2372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7A958-E799-8064-873B-680F39A0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8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E155-40A2-80DD-0F45-73DD0515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A2D6B-8BF2-B946-8F1D-18756D120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C2CDD-F0FE-38FE-3BED-359DE8A6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C939E-CE2A-3D86-D12E-59F38B9D6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3B304-8039-0230-D0BA-4969D8AA0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97016-F8FA-2BE4-1454-760C7483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BB3C2-5E08-DC04-45C2-5C06801D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C6671-3563-24BB-E165-5E8CCD6F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92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69FE-EDC2-EBC9-00BB-A97913E9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8FE65-4326-B3C1-E6CE-E20DCA05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6BD5F-EC72-3FD1-F35B-B486585A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82151-A9C4-EAF3-28DF-CB4871B8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99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21073-5819-73E9-F9EB-58252AE0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EA213-20CD-EDE1-A19B-244DC6DB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1B5B-2ACB-CB38-EBCE-62F6FC4B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30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DA46-659D-190E-D9D2-8525F1AD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72E4-7D2E-C0AD-A6DE-A9A4FFB06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7394D-FAD4-5B1D-D6D1-BF16A9FED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06FD1-D3AB-B26E-FB7F-8544D50F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5035-4DB0-84C3-A97B-9F1BAD27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29CF6-BF3A-C151-27A0-2065450C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14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CA38-496B-6E73-A137-69BF803D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2DBC3-7842-E0C9-AC5C-CCAAE24FF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E1B9F-E672-A344-FAE1-47F215EA1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3F322-3B32-2ED5-1402-CC95C0C4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4F6C1-0A4F-5472-2EFE-C35AFD473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8661A-CFF4-63B2-DF1E-5FDF4916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4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F508-3441-5715-F46D-C9732783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18CCC-FCDB-92A4-9353-F1E5C08CF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1516E-4881-06C1-F1BF-B44A5F4E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8AEA0-8521-5999-7124-E2C596CA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20A51-1C03-E0C6-60EA-4012ED2E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2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78D92-08D2-0C82-7AB5-3CEDAD92C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B43C7-AF79-6F05-A214-B48C7BDA0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D4625-2871-C385-E66E-A71E7930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A8E32-A8DA-D39C-CECE-3FE321451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34ED-2C33-6163-932F-0657FF44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22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7A3B9-6B53-79DE-84C0-CC1B7878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47786-858E-8F54-D8F2-01C006A1D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2AEF-2207-8598-98BE-34AF5CFD1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B95F7-5129-4444-89DA-C030A3E176B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A5DCA-F4AA-AF49-E5C3-3284DFD60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C21F2-F3EE-0018-75BB-5D6005C02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41560-7509-40D6-805B-5597A3F8F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36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480F8-2F3E-5032-11D4-678A64A2FC5C}"/>
              </a:ext>
            </a:extLst>
          </p:cNvPr>
          <p:cNvSpPr txBox="1"/>
          <p:nvPr/>
        </p:nvSpPr>
        <p:spPr>
          <a:xfrm>
            <a:off x="639097" y="1588531"/>
            <a:ext cx="99207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Brute Force Approach</a:t>
            </a:r>
          </a:p>
          <a:p>
            <a:pPr>
              <a:buNone/>
            </a:pPr>
            <a:r>
              <a:rPr lang="en-US" sz="2400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Start with a variable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>
                <a:latin typeface="Courier New" panose="02070309020205020404" pitchFamily="49" charset="0"/>
              </a:rPr>
              <a:t> = 0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Use two loops: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Outer loop selects starting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Inner loop selects ending index </a:t>
            </a:r>
            <a:r>
              <a:rPr lang="en-US" sz="2400" dirty="0">
                <a:latin typeface="Courier New" panose="02070309020205020404" pitchFamily="49" charset="0"/>
              </a:rPr>
              <a:t>j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For each substring from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 to </a:t>
            </a:r>
            <a:r>
              <a:rPr lang="en-US" sz="2400" dirty="0">
                <a:latin typeface="Courier New" panose="02070309020205020404" pitchFamily="49" charset="0"/>
              </a:rPr>
              <a:t>j</a:t>
            </a:r>
            <a:r>
              <a:rPr lang="en-US" sz="2400" dirty="0"/>
              <a:t>, maintain a </a:t>
            </a:r>
            <a:r>
              <a:rPr lang="en-US" sz="2400" b="1" dirty="0"/>
              <a:t>frequency array or set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Check if the current character is already present (means repeating).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not repeating, increase substring length and update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repeating, stop extending this substring and move to next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After checking all possible substrings, return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A3108-89C1-B420-DE94-050DF1C75E93}"/>
              </a:ext>
            </a:extLst>
          </p:cNvPr>
          <p:cNvSpPr txBox="1"/>
          <p:nvPr/>
        </p:nvSpPr>
        <p:spPr>
          <a:xfrm>
            <a:off x="639097" y="353961"/>
            <a:ext cx="10432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Longest Substring Without Repeating Characters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5898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5C9A98-3C67-9A05-DEDB-D76913A68891}"/>
              </a:ext>
            </a:extLst>
          </p:cNvPr>
          <p:cNvSpPr txBox="1"/>
          <p:nvPr/>
        </p:nvSpPr>
        <p:spPr>
          <a:xfrm>
            <a:off x="491613" y="596828"/>
            <a:ext cx="113562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Outer loop →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Inner loop →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Checking unique characters → O(n)</a:t>
            </a:r>
          </a:p>
          <a:p>
            <a:pPr>
              <a:buNone/>
            </a:pPr>
            <a:r>
              <a:rPr lang="en-US" sz="2400" dirty="0"/>
              <a:t>Total: </a:t>
            </a:r>
            <a:r>
              <a:rPr lang="en-US" sz="2400" b="1" dirty="0"/>
              <a:t>O(n³)</a:t>
            </a:r>
            <a:r>
              <a:rPr lang="en-US" sz="2400" dirty="0"/>
              <a:t> (Worst case)</a:t>
            </a:r>
          </a:p>
          <a:p>
            <a:pPr>
              <a:buNone/>
            </a:pPr>
            <a:r>
              <a:rPr lang="en-US" sz="2400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O(n) (for checking characters)</a:t>
            </a:r>
          </a:p>
        </p:txBody>
      </p:sp>
    </p:spTree>
    <p:extLst>
      <p:ext uri="{BB962C8B-B14F-4D97-AF65-F5344CB8AC3E}">
        <p14:creationId xmlns:p14="http://schemas.microsoft.com/office/powerpoint/2010/main" val="96818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B5660-DE1A-935D-8F81-3B5AD6779D79}"/>
                  </a:ext>
                </a:extLst>
              </p:cNvPr>
              <p:cNvSpPr txBox="1"/>
              <p:nvPr/>
            </p:nvSpPr>
            <p:spPr>
              <a:xfrm>
                <a:off x="127817" y="425098"/>
                <a:ext cx="11857705" cy="5601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Optimized Sliding Window — Steps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Create a frequency array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</a:t>
                </a:r>
                <a:r>
                  <a:rPr lang="en-US" sz="2000" dirty="0"/>
                  <a:t> of size 256 initialized to 0 (for all ASCII characters).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Initialize two pointers: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>
                    <a:latin typeface="Courier New" panose="02070309020205020404" pitchFamily="49" charset="0"/>
                  </a:rPr>
                  <a:t>l = 0</a:t>
                </a:r>
                <a:r>
                  <a:rPr lang="en-US" sz="2000" dirty="0"/>
                  <a:t> (left side of window)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>
                    <a:latin typeface="Courier New" panose="02070309020205020404" pitchFamily="49" charset="0"/>
                  </a:rPr>
                  <a:t>r = 0</a:t>
                </a:r>
                <a:r>
                  <a:rPr lang="en-US" sz="2000" dirty="0"/>
                  <a:t> (right side of window)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Start expanding the window by moving pointer </a:t>
                </a:r>
                <a:r>
                  <a:rPr lang="en-US" sz="2000" dirty="0">
                    <a:latin typeface="Courier New" panose="02070309020205020404" pitchFamily="49" charset="0"/>
                  </a:rPr>
                  <a:t>r</a:t>
                </a:r>
                <a:r>
                  <a:rPr lang="en-US" sz="2000" dirty="0"/>
                  <a:t> to the right.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Increase the frequency of the character </a:t>
                </a:r>
                <a:r>
                  <a:rPr lang="en-US" sz="2000" dirty="0">
                    <a:latin typeface="Courier New" panose="02070309020205020404" pitchFamily="49" charset="0"/>
                  </a:rPr>
                  <a:t>s[r]</a:t>
                </a:r>
                <a:r>
                  <a:rPr lang="en-US" sz="2000" dirty="0"/>
                  <a:t> in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</a:t>
                </a:r>
                <a:r>
                  <a:rPr lang="en-US" sz="20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If the frequency of the current character becomes </a:t>
                </a:r>
                <a:r>
                  <a:rPr lang="en-US" sz="2000" b="1" dirty="0"/>
                  <a:t>greater than 1</a:t>
                </a:r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this means we found a </a:t>
                </a:r>
                <a:r>
                  <a:rPr lang="en-US" sz="2000" b="1" dirty="0"/>
                  <a:t>duplicate</a:t>
                </a:r>
                <a:r>
                  <a:rPr lang="en-US" sz="20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Shrink the window from the left: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Decrease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count[s[l]]</a:t>
                </a:r>
                <a:endParaRPr lang="en-US" sz="2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Move </a:t>
                </a:r>
                <a:r>
                  <a:rPr lang="en-US" sz="2000" dirty="0">
                    <a:latin typeface="Courier New" panose="02070309020205020404" pitchFamily="49" charset="0"/>
                  </a:rPr>
                  <a:t>l</a:t>
                </a:r>
                <a:r>
                  <a:rPr lang="en-US" sz="2000" dirty="0"/>
                  <a:t> forward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Repeat until the duplicate is removed.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After removing duplicates, calculate the current window size: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/>
                        <m:t>current</m:t>
                      </m:r>
                      <m:r>
                        <m:rPr>
                          <m:nor/>
                        </m:rPr>
                        <a:rPr lang="en-US" sz="2000" b="0" i="1"/>
                        <m:t> </m:t>
                      </m:r>
                      <m:r>
                        <m:rPr>
                          <m:nor/>
                        </m:rPr>
                        <a:rPr lang="en-US" sz="2000" b="0" i="1"/>
                        <m:t>length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0" dirty="0"/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Update </a:t>
                </a:r>
                <a:r>
                  <a:rPr lang="en-US" sz="2000" dirty="0" err="1">
                    <a:latin typeface="Courier New" panose="02070309020205020404" pitchFamily="49" charset="0"/>
                  </a:rPr>
                  <a:t>maxLen</a:t>
                </a:r>
                <a:r>
                  <a:rPr lang="en-US" sz="2000" dirty="0"/>
                  <a:t> with the maximum window size found so far.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Move </a:t>
                </a:r>
                <a:r>
                  <a:rPr lang="en-US" sz="2000" dirty="0">
                    <a:latin typeface="Courier New" panose="02070309020205020404" pitchFamily="49" charset="0"/>
                  </a:rPr>
                  <a:t>r</a:t>
                </a:r>
                <a:r>
                  <a:rPr lang="en-US" sz="2000" dirty="0"/>
                  <a:t> forward and continue until the end of string.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Return </a:t>
                </a:r>
                <a:r>
                  <a:rPr lang="en-US" sz="2000" dirty="0" err="1">
                    <a:latin typeface="Courier New" panose="02070309020205020404" pitchFamily="49" charset="0"/>
                  </a:rPr>
                  <a:t>maxLen</a:t>
                </a:r>
                <a:r>
                  <a:rPr lang="en-US" sz="2000" dirty="0"/>
                  <a:t> as the longest substring without repeating characters.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B5660-DE1A-935D-8F81-3B5AD6779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7" y="425098"/>
                <a:ext cx="11857705" cy="5601533"/>
              </a:xfrm>
              <a:prstGeom prst="rect">
                <a:avLst/>
              </a:prstGeom>
              <a:blipFill>
                <a:blip r:embed="rId2"/>
                <a:stretch>
                  <a:fillRect l="-566" t="-653" b="-1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08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3178A-B04A-8DE5-26FD-DC731B3243C2}"/>
              </a:ext>
            </a:extLst>
          </p:cNvPr>
          <p:cNvSpPr txBox="1"/>
          <p:nvPr/>
        </p:nvSpPr>
        <p:spPr>
          <a:xfrm>
            <a:off x="501444" y="429681"/>
            <a:ext cx="103140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Time Complexity</a:t>
            </a:r>
          </a:p>
          <a:p>
            <a:pPr>
              <a:buNone/>
            </a:pPr>
            <a:r>
              <a:rPr lang="en-US" sz="2400" dirty="0"/>
              <a:t>Sliding Window processes each character </a:t>
            </a:r>
            <a:r>
              <a:rPr lang="en-US" sz="2400" b="1" dirty="0"/>
              <a:t>at most 2 times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r</a:t>
            </a:r>
            <a:r>
              <a:rPr lang="en-US" sz="2400" dirty="0"/>
              <a:t> moves n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l</a:t>
            </a:r>
            <a:r>
              <a:rPr lang="en-US" sz="2400" dirty="0"/>
              <a:t> moves n times</a:t>
            </a:r>
          </a:p>
          <a:p>
            <a:pPr>
              <a:buNone/>
            </a:pPr>
            <a:r>
              <a:rPr lang="en-US" sz="2400" dirty="0"/>
              <a:t>So: </a:t>
            </a:r>
            <a:r>
              <a:rPr lang="en-US" sz="2400" b="1" dirty="0"/>
              <a:t>O(n)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count array = </a:t>
            </a:r>
            <a:r>
              <a:rPr lang="en-US" sz="2400" b="1" dirty="0"/>
              <a:t>O(1)</a:t>
            </a:r>
            <a:r>
              <a:rPr lang="en-US" sz="2400" dirty="0"/>
              <a:t> fixed size 256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587AA-EC45-2A99-E0C3-28C25ED68C14}"/>
              </a:ext>
            </a:extLst>
          </p:cNvPr>
          <p:cNvGraphicFramePr>
            <a:graphicFrameLocks noGrp="1"/>
          </p:cNvGraphicFramePr>
          <p:nvPr/>
        </p:nvGraphicFramePr>
        <p:xfrm>
          <a:off x="570269" y="4393991"/>
          <a:ext cx="1051560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730667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77684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032785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1276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117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Brute Force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O(n³)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Check all substrings and verify uniqueness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655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Sliding Window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Always maintain a non-repeating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35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BCD2C7-B6EC-1DD1-BB56-9DE8FD8390C5}"/>
              </a:ext>
            </a:extLst>
          </p:cNvPr>
          <p:cNvSpPr txBox="1"/>
          <p:nvPr/>
        </p:nvSpPr>
        <p:spPr>
          <a:xfrm>
            <a:off x="501444" y="34890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Final 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3682484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30D98-7E24-76CD-2F78-C4303C663CC1}"/>
              </a:ext>
            </a:extLst>
          </p:cNvPr>
          <p:cNvSpPr txBox="1"/>
          <p:nvPr/>
        </p:nvSpPr>
        <p:spPr>
          <a:xfrm>
            <a:off x="324464" y="247954"/>
            <a:ext cx="11493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974. Subarray Sums Divisible by K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BDD8F-3413-31F8-37DA-60FEFECC9D28}"/>
              </a:ext>
            </a:extLst>
          </p:cNvPr>
          <p:cNvSpPr txBox="1"/>
          <p:nvPr/>
        </p:nvSpPr>
        <p:spPr>
          <a:xfrm>
            <a:off x="324463" y="960622"/>
            <a:ext cx="113562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Brute Force Approach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Convert the array into prefix sum form.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Count how many prefix sums are divisible by k.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Check every pair of prefix sums (</a:t>
            </a:r>
            <a:r>
              <a:rPr lang="en-US" sz="2000" dirty="0" err="1"/>
              <a:t>i</a:t>
            </a:r>
            <a:r>
              <a:rPr lang="en-US" sz="2000" dirty="0"/>
              <a:t>, j).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difference of the two prefix sums is divisible by k, increase count.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count.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CAD60-0886-1720-21B4-F38E2FE518FF}"/>
              </a:ext>
            </a:extLst>
          </p:cNvPr>
          <p:cNvSpPr txBox="1"/>
          <p:nvPr/>
        </p:nvSpPr>
        <p:spPr>
          <a:xfrm>
            <a:off x="196644" y="3027507"/>
            <a:ext cx="117495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Approach (Using Prefix Sums + Checking All Pairs)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1: Building prefix sum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2: Counting prefix sum divisible by k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3: Checking every pair (</a:t>
            </a:r>
            <a:r>
              <a:rPr lang="en-IN" dirty="0" err="1"/>
              <a:t>i</a:t>
            </a:r>
            <a:r>
              <a:rPr lang="en-IN" dirty="0"/>
              <a:t>, j) → </a:t>
            </a:r>
            <a:r>
              <a:rPr lang="en-IN" b="1" dirty="0"/>
              <a:t>O(n²)</a:t>
            </a:r>
            <a:br>
              <a:rPr lang="en-IN" dirty="0"/>
            </a:br>
            <a:r>
              <a:rPr lang="en-IN" dirty="0"/>
              <a:t>This is because there are ≈ n(n−1)/2 pairs.</a:t>
            </a:r>
          </a:p>
          <a:p>
            <a:pPr>
              <a:buNone/>
            </a:pPr>
            <a:r>
              <a:rPr lang="en-IN" b="1" dirty="0"/>
              <a:t>Total Time Complexity = O(n²)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Prefix array: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extra significant space.</a:t>
            </a:r>
          </a:p>
          <a:p>
            <a:pPr>
              <a:buNone/>
            </a:pPr>
            <a:r>
              <a:rPr lang="en-IN" b="1" dirty="0"/>
              <a:t>Total Space Complexity = O(n)</a:t>
            </a:r>
          </a:p>
        </p:txBody>
      </p:sp>
    </p:spTree>
    <p:extLst>
      <p:ext uri="{BB962C8B-B14F-4D97-AF65-F5344CB8AC3E}">
        <p14:creationId xmlns:p14="http://schemas.microsoft.com/office/powerpoint/2010/main" val="330927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827B11-73CC-9D25-1088-4A493E844960}"/>
              </a:ext>
            </a:extLst>
          </p:cNvPr>
          <p:cNvSpPr txBox="1"/>
          <p:nvPr/>
        </p:nvSpPr>
        <p:spPr>
          <a:xfrm>
            <a:off x="157315" y="142288"/>
            <a:ext cx="1154307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Optimal Approach — Steps (Prefix Sum + </a:t>
            </a:r>
            <a:r>
              <a:rPr lang="en-US" sz="2000" b="1" dirty="0" err="1"/>
              <a:t>Hashmap</a:t>
            </a:r>
            <a:r>
              <a:rPr lang="en-US" sz="20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Start with sum = 0 and result = 0.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remainder 0 with frequency 1 in the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every element in the array: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Add the element to sum.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Find remainder of sum when divided by 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If remainder is negative, make it positive by adding 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Add the frequency of this remainder to result.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Increase the frequency of this remainder in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2C15A-FDFE-431D-69AB-642C20B4AB84}"/>
              </a:ext>
            </a:extLst>
          </p:cNvPr>
          <p:cNvSpPr txBox="1"/>
          <p:nvPr/>
        </p:nvSpPr>
        <p:spPr>
          <a:xfrm>
            <a:off x="304800" y="3312387"/>
            <a:ext cx="116610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Approach — Prefix Sum + </a:t>
            </a:r>
            <a:r>
              <a:rPr lang="en-IN" b="1" dirty="0" err="1"/>
              <a:t>Hashmap</a:t>
            </a:r>
            <a:r>
              <a:rPr lang="en-IN" b="1" dirty="0"/>
              <a:t> (Remainder Frequency)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You traverse the array once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 operations (add, mod, </a:t>
            </a:r>
            <a:r>
              <a:rPr lang="en-IN" dirty="0" err="1"/>
              <a:t>hashmap</a:t>
            </a:r>
            <a:r>
              <a:rPr lang="en-IN" dirty="0"/>
              <a:t> lookup, update) = </a:t>
            </a:r>
            <a:r>
              <a:rPr lang="en-IN" b="1" dirty="0"/>
              <a:t>O(1)</a:t>
            </a:r>
            <a:r>
              <a:rPr lang="en-IN" dirty="0"/>
              <a:t> average.</a:t>
            </a:r>
          </a:p>
          <a:p>
            <a:pPr>
              <a:buNone/>
            </a:pPr>
            <a:r>
              <a:rPr lang="en-IN" b="1" dirty="0"/>
              <a:t>Total Time Complexity = O(n)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Hashmap</a:t>
            </a:r>
            <a:r>
              <a:rPr lang="en-IN" dirty="0"/>
              <a:t> stores at most </a:t>
            </a:r>
            <a:r>
              <a:rPr lang="en-IN" b="1" dirty="0"/>
              <a:t>k</a:t>
            </a:r>
            <a:r>
              <a:rPr lang="en-IN" dirty="0"/>
              <a:t> remainders (0 to k−1)</a:t>
            </a:r>
          </a:p>
          <a:p>
            <a:pPr>
              <a:buNone/>
            </a:pPr>
            <a:r>
              <a:rPr lang="en-IN" b="1" dirty="0"/>
              <a:t>Space Complexity = O(k)</a:t>
            </a:r>
          </a:p>
          <a:p>
            <a:pPr>
              <a:buNone/>
            </a:pPr>
            <a:r>
              <a:rPr lang="en-IN" dirty="0"/>
              <a:t>(If k is constant compared to n, this becomes </a:t>
            </a:r>
            <a:r>
              <a:rPr lang="en-IN" b="1" dirty="0"/>
              <a:t>O(1)</a:t>
            </a:r>
            <a:r>
              <a:rPr lang="en-IN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15113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44C577-3FA4-45F4-6FF0-35B461ED77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6150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881153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74238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6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95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Brute Force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O(n²)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77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Optimal (Prefix + Hashmap)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O(k)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9765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FBAA9D-0B01-B7B2-8357-7F1C909E0939}"/>
              </a:ext>
            </a:extLst>
          </p:cNvPr>
          <p:cNvSpPr txBox="1"/>
          <p:nvPr/>
        </p:nvSpPr>
        <p:spPr>
          <a:xfrm>
            <a:off x="1081549" y="7887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292332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23B6D-3921-416F-CAFD-BF52BC26C07F}"/>
              </a:ext>
            </a:extLst>
          </p:cNvPr>
          <p:cNvSpPr txBox="1"/>
          <p:nvPr/>
        </p:nvSpPr>
        <p:spPr>
          <a:xfrm>
            <a:off x="206476" y="1063979"/>
            <a:ext cx="1178396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1. Brute-Force Approach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Start from the first element of the array.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each element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, compare it with every element after it (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</a:t>
            </a:r>
            <a:r>
              <a:rPr lang="en-US" sz="2000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Calculate </a:t>
            </a:r>
            <a:r>
              <a:rPr lang="en-US" sz="2000" dirty="0">
                <a:latin typeface="Courier New" panose="02070309020205020404" pitchFamily="49" charset="0"/>
              </a:rPr>
              <a:t>abs(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 –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])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result is equal to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return </a:t>
            </a:r>
            <a:r>
              <a:rPr lang="en-US" sz="2000" b="1" dirty="0"/>
              <a:t>true</a:t>
            </a:r>
            <a:r>
              <a:rPr lang="en-US" sz="2000" dirty="0"/>
              <a:t> (pair found).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all pairs are checked and no match is found,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2. Two-Pointer Approach (Optimized)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Sort the array in increasing order.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Initialize two pointers: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 = 0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j = 1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While pointer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 is within the array: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Compute the difference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 –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equals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return </a:t>
            </a:r>
            <a:r>
              <a:rPr lang="en-US" sz="2000" b="1" dirty="0"/>
              <a:t>true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is </a:t>
            </a:r>
            <a:r>
              <a:rPr lang="en-US" sz="2000" b="1" dirty="0"/>
              <a:t>greater</a:t>
            </a:r>
            <a:r>
              <a:rPr lang="en-US" sz="2000" dirty="0"/>
              <a:t> than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move the </a:t>
            </a:r>
            <a:r>
              <a:rPr lang="en-US" sz="2000" b="1" dirty="0" err="1"/>
              <a:t>i</a:t>
            </a:r>
            <a:r>
              <a:rPr lang="en-US" sz="2000" b="1" dirty="0"/>
              <a:t> pointer</a:t>
            </a:r>
            <a:r>
              <a:rPr lang="en-US" sz="2000" dirty="0"/>
              <a:t> forward.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is </a:t>
            </a:r>
            <a:r>
              <a:rPr lang="en-US" sz="2000" b="1" dirty="0"/>
              <a:t>less</a:t>
            </a:r>
            <a:r>
              <a:rPr lang="en-US" sz="2000" dirty="0"/>
              <a:t> than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move the </a:t>
            </a:r>
            <a:r>
              <a:rPr lang="en-US" sz="2000" b="1" dirty="0"/>
              <a:t>j pointer</a:t>
            </a:r>
            <a:r>
              <a:rPr lang="en-US" sz="2000" dirty="0"/>
              <a:t> forward.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Ensure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never becomes equal to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; if it does, increase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no pair is found,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12052-D5F6-C4D6-CB26-0C83CF5CCD35}"/>
              </a:ext>
            </a:extLst>
          </p:cNvPr>
          <p:cNvSpPr txBox="1"/>
          <p:nvPr/>
        </p:nvSpPr>
        <p:spPr>
          <a:xfrm rot="10800000" flipH="1" flipV="1">
            <a:off x="460034" y="417647"/>
            <a:ext cx="639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Find Pair Given Difference</a:t>
            </a:r>
          </a:p>
        </p:txBody>
      </p:sp>
    </p:spTree>
    <p:extLst>
      <p:ext uri="{BB962C8B-B14F-4D97-AF65-F5344CB8AC3E}">
        <p14:creationId xmlns:p14="http://schemas.microsoft.com/office/powerpoint/2010/main" val="213082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995912-13E4-6432-A9F1-2B20208F04E9}"/>
              </a:ext>
            </a:extLst>
          </p:cNvPr>
          <p:cNvSpPr txBox="1"/>
          <p:nvPr/>
        </p:nvSpPr>
        <p:spPr>
          <a:xfrm>
            <a:off x="245807" y="231339"/>
            <a:ext cx="99994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3. </a:t>
            </a:r>
            <a:r>
              <a:rPr lang="en-US" sz="2000" b="1" dirty="0" err="1"/>
              <a:t>Hashmap</a:t>
            </a:r>
            <a:r>
              <a:rPr lang="en-US" sz="2000" b="1" dirty="0"/>
              <a:t> Approach (Most Efficient)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Create an empty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Traverse the array from left to right.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every element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 if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 + x</a:t>
            </a:r>
            <a:r>
              <a:rPr lang="en-US" sz="2000" dirty="0"/>
              <a:t> exists in the map.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 if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 - x</a:t>
            </a:r>
            <a:r>
              <a:rPr lang="en-US" sz="2000" dirty="0"/>
              <a:t> exists in the map.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any of the above exists, return </a:t>
            </a:r>
            <a:r>
              <a:rPr lang="en-US" sz="2000" b="1" dirty="0"/>
              <a:t>true</a:t>
            </a:r>
            <a:r>
              <a:rPr lang="en-US" sz="2000" dirty="0"/>
              <a:t> (pair found).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not found, insert the current element into the map.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loop ends and no valid pair appears,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663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10797-AE2C-4EE4-1F2C-A9BA1A584DBA}"/>
              </a:ext>
            </a:extLst>
          </p:cNvPr>
          <p:cNvSpPr txBox="1"/>
          <p:nvPr/>
        </p:nvSpPr>
        <p:spPr>
          <a:xfrm>
            <a:off x="245807" y="419286"/>
            <a:ext cx="1152340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Brute Force — O(n²) Time, O(1)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every element, you compare it with </a:t>
            </a:r>
            <a:r>
              <a:rPr lang="en-US" b="1" dirty="0"/>
              <a:t>every other element</a:t>
            </a:r>
            <a:r>
              <a:rPr lang="en-US" dirty="0"/>
              <a:t> → two nested loops.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Nested loops = </a:t>
            </a:r>
            <a:r>
              <a:rPr lang="en-US" b="1" dirty="0"/>
              <a:t>n × n = O(n²)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extra data structure used → </a:t>
            </a:r>
            <a:r>
              <a:rPr lang="en-US" b="1" dirty="0"/>
              <a:t>O(1) space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Two-Pointer Approach — O(n log n) Time, O(1)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step is </a:t>
            </a:r>
            <a:r>
              <a:rPr lang="en-US" b="1" dirty="0"/>
              <a:t>sorting</a:t>
            </a:r>
            <a:r>
              <a:rPr lang="en-US" dirty="0"/>
              <a:t>, which takes </a:t>
            </a:r>
            <a:r>
              <a:rPr lang="en-US" b="1" dirty="0"/>
              <a:t>O(n log 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sorting, the two pointers move only forward →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dominated by sorting → </a:t>
            </a:r>
            <a:r>
              <a:rPr lang="en-US" b="1" dirty="0"/>
              <a:t>O(n log 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few variables used → </a:t>
            </a:r>
            <a:r>
              <a:rPr lang="en-US" b="1" dirty="0"/>
              <a:t>O(1) space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3. </a:t>
            </a:r>
            <a:r>
              <a:rPr lang="en-US" b="1" dirty="0" err="1"/>
              <a:t>Hashmap</a:t>
            </a:r>
            <a:r>
              <a:rPr lang="en-US" b="1" dirty="0"/>
              <a:t> Approach — O(n) Time, O(n)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traverse the array once →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lookup and insert in </a:t>
            </a:r>
            <a:r>
              <a:rPr lang="en-US" dirty="0" err="1"/>
              <a:t>hashmap</a:t>
            </a:r>
            <a:r>
              <a:rPr lang="en-US" dirty="0"/>
              <a:t> takes </a:t>
            </a:r>
            <a:r>
              <a:rPr lang="en-US" b="1" dirty="0"/>
              <a:t>O(1)</a:t>
            </a:r>
            <a:r>
              <a:rPr lang="en-US" dirty="0"/>
              <a:t> average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store elements in the </a:t>
            </a:r>
            <a:r>
              <a:rPr lang="en-US" dirty="0" err="1"/>
              <a:t>hashmap</a:t>
            </a:r>
            <a:r>
              <a:rPr lang="en-US" dirty="0"/>
              <a:t> → needs </a:t>
            </a:r>
            <a:r>
              <a:rPr lang="en-US" b="1" dirty="0"/>
              <a:t>O(n)</a:t>
            </a:r>
            <a:r>
              <a:rPr lang="en-US" dirty="0"/>
              <a:t> space.</a:t>
            </a:r>
          </a:p>
        </p:txBody>
      </p:sp>
    </p:spTree>
    <p:extLst>
      <p:ext uri="{BB962C8B-B14F-4D97-AF65-F5344CB8AC3E}">
        <p14:creationId xmlns:p14="http://schemas.microsoft.com/office/powerpoint/2010/main" val="191679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34CF4A-9643-B729-1913-B0791041BE4D}"/>
              </a:ext>
            </a:extLst>
          </p:cNvPr>
          <p:cNvGraphicFramePr>
            <a:graphicFrameLocks noGrp="1"/>
          </p:cNvGraphicFramePr>
          <p:nvPr/>
        </p:nvGraphicFramePr>
        <p:xfrm>
          <a:off x="156905" y="174420"/>
          <a:ext cx="6076745" cy="55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76745">
                  <a:extLst>
                    <a:ext uri="{9D8B030D-6E8A-4147-A177-3AD203B41FA5}">
                      <a16:colId xmlns:a16="http://schemas.microsoft.com/office/drawing/2014/main" val="273445740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600" u="none" strike="noStrike" dirty="0">
                          <a:effectLst/>
                        </a:rPr>
                        <a:t>Swap two numbers</a:t>
                      </a:r>
                      <a:endParaRPr lang="en-IN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956980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B6F9F3-FD93-4003-9D25-3D971072665B}"/>
              </a:ext>
            </a:extLst>
          </p:cNvPr>
          <p:cNvSpPr txBox="1"/>
          <p:nvPr/>
        </p:nvSpPr>
        <p:spPr>
          <a:xfrm>
            <a:off x="156906" y="894734"/>
            <a:ext cx="116811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Swap using temp variable (simple method)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two numbers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in a temporary variable </a:t>
            </a:r>
            <a:r>
              <a:rPr lang="en-US" sz="2000" dirty="0">
                <a:latin typeface="Courier New" panose="02070309020205020404" pitchFamily="49" charset="0"/>
              </a:rPr>
              <a:t>temp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Assign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Assign </a:t>
            </a:r>
            <a:r>
              <a:rPr lang="en-US" sz="2000" dirty="0">
                <a:latin typeface="Courier New" panose="02070309020205020404" pitchFamily="49" charset="0"/>
              </a:rPr>
              <a:t>temp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new values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Swap using addition–subtraction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Add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the result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Subtract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(which is </a:t>
            </a:r>
            <a:r>
              <a:rPr lang="en-US" sz="2000" dirty="0" err="1"/>
              <a:t>a+b</a:t>
            </a:r>
            <a:r>
              <a:rPr lang="en-US" sz="2000" dirty="0"/>
              <a:t>)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to get original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, and store it in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Subtract the new value of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from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to get original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, and store it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swapped values.</a:t>
            </a:r>
          </a:p>
          <a:p>
            <a:pPr>
              <a:buNone/>
            </a:pPr>
            <a:br>
              <a:rPr lang="en-US" sz="2000" dirty="0"/>
            </a:br>
            <a:r>
              <a:rPr lang="en-US" sz="2000" b="1" dirty="0"/>
              <a:t>Swap using XOR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the result in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the new value of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swapped values.</a:t>
            </a:r>
          </a:p>
        </p:txBody>
      </p:sp>
    </p:spTree>
    <p:extLst>
      <p:ext uri="{BB962C8B-B14F-4D97-AF65-F5344CB8AC3E}">
        <p14:creationId xmlns:p14="http://schemas.microsoft.com/office/powerpoint/2010/main" val="324533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53CED-EB71-DC2A-DCDA-854CD5736B3A}"/>
              </a:ext>
            </a:extLst>
          </p:cNvPr>
          <p:cNvSpPr txBox="1"/>
          <p:nvPr/>
        </p:nvSpPr>
        <p:spPr>
          <a:xfrm>
            <a:off x="747252" y="1191509"/>
            <a:ext cx="99305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Addition–Subtraction Swap</a:t>
            </a:r>
          </a:p>
          <a:p>
            <a:pPr>
              <a:buNone/>
            </a:pPr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br>
              <a:rPr lang="en-IN" sz="2000" dirty="0"/>
            </a:br>
            <a:r>
              <a:rPr lang="en-IN" sz="2000" b="1" dirty="0"/>
              <a:t>Space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Only uses constant number of arithmetic operations</a:t>
            </a:r>
            <a:br>
              <a:rPr lang="en-IN" sz="2000" dirty="0"/>
            </a:br>
            <a:r>
              <a:rPr lang="en-IN" sz="2000" dirty="0"/>
              <a:t>No loop, no extra memory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000" b="1" dirty="0"/>
              <a:t>2. XOR Swap</a:t>
            </a:r>
          </a:p>
          <a:p>
            <a:pPr>
              <a:buNone/>
            </a:pPr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br>
              <a:rPr lang="en-IN" sz="2000" dirty="0"/>
            </a:br>
            <a:r>
              <a:rPr lang="en-IN" sz="2000" b="1" dirty="0"/>
              <a:t>Space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	Only bitwise operations (XOR)</a:t>
            </a:r>
            <a:br>
              <a:rPr lang="en-IN" sz="2000" dirty="0"/>
            </a:br>
            <a:r>
              <a:rPr lang="en-IN" sz="2000" dirty="0"/>
              <a:t>	No extra variable needed</a:t>
            </a:r>
            <a:br>
              <a:rPr lang="en-IN" sz="2000" dirty="0"/>
            </a:br>
            <a:r>
              <a:rPr lang="en-IN" sz="2000" dirty="0"/>
              <a:t>	Constant work</a:t>
            </a:r>
          </a:p>
        </p:txBody>
      </p:sp>
    </p:spTree>
    <p:extLst>
      <p:ext uri="{BB962C8B-B14F-4D97-AF65-F5344CB8AC3E}">
        <p14:creationId xmlns:p14="http://schemas.microsoft.com/office/powerpoint/2010/main" val="1201981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962673-2CBF-982B-E30B-444334A4A4B1}"/>
              </a:ext>
            </a:extLst>
          </p:cNvPr>
          <p:cNvSpPr txBox="1"/>
          <p:nvPr/>
        </p:nvSpPr>
        <p:spPr>
          <a:xfrm>
            <a:off x="314632" y="238121"/>
            <a:ext cx="5987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effectLst/>
                <a:latin typeface="Source Sans 3"/>
              </a:rPr>
              <a:t>Toggle bits in the given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987C0-2AD0-648B-D32F-31512099CE23}"/>
              </a:ext>
            </a:extLst>
          </p:cNvPr>
          <p:cNvSpPr txBox="1"/>
          <p:nvPr/>
        </p:nvSpPr>
        <p:spPr>
          <a:xfrm>
            <a:off x="393290" y="1101213"/>
            <a:ext cx="8632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Step 1:- Create a mask</a:t>
            </a:r>
          </a:p>
          <a:p>
            <a:r>
              <a:rPr lang="en-IN" sz="3600" dirty="0"/>
              <a:t>	[1&lt;&lt;(r-l+1)]-1</a:t>
            </a:r>
          </a:p>
          <a:p>
            <a:r>
              <a:rPr lang="en-IN" sz="3600" dirty="0"/>
              <a:t>Step 2:- Update mask</a:t>
            </a:r>
          </a:p>
          <a:p>
            <a:r>
              <a:rPr lang="en-IN" sz="3600" dirty="0"/>
              <a:t>	mask = mask &lt;&lt; (l-1)</a:t>
            </a:r>
          </a:p>
          <a:p>
            <a:r>
              <a:rPr lang="en-IN" sz="3600" dirty="0"/>
              <a:t>Step 3:- Find result</a:t>
            </a:r>
          </a:p>
          <a:p>
            <a:r>
              <a:rPr lang="en-IN" sz="3600" dirty="0"/>
              <a:t>	result = n ^mask</a:t>
            </a:r>
          </a:p>
        </p:txBody>
      </p:sp>
    </p:spTree>
    <p:extLst>
      <p:ext uri="{BB962C8B-B14F-4D97-AF65-F5344CB8AC3E}">
        <p14:creationId xmlns:p14="http://schemas.microsoft.com/office/powerpoint/2010/main" val="195196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8CFD4-F300-5A6C-7A99-BF5E062A3FEC}"/>
              </a:ext>
            </a:extLst>
          </p:cNvPr>
          <p:cNvSpPr txBox="1"/>
          <p:nvPr/>
        </p:nvSpPr>
        <p:spPr>
          <a:xfrm>
            <a:off x="1415845" y="1076913"/>
            <a:ext cx="88293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Time Complexity: O(1)</a:t>
            </a:r>
          </a:p>
          <a:p>
            <a:pPr>
              <a:buNone/>
            </a:pPr>
            <a:r>
              <a:rPr lang="en-US" sz="2000" dirty="0"/>
              <a:t>Only a few bitwise operations</a:t>
            </a:r>
            <a:br>
              <a:rPr lang="en-US" sz="2000" dirty="0"/>
            </a:br>
            <a:r>
              <a:rPr lang="en-US" sz="2000" dirty="0"/>
              <a:t>No loop</a:t>
            </a:r>
            <a:br>
              <a:rPr lang="en-US" sz="2000" dirty="0"/>
            </a:br>
            <a:r>
              <a:rPr lang="en-US" sz="2000" dirty="0"/>
              <a:t>Constant-time shifting and XOR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Space Complexity: O(1)</a:t>
            </a:r>
          </a:p>
          <a:p>
            <a:pPr>
              <a:buNone/>
            </a:pPr>
            <a:r>
              <a:rPr lang="en-US" sz="2000" dirty="0"/>
              <a:t>Only a few integer variables</a:t>
            </a:r>
            <a:br>
              <a:rPr lang="en-US" sz="2000" dirty="0"/>
            </a:br>
            <a:r>
              <a:rPr lang="en-US" sz="2000" dirty="0"/>
              <a:t>No extra array or data structure used</a:t>
            </a:r>
          </a:p>
        </p:txBody>
      </p:sp>
    </p:spTree>
    <p:extLst>
      <p:ext uri="{BB962C8B-B14F-4D97-AF65-F5344CB8AC3E}">
        <p14:creationId xmlns:p14="http://schemas.microsoft.com/office/powerpoint/2010/main" val="292424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28AC7-DC0F-5AF5-CB90-B6D6A69BEC0E}"/>
              </a:ext>
            </a:extLst>
          </p:cNvPr>
          <p:cNvGraphicFramePr>
            <a:graphicFrameLocks noGrp="1"/>
          </p:cNvGraphicFramePr>
          <p:nvPr/>
        </p:nvGraphicFramePr>
        <p:xfrm>
          <a:off x="451875" y="302239"/>
          <a:ext cx="5054190" cy="434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4190">
                  <a:extLst>
                    <a:ext uri="{9D8B030D-6E8A-4147-A177-3AD203B41FA5}">
                      <a16:colId xmlns:a16="http://schemas.microsoft.com/office/drawing/2014/main" val="237576244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u="none" strike="noStrike" dirty="0">
                          <a:effectLst/>
                        </a:rPr>
                        <a:t>Number is sparse or not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09065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7B55FC-C1CF-2787-7723-0AEFCC31334B}"/>
              </a:ext>
            </a:extLst>
          </p:cNvPr>
          <p:cNvSpPr txBox="1"/>
          <p:nvPr/>
        </p:nvSpPr>
        <p:spPr>
          <a:xfrm>
            <a:off x="333888" y="1014528"/>
            <a:ext cx="114844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1: Brute Force (Check Adjacent Bits by Shifting Right One-by-One)</a:t>
            </a:r>
          </a:p>
          <a:p>
            <a:pPr>
              <a:buNone/>
            </a:pPr>
            <a:r>
              <a:rPr lang="en-US" sz="2000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the number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Repeatedly check the last two bits using </a:t>
            </a:r>
            <a:r>
              <a:rPr lang="en-US" sz="2000" dirty="0">
                <a:latin typeface="Courier New" panose="02070309020205020404" pitchFamily="49" charset="0"/>
              </a:rPr>
              <a:t>n &amp; 3</a:t>
            </a:r>
            <a:r>
              <a:rPr lang="en-US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</a:rPr>
              <a:t>3</a:t>
            </a:r>
            <a:r>
              <a:rPr lang="en-US" sz="2000" dirty="0"/>
              <a:t> in binary is </a:t>
            </a:r>
            <a:r>
              <a:rPr lang="en-US" sz="2000" dirty="0">
                <a:latin typeface="Courier New" panose="02070309020205020404" pitchFamily="49" charset="0"/>
              </a:rPr>
              <a:t>11</a:t>
            </a:r>
            <a:r>
              <a:rPr lang="en-US" sz="2000" dirty="0"/>
              <a:t>, so </a:t>
            </a:r>
            <a:r>
              <a:rPr lang="en-US" sz="2000" dirty="0">
                <a:latin typeface="Courier New" panose="02070309020205020404" pitchFamily="49" charset="0"/>
              </a:rPr>
              <a:t>n &amp; 3</a:t>
            </a:r>
            <a:r>
              <a:rPr lang="en-US" sz="2000" dirty="0"/>
              <a:t> checks two adjacent bits at once.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>
                <a:latin typeface="Courier New" panose="02070309020205020404" pitchFamily="49" charset="0"/>
              </a:rPr>
              <a:t>(n &amp; 3) == 3</a:t>
            </a:r>
            <a:r>
              <a:rPr lang="en-US" sz="2000" dirty="0"/>
              <a:t>, then two consecutive 1s → </a:t>
            </a:r>
            <a:r>
              <a:rPr lang="en-US" sz="2000" b="1" dirty="0"/>
              <a:t>not sparse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Right shift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 by 1 bit and continue.</a:t>
            </a:r>
          </a:p>
          <a:p>
            <a:pPr>
              <a:buNone/>
            </a:pPr>
            <a:r>
              <a:rPr lang="en-US" sz="2000" b="1" dirty="0"/>
              <a:t>Time Complexity: O(log n)</a:t>
            </a:r>
          </a:p>
          <a:p>
            <a:pPr>
              <a:buNone/>
            </a:pPr>
            <a:r>
              <a:rPr lang="en-US" sz="2000" dirty="0"/>
              <a:t>Because you check each bit once.</a:t>
            </a:r>
          </a:p>
          <a:p>
            <a:pPr>
              <a:buNone/>
            </a:pPr>
            <a:r>
              <a:rPr lang="en-US" sz="2000" b="1" dirty="0"/>
              <a:t>Space Complexity: O(1)</a:t>
            </a:r>
          </a:p>
          <a:p>
            <a:pPr>
              <a:buNone/>
            </a:pPr>
            <a:r>
              <a:rPr lang="en-US" sz="2000" dirty="0"/>
              <a:t>Only variable used.</a:t>
            </a:r>
          </a:p>
        </p:txBody>
      </p:sp>
    </p:spTree>
    <p:extLst>
      <p:ext uri="{BB962C8B-B14F-4D97-AF65-F5344CB8AC3E}">
        <p14:creationId xmlns:p14="http://schemas.microsoft.com/office/powerpoint/2010/main" val="127901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0AA3DF-AB79-37A4-CA2C-E7D737CCC9E2}"/>
              </a:ext>
            </a:extLst>
          </p:cNvPr>
          <p:cNvSpPr txBox="1"/>
          <p:nvPr/>
        </p:nvSpPr>
        <p:spPr>
          <a:xfrm>
            <a:off x="285136" y="412218"/>
            <a:ext cx="109433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2: Optimized Using (n &amp; (n &gt;&gt; 1))</a:t>
            </a:r>
          </a:p>
          <a:p>
            <a:pPr>
              <a:buNone/>
            </a:pPr>
            <a:r>
              <a:rPr lang="en-US" sz="2000" b="1" dirty="0"/>
              <a:t>Logic</a:t>
            </a:r>
          </a:p>
          <a:p>
            <a:pPr>
              <a:buNone/>
            </a:pPr>
            <a:r>
              <a:rPr lang="en-US" sz="2000" dirty="0"/>
              <a:t>This is the most efficient and most popular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a number has consecutive 1s, then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n &amp; (n &gt;&gt; 1)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will produce a non-zero value.</a:t>
            </a:r>
          </a:p>
          <a:p>
            <a:pPr>
              <a:buNone/>
            </a:pPr>
            <a:r>
              <a:rPr lang="en-US" sz="2000" dirty="0"/>
              <a:t>Because shifting right aligns adjacent bits, and </a:t>
            </a:r>
            <a:r>
              <a:rPr lang="en-US" sz="2000" dirty="0" err="1"/>
              <a:t>AND</a:t>
            </a:r>
            <a:r>
              <a:rPr lang="en-US" sz="2000" dirty="0"/>
              <a:t> reveals where both are 1.</a:t>
            </a:r>
          </a:p>
          <a:p>
            <a:pPr>
              <a:buNone/>
            </a:pPr>
            <a:r>
              <a:rPr lang="en-US" sz="2000" dirty="0"/>
              <a:t>Example:</a:t>
            </a:r>
            <a:br>
              <a:rPr lang="en-US" sz="2000" dirty="0"/>
            </a:br>
            <a:r>
              <a:rPr lang="en-US" sz="2000" dirty="0"/>
              <a:t>n = 12 → 1100</a:t>
            </a:r>
            <a:br>
              <a:rPr lang="en-US" sz="2000" dirty="0"/>
            </a:br>
            <a:r>
              <a:rPr lang="en-US" sz="2000" dirty="0"/>
              <a:t>n &gt;&gt; 1 = 0110</a:t>
            </a:r>
            <a:br>
              <a:rPr lang="en-US" sz="2000" dirty="0"/>
            </a:br>
            <a:r>
              <a:rPr lang="en-US" sz="2000" dirty="0"/>
              <a:t>n &amp; (n &gt;&gt; 1) = 0100 ≠ 0 → </a:t>
            </a:r>
            <a:r>
              <a:rPr lang="en-US" sz="2000" b="1" dirty="0"/>
              <a:t>not sparse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If result == 0 → </a:t>
            </a:r>
            <a:r>
              <a:rPr lang="en-US" sz="2000" b="1" dirty="0"/>
              <a:t>sparse</a:t>
            </a:r>
            <a:endParaRPr lang="en-US" sz="2000" dirty="0"/>
          </a:p>
          <a:p>
            <a:pPr>
              <a:buNone/>
            </a:pPr>
            <a:r>
              <a:rPr lang="en-US" sz="2000" b="1" dirty="0"/>
              <a:t>Time Complexity: O(1)</a:t>
            </a:r>
          </a:p>
          <a:p>
            <a:pPr>
              <a:buNone/>
            </a:pPr>
            <a:r>
              <a:rPr lang="en-US" sz="2000" dirty="0"/>
              <a:t>Only two operations: shift + AND.</a:t>
            </a:r>
          </a:p>
          <a:p>
            <a:pPr>
              <a:buNone/>
            </a:pPr>
            <a:r>
              <a:rPr lang="en-US" sz="2000" b="1" dirty="0"/>
              <a:t>Space Complexity: O(1)</a:t>
            </a:r>
          </a:p>
        </p:txBody>
      </p:sp>
    </p:spTree>
    <p:extLst>
      <p:ext uri="{BB962C8B-B14F-4D97-AF65-F5344CB8AC3E}">
        <p14:creationId xmlns:p14="http://schemas.microsoft.com/office/powerpoint/2010/main" val="36982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1744</Words>
  <Application>Microsoft Office PowerPoint</Application>
  <PresentationFormat>Widescreen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Courier New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2</cp:revision>
  <dcterms:created xsi:type="dcterms:W3CDTF">2025-12-12T15:02:05Z</dcterms:created>
  <dcterms:modified xsi:type="dcterms:W3CDTF">2025-12-12T15:07:38Z</dcterms:modified>
</cp:coreProperties>
</file>